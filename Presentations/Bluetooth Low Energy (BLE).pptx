
<file path=[Content_Types].xml><?xml version="1.0" encoding="utf-8"?>
<Types xmlns="http://schemas.openxmlformats.org/package/2006/content-types">
  <Default Extension="png" ContentType="image/png"/>
  <Default Extension="webp"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6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0EC4CB-DF87-4261-81D1-C024B63DC2ED}" type="datetimeFigureOut">
              <a:rPr lang="en-US" smtClean="0"/>
              <a:t>10/7/2025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0A9E15-F589-43D4-87DA-5362E18C515D}" type="slidenum">
              <a:rPr lang="en-US" smtClean="0"/>
              <a:t>‹#›</a:t>
            </a:fld>
            <a:endParaRPr lang="en-US"/>
          </a:p>
        </p:txBody>
      </p:sp>
    </p:spTree>
    <p:extLst>
      <p:ext uri="{BB962C8B-B14F-4D97-AF65-F5344CB8AC3E}">
        <p14:creationId xmlns:p14="http://schemas.microsoft.com/office/powerpoint/2010/main" val="1131756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E0A9E15-F589-43D4-87DA-5362E18C515D}" type="slidenum">
              <a:rPr lang="en-US" smtClean="0"/>
              <a:t>1</a:t>
            </a:fld>
            <a:endParaRPr lang="en-US"/>
          </a:p>
        </p:txBody>
      </p:sp>
    </p:spTree>
    <p:extLst>
      <p:ext uri="{BB962C8B-B14F-4D97-AF65-F5344CB8AC3E}">
        <p14:creationId xmlns:p14="http://schemas.microsoft.com/office/powerpoint/2010/main" val="4240514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19C4401-6E4B-42B7-94B4-BA06E45B1F04}" type="datetime1">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69C84-1BC9-436F-BF08-7FDA0A99E267}" type="slidenum">
              <a:rPr lang="en-US" smtClean="0"/>
              <a:t>‹#›</a:t>
            </a:fld>
            <a:endParaRPr lang="en-US"/>
          </a:p>
        </p:txBody>
      </p:sp>
    </p:spTree>
    <p:extLst>
      <p:ext uri="{BB962C8B-B14F-4D97-AF65-F5344CB8AC3E}">
        <p14:creationId xmlns:p14="http://schemas.microsoft.com/office/powerpoint/2010/main" val="1869564365"/>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59DDF1C-E23C-4B87-A0E5-0A0AD9087CD8}" type="datetime1">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69C84-1BC9-436F-BF08-7FDA0A99E267}" type="slidenum">
              <a:rPr lang="en-US" smtClean="0"/>
              <a:t>‹#›</a:t>
            </a:fld>
            <a:endParaRPr lang="en-US"/>
          </a:p>
        </p:txBody>
      </p:sp>
    </p:spTree>
    <p:extLst>
      <p:ext uri="{BB962C8B-B14F-4D97-AF65-F5344CB8AC3E}">
        <p14:creationId xmlns:p14="http://schemas.microsoft.com/office/powerpoint/2010/main" val="27938168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212677E-C12E-47D7-9638-CA837AE212AD}" type="datetime1">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69C84-1BC9-436F-BF08-7FDA0A99E267}" type="slidenum">
              <a:rPr lang="en-US" smtClean="0"/>
              <a:t>‹#›</a:t>
            </a:fld>
            <a:endParaRPr lang="en-US"/>
          </a:p>
        </p:txBody>
      </p:sp>
    </p:spTree>
    <p:extLst>
      <p:ext uri="{BB962C8B-B14F-4D97-AF65-F5344CB8AC3E}">
        <p14:creationId xmlns:p14="http://schemas.microsoft.com/office/powerpoint/2010/main" val="1594530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691B8CE-A6BD-4CDE-9B29-0C9242F75A55}" type="datetime1">
              <a:rPr lang="en-US" smtClean="0"/>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69C84-1BC9-436F-BF08-7FDA0A99E267}" type="slidenum">
              <a:rPr lang="en-US" smtClean="0"/>
              <a:t>‹#›</a:t>
            </a:fld>
            <a:endParaRPr lang="en-US"/>
          </a:p>
        </p:txBody>
      </p:sp>
    </p:spTree>
    <p:extLst>
      <p:ext uri="{BB962C8B-B14F-4D97-AF65-F5344CB8AC3E}">
        <p14:creationId xmlns:p14="http://schemas.microsoft.com/office/powerpoint/2010/main" val="1354968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947F516-6AF1-4D39-871A-6323862A05F0}" type="datetime1">
              <a:rPr lang="en-US" smtClean="0"/>
              <a:t>10/7/2025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C969C84-1BC9-436F-BF08-7FDA0A99E267}" type="slidenum">
              <a:rPr lang="en-US" smtClean="0"/>
              <a:t>‹#›</a:t>
            </a:fld>
            <a:endParaRPr lang="en-US"/>
          </a:p>
        </p:txBody>
      </p:sp>
    </p:spTree>
    <p:extLst>
      <p:ext uri="{BB962C8B-B14F-4D97-AF65-F5344CB8AC3E}">
        <p14:creationId xmlns:p14="http://schemas.microsoft.com/office/powerpoint/2010/main" val="415873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84F9E43-8270-49E7-BF2F-08BF0122CD2E}" type="datetime1">
              <a:rPr lang="en-US" smtClean="0"/>
              <a:t>10/7/2025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969C84-1BC9-436F-BF08-7FDA0A99E267}" type="slidenum">
              <a:rPr lang="en-US" smtClean="0"/>
              <a:t>‹#›</a:t>
            </a:fld>
            <a:endParaRPr lang="en-US"/>
          </a:p>
        </p:txBody>
      </p:sp>
    </p:spTree>
    <p:extLst>
      <p:ext uri="{BB962C8B-B14F-4D97-AF65-F5344CB8AC3E}">
        <p14:creationId xmlns:p14="http://schemas.microsoft.com/office/powerpoint/2010/main" val="175152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926F24-590B-4030-8F86-51D6EF8BD0B8}" type="datetime1">
              <a:rPr lang="en-US" smtClean="0"/>
              <a:t>10/7/2025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C969C84-1BC9-436F-BF08-7FDA0A99E267}" type="slidenum">
              <a:rPr lang="en-US" smtClean="0"/>
              <a:t>‹#›</a:t>
            </a:fld>
            <a:endParaRPr lang="en-US"/>
          </a:p>
        </p:txBody>
      </p:sp>
    </p:spTree>
    <p:extLst>
      <p:ext uri="{BB962C8B-B14F-4D97-AF65-F5344CB8AC3E}">
        <p14:creationId xmlns:p14="http://schemas.microsoft.com/office/powerpoint/2010/main" val="2170078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619ED9-9539-48B7-8812-5F1C9C90F0DD}" type="datetime1">
              <a:rPr lang="en-US" smtClean="0"/>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69C84-1BC9-436F-BF08-7FDA0A99E267}" type="slidenum">
              <a:rPr lang="en-US" smtClean="0"/>
              <a:t>‹#›</a:t>
            </a:fld>
            <a:endParaRPr lang="en-US"/>
          </a:p>
        </p:txBody>
      </p:sp>
    </p:spTree>
    <p:extLst>
      <p:ext uri="{BB962C8B-B14F-4D97-AF65-F5344CB8AC3E}">
        <p14:creationId xmlns:p14="http://schemas.microsoft.com/office/powerpoint/2010/main" val="366856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F7D8505-0DC0-4C6E-B985-E6A308D110EF}" type="datetime1">
              <a:rPr lang="en-US" smtClean="0"/>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69C84-1BC9-436F-BF08-7FDA0A99E267}" type="slidenum">
              <a:rPr lang="en-US" smtClean="0"/>
              <a:t>‹#›</a:t>
            </a:fld>
            <a:endParaRPr lang="en-US"/>
          </a:p>
        </p:txBody>
      </p:sp>
    </p:spTree>
    <p:extLst>
      <p:ext uri="{BB962C8B-B14F-4D97-AF65-F5344CB8AC3E}">
        <p14:creationId xmlns:p14="http://schemas.microsoft.com/office/powerpoint/2010/main" val="956230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CECAB6-A358-48D9-8FA4-275A0610674F}" type="datetime1">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69C84-1BC9-436F-BF08-7FDA0A99E267}" type="slidenum">
              <a:rPr lang="en-US" smtClean="0"/>
              <a:t>‹#›</a:t>
            </a:fld>
            <a:endParaRPr lang="en-US"/>
          </a:p>
        </p:txBody>
      </p:sp>
    </p:spTree>
    <p:extLst>
      <p:ext uri="{BB962C8B-B14F-4D97-AF65-F5344CB8AC3E}">
        <p14:creationId xmlns:p14="http://schemas.microsoft.com/office/powerpoint/2010/main" val="476777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7C90CBE-C189-4E35-970B-70E3ED14ED45}" type="datetime1">
              <a:rPr lang="en-US" smtClean="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69C84-1BC9-436F-BF08-7FDA0A99E267}" type="slidenum">
              <a:rPr lang="en-US" smtClean="0"/>
              <a:t>‹#›</a:t>
            </a:fld>
            <a:endParaRPr lang="en-US"/>
          </a:p>
        </p:txBody>
      </p:sp>
    </p:spTree>
    <p:extLst>
      <p:ext uri="{BB962C8B-B14F-4D97-AF65-F5344CB8AC3E}">
        <p14:creationId xmlns:p14="http://schemas.microsoft.com/office/powerpoint/2010/main" val="2796627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3.webp"/><Relationship Id="rId2" Type="http://schemas.openxmlformats.org/officeDocument/2006/relationships/slideLayout" Target="../slideLayouts/slideLayout2.xml"/><Relationship Id="rId16" Type="http://schemas.microsoft.com/office/2007/relationships/hdphoto" Target="../media/hdphoto2.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87000"/>
            <a:lum/>
            <a:extLst>
              <a:ext uri="{BEBA8EAE-BF5A-486C-A8C5-ECC9F3942E4B}">
                <a14:imgProps xmlns:a14="http://schemas.microsoft.com/office/drawing/2010/main">
                  <a14:imgLayer r:embed="rId14">
                    <a14:imgEffect>
                      <a14:sharpenSoften amount="9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F0F4C3-D641-42EA-BCE5-6B0C1C8A345E}" type="datetime1">
              <a:rPr lang="en-US" smtClean="0"/>
              <a:t>10/7/2025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969C84-1BC9-436F-BF08-7FDA0A99E267}" type="slidenum">
              <a:rPr lang="en-US" smtClean="0"/>
              <a:t>‹#›</a:t>
            </a:fld>
            <a:endParaRPr lang="en-US"/>
          </a:p>
        </p:txBody>
      </p:sp>
      <p:pic>
        <p:nvPicPr>
          <p:cNvPr id="7" name="Picture 6"/>
          <p:cNvPicPr>
            <a:picLocks noChangeAspect="1"/>
          </p:cNvPicPr>
          <p:nvPr userDrawn="1"/>
        </p:nvPicPr>
        <p:blipFill>
          <a:blip r:embed="rId15" cstate="print">
            <a:extLst>
              <a:ext uri="{BEBA8EAE-BF5A-486C-A8C5-ECC9F3942E4B}">
                <a14:imgProps xmlns:a14="http://schemas.microsoft.com/office/drawing/2010/main">
                  <a14:imgLayer r:embed="rId16">
                    <a14:imgEffect>
                      <a14:backgroundRemoval t="5485" b="98101" l="5063" r="95148">
                        <a14:foregroundMark x1="82068" y1="29325" x2="82068" y2="29325"/>
                        <a14:foregroundMark x1="30169" y1="19620" x2="31435" y2="18987"/>
                        <a14:foregroundMark x1="26582" y1="19831" x2="64557" y2="61181"/>
                        <a14:foregroundMark x1="8228" y1="72785" x2="82700" y2="16245"/>
                        <a14:foregroundMark x1="20886" y1="14557" x2="85443" y2="79747"/>
                        <a14:foregroundMark x1="5063" y1="48101" x2="90506" y2="48101"/>
                        <a14:foregroundMark x1="47468" y1="8228" x2="47679" y2="87553"/>
                        <a14:foregroundMark x1="15190" y1="81013" x2="38819" y2="76582"/>
                        <a14:foregroundMark x1="26793" y1="78903" x2="81857" y2="70886"/>
                        <a14:foregroundMark x1="51899" y1="59283" x2="18565" y2="62869"/>
                        <a14:foregroundMark x1="10338" y1="69198" x2="7384" y2="45148"/>
                        <a14:foregroundMark x1="26371" y1="14979" x2="46624" y2="6540"/>
                        <a14:foregroundMark x1="51688" y1="8017" x2="84388" y2="20253"/>
                        <a14:foregroundMark x1="80380" y1="22152" x2="93038" y2="54852"/>
                        <a14:foregroundMark x1="89873" y1="65823" x2="78270" y2="82700"/>
                        <a14:foregroundMark x1="78481" y1="84810" x2="51266" y2="92405"/>
                        <a14:foregroundMark x1="36287" y1="54430" x2="37553" y2="73207"/>
                        <a14:foregroundMark x1="55907" y1="43038" x2="66667" y2="39451"/>
                        <a14:foregroundMark x1="46203" y1="90928" x2="27848" y2="85654"/>
                        <a14:foregroundMark x1="22785" y1="83755" x2="35654" y2="91350"/>
                        <a14:foregroundMark x1="39662" y1="94515" x2="54852" y2="92827"/>
                        <a14:foregroundMark x1="61814" y1="93460" x2="69620" y2="92194"/>
                        <a14:foregroundMark x1="41350" y1="98101" x2="52321" y2="95992"/>
                      </a14:backgroundRemoval>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0" y="-62436"/>
            <a:ext cx="1042637" cy="1042637"/>
          </a:xfrm>
          <a:prstGeom prst="rect">
            <a:avLst/>
          </a:prstGeom>
        </p:spPr>
      </p:pic>
      <p:pic>
        <p:nvPicPr>
          <p:cNvPr id="8" name="Picture 7"/>
          <p:cNvPicPr>
            <a:picLocks noChangeAspect="1"/>
          </p:cNvPicPr>
          <p:nvPr userDrawn="1"/>
        </p:nvPicPr>
        <p:blipFill rotWithShape="1">
          <a:blip r:embed="rId17" cstate="print">
            <a:clrChange>
              <a:clrFrom>
                <a:srgbClr val="0462A3"/>
              </a:clrFrom>
              <a:clrTo>
                <a:srgbClr val="0462A3">
                  <a:alpha val="0"/>
                </a:srgbClr>
              </a:clrTo>
            </a:clrChange>
            <a:extLst>
              <a:ext uri="{28A0092B-C50C-407E-A947-70E740481C1C}">
                <a14:useLocalDpi xmlns:a14="http://schemas.microsoft.com/office/drawing/2010/main" val="0"/>
              </a:ext>
            </a:extLst>
          </a:blip>
          <a:srcRect l="28110" t="18094" r="27688" b="17120"/>
          <a:stretch/>
        </p:blipFill>
        <p:spPr>
          <a:xfrm>
            <a:off x="11119448" y="1"/>
            <a:ext cx="1072551" cy="827808"/>
          </a:xfrm>
          <a:prstGeom prst="rect">
            <a:avLst/>
          </a:prstGeom>
          <a:ln>
            <a:noFill/>
          </a:ln>
        </p:spPr>
      </p:pic>
    </p:spTree>
    <p:extLst>
      <p:ext uri="{BB962C8B-B14F-4D97-AF65-F5344CB8AC3E}">
        <p14:creationId xmlns:p14="http://schemas.microsoft.com/office/powerpoint/2010/main" val="2555195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webp"/><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27893" y="1606630"/>
            <a:ext cx="9144000" cy="2387600"/>
          </a:xfrm>
        </p:spPr>
        <p:txBody>
          <a:bodyPr/>
          <a:lstStyle/>
          <a:p>
            <a:r>
              <a:rPr lang="en-US" b="1" dirty="0" smtClean="0">
                <a:solidFill>
                  <a:srgbClr val="FF0000"/>
                </a:solidFill>
                <a:latin typeface="Sitka Text" pitchFamily="2" charset="0"/>
                <a:cs typeface="Times New Roman" panose="02020603050405020304" pitchFamily="18" charset="0"/>
              </a:rPr>
              <a:t>Bluetooth Low Energy (BLE)</a:t>
            </a:r>
            <a:endParaRPr lang="en-US" b="1" dirty="0">
              <a:solidFill>
                <a:srgbClr val="FF0000"/>
              </a:solidFill>
              <a:latin typeface="Sitka Text" pitchFamily="2"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C969C84-1BC9-436F-BF08-7FDA0A99E267}" type="slidenum">
              <a:rPr lang="en-US" smtClean="0"/>
              <a:t>1</a:t>
            </a:fld>
            <a:endParaRPr lang="en-US"/>
          </a:p>
        </p:txBody>
      </p:sp>
      <p:sp>
        <p:nvSpPr>
          <p:cNvPr id="10" name="AutoShape 4" descr="Image result for bluetoothlogo"/>
          <p:cNvSpPr>
            <a:spLocks noChangeAspect="1" noChangeArrowheads="1"/>
          </p:cNvSpPr>
          <p:nvPr/>
        </p:nvSpPr>
        <p:spPr bwMode="auto">
          <a:xfrm>
            <a:off x="3416935" y="20113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6" descr="Image result for bluetoothlog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0610" y="4089083"/>
            <a:ext cx="1926627" cy="2077561"/>
          </a:xfrm>
          <a:prstGeom prst="rect">
            <a:avLst/>
          </a:prstGeom>
        </p:spPr>
      </p:pic>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9620730" y="4183936"/>
            <a:ext cx="1926627" cy="2077561"/>
          </a:xfrm>
          <a:prstGeom prst="rect">
            <a:avLst/>
          </a:prstGeom>
        </p:spPr>
      </p:pic>
    </p:spTree>
    <p:extLst>
      <p:ext uri="{BB962C8B-B14F-4D97-AF65-F5344CB8AC3E}">
        <p14:creationId xmlns:p14="http://schemas.microsoft.com/office/powerpoint/2010/main" val="42625526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61022"/>
            <a:ext cx="10515600" cy="1325563"/>
          </a:xfrm>
        </p:spPr>
        <p:txBody>
          <a:bodyPr>
            <a:normAutofit/>
          </a:bodyPr>
          <a:lstStyle/>
          <a:p>
            <a:r>
              <a:rPr lang="en-US" sz="6000" b="1" dirty="0" smtClean="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rPr>
              <a:t>Table of content</a:t>
            </a:r>
            <a:endPar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1C969C84-1BC9-436F-BF08-7FDA0A99E267}" type="slidenum">
              <a:rPr lang="en-US" smtClean="0"/>
              <a:t>2</a:t>
            </a:fld>
            <a:endParaRPr lang="en-US"/>
          </a:p>
        </p:txBody>
      </p:sp>
      <p:sp>
        <p:nvSpPr>
          <p:cNvPr id="6" name="Rectangle 1"/>
          <p:cNvSpPr>
            <a:spLocks noGrp="1" noChangeArrowheads="1"/>
          </p:cNvSpPr>
          <p:nvPr>
            <p:ph idx="1"/>
          </p:nvPr>
        </p:nvSpPr>
        <p:spPr bwMode="auto">
          <a:xfrm>
            <a:off x="436880" y="2361009"/>
            <a:ext cx="1156208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lnSpc>
                <a:spcPct val="100000"/>
              </a:lnSpc>
              <a:spcBef>
                <a:spcPct val="0"/>
              </a:spcBef>
              <a:spcAft>
                <a:spcPct val="0"/>
              </a:spcAft>
              <a:buFont typeface="+mj-lt"/>
              <a:buAutoNum type="arabicPeriod"/>
            </a:pPr>
            <a:r>
              <a:rPr kumimoji="0" lang="en-US" sz="1800" b="1" i="0" u="none" strike="noStrike" cap="none" normalizeH="0" baseline="0" dirty="0" smtClean="0">
                <a:ln>
                  <a:noFill/>
                </a:ln>
                <a:solidFill>
                  <a:schemeClr val="tx1"/>
                </a:solidFill>
                <a:effectLst/>
                <a:latin typeface="Arial" panose="020B0604020202020204" pitchFamily="34" charset="0"/>
              </a:rPr>
              <a:t>Introduction to Bluetooth Low Energy (BLE)</a:t>
            </a:r>
            <a:endParaRPr kumimoji="0" lang="en-US" sz="1800" b="0" i="0" u="none" strike="noStrike" cap="none" normalizeH="0" baseline="0" dirty="0" smtClean="0">
              <a:ln>
                <a:noFill/>
              </a:ln>
              <a:solidFill>
                <a:schemeClr val="tx1"/>
              </a:solidFill>
              <a:effectLst/>
              <a:latin typeface="Arial" panose="020B0604020202020204" pitchFamily="34" charset="0"/>
            </a:endParaRPr>
          </a:p>
          <a:p>
            <a:pPr marL="972000" indent="-400050" eaLnBrk="0" fontAlgn="base" hangingPunct="0">
              <a:lnSpc>
                <a:spcPct val="100000"/>
              </a:lnSpc>
              <a:spcBef>
                <a:spcPct val="0"/>
              </a:spcBef>
              <a:spcAft>
                <a:spcPct val="0"/>
              </a:spcAft>
              <a:buFont typeface="Wingdings" panose="05000000000000000000" pitchFamily="2" charset="2"/>
              <a:buChar char="Ø"/>
            </a:pPr>
            <a:r>
              <a:rPr lang="en-US" sz="1600" dirty="0">
                <a:latin typeface="Arial Unicode MS" panose="020B0604020202020204" pitchFamily="34" charset="-128"/>
                <a:ea typeface="Arial Unicode MS" panose="020B0604020202020204" pitchFamily="34" charset="-128"/>
                <a:cs typeface="Arial Unicode MS" panose="020B0604020202020204" pitchFamily="34" charset="-128"/>
              </a:rPr>
              <a:t>What is BLE?</a:t>
            </a:r>
          </a:p>
          <a:p>
            <a:pPr marL="972000" indent="-400050" eaLnBrk="0" fontAlgn="base" hangingPunct="0">
              <a:lnSpc>
                <a:spcPct val="100000"/>
              </a:lnSpc>
              <a:spcBef>
                <a:spcPct val="0"/>
              </a:spcBef>
              <a:spcAft>
                <a:spcPct val="0"/>
              </a:spcAft>
              <a:buFont typeface="Wingdings" panose="05000000000000000000" pitchFamily="2" charset="2"/>
              <a:buChar char="Ø"/>
            </a:pPr>
            <a:r>
              <a:rPr lang="en-US" sz="1600" dirty="0">
                <a:latin typeface="Arial Unicode MS" panose="020B0604020202020204" pitchFamily="34" charset="-128"/>
                <a:ea typeface="Arial Unicode MS" panose="020B0604020202020204" pitchFamily="34" charset="-128"/>
                <a:cs typeface="Arial Unicode MS" panose="020B0604020202020204" pitchFamily="34" charset="-128"/>
              </a:rPr>
              <a:t>Why was it developed</a:t>
            </a:r>
            <a:r>
              <a:rPr kumimoji="0" lang="en-US" sz="1600" b="0" i="0" u="none" strike="noStrike" cap="none" normalizeH="0" baseline="0" dirty="0" smtClean="0">
                <a:ln>
                  <a:noFill/>
                </a:ln>
                <a:solidFill>
                  <a:schemeClr val="tx1"/>
                </a:solidFill>
                <a:effectLst/>
                <a:latin typeface="Arial Unicode MS" panose="020B0604020202020204" pitchFamily="34" charset="-128"/>
                <a:ea typeface="Arial Unicode MS" panose="020B0604020202020204" pitchFamily="34" charset="-128"/>
                <a:cs typeface="Arial Unicode MS" panose="020B0604020202020204" pitchFamily="34" charset="-128"/>
              </a:rPr>
              <a:t>?</a:t>
            </a:r>
          </a:p>
          <a:p>
            <a:pPr marL="972000" indent="-400050" eaLnBrk="0" fontAlgn="base" hangingPunct="0">
              <a:lnSpc>
                <a:spcPct val="100000"/>
              </a:lnSpc>
              <a:spcBef>
                <a:spcPct val="0"/>
              </a:spcBef>
              <a:spcAft>
                <a:spcPct val="0"/>
              </a:spcAft>
              <a:buFont typeface="Wingdings" panose="05000000000000000000" pitchFamily="2" charset="2"/>
              <a:buChar char="Ø"/>
            </a:pPr>
            <a:r>
              <a:rPr lang="en-US" sz="1600" dirty="0" smtClean="0">
                <a:latin typeface="Arial Unicode MS" panose="020B0604020202020204" pitchFamily="34" charset="-128"/>
                <a:ea typeface="Arial Unicode MS" panose="020B0604020202020204" pitchFamily="34" charset="-128"/>
                <a:cs typeface="Arial Unicode MS" panose="020B0604020202020204" pitchFamily="34" charset="-128"/>
              </a:rPr>
              <a:t>Applications</a:t>
            </a:r>
            <a:endParaRPr kumimoji="0" lang="en-US" sz="1600" b="0" i="0" u="none" strike="noStrike" cap="none" normalizeH="0" baseline="0" dirty="0" smtClean="0">
              <a:ln>
                <a:noFill/>
              </a:ln>
              <a:solidFill>
                <a:schemeClr val="tx1"/>
              </a:solidFill>
              <a:effectLst/>
              <a:latin typeface="Arial Unicode MS" panose="020B0604020202020204" pitchFamily="34" charset="-128"/>
              <a:ea typeface="Arial Unicode MS" panose="020B0604020202020204" pitchFamily="34" charset="-128"/>
              <a:cs typeface="Arial Unicode MS" panose="020B0604020202020204" pitchFamily="34" charset="-128"/>
            </a:endParaRPr>
          </a:p>
          <a:p>
            <a:pPr marL="342900" indent="-342900" eaLnBrk="0" fontAlgn="base" hangingPunct="0">
              <a:lnSpc>
                <a:spcPct val="100000"/>
              </a:lnSpc>
              <a:spcBef>
                <a:spcPct val="0"/>
              </a:spcBef>
              <a:spcAft>
                <a:spcPct val="0"/>
              </a:spcAft>
              <a:buFont typeface="+mj-lt"/>
              <a:buAutoNum type="arabicPeriod" startAt="3"/>
            </a:pPr>
            <a:r>
              <a:rPr kumimoji="0" lang="en-US" sz="1800" b="1" i="0" u="none" strike="noStrike" cap="none" normalizeH="0" baseline="0" dirty="0" smtClean="0">
                <a:ln>
                  <a:noFill/>
                </a:ln>
                <a:solidFill>
                  <a:schemeClr val="tx1"/>
                </a:solidFill>
                <a:effectLst/>
                <a:latin typeface="Arial" panose="020B0604020202020204" pitchFamily="34" charset="0"/>
              </a:rPr>
              <a:t>BLE </a:t>
            </a:r>
            <a:r>
              <a:rPr kumimoji="0" lang="en-US" sz="1800" b="1" i="0" u="none" strike="noStrike" cap="none" normalizeH="0" baseline="0" dirty="0" smtClean="0">
                <a:ln>
                  <a:noFill/>
                </a:ln>
                <a:solidFill>
                  <a:schemeClr val="tx1"/>
                </a:solidFill>
                <a:effectLst/>
                <a:latin typeface="Arial" panose="020B0604020202020204" pitchFamily="34" charset="0"/>
              </a:rPr>
              <a:t>vs. Bluetooth Classic</a:t>
            </a:r>
            <a:endParaRPr kumimoji="0" lang="en-US" sz="1800" b="0" i="0" u="none" strike="noStrike" cap="none" normalizeH="0" baseline="0" dirty="0" smtClean="0">
              <a:ln>
                <a:noFill/>
              </a:ln>
              <a:solidFill>
                <a:schemeClr val="tx1"/>
              </a:solidFill>
              <a:effectLst/>
              <a:latin typeface="Arial" panose="020B0604020202020204" pitchFamily="34" charset="0"/>
            </a:endParaRPr>
          </a:p>
          <a:p>
            <a:pPr marL="940050" marR="0" lvl="0" indent="-4000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sz="1600" dirty="0">
                <a:latin typeface="Arial Unicode MS" panose="020B0604020202020204" pitchFamily="34" charset="-128"/>
                <a:ea typeface="Arial Unicode MS" panose="020B0604020202020204" pitchFamily="34" charset="-128"/>
                <a:cs typeface="Arial Unicode MS" panose="020B0604020202020204" pitchFamily="34" charset="-128"/>
              </a:rPr>
              <a:t>Power consumption</a:t>
            </a:r>
          </a:p>
          <a:p>
            <a:pPr marL="940050" marR="0" lvl="0" indent="-4000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sz="1600" dirty="0">
                <a:latin typeface="Arial Unicode MS" panose="020B0604020202020204" pitchFamily="34" charset="-128"/>
                <a:ea typeface="Arial Unicode MS" panose="020B0604020202020204" pitchFamily="34" charset="-128"/>
                <a:cs typeface="Arial Unicode MS" panose="020B0604020202020204" pitchFamily="34" charset="-128"/>
              </a:rPr>
              <a:t>Data rate</a:t>
            </a:r>
          </a:p>
          <a:p>
            <a:pPr marL="940050" marR="0" lvl="0" indent="-4000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sz="1600" dirty="0">
                <a:latin typeface="Arial Unicode MS" panose="020B0604020202020204" pitchFamily="34" charset="-128"/>
                <a:ea typeface="Arial Unicode MS" panose="020B0604020202020204" pitchFamily="34" charset="-128"/>
                <a:cs typeface="Arial Unicode MS" panose="020B0604020202020204" pitchFamily="34" charset="-128"/>
              </a:rPr>
              <a:t>Range and use cases</a:t>
            </a:r>
          </a:p>
          <a:p>
            <a:pPr marL="342900" indent="-342900" eaLnBrk="0" fontAlgn="base" hangingPunct="0">
              <a:lnSpc>
                <a:spcPct val="100000"/>
              </a:lnSpc>
              <a:spcBef>
                <a:spcPct val="0"/>
              </a:spcBef>
              <a:spcAft>
                <a:spcPct val="0"/>
              </a:spcAft>
              <a:buFont typeface="+mj-lt"/>
              <a:buAutoNum type="arabicPeriod" startAt="5"/>
            </a:pPr>
            <a:r>
              <a:rPr kumimoji="0" lang="en-US" sz="1800" b="1" i="0" u="none" strike="noStrike" cap="none" normalizeH="0" baseline="0" dirty="0" smtClean="0">
                <a:ln>
                  <a:noFill/>
                </a:ln>
                <a:solidFill>
                  <a:schemeClr val="tx1"/>
                </a:solidFill>
                <a:effectLst/>
                <a:latin typeface="Arial" panose="020B0604020202020204" pitchFamily="34" charset="0"/>
              </a:rPr>
              <a:t>Physical </a:t>
            </a:r>
            <a:r>
              <a:rPr kumimoji="0" lang="en-US" sz="1800" b="1" i="0" u="none" strike="noStrike" cap="none" normalizeH="0" baseline="0" dirty="0" smtClean="0">
                <a:ln>
                  <a:noFill/>
                </a:ln>
                <a:solidFill>
                  <a:schemeClr val="tx1"/>
                </a:solidFill>
                <a:effectLst/>
                <a:latin typeface="Arial" panose="020B0604020202020204" pitchFamily="34" charset="0"/>
              </a:rPr>
              <a:t>Layer of BLE</a:t>
            </a:r>
            <a:endParaRPr kumimoji="0" lang="en-US" sz="1800" b="0" i="0" u="none" strike="noStrike" cap="none" normalizeH="0" baseline="0" dirty="0" smtClean="0">
              <a:ln>
                <a:noFill/>
              </a:ln>
              <a:solidFill>
                <a:schemeClr val="tx1"/>
              </a:solidFill>
              <a:effectLst/>
              <a:latin typeface="Arial" panose="020B0604020202020204" pitchFamily="34" charset="0"/>
            </a:endParaRPr>
          </a:p>
          <a:p>
            <a:pPr marL="940050" marR="0" lvl="0" indent="-400050" eaLnBrk="0" fontAlgn="base" hangingPunct="0">
              <a:lnSpc>
                <a:spcPct val="100000"/>
              </a:lnSpc>
              <a:spcBef>
                <a:spcPct val="0"/>
              </a:spcBef>
              <a:spcAft>
                <a:spcPct val="0"/>
              </a:spcAft>
              <a:buClrTx/>
              <a:buSzTx/>
              <a:buFont typeface="Wingdings" panose="05000000000000000000" pitchFamily="2" charset="2"/>
              <a:buChar char="Ø"/>
              <a:tabLst/>
            </a:pPr>
            <a:r>
              <a:rPr lang="en-US" sz="1600" dirty="0">
                <a:latin typeface="Arial Unicode MS" panose="020B0604020202020204" pitchFamily="34" charset="-128"/>
                <a:ea typeface="Arial Unicode MS" panose="020B0604020202020204" pitchFamily="34" charset="-128"/>
                <a:cs typeface="Arial Unicode MS" panose="020B0604020202020204" pitchFamily="34" charset="-128"/>
              </a:rPr>
              <a:t>Frequency band and channels</a:t>
            </a:r>
          </a:p>
          <a:p>
            <a:pPr marL="940050" marR="0" lvl="0" indent="-400050" eaLnBrk="0" fontAlgn="base" hangingPunct="0">
              <a:lnSpc>
                <a:spcPct val="100000"/>
              </a:lnSpc>
              <a:spcBef>
                <a:spcPct val="0"/>
              </a:spcBef>
              <a:spcAft>
                <a:spcPct val="0"/>
              </a:spcAft>
              <a:buClrTx/>
              <a:buSzTx/>
              <a:buFont typeface="Wingdings" panose="05000000000000000000" pitchFamily="2" charset="2"/>
              <a:buChar char="Ø"/>
              <a:tabLst/>
            </a:pPr>
            <a:r>
              <a:rPr lang="en-US" sz="1600" dirty="0">
                <a:latin typeface="Arial Unicode MS" panose="020B0604020202020204" pitchFamily="34" charset="-128"/>
                <a:ea typeface="Arial Unicode MS" panose="020B0604020202020204" pitchFamily="34" charset="-128"/>
                <a:cs typeface="Arial Unicode MS" panose="020B0604020202020204" pitchFamily="34" charset="-128"/>
              </a:rPr>
              <a:t>Modulation scheme</a:t>
            </a:r>
          </a:p>
          <a:p>
            <a:pPr marL="940050" marR="0" lvl="0" indent="-400050" eaLnBrk="0" fontAlgn="base" hangingPunct="0">
              <a:lnSpc>
                <a:spcPct val="100000"/>
              </a:lnSpc>
              <a:spcBef>
                <a:spcPct val="0"/>
              </a:spcBef>
              <a:spcAft>
                <a:spcPct val="0"/>
              </a:spcAft>
              <a:buClrTx/>
              <a:buSzTx/>
              <a:buFont typeface="Wingdings" panose="05000000000000000000" pitchFamily="2" charset="2"/>
              <a:buChar char="Ø"/>
              <a:tabLst/>
            </a:pPr>
            <a:r>
              <a:rPr lang="en-US" sz="1600" dirty="0" smtClean="0">
                <a:latin typeface="Arial Unicode MS" panose="020B0604020202020204" pitchFamily="34" charset="-128"/>
                <a:ea typeface="Arial Unicode MS" panose="020B0604020202020204" pitchFamily="34" charset="-128"/>
                <a:cs typeface="Arial Unicode MS" panose="020B0604020202020204" pitchFamily="34" charset="-128"/>
              </a:rPr>
              <a:t>Variants</a:t>
            </a:r>
            <a:endParaRPr lang="en-US" sz="1600"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775314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rPr>
              <a:t>What is BLE </a:t>
            </a:r>
            <a:r>
              <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rPr>
              <a:t>?</a:t>
            </a:r>
            <a:endPar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marL="0" indent="0">
              <a:buNone/>
            </a:pPr>
            <a:r>
              <a:rPr lang="en-US" sz="2400" dirty="0"/>
              <a:t>Bluetooth Low Energy (BLE) is a wireless communication technology designed for short-range data exchange with very low power consumption. It was standardized in 2010 as part of the Bluetooth Core Specification version 4.0, introducing a lightweight alternative to Classic Bluetooth. Unlike Classic Bluetooth, which focuses on continuous data transmission, BLE is optimized for efficiently sending small bursts of data while conserving energy. It operates in the 2.4 GHz ISM band, uses a different channel structure for reliability, and provides features such as fast connection setup, extended range, and long battery life for connected devices.</a:t>
            </a:r>
            <a:endParaRPr lang="en-US" sz="2400" dirty="0"/>
          </a:p>
        </p:txBody>
      </p:sp>
      <p:sp>
        <p:nvSpPr>
          <p:cNvPr id="5" name="Slide Number Placeholder 4"/>
          <p:cNvSpPr>
            <a:spLocks noGrp="1"/>
          </p:cNvSpPr>
          <p:nvPr>
            <p:ph type="sldNum" sz="quarter" idx="12"/>
          </p:nvPr>
        </p:nvSpPr>
        <p:spPr/>
        <p:txBody>
          <a:bodyPr/>
          <a:lstStyle/>
          <a:p>
            <a:fld id="{1C969C84-1BC9-436F-BF08-7FDA0A99E267}" type="slidenum">
              <a:rPr lang="en-US" smtClean="0"/>
              <a:t>3</a:t>
            </a:fld>
            <a:endParaRPr lang="en-US"/>
          </a:p>
        </p:txBody>
      </p:sp>
    </p:spTree>
    <p:extLst>
      <p:ext uri="{BB962C8B-B14F-4D97-AF65-F5344CB8AC3E}">
        <p14:creationId xmlns:p14="http://schemas.microsoft.com/office/powerpoint/2010/main" val="39774780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rPr>
              <a:t>Why BLE ?</a:t>
            </a:r>
          </a:p>
        </p:txBody>
      </p:sp>
      <p:sp>
        <p:nvSpPr>
          <p:cNvPr id="5" name="Slide Number Placeholder 4"/>
          <p:cNvSpPr>
            <a:spLocks noGrp="1"/>
          </p:cNvSpPr>
          <p:nvPr>
            <p:ph type="sldNum" sz="quarter" idx="12"/>
          </p:nvPr>
        </p:nvSpPr>
        <p:spPr/>
        <p:txBody>
          <a:bodyPr/>
          <a:lstStyle/>
          <a:p>
            <a:fld id="{1C969C84-1BC9-436F-BF08-7FDA0A99E267}" type="slidenum">
              <a:rPr lang="en-US" smtClean="0"/>
              <a:t>4</a:t>
            </a:fld>
            <a:endParaRPr lang="en-US"/>
          </a:p>
        </p:txBody>
      </p:sp>
      <p:sp>
        <p:nvSpPr>
          <p:cNvPr id="4" name="Rectangle 1"/>
          <p:cNvSpPr>
            <a:spLocks noGrp="1" noChangeArrowheads="1"/>
          </p:cNvSpPr>
          <p:nvPr>
            <p:ph idx="1"/>
          </p:nvPr>
        </p:nvSpPr>
        <p:spPr bwMode="auto">
          <a:xfrm>
            <a:off x="261119" y="1804268"/>
            <a:ext cx="11780789" cy="232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ts val="0"/>
              </a:spcBef>
              <a:spcAft>
                <a:spcPts val="60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Low Power Consumption</a:t>
            </a:r>
            <a:r>
              <a:rPr kumimoji="0" lang="en-US" sz="2000" b="0" i="0" u="none" strike="noStrike" cap="none" normalizeH="0" baseline="0" dirty="0" smtClean="0">
                <a:ln>
                  <a:noFill/>
                </a:ln>
                <a:solidFill>
                  <a:schemeClr val="tx1"/>
                </a:solidFill>
                <a:effectLst/>
                <a:latin typeface="Arial" panose="020B0604020202020204" pitchFamily="34" charset="0"/>
              </a:rPr>
              <a:t> → devices can operate for long periods on small batteries.</a:t>
            </a:r>
          </a:p>
          <a:p>
            <a:pPr marL="0" marR="0" lvl="0" indent="0" algn="just" defTabSz="914400" rtl="0" eaLnBrk="0" fontAlgn="base" latinLnBrk="0" hangingPunct="0">
              <a:lnSpc>
                <a:spcPct val="100000"/>
              </a:lnSpc>
              <a:spcBef>
                <a:spcPts val="0"/>
              </a:spcBef>
              <a:spcAft>
                <a:spcPts val="60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Lower Complexity</a:t>
            </a:r>
            <a:r>
              <a:rPr kumimoji="0" lang="en-US" sz="2000" b="0" i="0" u="none" strike="noStrike" cap="none" normalizeH="0" baseline="0" dirty="0" smtClean="0">
                <a:ln>
                  <a:noFill/>
                </a:ln>
                <a:solidFill>
                  <a:schemeClr val="tx1"/>
                </a:solidFill>
                <a:effectLst/>
                <a:latin typeface="Arial" panose="020B0604020202020204" pitchFamily="34" charset="0"/>
              </a:rPr>
              <a:t> → simpler protocol compared to Classic Bluetooth, making it easier to implement.</a:t>
            </a:r>
          </a:p>
          <a:p>
            <a:pPr marL="0" marR="0" lvl="0" indent="0" algn="just" defTabSz="914400" rtl="0" eaLnBrk="0" fontAlgn="base" latinLnBrk="0" hangingPunct="0">
              <a:lnSpc>
                <a:spcPct val="100000"/>
              </a:lnSpc>
              <a:spcBef>
                <a:spcPts val="0"/>
              </a:spcBef>
              <a:spcAft>
                <a:spcPts val="60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Lower Cost of Radio Transceivers</a:t>
            </a:r>
            <a:r>
              <a:rPr kumimoji="0" lang="en-US" sz="2000" b="0" i="0" u="none" strike="noStrike" cap="none" normalizeH="0" baseline="0" dirty="0" smtClean="0">
                <a:ln>
                  <a:noFill/>
                </a:ln>
                <a:solidFill>
                  <a:schemeClr val="tx1"/>
                </a:solidFill>
                <a:effectLst/>
                <a:latin typeface="Arial" panose="020B0604020202020204" pitchFamily="34" charset="0"/>
              </a:rPr>
              <a:t> → BLE chips are cheaper to produce and integrate.</a:t>
            </a:r>
          </a:p>
          <a:p>
            <a:pPr marL="0" marR="0" lvl="0" indent="0" algn="just" defTabSz="914400" rtl="0" eaLnBrk="0" fontAlgn="base" latinLnBrk="0" hangingPunct="0">
              <a:lnSpc>
                <a:spcPct val="100000"/>
              </a:lnSpc>
              <a:spcBef>
                <a:spcPts val="0"/>
              </a:spcBef>
              <a:spcAft>
                <a:spcPts val="60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Efficient for Small Data</a:t>
            </a:r>
            <a:r>
              <a:rPr kumimoji="0" lang="en-US" sz="2000" b="0" i="0" u="none" strike="noStrike" cap="none" normalizeH="0" baseline="0" dirty="0" smtClean="0">
                <a:ln>
                  <a:noFill/>
                </a:ln>
                <a:solidFill>
                  <a:schemeClr val="tx1"/>
                </a:solidFill>
                <a:effectLst/>
                <a:latin typeface="Arial" panose="020B0604020202020204" pitchFamily="34" charset="0"/>
              </a:rPr>
              <a:t> → designed to handle short, infrequent data transmissions.</a:t>
            </a:r>
          </a:p>
          <a:p>
            <a:pPr marL="0" marR="0" lvl="0" indent="0" algn="just" defTabSz="914400" rtl="0" eaLnBrk="0" fontAlgn="base" latinLnBrk="0" hangingPunct="0">
              <a:lnSpc>
                <a:spcPct val="100000"/>
              </a:lnSpc>
              <a:spcBef>
                <a:spcPts val="0"/>
              </a:spcBef>
              <a:spcAft>
                <a:spcPts val="60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Fast Connection Setup</a:t>
            </a:r>
            <a:r>
              <a:rPr kumimoji="0" lang="en-US" sz="2000" b="0" i="0" u="none" strike="noStrike" cap="none" normalizeH="0" baseline="0" dirty="0" smtClean="0">
                <a:ln>
                  <a:noFill/>
                </a:ln>
                <a:solidFill>
                  <a:schemeClr val="tx1"/>
                </a:solidFill>
                <a:effectLst/>
                <a:latin typeface="Arial" panose="020B0604020202020204" pitchFamily="34" charset="0"/>
              </a:rPr>
              <a:t> → devices can quickly connect and disconnect, saving energy.</a:t>
            </a:r>
          </a:p>
          <a:p>
            <a:pPr marL="0" marR="0" lvl="0" indent="0" algn="just" defTabSz="914400" rtl="0" eaLnBrk="0" fontAlgn="base" latinLnBrk="0" hangingPunct="0">
              <a:lnSpc>
                <a:spcPct val="100000"/>
              </a:lnSpc>
              <a:spcBef>
                <a:spcPts val="0"/>
              </a:spcBef>
              <a:spcAft>
                <a:spcPts val="600"/>
              </a:spcAft>
              <a:buClrTx/>
              <a:buSzTx/>
              <a:buFontTx/>
              <a:buChar char="•"/>
              <a:tabLst/>
            </a:pPr>
            <a:r>
              <a:rPr kumimoji="0" lang="en-US" sz="2000" b="1" i="0" u="none" strike="noStrike" cap="none" normalizeH="0" baseline="0" dirty="0" smtClean="0">
                <a:ln>
                  <a:noFill/>
                </a:ln>
                <a:solidFill>
                  <a:schemeClr val="tx1"/>
                </a:solidFill>
                <a:effectLst/>
                <a:latin typeface="Arial" panose="020B0604020202020204" pitchFamily="34" charset="0"/>
              </a:rPr>
              <a:t>Operates in 2.4 GHz ISM Band</a:t>
            </a:r>
            <a:r>
              <a:rPr kumimoji="0" lang="en-US" sz="2000" b="0" i="0" u="none" strike="noStrike" cap="none" normalizeH="0" baseline="0" dirty="0" smtClean="0">
                <a:ln>
                  <a:noFill/>
                </a:ln>
                <a:solidFill>
                  <a:schemeClr val="tx1"/>
                </a:solidFill>
                <a:effectLst/>
                <a:latin typeface="Arial" panose="020B0604020202020204" pitchFamily="34" charset="0"/>
              </a:rPr>
              <a:t> → globally available, no licensing required.</a:t>
            </a:r>
          </a:p>
        </p:txBody>
      </p:sp>
    </p:spTree>
    <p:extLst>
      <p:ext uri="{BB962C8B-B14F-4D97-AF65-F5344CB8AC3E}">
        <p14:creationId xmlns:p14="http://schemas.microsoft.com/office/powerpoint/2010/main" val="33059245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rPr>
              <a:t>BLE </a:t>
            </a:r>
            <a:r>
              <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rPr>
              <a:t>Applications</a:t>
            </a:r>
            <a:endPar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endParaRPr>
          </a:p>
        </p:txBody>
      </p:sp>
      <p:pic>
        <p:nvPicPr>
          <p:cNvPr id="4" name="Content Placeholder 3"/>
          <p:cNvPicPr>
            <a:picLocks noGrp="1" noChangeAspect="1"/>
          </p:cNvPicPr>
          <p:nvPr>
            <p:ph idx="1"/>
          </p:nvPr>
        </p:nvPicPr>
        <p:blipFill rotWithShape="1">
          <a:blip r:embed="rId2">
            <a:extLst>
              <a:ext uri="{BEBA8EAE-BF5A-486C-A8C5-ECC9F3942E4B}">
                <a14:imgProps xmlns:a14="http://schemas.microsoft.com/office/drawing/2010/main">
                  <a14:imgLayer r:embed="rId3">
                    <a14:imgEffect>
                      <a14:backgroundRemoval t="5333" b="90000" l="9119" r="96657">
                        <a14:foregroundMark x1="10030" y1="6000" x2="94529" y2="5778"/>
                        <a14:foregroundMark x1="96960" y1="6889" x2="96049" y2="89778"/>
                        <a14:foregroundMark x1="96049" y1="89556" x2="10334" y2="89111"/>
                        <a14:foregroundMark x1="10334" y1="87778" x2="10030" y2="5333"/>
                        <a14:foregroundMark x1="26140" y1="75556" x2="83891" y2="75556"/>
                      </a14:backgroundRemoval>
                    </a14:imgEffect>
                  </a14:imgLayer>
                </a14:imgProps>
              </a:ext>
            </a:extLst>
          </a:blip>
          <a:srcRect l="12688" t="4384" r="1777" b="8214"/>
          <a:stretch/>
        </p:blipFill>
        <p:spPr>
          <a:xfrm>
            <a:off x="8816196" y="1682151"/>
            <a:ext cx="2907102" cy="4063041"/>
          </a:xfrm>
          <a:prstGeom prst="rect">
            <a:avLst/>
          </a:prstGeom>
        </p:spPr>
      </p:pic>
      <p:sp>
        <p:nvSpPr>
          <p:cNvPr id="5" name="Slide Number Placeholder 4"/>
          <p:cNvSpPr>
            <a:spLocks noGrp="1"/>
          </p:cNvSpPr>
          <p:nvPr>
            <p:ph type="sldNum" sz="quarter" idx="12"/>
          </p:nvPr>
        </p:nvSpPr>
        <p:spPr/>
        <p:txBody>
          <a:bodyPr/>
          <a:lstStyle/>
          <a:p>
            <a:fld id="{1C969C84-1BC9-436F-BF08-7FDA0A99E267}" type="slidenum">
              <a:rPr lang="en-US" smtClean="0"/>
              <a:t>5</a:t>
            </a:fld>
            <a:endParaRPr lang="en-US"/>
          </a:p>
        </p:txBody>
      </p:sp>
      <p:sp>
        <p:nvSpPr>
          <p:cNvPr id="8" name="TextBox 7"/>
          <p:cNvSpPr txBox="1"/>
          <p:nvPr/>
        </p:nvSpPr>
        <p:spPr>
          <a:xfrm>
            <a:off x="330680" y="1504187"/>
            <a:ext cx="7867290" cy="4493538"/>
          </a:xfrm>
          <a:prstGeom prst="rect">
            <a:avLst/>
          </a:prstGeom>
          <a:noFill/>
        </p:spPr>
        <p:txBody>
          <a:bodyPr wrap="square" rtlCol="0">
            <a:spAutoFit/>
          </a:bodyPr>
          <a:lstStyle/>
          <a:p>
            <a:r>
              <a:rPr lang="en-US" sz="2200" dirty="0"/>
              <a:t>Bluetooth Low Energy (BLE) is mainly designed for </a:t>
            </a:r>
            <a:r>
              <a:rPr lang="en-US" sz="2200" b="1" dirty="0"/>
              <a:t>measurement and control applications</a:t>
            </a:r>
            <a:r>
              <a:rPr lang="en-US" sz="2200" dirty="0"/>
              <a:t> that require the exchange of small amounts of data without the need for continuous streaming. Unlike Classic Bluetooth, BLE is </a:t>
            </a:r>
            <a:r>
              <a:rPr lang="en-US" sz="2200" b="1" dirty="0"/>
              <a:t>not suited for audio or video transmission</a:t>
            </a:r>
            <a:r>
              <a:rPr lang="en-US" sz="2200" dirty="0"/>
              <a:t>, but instead focuses on efficient, low-power communication. A key advantage is that </a:t>
            </a:r>
            <a:r>
              <a:rPr lang="en-US" sz="2200" b="1" dirty="0"/>
              <a:t>pairing is not required</a:t>
            </a:r>
            <a:r>
              <a:rPr lang="en-US" sz="2200" dirty="0"/>
              <a:t> for most BLE use cases, which simplifies device interaction and reduces complexity. These features make BLE ideal for systems that need to connect quickly, transfer essential data, and then return to a low-power state, allowing devices to run for long periods on small batteries. Because of its flexibility and cost-effectiveness, BLE has become one of the most widely adopted technologies in the Internet of Things (</a:t>
            </a:r>
            <a:r>
              <a:rPr lang="en-US" sz="2200" dirty="0" err="1"/>
              <a:t>IoT</a:t>
            </a:r>
            <a:r>
              <a:rPr lang="en-US" sz="2200" dirty="0"/>
              <a:t>) ecosystem.</a:t>
            </a:r>
          </a:p>
        </p:txBody>
      </p:sp>
    </p:spTree>
    <p:extLst>
      <p:ext uri="{BB962C8B-B14F-4D97-AF65-F5344CB8AC3E}">
        <p14:creationId xmlns:p14="http://schemas.microsoft.com/office/powerpoint/2010/main" val="34968939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7000"/>
            <a:lum/>
            <a:extLst>
              <a:ext uri="{BEBA8EAE-BF5A-486C-A8C5-ECC9F3942E4B}">
                <a14:imgProps xmlns:a14="http://schemas.microsoft.com/office/drawing/2010/main">
                  <a14:imgLayer r:embed="rId4">
                    <a14:imgEffect>
                      <a14:sharpenSoften amount="9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rPr>
              <a:t>BLE Applications</a:t>
            </a:r>
          </a:p>
        </p:txBody>
      </p:sp>
      <p:sp>
        <p:nvSpPr>
          <p:cNvPr id="6" name="Rectangle 2"/>
          <p:cNvSpPr>
            <a:spLocks noGrp="1" noChangeArrowheads="1"/>
          </p:cNvSpPr>
          <p:nvPr>
            <p:ph idx="1"/>
          </p:nvPr>
        </p:nvSpPr>
        <p:spPr bwMode="auto">
          <a:xfrm>
            <a:off x="419100" y="2039993"/>
            <a:ext cx="11353800"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200" b="1" i="0" u="none" strike="noStrike" cap="none" normalizeH="0" baseline="0" dirty="0" err="1" smtClean="0">
                <a:ln>
                  <a:noFill/>
                </a:ln>
                <a:solidFill>
                  <a:schemeClr val="tx1"/>
                </a:solidFill>
                <a:effectLst/>
                <a:latin typeface="Arial" panose="020B0604020202020204" pitchFamily="34" charset="0"/>
              </a:rPr>
              <a:t>Wearables</a:t>
            </a:r>
            <a:r>
              <a:rPr kumimoji="0" lang="en-US" sz="2200" b="0" i="0" u="none" strike="noStrike" cap="none" normalizeH="0" baseline="0" dirty="0" smtClean="0">
                <a:ln>
                  <a:noFill/>
                </a:ln>
                <a:solidFill>
                  <a:schemeClr val="tx1"/>
                </a:solidFill>
                <a:effectLst/>
                <a:latin typeface="Arial" panose="020B0604020202020204" pitchFamily="34" charset="0"/>
              </a:rPr>
              <a:t> → </a:t>
            </a:r>
            <a:r>
              <a:rPr kumimoji="0" lang="en-US" sz="2200" b="0" i="0" u="none" strike="noStrike" cap="none" normalizeH="0" baseline="0" dirty="0" err="1" smtClean="0">
                <a:ln>
                  <a:noFill/>
                </a:ln>
                <a:solidFill>
                  <a:schemeClr val="tx1"/>
                </a:solidFill>
                <a:effectLst/>
                <a:latin typeface="Arial" panose="020B0604020202020204" pitchFamily="34" charset="0"/>
              </a:rPr>
              <a:t>smartwatches</a:t>
            </a:r>
            <a:r>
              <a:rPr kumimoji="0" lang="en-US" sz="2200" b="0" i="0" u="none" strike="noStrike" cap="none" normalizeH="0" baseline="0" dirty="0" smtClean="0">
                <a:ln>
                  <a:noFill/>
                </a:ln>
                <a:solidFill>
                  <a:schemeClr val="tx1"/>
                </a:solidFill>
                <a:effectLst/>
                <a:latin typeface="Arial" panose="020B0604020202020204" pitchFamily="34" charset="0"/>
              </a:rPr>
              <a:t>, fitness bands, and activity trackers.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Arial" panose="020B0604020202020204" pitchFamily="34" charset="0"/>
              </a:rPr>
              <a:t>Healthcare</a:t>
            </a:r>
            <a:r>
              <a:rPr kumimoji="0" lang="en-US" sz="2200" b="0" i="0" u="none" strike="noStrike" cap="none" normalizeH="0" baseline="0" dirty="0" smtClean="0">
                <a:ln>
                  <a:noFill/>
                </a:ln>
                <a:solidFill>
                  <a:schemeClr val="tx1"/>
                </a:solidFill>
                <a:effectLst/>
                <a:latin typeface="Arial" panose="020B0604020202020204" pitchFamily="34" charset="0"/>
              </a:rPr>
              <a:t> → wireless medical sensors and monitoring devices.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Arial" panose="020B0604020202020204" pitchFamily="34" charset="0"/>
              </a:rPr>
              <a:t>Smart Home</a:t>
            </a:r>
            <a:r>
              <a:rPr kumimoji="0" lang="en-US" sz="2200" b="0" i="0" u="none" strike="noStrike" cap="none" normalizeH="0" baseline="0" dirty="0" smtClean="0">
                <a:ln>
                  <a:noFill/>
                </a:ln>
                <a:solidFill>
                  <a:schemeClr val="tx1"/>
                </a:solidFill>
                <a:effectLst/>
                <a:latin typeface="Arial" panose="020B0604020202020204" pitchFamily="34" charset="0"/>
              </a:rPr>
              <a:t> → lighting control, smart locks, and environmental sensors.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Arial" panose="020B0604020202020204" pitchFamily="34" charset="0"/>
              </a:rPr>
              <a:t>Industrial </a:t>
            </a:r>
            <a:r>
              <a:rPr kumimoji="0" lang="en-US" sz="2200" b="1" i="0" u="none" strike="noStrike" cap="none" normalizeH="0" baseline="0" dirty="0" err="1" smtClean="0">
                <a:ln>
                  <a:noFill/>
                </a:ln>
                <a:solidFill>
                  <a:schemeClr val="tx1"/>
                </a:solidFill>
                <a:effectLst/>
                <a:latin typeface="Arial" panose="020B0604020202020204" pitchFamily="34" charset="0"/>
              </a:rPr>
              <a:t>IoT</a:t>
            </a:r>
            <a:r>
              <a:rPr kumimoji="0" lang="en-US" sz="2200" b="0" i="0" u="none" strike="noStrike" cap="none" normalizeH="0" baseline="0" dirty="0" smtClean="0">
                <a:ln>
                  <a:noFill/>
                </a:ln>
                <a:solidFill>
                  <a:schemeClr val="tx1"/>
                </a:solidFill>
                <a:effectLst/>
                <a:latin typeface="Arial" panose="020B0604020202020204" pitchFamily="34" charset="0"/>
              </a:rPr>
              <a:t> → machine monitoring, asset tracking, and predictive         maintenance.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Arial" panose="020B0604020202020204" pitchFamily="34" charset="0"/>
              </a:rPr>
              <a:t>Automotive</a:t>
            </a:r>
            <a:r>
              <a:rPr kumimoji="0" lang="en-US" sz="2200" b="0" i="0" u="none" strike="noStrike" cap="none" normalizeH="0" baseline="0" dirty="0" smtClean="0">
                <a:ln>
                  <a:noFill/>
                </a:ln>
                <a:solidFill>
                  <a:schemeClr val="tx1"/>
                </a:solidFill>
                <a:effectLst/>
                <a:latin typeface="Arial" panose="020B0604020202020204" pitchFamily="34" charset="0"/>
              </a:rPr>
              <a:t> → keyless entry, tire pressure monitoring, and sensor networks.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Arial" panose="020B0604020202020204" pitchFamily="34" charset="0"/>
              </a:rPr>
              <a:t>Beacons &amp; Location Services</a:t>
            </a:r>
            <a:r>
              <a:rPr kumimoji="0" lang="en-US" sz="2200" b="0" i="0" u="none" strike="noStrike" cap="none" normalizeH="0" baseline="0" dirty="0" smtClean="0">
                <a:ln>
                  <a:noFill/>
                </a:ln>
                <a:solidFill>
                  <a:schemeClr val="tx1"/>
                </a:solidFill>
                <a:effectLst/>
                <a:latin typeface="Arial" panose="020B0604020202020204" pitchFamily="34" charset="0"/>
              </a:rPr>
              <a:t> → indoor navigation, tracking, and proximity services.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Arial" panose="020B0604020202020204" pitchFamily="34" charset="0"/>
              </a:rPr>
              <a:t>Consumer Electronics</a:t>
            </a:r>
            <a:r>
              <a:rPr kumimoji="0" lang="en-US" sz="2200" b="0" i="0" u="none" strike="noStrike" cap="none" normalizeH="0" baseline="0" dirty="0" smtClean="0">
                <a:ln>
                  <a:noFill/>
                </a:ln>
                <a:solidFill>
                  <a:schemeClr val="tx1"/>
                </a:solidFill>
                <a:effectLst/>
                <a:latin typeface="Arial" panose="020B0604020202020204" pitchFamily="34" charset="0"/>
              </a:rPr>
              <a:t> → wireless peripherals like keyboards, mice, and controllers.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Arial" panose="020B0604020202020204" pitchFamily="34" charset="0"/>
              </a:rPr>
              <a:t>Smart Cities</a:t>
            </a:r>
            <a:r>
              <a:rPr kumimoji="0" lang="en-US" sz="2200" b="0" i="0" u="none" strike="noStrike" cap="none" normalizeH="0" baseline="0" dirty="0" smtClean="0">
                <a:ln>
                  <a:noFill/>
                </a:ln>
                <a:solidFill>
                  <a:schemeClr val="tx1"/>
                </a:solidFill>
                <a:effectLst/>
                <a:latin typeface="Arial" panose="020B0604020202020204" pitchFamily="34" charset="0"/>
              </a:rPr>
              <a:t> → traffic monitoring, parking systems, and environmental sensing.</a:t>
            </a:r>
          </a:p>
        </p:txBody>
      </p:sp>
      <p:sp>
        <p:nvSpPr>
          <p:cNvPr id="4" name="Slide Number Placeholder 3"/>
          <p:cNvSpPr>
            <a:spLocks noGrp="1"/>
          </p:cNvSpPr>
          <p:nvPr>
            <p:ph type="sldNum" sz="quarter" idx="12"/>
          </p:nvPr>
        </p:nvSpPr>
        <p:spPr/>
        <p:txBody>
          <a:bodyPr/>
          <a:lstStyle/>
          <a:p>
            <a:fld id="{1C969C84-1BC9-436F-BF08-7FDA0A99E267}" type="slidenum">
              <a:rPr lang="en-US" smtClean="0"/>
              <a:t>6</a:t>
            </a:fld>
            <a:endParaRPr lang="en-US"/>
          </a:p>
        </p:txBody>
      </p:sp>
    </p:spTree>
    <p:extLst>
      <p:ext uri="{BB962C8B-B14F-4D97-AF65-F5344CB8AC3E}">
        <p14:creationId xmlns:p14="http://schemas.microsoft.com/office/powerpoint/2010/main" val="2827520914"/>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rPr>
              <a:t>BLE and Classic Bluetooth </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167473972"/>
              </p:ext>
            </p:extLst>
          </p:nvPr>
        </p:nvGraphicFramePr>
        <p:xfrm>
          <a:off x="838200" y="1394304"/>
          <a:ext cx="10902351" cy="5268915"/>
        </p:xfrm>
        <a:graphic>
          <a:graphicData uri="http://schemas.openxmlformats.org/drawingml/2006/table">
            <a:tbl>
              <a:tblPr firstRow="1" bandRow="1">
                <a:tableStyleId>{5C22544A-7EE6-4342-B048-85BDC9FD1C3A}</a:tableStyleId>
              </a:tblPr>
              <a:tblGrid>
                <a:gridCol w="3634117"/>
                <a:gridCol w="3634117"/>
                <a:gridCol w="3634117"/>
              </a:tblGrid>
              <a:tr h="234283">
                <a:tc>
                  <a:txBody>
                    <a:bodyPr/>
                    <a:lstStyle/>
                    <a:p>
                      <a:pPr>
                        <a:lnSpc>
                          <a:spcPct val="115000"/>
                        </a:lnSpc>
                        <a:spcAft>
                          <a:spcPts val="800"/>
                        </a:spcAft>
                      </a:pPr>
                      <a:r>
                        <a:rPr lang="en-US" sz="1600" b="1" kern="100" dirty="0">
                          <a:solidFill>
                            <a:schemeClr val="lt1"/>
                          </a:solidFill>
                          <a:effectLst/>
                          <a:latin typeface="+mn-lt"/>
                          <a:ea typeface="+mn-ea"/>
                          <a:cs typeface="+mn-cs"/>
                        </a:rPr>
                        <a:t> </a:t>
                      </a:r>
                    </a:p>
                  </a:txBody>
                  <a:tcPr marL="44605" marR="44605" marT="0" marB="0"/>
                </a:tc>
                <a:tc>
                  <a:txBody>
                    <a:bodyPr/>
                    <a:lstStyle/>
                    <a:p>
                      <a:pPr marL="0" algn="l" defTabSz="914400" rtl="0" eaLnBrk="1" latinLnBrk="0" hangingPunct="1">
                        <a:lnSpc>
                          <a:spcPct val="115000"/>
                        </a:lnSpc>
                        <a:spcAft>
                          <a:spcPts val="800"/>
                        </a:spcAft>
                      </a:pPr>
                      <a:r>
                        <a:rPr lang="en-US" sz="1600" b="1" kern="100" dirty="0">
                          <a:solidFill>
                            <a:schemeClr val="lt1"/>
                          </a:solidFill>
                          <a:effectLst/>
                          <a:latin typeface="+mn-lt"/>
                          <a:ea typeface="+mn-ea"/>
                          <a:cs typeface="+mn-cs"/>
                        </a:rPr>
                        <a:t>Bluetooth Classic</a:t>
                      </a:r>
                    </a:p>
                  </a:txBody>
                  <a:tcPr marL="44605" marR="44605" marT="0" marB="0"/>
                </a:tc>
                <a:tc>
                  <a:txBody>
                    <a:bodyPr/>
                    <a:lstStyle/>
                    <a:p>
                      <a:pPr marL="0" algn="l" defTabSz="914400" rtl="0" eaLnBrk="1" latinLnBrk="0" hangingPunct="1">
                        <a:lnSpc>
                          <a:spcPct val="115000"/>
                        </a:lnSpc>
                        <a:spcAft>
                          <a:spcPts val="800"/>
                        </a:spcAft>
                      </a:pPr>
                      <a:r>
                        <a:rPr lang="en-US" sz="1600" b="1" kern="100" dirty="0">
                          <a:solidFill>
                            <a:schemeClr val="lt1"/>
                          </a:solidFill>
                          <a:effectLst/>
                          <a:latin typeface="+mn-lt"/>
                          <a:ea typeface="+mn-ea"/>
                          <a:cs typeface="+mn-cs"/>
                        </a:rPr>
                        <a:t>Bluetooth LE</a:t>
                      </a:r>
                    </a:p>
                  </a:txBody>
                  <a:tcPr marL="44605" marR="44605" marT="0" marB="0"/>
                </a:tc>
              </a:tr>
              <a:tr h="234283">
                <a:tc>
                  <a:txBody>
                    <a:bodyPr/>
                    <a:lstStyle/>
                    <a:p>
                      <a:pPr>
                        <a:lnSpc>
                          <a:spcPct val="115000"/>
                        </a:lnSpc>
                        <a:spcAft>
                          <a:spcPts val="800"/>
                        </a:spcAft>
                      </a:pPr>
                      <a:r>
                        <a:rPr lang="en-US" sz="1600" b="1" kern="100" dirty="0">
                          <a:solidFill>
                            <a:schemeClr val="lt1"/>
                          </a:solidFill>
                          <a:effectLst/>
                          <a:latin typeface="+mn-lt"/>
                          <a:ea typeface="+mn-ea"/>
                          <a:cs typeface="+mn-cs"/>
                        </a:rPr>
                        <a:t>Frequency band</a:t>
                      </a:r>
                    </a:p>
                  </a:txBody>
                  <a:tcPr marL="44605" marR="44605" marT="0" marB="0"/>
                </a:tc>
                <a:tc>
                  <a:txBody>
                    <a:bodyPr/>
                    <a:lstStyle/>
                    <a:p>
                      <a:pPr>
                        <a:lnSpc>
                          <a:spcPct val="115000"/>
                        </a:lnSpc>
                        <a:spcAft>
                          <a:spcPts val="800"/>
                        </a:spcAft>
                      </a:pPr>
                      <a:r>
                        <a:rPr lang="en-US" sz="900" kern="100" dirty="0">
                          <a:effectLst/>
                        </a:rPr>
                        <a:t>2.4 – 2.480 GHz</a:t>
                      </a:r>
                      <a:endParaRPr lang="en-US" sz="900" kern="100" dirty="0">
                        <a:effectLst/>
                        <a:latin typeface="Aptos"/>
                        <a:ea typeface="Aptos"/>
                        <a:cs typeface="Arial" panose="020B0604020202020204" pitchFamily="34" charset="0"/>
                      </a:endParaRPr>
                    </a:p>
                  </a:txBody>
                  <a:tcPr marL="44605" marR="44605" marT="0" marB="0"/>
                </a:tc>
                <a:tc>
                  <a:txBody>
                    <a:bodyPr/>
                    <a:lstStyle/>
                    <a:p>
                      <a:pPr>
                        <a:lnSpc>
                          <a:spcPct val="115000"/>
                        </a:lnSpc>
                        <a:spcAft>
                          <a:spcPts val="800"/>
                        </a:spcAft>
                      </a:pPr>
                      <a:r>
                        <a:rPr lang="en-US" sz="900" kern="100" dirty="0">
                          <a:effectLst/>
                        </a:rPr>
                        <a:t>2.4 – 2.480 GHz</a:t>
                      </a:r>
                      <a:endParaRPr lang="en-US" sz="900" kern="100" dirty="0">
                        <a:effectLst/>
                        <a:latin typeface="Aptos"/>
                        <a:ea typeface="Aptos"/>
                        <a:cs typeface="Arial" panose="020B0604020202020204" pitchFamily="34" charset="0"/>
                      </a:endParaRPr>
                    </a:p>
                  </a:txBody>
                  <a:tcPr marL="44605" marR="44605" marT="0" marB="0"/>
                </a:tc>
              </a:tr>
              <a:tr h="592727">
                <a:tc>
                  <a:txBody>
                    <a:bodyPr/>
                    <a:lstStyle/>
                    <a:p>
                      <a:pPr>
                        <a:lnSpc>
                          <a:spcPct val="115000"/>
                        </a:lnSpc>
                        <a:spcAft>
                          <a:spcPts val="800"/>
                        </a:spcAft>
                      </a:pPr>
                      <a:r>
                        <a:rPr lang="en-US" sz="1600" kern="100" dirty="0">
                          <a:effectLst/>
                        </a:rPr>
                        <a:t>Channels </a:t>
                      </a:r>
                      <a:endParaRPr lang="en-US" sz="1600" kern="100" dirty="0">
                        <a:effectLst/>
                        <a:latin typeface="Aptos"/>
                        <a:ea typeface="Aptos"/>
                        <a:cs typeface="Arial" panose="020B0604020202020204" pitchFamily="34" charset="0"/>
                      </a:endParaRPr>
                    </a:p>
                  </a:txBody>
                  <a:tcPr marL="44605" marR="44605" marT="0" marB="0"/>
                </a:tc>
                <a:tc>
                  <a:txBody>
                    <a:bodyPr/>
                    <a:lstStyle/>
                    <a:p>
                      <a:pPr>
                        <a:lnSpc>
                          <a:spcPct val="115000"/>
                        </a:lnSpc>
                        <a:spcAft>
                          <a:spcPts val="800"/>
                        </a:spcAft>
                      </a:pPr>
                      <a:r>
                        <a:rPr lang="en-US" sz="1200" kern="100" dirty="0">
                          <a:effectLst/>
                        </a:rPr>
                        <a:t/>
                      </a:r>
                      <a:br>
                        <a:rPr lang="en-US" sz="1200" kern="100" dirty="0">
                          <a:effectLst/>
                        </a:rPr>
                      </a:br>
                      <a:r>
                        <a:rPr lang="en-US" sz="1200" kern="100" dirty="0">
                          <a:effectLst/>
                        </a:rPr>
                        <a:t>79 channels with 1 MHz spacing</a:t>
                      </a:r>
                    </a:p>
                    <a:p>
                      <a:pPr>
                        <a:lnSpc>
                          <a:spcPct val="115000"/>
                        </a:lnSpc>
                        <a:spcAft>
                          <a:spcPts val="800"/>
                        </a:spcAft>
                      </a:pPr>
                      <a:r>
                        <a:rPr lang="en-US" sz="1200" kern="100" dirty="0">
                          <a:effectLst/>
                        </a:rPr>
                        <a:t> </a:t>
                      </a:r>
                      <a:endParaRPr lang="en-US" sz="1200" kern="100" dirty="0">
                        <a:effectLst/>
                        <a:latin typeface="Aptos"/>
                        <a:ea typeface="Aptos"/>
                        <a:cs typeface="Arial" panose="020B0604020202020204" pitchFamily="34" charset="0"/>
                      </a:endParaRPr>
                    </a:p>
                  </a:txBody>
                  <a:tcPr marL="44605" marR="44605" marT="0" marB="0"/>
                </a:tc>
                <a:tc>
                  <a:txBody>
                    <a:bodyPr/>
                    <a:lstStyle/>
                    <a:p>
                      <a:pPr>
                        <a:lnSpc>
                          <a:spcPct val="115000"/>
                        </a:lnSpc>
                        <a:spcAft>
                          <a:spcPts val="800"/>
                        </a:spcAft>
                      </a:pPr>
                      <a:r>
                        <a:rPr lang="en-US" sz="1200" kern="100" dirty="0">
                          <a:effectLst/>
                        </a:rPr>
                        <a:t>40 channels with 2 MHz spacing</a:t>
                      </a:r>
                      <a:br>
                        <a:rPr lang="en-US" sz="1200" kern="100" dirty="0">
                          <a:effectLst/>
                        </a:rPr>
                      </a:br>
                      <a:r>
                        <a:rPr lang="en-US" sz="1200" kern="100" dirty="0">
                          <a:effectLst/>
                        </a:rPr>
                        <a:t>(3 advertising channels/37 data channels)</a:t>
                      </a:r>
                    </a:p>
                    <a:p>
                      <a:pPr>
                        <a:lnSpc>
                          <a:spcPct val="115000"/>
                        </a:lnSpc>
                        <a:spcAft>
                          <a:spcPts val="800"/>
                        </a:spcAft>
                      </a:pPr>
                      <a:r>
                        <a:rPr lang="en-US" sz="1200" kern="100" dirty="0">
                          <a:effectLst/>
                        </a:rPr>
                        <a:t> </a:t>
                      </a:r>
                      <a:endParaRPr lang="en-US" sz="1200" kern="100" dirty="0">
                        <a:effectLst/>
                        <a:latin typeface="Aptos"/>
                        <a:ea typeface="Aptos"/>
                        <a:cs typeface="Arial" panose="020B0604020202020204" pitchFamily="34" charset="0"/>
                      </a:endParaRPr>
                    </a:p>
                  </a:txBody>
                  <a:tcPr marL="44605" marR="44605" marT="0" marB="0"/>
                </a:tc>
              </a:tr>
              <a:tr h="927317">
                <a:tc>
                  <a:txBody>
                    <a:bodyPr/>
                    <a:lstStyle/>
                    <a:p>
                      <a:pPr>
                        <a:lnSpc>
                          <a:spcPct val="115000"/>
                        </a:lnSpc>
                        <a:spcAft>
                          <a:spcPts val="800"/>
                        </a:spcAft>
                      </a:pPr>
                      <a:r>
                        <a:rPr lang="en-US" sz="1600" kern="100" dirty="0">
                          <a:effectLst/>
                        </a:rPr>
                        <a:t>Modulation</a:t>
                      </a:r>
                      <a:endParaRPr lang="en-US" sz="1600" kern="100" dirty="0">
                        <a:effectLst/>
                        <a:latin typeface="Aptos"/>
                        <a:ea typeface="Aptos"/>
                        <a:cs typeface="Arial" panose="020B0604020202020204" pitchFamily="34" charset="0"/>
                      </a:endParaRPr>
                    </a:p>
                  </a:txBody>
                  <a:tcPr marL="44605" marR="44605" marT="0" marB="0"/>
                </a:tc>
                <a:tc>
                  <a:txBody>
                    <a:bodyPr/>
                    <a:lstStyle/>
                    <a:p>
                      <a:pPr>
                        <a:lnSpc>
                          <a:spcPct val="115000"/>
                        </a:lnSpc>
                        <a:spcAft>
                          <a:spcPts val="800"/>
                        </a:spcAft>
                      </a:pPr>
                      <a:r>
                        <a:rPr lang="en-US" sz="1200" kern="100" dirty="0">
                          <a:effectLst/>
                        </a:rPr>
                        <a:t>GFSK: bit per symbol</a:t>
                      </a:r>
                    </a:p>
                    <a:p>
                      <a:pPr>
                        <a:lnSpc>
                          <a:spcPct val="115000"/>
                        </a:lnSpc>
                        <a:spcAft>
                          <a:spcPts val="800"/>
                        </a:spcAft>
                      </a:pPr>
                      <a:r>
                        <a:rPr lang="en-US" sz="1200" kern="100" dirty="0">
                          <a:effectLst/>
                        </a:rPr>
                        <a:t>π/4-DQPSK :2bit per symbol higher throughput </a:t>
                      </a:r>
                    </a:p>
                    <a:p>
                      <a:pPr>
                        <a:lnSpc>
                          <a:spcPct val="115000"/>
                        </a:lnSpc>
                        <a:spcAft>
                          <a:spcPts val="800"/>
                        </a:spcAft>
                      </a:pPr>
                      <a:r>
                        <a:rPr lang="en-US" sz="1200" kern="100" dirty="0">
                          <a:effectLst/>
                        </a:rPr>
                        <a:t>8DPSK : 3bit per symbol</a:t>
                      </a:r>
                    </a:p>
                    <a:p>
                      <a:pPr>
                        <a:lnSpc>
                          <a:spcPct val="115000"/>
                        </a:lnSpc>
                        <a:spcAft>
                          <a:spcPts val="800"/>
                        </a:spcAft>
                      </a:pPr>
                      <a:r>
                        <a:rPr lang="en-US" sz="1200" kern="100" dirty="0">
                          <a:effectLst/>
                        </a:rPr>
                        <a:t> </a:t>
                      </a:r>
                      <a:endParaRPr lang="en-US" sz="1200" kern="100" dirty="0">
                        <a:effectLst/>
                        <a:latin typeface="Aptos"/>
                        <a:ea typeface="Aptos"/>
                        <a:cs typeface="Arial" panose="020B0604020202020204" pitchFamily="34" charset="0"/>
                      </a:endParaRPr>
                    </a:p>
                  </a:txBody>
                  <a:tcPr marL="44605" marR="44605" marT="0" marB="0"/>
                </a:tc>
                <a:tc>
                  <a:txBody>
                    <a:bodyPr/>
                    <a:lstStyle/>
                    <a:p>
                      <a:pPr>
                        <a:lnSpc>
                          <a:spcPct val="115000"/>
                        </a:lnSpc>
                        <a:spcAft>
                          <a:spcPts val="800"/>
                        </a:spcAft>
                      </a:pPr>
                      <a:r>
                        <a:rPr lang="en-US" sz="1200" kern="100" dirty="0">
                          <a:effectLst/>
                        </a:rPr>
                        <a:t>GFSK : lower throughput </a:t>
                      </a:r>
                      <a:endParaRPr lang="en-US" sz="1200" kern="100" dirty="0">
                        <a:effectLst/>
                        <a:latin typeface="Aptos"/>
                        <a:ea typeface="Aptos"/>
                        <a:cs typeface="Arial" panose="020B0604020202020204" pitchFamily="34" charset="0"/>
                      </a:endParaRPr>
                    </a:p>
                  </a:txBody>
                  <a:tcPr marL="44605" marR="44605" marT="0" marB="0"/>
                </a:tc>
              </a:tr>
              <a:tr h="680690">
                <a:tc>
                  <a:txBody>
                    <a:bodyPr/>
                    <a:lstStyle/>
                    <a:p>
                      <a:pPr>
                        <a:lnSpc>
                          <a:spcPct val="115000"/>
                        </a:lnSpc>
                        <a:spcAft>
                          <a:spcPts val="800"/>
                        </a:spcAft>
                      </a:pPr>
                      <a:r>
                        <a:rPr lang="en-US" sz="1600" kern="100" dirty="0">
                          <a:effectLst/>
                        </a:rPr>
                        <a:t>Data Rate</a:t>
                      </a:r>
                      <a:endParaRPr lang="en-US" sz="1600" kern="100" dirty="0">
                        <a:effectLst/>
                        <a:latin typeface="Aptos"/>
                        <a:ea typeface="Aptos"/>
                        <a:cs typeface="Arial" panose="020B0604020202020204" pitchFamily="34" charset="0"/>
                      </a:endParaRPr>
                    </a:p>
                  </a:txBody>
                  <a:tcPr marL="44605" marR="44605" marT="0" marB="0"/>
                </a:tc>
                <a:tc>
                  <a:txBody>
                    <a:bodyPr/>
                    <a:lstStyle/>
                    <a:p>
                      <a:pPr>
                        <a:lnSpc>
                          <a:spcPct val="115000"/>
                        </a:lnSpc>
                        <a:spcAft>
                          <a:spcPts val="800"/>
                        </a:spcAft>
                      </a:pPr>
                      <a:r>
                        <a:rPr lang="en-US" sz="1200" kern="100" dirty="0">
                          <a:effectLst/>
                        </a:rPr>
                        <a:t>EDR PHY (8DPSK): 3 Mb/s</a:t>
                      </a:r>
                      <a:br>
                        <a:rPr lang="en-US" sz="1200" kern="100" dirty="0">
                          <a:effectLst/>
                        </a:rPr>
                      </a:br>
                      <a:r>
                        <a:rPr lang="en-US" sz="1200" kern="100" dirty="0">
                          <a:effectLst/>
                        </a:rPr>
                        <a:t>EDR PHY (π/4 DQPSK): 2 Mb/s</a:t>
                      </a:r>
                      <a:br>
                        <a:rPr lang="en-US" sz="1200" kern="100" dirty="0">
                          <a:effectLst/>
                        </a:rPr>
                      </a:br>
                      <a:r>
                        <a:rPr lang="en-US" sz="1200" kern="100" dirty="0">
                          <a:effectLst/>
                        </a:rPr>
                        <a:t>BR PHY (GFSK): 1 Mb/s</a:t>
                      </a:r>
                      <a:endParaRPr lang="en-US" sz="1200" kern="100" dirty="0">
                        <a:effectLst/>
                        <a:latin typeface="Aptos"/>
                        <a:ea typeface="Aptos"/>
                        <a:cs typeface="Arial" panose="020B0604020202020204" pitchFamily="34" charset="0"/>
                      </a:endParaRPr>
                    </a:p>
                  </a:txBody>
                  <a:tcPr marL="44605" marR="44605" marT="0" marB="0"/>
                </a:tc>
                <a:tc>
                  <a:txBody>
                    <a:bodyPr/>
                    <a:lstStyle/>
                    <a:p>
                      <a:pPr>
                        <a:lnSpc>
                          <a:spcPct val="115000"/>
                        </a:lnSpc>
                        <a:spcAft>
                          <a:spcPts val="800"/>
                        </a:spcAft>
                      </a:pPr>
                      <a:r>
                        <a:rPr lang="en-US" sz="1200" kern="100" dirty="0">
                          <a:effectLst/>
                        </a:rPr>
                        <a:t>LE 2M PHY: 2 Mb/s</a:t>
                      </a:r>
                      <a:br>
                        <a:rPr lang="en-US" sz="1200" kern="100" dirty="0">
                          <a:effectLst/>
                        </a:rPr>
                      </a:br>
                      <a:r>
                        <a:rPr lang="en-US" sz="1200" kern="100" dirty="0">
                          <a:effectLst/>
                        </a:rPr>
                        <a:t>LE 1M PHY: 1 Mb/s</a:t>
                      </a:r>
                      <a:br>
                        <a:rPr lang="en-US" sz="1200" kern="100" dirty="0">
                          <a:effectLst/>
                        </a:rPr>
                      </a:br>
                      <a:r>
                        <a:rPr lang="en-US" sz="1200" kern="100" dirty="0">
                          <a:effectLst/>
                        </a:rPr>
                        <a:t>LE Coded PHY (S=2): 500 Kb/s</a:t>
                      </a:r>
                      <a:br>
                        <a:rPr lang="en-US" sz="1200" kern="100" dirty="0">
                          <a:effectLst/>
                        </a:rPr>
                      </a:br>
                      <a:r>
                        <a:rPr lang="en-US" sz="1200" kern="100" dirty="0">
                          <a:effectLst/>
                        </a:rPr>
                        <a:t>LE Coded PHY (S=8): 125 Kb/s</a:t>
                      </a:r>
                      <a:endParaRPr lang="en-US" sz="1200" kern="100" dirty="0">
                        <a:effectLst/>
                        <a:latin typeface="Aptos"/>
                        <a:ea typeface="Aptos"/>
                        <a:cs typeface="Arial" panose="020B0604020202020204" pitchFamily="34" charset="0"/>
                      </a:endParaRPr>
                    </a:p>
                  </a:txBody>
                  <a:tcPr marL="44605" marR="44605" marT="0" marB="0"/>
                </a:tc>
              </a:tr>
              <a:tr h="1179699">
                <a:tc>
                  <a:txBody>
                    <a:bodyPr/>
                    <a:lstStyle/>
                    <a:p>
                      <a:pPr>
                        <a:lnSpc>
                          <a:spcPct val="115000"/>
                        </a:lnSpc>
                        <a:spcAft>
                          <a:spcPts val="800"/>
                        </a:spcAft>
                      </a:pPr>
                      <a:r>
                        <a:rPr lang="en-US" sz="1600" kern="100" dirty="0">
                          <a:effectLst/>
                        </a:rPr>
                        <a:t>Data Transports	</a:t>
                      </a:r>
                      <a:endParaRPr lang="en-US" sz="1600" kern="100" dirty="0">
                        <a:effectLst/>
                        <a:latin typeface="Aptos"/>
                        <a:ea typeface="Aptos"/>
                        <a:cs typeface="Arial" panose="020B0604020202020204" pitchFamily="34" charset="0"/>
                      </a:endParaRPr>
                    </a:p>
                  </a:txBody>
                  <a:tcPr marL="44605" marR="44605" marT="0" marB="0"/>
                </a:tc>
                <a:tc>
                  <a:txBody>
                    <a:bodyPr/>
                    <a:lstStyle/>
                    <a:p>
                      <a:pPr>
                        <a:lnSpc>
                          <a:spcPct val="115000"/>
                        </a:lnSpc>
                        <a:spcAft>
                          <a:spcPts val="800"/>
                        </a:spcAft>
                      </a:pPr>
                      <a:r>
                        <a:rPr lang="en-US" sz="1200" kern="100" dirty="0">
                          <a:effectLst/>
                        </a:rPr>
                        <a:t>Asynchronous Connection-oriented</a:t>
                      </a:r>
                      <a:br>
                        <a:rPr lang="en-US" sz="1200" kern="100" dirty="0">
                          <a:effectLst/>
                        </a:rPr>
                      </a:br>
                      <a:r>
                        <a:rPr lang="en-US" sz="1200" kern="100" dirty="0">
                          <a:effectLst/>
                        </a:rPr>
                        <a:t>Synchronous Connection-oriented</a:t>
                      </a:r>
                      <a:endParaRPr lang="en-US" sz="1200" kern="100" dirty="0">
                        <a:effectLst/>
                        <a:latin typeface="Aptos"/>
                        <a:ea typeface="Aptos"/>
                        <a:cs typeface="Arial" panose="020B0604020202020204" pitchFamily="34" charset="0"/>
                      </a:endParaRPr>
                    </a:p>
                  </a:txBody>
                  <a:tcPr marL="44605" marR="44605" marT="0" marB="0"/>
                </a:tc>
                <a:tc>
                  <a:txBody>
                    <a:bodyPr/>
                    <a:lstStyle/>
                    <a:p>
                      <a:pPr>
                        <a:lnSpc>
                          <a:spcPct val="115000"/>
                        </a:lnSpc>
                        <a:spcAft>
                          <a:spcPts val="800"/>
                        </a:spcAft>
                      </a:pPr>
                      <a:r>
                        <a:rPr lang="en-US" sz="1200" kern="100" dirty="0">
                          <a:effectLst/>
                        </a:rPr>
                        <a:t>Asynchronous Connection-oriented</a:t>
                      </a:r>
                    </a:p>
                    <a:p>
                      <a:pPr>
                        <a:lnSpc>
                          <a:spcPct val="115000"/>
                        </a:lnSpc>
                        <a:spcAft>
                          <a:spcPts val="800"/>
                        </a:spcAft>
                      </a:pPr>
                      <a:r>
                        <a:rPr lang="en-US" sz="1200" kern="100" dirty="0">
                          <a:effectLst/>
                        </a:rPr>
                        <a:t>Isochronous Connection-oriented</a:t>
                      </a:r>
                    </a:p>
                    <a:p>
                      <a:pPr>
                        <a:lnSpc>
                          <a:spcPct val="115000"/>
                        </a:lnSpc>
                        <a:spcAft>
                          <a:spcPts val="800"/>
                        </a:spcAft>
                      </a:pPr>
                      <a:r>
                        <a:rPr lang="en-US" sz="1200" kern="100" dirty="0">
                          <a:effectLst/>
                        </a:rPr>
                        <a:t>Asynchronous Connectionless</a:t>
                      </a:r>
                    </a:p>
                    <a:p>
                      <a:pPr>
                        <a:lnSpc>
                          <a:spcPct val="115000"/>
                        </a:lnSpc>
                        <a:spcAft>
                          <a:spcPts val="800"/>
                        </a:spcAft>
                      </a:pPr>
                      <a:r>
                        <a:rPr lang="en-US" sz="1200" kern="100" dirty="0">
                          <a:effectLst/>
                        </a:rPr>
                        <a:t>Synchronous Connectionless</a:t>
                      </a:r>
                    </a:p>
                    <a:p>
                      <a:pPr>
                        <a:lnSpc>
                          <a:spcPct val="115000"/>
                        </a:lnSpc>
                        <a:spcAft>
                          <a:spcPts val="800"/>
                        </a:spcAft>
                      </a:pPr>
                      <a:r>
                        <a:rPr lang="en-US" sz="1200" kern="100" dirty="0">
                          <a:effectLst/>
                        </a:rPr>
                        <a:t>Isochronous Connectionless</a:t>
                      </a:r>
                      <a:endParaRPr lang="en-US" sz="1200" kern="100" dirty="0">
                        <a:effectLst/>
                        <a:latin typeface="Aptos"/>
                        <a:ea typeface="Aptos"/>
                        <a:cs typeface="Arial" panose="020B0604020202020204" pitchFamily="34" charset="0"/>
                      </a:endParaRPr>
                    </a:p>
                  </a:txBody>
                  <a:tcPr marL="44605" marR="44605" marT="0" marB="0"/>
                </a:tc>
              </a:tr>
              <a:tr h="510518">
                <a:tc>
                  <a:txBody>
                    <a:bodyPr/>
                    <a:lstStyle/>
                    <a:p>
                      <a:pPr>
                        <a:lnSpc>
                          <a:spcPct val="115000"/>
                        </a:lnSpc>
                        <a:spcAft>
                          <a:spcPts val="800"/>
                        </a:spcAft>
                      </a:pPr>
                      <a:r>
                        <a:rPr lang="en-US" sz="1600" kern="100" dirty="0">
                          <a:effectLst/>
                        </a:rPr>
                        <a:t>Communication Topologies	</a:t>
                      </a:r>
                      <a:endParaRPr lang="en-US" sz="1600" kern="100" dirty="0">
                        <a:effectLst/>
                        <a:latin typeface="Aptos"/>
                        <a:ea typeface="Aptos"/>
                        <a:cs typeface="Arial" panose="020B0604020202020204" pitchFamily="34" charset="0"/>
                      </a:endParaRPr>
                    </a:p>
                  </a:txBody>
                  <a:tcPr marL="44605" marR="44605" marT="0" marB="0"/>
                </a:tc>
                <a:tc>
                  <a:txBody>
                    <a:bodyPr/>
                    <a:lstStyle/>
                    <a:p>
                      <a:pPr>
                        <a:lnSpc>
                          <a:spcPct val="115000"/>
                        </a:lnSpc>
                        <a:spcAft>
                          <a:spcPts val="800"/>
                        </a:spcAft>
                      </a:pPr>
                      <a:r>
                        <a:rPr lang="en-US" sz="1200" kern="100">
                          <a:effectLst/>
                        </a:rPr>
                        <a:t>Point-to-Point (including piconet)</a:t>
                      </a:r>
                      <a:endParaRPr lang="en-US" sz="1200" kern="100">
                        <a:effectLst/>
                        <a:latin typeface="Aptos"/>
                        <a:ea typeface="Aptos"/>
                        <a:cs typeface="Arial" panose="020B0604020202020204" pitchFamily="34" charset="0"/>
                      </a:endParaRPr>
                    </a:p>
                  </a:txBody>
                  <a:tcPr marL="44605" marR="44605" marT="0" marB="0"/>
                </a:tc>
                <a:tc>
                  <a:txBody>
                    <a:bodyPr/>
                    <a:lstStyle/>
                    <a:p>
                      <a:pPr>
                        <a:lnSpc>
                          <a:spcPct val="115000"/>
                        </a:lnSpc>
                        <a:spcAft>
                          <a:spcPts val="800"/>
                        </a:spcAft>
                      </a:pPr>
                      <a:r>
                        <a:rPr lang="en-US" sz="1200" kern="100" dirty="0">
                          <a:effectLst/>
                        </a:rPr>
                        <a:t>Point-to-Point (including </a:t>
                      </a:r>
                      <a:r>
                        <a:rPr lang="en-US" sz="1200" kern="100" dirty="0" err="1">
                          <a:effectLst/>
                        </a:rPr>
                        <a:t>piconet</a:t>
                      </a:r>
                      <a:r>
                        <a:rPr lang="en-US" sz="1200" kern="100" dirty="0">
                          <a:effectLst/>
                        </a:rPr>
                        <a:t>)</a:t>
                      </a:r>
                      <a:br>
                        <a:rPr lang="en-US" sz="1200" kern="100" dirty="0">
                          <a:effectLst/>
                        </a:rPr>
                      </a:br>
                      <a:r>
                        <a:rPr lang="en-US" sz="1200" kern="100" dirty="0">
                          <a:effectLst/>
                        </a:rPr>
                        <a:t>Broadcast</a:t>
                      </a:r>
                      <a:br>
                        <a:rPr lang="en-US" sz="1200" kern="100" dirty="0">
                          <a:effectLst/>
                        </a:rPr>
                      </a:br>
                      <a:r>
                        <a:rPr lang="en-US" sz="1200" kern="100" dirty="0">
                          <a:effectLst/>
                        </a:rPr>
                        <a:t>Mesh</a:t>
                      </a:r>
                      <a:endParaRPr lang="en-US" sz="1200" kern="100" dirty="0">
                        <a:effectLst/>
                        <a:latin typeface="Aptos"/>
                        <a:ea typeface="Aptos"/>
                        <a:cs typeface="Arial" panose="020B0604020202020204" pitchFamily="34" charset="0"/>
                      </a:endParaRPr>
                    </a:p>
                  </a:txBody>
                  <a:tcPr marL="44605" marR="44605" marT="0" marB="0"/>
                </a:tc>
              </a:tr>
            </a:tbl>
          </a:graphicData>
        </a:graphic>
      </p:graphicFrame>
    </p:spTree>
    <p:extLst>
      <p:ext uri="{BB962C8B-B14F-4D97-AF65-F5344CB8AC3E}">
        <p14:creationId xmlns:p14="http://schemas.microsoft.com/office/powerpoint/2010/main" val="3350570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rPr>
              <a:t>BLE and Classic Bluetooth </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071287148"/>
              </p:ext>
            </p:extLst>
          </p:nvPr>
        </p:nvGraphicFramePr>
        <p:xfrm>
          <a:off x="838201" y="1338271"/>
          <a:ext cx="10591800" cy="5131538"/>
        </p:xfrm>
        <a:graphic>
          <a:graphicData uri="http://schemas.openxmlformats.org/drawingml/2006/table">
            <a:tbl>
              <a:tblPr firstRow="1" bandRow="1">
                <a:tableStyleId>{5C22544A-7EE6-4342-B048-85BDC9FD1C3A}</a:tableStyleId>
              </a:tblPr>
              <a:tblGrid>
                <a:gridCol w="3530600"/>
                <a:gridCol w="3530600"/>
                <a:gridCol w="3530600"/>
              </a:tblGrid>
              <a:tr h="271048">
                <a:tc>
                  <a:txBody>
                    <a:bodyPr/>
                    <a:lstStyle/>
                    <a:p>
                      <a:pPr>
                        <a:lnSpc>
                          <a:spcPct val="115000"/>
                        </a:lnSpc>
                        <a:spcAft>
                          <a:spcPts val="800"/>
                        </a:spcAft>
                      </a:pPr>
                      <a:r>
                        <a:rPr lang="en-US" sz="1600" b="1" kern="100" dirty="0">
                          <a:solidFill>
                            <a:schemeClr val="lt1"/>
                          </a:solidFill>
                          <a:effectLst/>
                          <a:latin typeface="+mn-lt"/>
                          <a:ea typeface="+mn-ea"/>
                          <a:cs typeface="+mn-cs"/>
                        </a:rPr>
                        <a:t> </a:t>
                      </a:r>
                    </a:p>
                  </a:txBody>
                  <a:tcPr marL="44605" marR="44605" marT="0" marB="0"/>
                </a:tc>
                <a:tc>
                  <a:txBody>
                    <a:bodyPr/>
                    <a:lstStyle/>
                    <a:p>
                      <a:pPr marL="0" algn="l" defTabSz="914400" rtl="0" eaLnBrk="1" latinLnBrk="0" hangingPunct="1">
                        <a:lnSpc>
                          <a:spcPct val="115000"/>
                        </a:lnSpc>
                        <a:spcAft>
                          <a:spcPts val="800"/>
                        </a:spcAft>
                      </a:pPr>
                      <a:r>
                        <a:rPr lang="en-US" sz="1800" b="1" kern="100" dirty="0">
                          <a:solidFill>
                            <a:schemeClr val="lt1"/>
                          </a:solidFill>
                          <a:effectLst/>
                          <a:latin typeface="+mn-lt"/>
                          <a:ea typeface="+mn-ea"/>
                          <a:cs typeface="+mn-cs"/>
                        </a:rPr>
                        <a:t>Bluetooth Classic</a:t>
                      </a:r>
                    </a:p>
                  </a:txBody>
                  <a:tcPr marL="44605" marR="44605" marT="0" marB="0"/>
                </a:tc>
                <a:tc>
                  <a:txBody>
                    <a:bodyPr/>
                    <a:lstStyle/>
                    <a:p>
                      <a:pPr marL="0" algn="l" defTabSz="914400" rtl="0" eaLnBrk="1" latinLnBrk="0" hangingPunct="1">
                        <a:lnSpc>
                          <a:spcPct val="115000"/>
                        </a:lnSpc>
                        <a:spcAft>
                          <a:spcPts val="800"/>
                        </a:spcAft>
                      </a:pPr>
                      <a:r>
                        <a:rPr lang="en-US" sz="1800" b="1" kern="100" dirty="0">
                          <a:solidFill>
                            <a:schemeClr val="lt1"/>
                          </a:solidFill>
                          <a:effectLst/>
                          <a:latin typeface="+mn-lt"/>
                          <a:ea typeface="+mn-ea"/>
                          <a:cs typeface="+mn-cs"/>
                        </a:rPr>
                        <a:t>Bluetooth LE</a:t>
                      </a:r>
                    </a:p>
                  </a:txBody>
                  <a:tcPr marL="44605" marR="44605" marT="0" marB="0"/>
                </a:tc>
              </a:tr>
              <a:tr h="271048">
                <a:tc>
                  <a:txBody>
                    <a:bodyPr/>
                    <a:lstStyle/>
                    <a:p>
                      <a:pPr>
                        <a:lnSpc>
                          <a:spcPct val="115000"/>
                        </a:lnSpc>
                        <a:spcAft>
                          <a:spcPts val="800"/>
                        </a:spcAft>
                      </a:pPr>
                      <a:r>
                        <a:rPr lang="en-US" sz="1800" b="1" kern="100" dirty="0">
                          <a:solidFill>
                            <a:schemeClr val="bg1"/>
                          </a:solidFill>
                          <a:effectLst/>
                          <a:latin typeface="+mn-lt"/>
                          <a:ea typeface="+mn-ea"/>
                          <a:cs typeface="+mn-cs"/>
                        </a:rPr>
                        <a:t>Frequency band</a:t>
                      </a:r>
                    </a:p>
                  </a:txBody>
                  <a:tcPr marL="44605" marR="44605" marT="0" marB="0"/>
                </a:tc>
                <a:tc>
                  <a:txBody>
                    <a:bodyPr/>
                    <a:lstStyle/>
                    <a:p>
                      <a:pPr>
                        <a:lnSpc>
                          <a:spcPct val="115000"/>
                        </a:lnSpc>
                        <a:spcAft>
                          <a:spcPts val="800"/>
                        </a:spcAft>
                      </a:pPr>
                      <a:r>
                        <a:rPr lang="en-US" sz="1600" kern="1200" dirty="0">
                          <a:solidFill>
                            <a:schemeClr val="tx1"/>
                          </a:solidFill>
                          <a:latin typeface="+mn-lt"/>
                          <a:ea typeface="+mn-ea"/>
                          <a:cs typeface="+mn-cs"/>
                        </a:rPr>
                        <a:t>2.4 – 2.480 GHz</a:t>
                      </a:r>
                    </a:p>
                  </a:txBody>
                  <a:tcPr marL="44605" marR="44605" marT="0" marB="0"/>
                </a:tc>
                <a:tc>
                  <a:txBody>
                    <a:bodyPr/>
                    <a:lstStyle/>
                    <a:p>
                      <a:pPr>
                        <a:lnSpc>
                          <a:spcPct val="115000"/>
                        </a:lnSpc>
                        <a:spcAft>
                          <a:spcPts val="800"/>
                        </a:spcAft>
                      </a:pPr>
                      <a:r>
                        <a:rPr lang="en-US" sz="1600" kern="1200" dirty="0">
                          <a:solidFill>
                            <a:schemeClr val="tx1"/>
                          </a:solidFill>
                          <a:latin typeface="+mn-lt"/>
                          <a:ea typeface="+mn-ea"/>
                          <a:cs typeface="+mn-cs"/>
                        </a:rPr>
                        <a:t>2.4 – 2.480 GHz</a:t>
                      </a:r>
                    </a:p>
                  </a:txBody>
                  <a:tcPr marL="44605" marR="44605" marT="0" marB="0"/>
                </a:tc>
              </a:tr>
              <a:tr h="691247">
                <a:tc>
                  <a:txBody>
                    <a:bodyPr/>
                    <a:lstStyle/>
                    <a:p>
                      <a:pPr algn="l">
                        <a:spcAft>
                          <a:spcPts val="600"/>
                        </a:spcAft>
                      </a:pPr>
                      <a:r>
                        <a:rPr lang="en-US" b="1" dirty="0" smtClean="0"/>
                        <a:t>power </a:t>
                      </a:r>
                      <a:r>
                        <a:rPr lang="en-US" b="1" dirty="0"/>
                        <a:t>Consumption</a:t>
                      </a:r>
                      <a:endParaRPr lang="en-US" dirty="0"/>
                    </a:p>
                  </a:txBody>
                  <a:tcPr/>
                </a:tc>
                <a:tc>
                  <a:txBody>
                    <a:bodyPr/>
                    <a:lstStyle/>
                    <a:p>
                      <a:r>
                        <a:rPr lang="en-US" sz="1600" dirty="0"/>
                        <a:t>Very low (optimized for long </a:t>
                      </a:r>
                      <a:r>
                        <a:rPr lang="en-US" sz="1600" kern="1200" dirty="0">
                          <a:solidFill>
                            <a:schemeClr val="dk1"/>
                          </a:solidFill>
                          <a:latin typeface="+mn-lt"/>
                          <a:ea typeface="+mn-ea"/>
                          <a:cs typeface="+mn-cs"/>
                        </a:rPr>
                        <a:t>battery</a:t>
                      </a:r>
                      <a:r>
                        <a:rPr lang="en-US" sz="1600" dirty="0"/>
                        <a:t> life)</a:t>
                      </a:r>
                    </a:p>
                  </a:txBody>
                  <a:tcPr/>
                </a:tc>
                <a:tc>
                  <a:txBody>
                    <a:bodyPr/>
                    <a:lstStyle/>
                    <a:p>
                      <a:r>
                        <a:rPr lang="en-US" sz="1600"/>
                        <a:t>Higher (not suitable for coin cells)</a:t>
                      </a:r>
                    </a:p>
                  </a:txBody>
                  <a:tcPr/>
                </a:tc>
              </a:tr>
              <a:tr h="1081451">
                <a:tc>
                  <a:txBody>
                    <a:bodyPr/>
                    <a:lstStyle/>
                    <a:p>
                      <a:pPr algn="l">
                        <a:spcAft>
                          <a:spcPts val="600"/>
                        </a:spcAft>
                      </a:pPr>
                      <a:r>
                        <a:rPr lang="en-US" b="1" dirty="0"/>
                        <a:t>Application Focus</a:t>
                      </a:r>
                      <a:endParaRPr lang="en-US" dirty="0"/>
                    </a:p>
                  </a:txBody>
                  <a:tcPr/>
                </a:tc>
                <a:tc>
                  <a:txBody>
                    <a:bodyPr/>
                    <a:lstStyle/>
                    <a:p>
                      <a:r>
                        <a:rPr lang="en-US" sz="1600" dirty="0"/>
                        <a:t>Measurement &amp; control (small data)</a:t>
                      </a:r>
                    </a:p>
                  </a:txBody>
                  <a:tcPr/>
                </a:tc>
                <a:tc>
                  <a:txBody>
                    <a:bodyPr/>
                    <a:lstStyle/>
                    <a:p>
                      <a:r>
                        <a:rPr lang="en-US" sz="1600"/>
                        <a:t>Continuous streaming (audio, data)</a:t>
                      </a:r>
                    </a:p>
                  </a:txBody>
                  <a:tcPr/>
                </a:tc>
              </a:tr>
              <a:tr h="793831">
                <a:tc>
                  <a:txBody>
                    <a:bodyPr/>
                    <a:lstStyle/>
                    <a:p>
                      <a:pPr algn="l">
                        <a:spcAft>
                          <a:spcPts val="600"/>
                        </a:spcAft>
                      </a:pPr>
                      <a:r>
                        <a:rPr lang="en-US" b="1" dirty="0"/>
                        <a:t>Throughput</a:t>
                      </a:r>
                      <a:endParaRPr lang="en-US" dirty="0"/>
                    </a:p>
                  </a:txBody>
                  <a:tcPr/>
                </a:tc>
                <a:tc>
                  <a:txBody>
                    <a:bodyPr/>
                    <a:lstStyle/>
                    <a:p>
                      <a:r>
                        <a:rPr lang="en-US" sz="1600" dirty="0"/>
                        <a:t>Lower (~1–2 Mbps)</a:t>
                      </a:r>
                    </a:p>
                  </a:txBody>
                  <a:tcPr/>
                </a:tc>
                <a:tc>
                  <a:txBody>
                    <a:bodyPr/>
                    <a:lstStyle/>
                    <a:p>
                      <a:r>
                        <a:rPr lang="en-US" sz="1600"/>
                        <a:t>Higher (~3 Mbps)</a:t>
                      </a:r>
                    </a:p>
                  </a:txBody>
                  <a:tcPr/>
                </a:tc>
              </a:tr>
              <a:tr h="1375783">
                <a:tc>
                  <a:txBody>
                    <a:bodyPr/>
                    <a:lstStyle/>
                    <a:p>
                      <a:pPr algn="l">
                        <a:spcAft>
                          <a:spcPts val="600"/>
                        </a:spcAft>
                      </a:pPr>
                      <a:r>
                        <a:rPr lang="en-US" b="1" dirty="0"/>
                        <a:t>Latency</a:t>
                      </a:r>
                      <a:endParaRPr lang="en-US" dirty="0"/>
                    </a:p>
                  </a:txBody>
                  <a:tcPr/>
                </a:tc>
                <a:tc>
                  <a:txBody>
                    <a:bodyPr/>
                    <a:lstStyle/>
                    <a:p>
                      <a:r>
                        <a:rPr lang="en-US" sz="1600" dirty="0"/>
                        <a:t>Low, fast connection setup</a:t>
                      </a:r>
                    </a:p>
                  </a:txBody>
                  <a:tcPr/>
                </a:tc>
                <a:tc>
                  <a:txBody>
                    <a:bodyPr/>
                    <a:lstStyle/>
                    <a:p>
                      <a:r>
                        <a:rPr lang="en-US" sz="1600" dirty="0"/>
                        <a:t>Higher latency, slower setup</a:t>
                      </a:r>
                    </a:p>
                  </a:txBody>
                  <a:tcPr/>
                </a:tc>
              </a:tr>
              <a:tr h="595374">
                <a:tc>
                  <a:txBody>
                    <a:bodyPr/>
                    <a:lstStyle/>
                    <a:p>
                      <a:pPr algn="l">
                        <a:spcAft>
                          <a:spcPts val="600"/>
                        </a:spcAft>
                      </a:pPr>
                      <a:r>
                        <a:rPr lang="en-US" b="1" dirty="0"/>
                        <a:t>Voice Capability</a:t>
                      </a:r>
                      <a:endParaRPr lang="en-US" dirty="0"/>
                    </a:p>
                  </a:txBody>
                  <a:tcPr/>
                </a:tc>
                <a:tc>
                  <a:txBody>
                    <a:bodyPr/>
                    <a:lstStyle/>
                    <a:p>
                      <a:r>
                        <a:rPr lang="en-US" sz="1600"/>
                        <a:t>Not supported</a:t>
                      </a:r>
                    </a:p>
                  </a:txBody>
                  <a:tcPr/>
                </a:tc>
                <a:tc>
                  <a:txBody>
                    <a:bodyPr/>
                    <a:lstStyle/>
                    <a:p>
                      <a:r>
                        <a:rPr lang="en-US" sz="1600" dirty="0"/>
                        <a:t>Fully supported (calls, audio)</a:t>
                      </a:r>
                    </a:p>
                  </a:txBody>
                  <a:tcPr/>
                </a:tc>
              </a:tr>
            </a:tbl>
          </a:graphicData>
        </a:graphic>
      </p:graphicFrame>
      <p:sp>
        <p:nvSpPr>
          <p:cNvPr id="4" name="Slide Number Placeholder 3"/>
          <p:cNvSpPr>
            <a:spLocks noGrp="1"/>
          </p:cNvSpPr>
          <p:nvPr>
            <p:ph type="sldNum" sz="quarter" idx="12"/>
          </p:nvPr>
        </p:nvSpPr>
        <p:spPr/>
        <p:txBody>
          <a:bodyPr/>
          <a:lstStyle/>
          <a:p>
            <a:fld id="{1C969C84-1BC9-436F-BF08-7FDA0A99E267}" type="slidenum">
              <a:rPr lang="en-US" smtClean="0"/>
              <a:t>8</a:t>
            </a:fld>
            <a:endParaRPr lang="en-US"/>
          </a:p>
        </p:txBody>
      </p:sp>
    </p:spTree>
    <p:extLst>
      <p:ext uri="{BB962C8B-B14F-4D97-AF65-F5344CB8AC3E}">
        <p14:creationId xmlns:p14="http://schemas.microsoft.com/office/powerpoint/2010/main" val="3972529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rPr>
              <a:t>BLE and Classic </a:t>
            </a:r>
            <a:r>
              <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rPr>
              <a:t>Bluetooth</a:t>
            </a:r>
            <a:endPar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b="1" dirty="0"/>
              <a:t>In BR/EDR</a:t>
            </a:r>
            <a:r>
              <a:rPr lang="en-US" dirty="0"/>
              <a:t> : The physical RF channel is divided into time slots - each slot has length equal 625 µs - where each slot is associated with a particular hop frequency, one packet can take up to 5 slot, each slot is numbered according to 27 bit of the Bluetooth </a:t>
            </a:r>
            <a:r>
              <a:rPr lang="en-US" dirty="0" smtClean="0"/>
              <a:t>clock</a:t>
            </a:r>
          </a:p>
          <a:p>
            <a:pPr marL="0" indent="0">
              <a:buNone/>
            </a:pPr>
            <a:r>
              <a:rPr lang="en-US" dirty="0" smtClean="0"/>
              <a:t> </a:t>
            </a:r>
            <a:endParaRPr lang="en-US" dirty="0"/>
          </a:p>
        </p:txBody>
      </p:sp>
      <p:sp>
        <p:nvSpPr>
          <p:cNvPr id="4" name="Slide Number Placeholder 3"/>
          <p:cNvSpPr>
            <a:spLocks noGrp="1"/>
          </p:cNvSpPr>
          <p:nvPr>
            <p:ph type="sldNum" sz="quarter" idx="12"/>
          </p:nvPr>
        </p:nvSpPr>
        <p:spPr/>
        <p:txBody>
          <a:bodyPr/>
          <a:lstStyle/>
          <a:p>
            <a:fld id="{1C969C84-1BC9-436F-BF08-7FDA0A99E267}" type="slidenum">
              <a:rPr lang="en-US" smtClean="0"/>
              <a:t>9</a:t>
            </a:fld>
            <a:endParaRPr lang="en-US"/>
          </a:p>
        </p:txBody>
      </p:sp>
      <p:pic>
        <p:nvPicPr>
          <p:cNvPr id="5" name="Picture 4" descr="A diagram of a graph"/>
          <p:cNvPicPr/>
          <p:nvPr/>
        </p:nvPicPr>
        <p:blipFill>
          <a:blip r:embed="rId2"/>
          <a:stretch>
            <a:fillRect/>
          </a:stretch>
        </p:blipFill>
        <p:spPr>
          <a:xfrm>
            <a:off x="1095555" y="3542257"/>
            <a:ext cx="9894498" cy="2996655"/>
          </a:xfrm>
          <a:prstGeom prst="rect">
            <a:avLst/>
          </a:prstGeom>
        </p:spPr>
      </p:pic>
    </p:spTree>
    <p:extLst>
      <p:ext uri="{BB962C8B-B14F-4D97-AF65-F5344CB8AC3E}">
        <p14:creationId xmlns:p14="http://schemas.microsoft.com/office/powerpoint/2010/main" val="2738805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rPr>
              <a:t>BLE and Classic Bluetooth</a:t>
            </a:r>
          </a:p>
        </p:txBody>
      </p:sp>
      <p:sp>
        <p:nvSpPr>
          <p:cNvPr id="3" name="Content Placeholder 2"/>
          <p:cNvSpPr>
            <a:spLocks noGrp="1"/>
          </p:cNvSpPr>
          <p:nvPr>
            <p:ph idx="1"/>
          </p:nvPr>
        </p:nvSpPr>
        <p:spPr/>
        <p:txBody>
          <a:bodyPr>
            <a:normAutofit fontScale="92500" lnSpcReduction="20000"/>
          </a:bodyPr>
          <a:lstStyle/>
          <a:p>
            <a:pPr marL="0" indent="0">
              <a:buNone/>
            </a:pPr>
            <a:r>
              <a:rPr lang="en-US" b="1" dirty="0"/>
              <a:t>In Bluetooth LE:  </a:t>
            </a:r>
            <a:endParaRPr lang="en-US" dirty="0"/>
          </a:p>
          <a:p>
            <a:r>
              <a:rPr lang="en-US" dirty="0"/>
              <a:t>BLE introduce a different concept on how connection between central and Peripheral </a:t>
            </a:r>
            <a:r>
              <a:rPr lang="en-US" dirty="0" smtClean="0"/>
              <a:t>are</a:t>
            </a:r>
            <a:endParaRPr lang="en-US" dirty="0"/>
          </a:p>
          <a:p>
            <a:r>
              <a:rPr lang="en-US" dirty="0"/>
              <a:t>A device send an advertisement packet, A number of parameters are specified in the request. Amongst these parameters are connection interval, peripheral latency, supervision timeout and channel map. These parameters makes both master and slave be synchronized so they wake up and sleep in same scheduled</a:t>
            </a:r>
          </a:p>
          <a:p>
            <a:pPr lvl="0"/>
            <a:r>
              <a:rPr lang="en-US" dirty="0"/>
              <a:t>Connection interval: defines how often in milliseconds, the radio can be used for servicing this connection ranged from 7.5ms to 4s </a:t>
            </a:r>
          </a:p>
          <a:p>
            <a:pPr lvl="0"/>
            <a:r>
              <a:rPr lang="en-US" dirty="0"/>
              <a:t>Peripheral latency : defines s the number of consecutive connection events during which the Peripheral does not have to be listening. This allows the Peripheral to save power</a:t>
            </a:r>
          </a:p>
          <a:p>
            <a:endParaRPr lang="en-US" dirty="0"/>
          </a:p>
        </p:txBody>
      </p:sp>
      <p:sp>
        <p:nvSpPr>
          <p:cNvPr id="4" name="Slide Number Placeholder 3"/>
          <p:cNvSpPr>
            <a:spLocks noGrp="1"/>
          </p:cNvSpPr>
          <p:nvPr>
            <p:ph type="sldNum" sz="quarter" idx="12"/>
          </p:nvPr>
        </p:nvSpPr>
        <p:spPr/>
        <p:txBody>
          <a:bodyPr/>
          <a:lstStyle/>
          <a:p>
            <a:fld id="{1C969C84-1BC9-436F-BF08-7FDA0A99E267}" type="slidenum">
              <a:rPr lang="en-US" smtClean="0"/>
              <a:t>10</a:t>
            </a:fld>
            <a:endParaRPr lang="en-US"/>
          </a:p>
        </p:txBody>
      </p:sp>
    </p:spTree>
    <p:extLst>
      <p:ext uri="{BB962C8B-B14F-4D97-AF65-F5344CB8AC3E}">
        <p14:creationId xmlns:p14="http://schemas.microsoft.com/office/powerpoint/2010/main" val="3037374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rPr>
              <a:t>BLE and Classic Bluetooth</a:t>
            </a:r>
          </a:p>
        </p:txBody>
      </p:sp>
      <p:sp>
        <p:nvSpPr>
          <p:cNvPr id="4" name="Slide Number Placeholder 3"/>
          <p:cNvSpPr>
            <a:spLocks noGrp="1"/>
          </p:cNvSpPr>
          <p:nvPr>
            <p:ph type="sldNum" sz="quarter" idx="12"/>
          </p:nvPr>
        </p:nvSpPr>
        <p:spPr/>
        <p:txBody>
          <a:bodyPr/>
          <a:lstStyle/>
          <a:p>
            <a:fld id="{1C969C84-1BC9-436F-BF08-7FDA0A99E267}" type="slidenum">
              <a:rPr lang="en-US" smtClean="0"/>
              <a:t>11</a:t>
            </a:fld>
            <a:endParaRPr lang="en-US"/>
          </a:p>
        </p:txBody>
      </p:sp>
      <p:sp>
        <p:nvSpPr>
          <p:cNvPr id="7" name="Content Placeholder 6"/>
          <p:cNvSpPr>
            <a:spLocks noGrp="1"/>
          </p:cNvSpPr>
          <p:nvPr>
            <p:ph idx="1"/>
          </p:nvPr>
        </p:nvSpPr>
        <p:spPr/>
        <p:txBody>
          <a:bodyPr>
            <a:normAutofit/>
          </a:bodyPr>
          <a:lstStyle/>
          <a:p>
            <a:pPr marL="0" indent="0">
              <a:buNone/>
            </a:pPr>
            <a:r>
              <a:rPr lang="en-US" sz="2200" dirty="0"/>
              <a:t>Although Bluetooth Low Energy uses the same 2.4 GHz ISM band as Classic Bluetooth, the two are </a:t>
            </a:r>
            <a:r>
              <a:rPr lang="en-US" sz="2200" b="1" dirty="0"/>
              <a:t>not directly compatible</a:t>
            </a:r>
            <a:r>
              <a:rPr lang="en-US" sz="2200" dirty="0"/>
              <a:t> because they use different protocols and channel structures. To enable communication between BLE devices and traditional Bluetooth devices, a special category of devices was introduced called </a:t>
            </a:r>
            <a:r>
              <a:rPr lang="en-US" sz="2200" b="1" dirty="0"/>
              <a:t>Bluetooth Smart Ready</a:t>
            </a:r>
            <a:r>
              <a:rPr lang="en-US" sz="2200" dirty="0"/>
              <a:t> (or dual-mode devices). These devices integrate both the Classic Bluetooth and BLE stacks, </a:t>
            </a:r>
            <a:r>
              <a:rPr lang="en-US" sz="2200" dirty="0" smtClean="0"/>
              <a:t>acting </a:t>
            </a:r>
            <a:r>
              <a:rPr lang="en-US" sz="2200" dirty="0"/>
              <a:t>as a bridge that allows interoperability between the two technologies</a:t>
            </a:r>
            <a:r>
              <a:rPr lang="en-US" sz="2200" dirty="0" smtClean="0"/>
              <a:t>.</a:t>
            </a:r>
            <a:endParaRPr lang="en-US" sz="2200" dirty="0"/>
          </a:p>
        </p:txBody>
      </p:sp>
      <p:pic>
        <p:nvPicPr>
          <p:cNvPr id="8" name="Picture 7"/>
          <p:cNvPicPr>
            <a:picLocks noChangeAspect="1"/>
          </p:cNvPicPr>
          <p:nvPr/>
        </p:nvPicPr>
        <p:blipFill rotWithShape="1">
          <a:blip r:embed="rId2"/>
          <a:srcRect l="2974" t="2527" r="5231" b="7911"/>
          <a:stretch/>
        </p:blipFill>
        <p:spPr>
          <a:xfrm>
            <a:off x="1846053" y="3907766"/>
            <a:ext cx="8378327" cy="2527540"/>
          </a:xfrm>
          <a:prstGeom prst="rect">
            <a:avLst/>
          </a:prstGeom>
        </p:spPr>
      </p:pic>
    </p:spTree>
    <p:extLst>
      <p:ext uri="{BB962C8B-B14F-4D97-AF65-F5344CB8AC3E}">
        <p14:creationId xmlns:p14="http://schemas.microsoft.com/office/powerpoint/2010/main" val="1522350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rPr>
              <a:t>Physical Layer </a:t>
            </a:r>
            <a:endPar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marL="0" indent="0">
              <a:buNone/>
            </a:pPr>
            <a:r>
              <a:rPr lang="en-US" sz="2200" dirty="0"/>
              <a:t>The physical layer of Bluetooth Low Energy (BLE) defines how the radio transmitter and receiver encode and decode digital data. It operates in the 2.4 GHz ISM band (2400–2483.5 MHz), divided into 40 channels of 2 MHz each, and uses Gaussian Frequency Shift Keying (GFSK) modulation for data transmission.</a:t>
            </a:r>
          </a:p>
        </p:txBody>
      </p:sp>
      <p:sp>
        <p:nvSpPr>
          <p:cNvPr id="4" name="Slide Number Placeholder 3"/>
          <p:cNvSpPr>
            <a:spLocks noGrp="1"/>
          </p:cNvSpPr>
          <p:nvPr>
            <p:ph type="sldNum" sz="quarter" idx="12"/>
          </p:nvPr>
        </p:nvSpPr>
        <p:spPr/>
        <p:txBody>
          <a:bodyPr/>
          <a:lstStyle/>
          <a:p>
            <a:fld id="{1C969C84-1BC9-436F-BF08-7FDA0A99E267}" type="slidenum">
              <a:rPr lang="en-US" smtClean="0"/>
              <a:t>12</a:t>
            </a:fld>
            <a:endParaRPr lang="en-US"/>
          </a:p>
        </p:txBody>
      </p:sp>
      <p:pic>
        <p:nvPicPr>
          <p:cNvPr id="5" name="Picture 4"/>
          <p:cNvPicPr>
            <a:picLocks noChangeAspect="1"/>
          </p:cNvPicPr>
          <p:nvPr/>
        </p:nvPicPr>
        <p:blipFill rotWithShape="1">
          <a:blip r:embed="rId2"/>
          <a:srcRect l="1328" t="2731" r="4409" b="26569"/>
          <a:stretch/>
        </p:blipFill>
        <p:spPr>
          <a:xfrm>
            <a:off x="967597" y="3270910"/>
            <a:ext cx="9696091" cy="2510286"/>
          </a:xfrm>
          <a:prstGeom prst="rect">
            <a:avLst/>
          </a:prstGeom>
        </p:spPr>
      </p:pic>
    </p:spTree>
    <p:extLst>
      <p:ext uri="{BB962C8B-B14F-4D97-AF65-F5344CB8AC3E}">
        <p14:creationId xmlns:p14="http://schemas.microsoft.com/office/powerpoint/2010/main" val="3343935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rPr>
              <a:t>Physical Layer </a:t>
            </a:r>
          </a:p>
        </p:txBody>
      </p:sp>
      <p:pic>
        <p:nvPicPr>
          <p:cNvPr id="5" name="Content Placeholder 4"/>
          <p:cNvPicPr>
            <a:picLocks noGrp="1" noChangeAspect="1"/>
          </p:cNvPicPr>
          <p:nvPr>
            <p:ph idx="1"/>
          </p:nvPr>
        </p:nvPicPr>
        <p:blipFill rotWithShape="1">
          <a:blip r:embed="rId2"/>
          <a:srcRect t="1297"/>
          <a:stretch/>
        </p:blipFill>
        <p:spPr>
          <a:xfrm>
            <a:off x="573768" y="1751162"/>
            <a:ext cx="11044464" cy="3963249"/>
          </a:xfrm>
          <a:prstGeom prst="rect">
            <a:avLst/>
          </a:prstGeom>
        </p:spPr>
      </p:pic>
      <p:sp>
        <p:nvSpPr>
          <p:cNvPr id="4" name="Slide Number Placeholder 3"/>
          <p:cNvSpPr>
            <a:spLocks noGrp="1"/>
          </p:cNvSpPr>
          <p:nvPr>
            <p:ph type="sldNum" sz="quarter" idx="12"/>
          </p:nvPr>
        </p:nvSpPr>
        <p:spPr/>
        <p:txBody>
          <a:bodyPr/>
          <a:lstStyle/>
          <a:p>
            <a:fld id="{1C969C84-1BC9-436F-BF08-7FDA0A99E267}" type="slidenum">
              <a:rPr lang="en-US" smtClean="0"/>
              <a:t>13</a:t>
            </a:fld>
            <a:endParaRPr lang="en-US"/>
          </a:p>
        </p:txBody>
      </p:sp>
    </p:spTree>
    <p:extLst>
      <p:ext uri="{BB962C8B-B14F-4D97-AF65-F5344CB8AC3E}">
        <p14:creationId xmlns:p14="http://schemas.microsoft.com/office/powerpoint/2010/main" val="2485000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a:ln w="12700">
                  <a:solidFill>
                    <a:schemeClr val="accent1"/>
                  </a:solidFill>
                  <a:prstDash val="solid"/>
                </a:ln>
                <a:solidFill>
                  <a:srgbClr val="00B0F0"/>
                </a:solidFill>
                <a:effectLst>
                  <a:outerShdw dist="38100" dir="2640000" algn="bl" rotWithShape="0">
                    <a:schemeClr val="accent1"/>
                  </a:outerShdw>
                </a:effectLst>
                <a:latin typeface="Berlin Sans FB Demi" panose="020E0802020502020306" pitchFamily="34" charset="0"/>
                <a:cs typeface="Arial" panose="020B0604020202020204" pitchFamily="34" charset="0"/>
              </a:rPr>
              <a:t>Physical Layer </a:t>
            </a:r>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1C969C84-1BC9-436F-BF08-7FDA0A99E267}" type="slidenum">
              <a:rPr lang="en-US" smtClean="0"/>
              <a:t>14</a:t>
            </a:fld>
            <a:endParaRPr lang="en-US"/>
          </a:p>
        </p:txBody>
      </p:sp>
    </p:spTree>
    <p:extLst>
      <p:ext uri="{BB962C8B-B14F-4D97-AF65-F5344CB8AC3E}">
        <p14:creationId xmlns:p14="http://schemas.microsoft.com/office/powerpoint/2010/main" val="39662250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291</TotalTime>
  <Words>1007</Words>
  <Application>Microsoft Office PowerPoint</Application>
  <PresentationFormat>Widescreen</PresentationFormat>
  <Paragraphs>116</Paragraphs>
  <Slides>14</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Arial Unicode MS</vt:lpstr>
      <vt:lpstr>Aptos</vt:lpstr>
      <vt:lpstr>Arial</vt:lpstr>
      <vt:lpstr>Berlin Sans FB Demi</vt:lpstr>
      <vt:lpstr>Calibri</vt:lpstr>
      <vt:lpstr>Calibri Light</vt:lpstr>
      <vt:lpstr>Sitka Text</vt:lpstr>
      <vt:lpstr>Times New Roman</vt:lpstr>
      <vt:lpstr>Wingdings</vt:lpstr>
      <vt:lpstr>Office Theme</vt:lpstr>
      <vt:lpstr>Bluetooth Low Energy (BLE)</vt:lpstr>
      <vt:lpstr>Table of content</vt:lpstr>
      <vt:lpstr>What is BLE ?</vt:lpstr>
      <vt:lpstr>Why BLE ?</vt:lpstr>
      <vt:lpstr>BLE Applications</vt:lpstr>
      <vt:lpstr>BLE Applications</vt:lpstr>
      <vt:lpstr>BLE and Classic Bluetooth </vt:lpstr>
      <vt:lpstr>BLE and Classic Bluetooth </vt:lpstr>
      <vt:lpstr>BLE and Classic Bluetooth</vt:lpstr>
      <vt:lpstr>BLE and Classic Bluetooth</vt:lpstr>
      <vt:lpstr>BLE and Classic Bluetooth</vt:lpstr>
      <vt:lpstr>Physical Layer </vt:lpstr>
      <vt:lpstr>Physical Layer </vt:lpstr>
      <vt:lpstr>Physical Layer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Bluetooth Low Energy</dc:title>
  <dc:creator>2101434</dc:creator>
  <cp:lastModifiedBy>2101434</cp:lastModifiedBy>
  <cp:revision>18</cp:revision>
  <dcterms:created xsi:type="dcterms:W3CDTF">2025-10-03T23:27:47Z</dcterms:created>
  <dcterms:modified xsi:type="dcterms:W3CDTF">2025-10-07T23:14:52Z</dcterms:modified>
</cp:coreProperties>
</file>