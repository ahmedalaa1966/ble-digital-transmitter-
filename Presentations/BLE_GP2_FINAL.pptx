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heme/themeOverride1.xml" ContentType="application/vnd.openxmlformats-officedocument.themeOverr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notesSlides/notesSlide11.xml" ContentType="application/vnd.openxmlformats-officedocument.presentationml.notesSlide+xml"/>
  <Override PartName="/ppt/ink/ink8.xml" ContentType="application/inkml+xml"/>
  <Override PartName="/ppt/notesSlides/notesSlide12.xml" ContentType="application/vnd.openxmlformats-officedocument.presentationml.notesSlide+xml"/>
  <Override PartName="/ppt/ink/ink9.xml" ContentType="application/inkml+xml"/>
  <Override PartName="/ppt/ink/ink10.xml" ContentType="application/inkml+xml"/>
  <Override PartName="/ppt/ink/ink11.xml" ContentType="application/inkml+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88"/>
  </p:notesMasterIdLst>
  <p:sldIdLst>
    <p:sldId id="256" r:id="rId2"/>
    <p:sldId id="257" r:id="rId3"/>
    <p:sldId id="282" r:id="rId4"/>
    <p:sldId id="283" r:id="rId5"/>
    <p:sldId id="277" r:id="rId6"/>
    <p:sldId id="280" r:id="rId7"/>
    <p:sldId id="420" r:id="rId8"/>
    <p:sldId id="421" r:id="rId9"/>
    <p:sldId id="491" r:id="rId10"/>
    <p:sldId id="422" r:id="rId11"/>
    <p:sldId id="423" r:id="rId12"/>
    <p:sldId id="492" r:id="rId13"/>
    <p:sldId id="493" r:id="rId14"/>
    <p:sldId id="494" r:id="rId15"/>
    <p:sldId id="495" r:id="rId16"/>
    <p:sldId id="496" r:id="rId17"/>
    <p:sldId id="497" r:id="rId18"/>
    <p:sldId id="428" r:id="rId19"/>
    <p:sldId id="498" r:id="rId20"/>
    <p:sldId id="291" r:id="rId21"/>
    <p:sldId id="289" r:id="rId22"/>
    <p:sldId id="279" r:id="rId23"/>
    <p:sldId id="287" r:id="rId24"/>
    <p:sldId id="499" r:id="rId25"/>
    <p:sldId id="281" r:id="rId26"/>
    <p:sldId id="500" r:id="rId27"/>
    <p:sldId id="429" r:id="rId28"/>
    <p:sldId id="501" r:id="rId29"/>
    <p:sldId id="502" r:id="rId30"/>
    <p:sldId id="434" r:id="rId31"/>
    <p:sldId id="430" r:id="rId32"/>
    <p:sldId id="503" r:id="rId33"/>
    <p:sldId id="504" r:id="rId34"/>
    <p:sldId id="485" r:id="rId35"/>
    <p:sldId id="424" r:id="rId36"/>
    <p:sldId id="427" r:id="rId37"/>
    <p:sldId id="486" r:id="rId38"/>
    <p:sldId id="487" r:id="rId39"/>
    <p:sldId id="464" r:id="rId40"/>
    <p:sldId id="488" r:id="rId41"/>
    <p:sldId id="489" r:id="rId42"/>
    <p:sldId id="490" r:id="rId43"/>
    <p:sldId id="431" r:id="rId44"/>
    <p:sldId id="432" r:id="rId45"/>
    <p:sldId id="433" r:id="rId46"/>
    <p:sldId id="461" r:id="rId47"/>
    <p:sldId id="462" r:id="rId48"/>
    <p:sldId id="463" r:id="rId49"/>
    <p:sldId id="435" r:id="rId50"/>
    <p:sldId id="465" r:id="rId51"/>
    <p:sldId id="466" r:id="rId52"/>
    <p:sldId id="467" r:id="rId53"/>
    <p:sldId id="468" r:id="rId54"/>
    <p:sldId id="477" r:id="rId55"/>
    <p:sldId id="476" r:id="rId56"/>
    <p:sldId id="481" r:id="rId57"/>
    <p:sldId id="479" r:id="rId58"/>
    <p:sldId id="480" r:id="rId59"/>
    <p:sldId id="505" r:id="rId60"/>
    <p:sldId id="506" r:id="rId61"/>
    <p:sldId id="439" r:id="rId62"/>
    <p:sldId id="438" r:id="rId63"/>
    <p:sldId id="418" r:id="rId64"/>
    <p:sldId id="507" r:id="rId65"/>
    <p:sldId id="508" r:id="rId66"/>
    <p:sldId id="509" r:id="rId67"/>
    <p:sldId id="419" r:id="rId68"/>
    <p:sldId id="284" r:id="rId69"/>
    <p:sldId id="269" r:id="rId70"/>
    <p:sldId id="275" r:id="rId71"/>
    <p:sldId id="263" r:id="rId72"/>
    <p:sldId id="262" r:id="rId73"/>
    <p:sldId id="272" r:id="rId74"/>
    <p:sldId id="264" r:id="rId75"/>
    <p:sldId id="270" r:id="rId76"/>
    <p:sldId id="278" r:id="rId77"/>
    <p:sldId id="265" r:id="rId78"/>
    <p:sldId id="266" r:id="rId79"/>
    <p:sldId id="511" r:id="rId80"/>
    <p:sldId id="436" r:id="rId81"/>
    <p:sldId id="437" r:id="rId82"/>
    <p:sldId id="510" r:id="rId83"/>
    <p:sldId id="512" r:id="rId84"/>
    <p:sldId id="513" r:id="rId85"/>
    <p:sldId id="426" r:id="rId86"/>
    <p:sldId id="417" r:id="rId8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681" autoAdjust="0"/>
    <p:restoredTop sz="94660"/>
  </p:normalViewPr>
  <p:slideViewPr>
    <p:cSldViewPr snapToGrid="0">
      <p:cViewPr varScale="1">
        <p:scale>
          <a:sx n="84" d="100"/>
          <a:sy n="84" d="100"/>
        </p:scale>
        <p:origin x="638"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viewProps" Target="viewProp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notesMaster" Target="notesMasters/notesMaster1.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7T21:03:56.384"/>
    </inkml:context>
    <inkml:brush xml:id="br0">
      <inkml:brushProperty name="width" value="0.35" units="cm"/>
      <inkml:brushProperty name="height" value="0.35" units="cm"/>
      <inkml:brushProperty name="color" value="#FFFFFF"/>
    </inkml:brush>
  </inkml:definitions>
  <inkml:trace contextRef="#ctx0" brushRef="#br0">1 1 24575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7T21:04:25.704"/>
    </inkml:context>
    <inkml:brush xml:id="br0">
      <inkml:brushProperty name="width" value="0.2" units="cm"/>
      <inkml:brushProperty name="height" value="0.2" units="cm"/>
      <inkml:brushProperty name="color" value="#FFFFFF"/>
    </inkml:brush>
  </inkml:definitions>
  <inkml:trace contextRef="#ctx0" brushRef="#br0">0 0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7T21:04:26.896"/>
    </inkml:context>
    <inkml:brush xml:id="br0">
      <inkml:brushProperty name="width" value="0.2" units="cm"/>
      <inkml:brushProperty name="height" value="0.2" units="cm"/>
      <inkml:brushProperty name="color" value="#FFFFFF"/>
    </inkml:brush>
  </inkml:definitions>
  <inkml:trace contextRef="#ctx0" brushRef="#br0">1 0 24575,'0'0'-8191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7T21:04:27.830"/>
    </inkml:context>
    <inkml:brush xml:id="br0">
      <inkml:brushProperty name="width" value="0.2" units="cm"/>
      <inkml:brushProperty name="height" value="0.2" units="cm"/>
      <inkml:brushProperty name="color" value="#FFFFFF"/>
    </inkml:brush>
  </inkml:definitions>
  <inkml:trace contextRef="#ctx0" brushRef="#br0">0 0 24575,'0'0'-8191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7T21:04:29.539"/>
    </inkml:context>
    <inkml:brush xml:id="br0">
      <inkml:brushProperty name="width" value="0.2" units="cm"/>
      <inkml:brushProperty name="height" value="0.2" units="cm"/>
      <inkml:brushProperty name="color" value="#FFFFFF"/>
    </inkml:brush>
  </inkml:definitions>
  <inkml:trace contextRef="#ctx0" brushRef="#br0">1 1 24575,'0'0'-8191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7T21:05:09.113"/>
    </inkml:context>
    <inkml:brush xml:id="br0">
      <inkml:brushProperty name="width" value="0.2" units="cm"/>
      <inkml:brushProperty name="height" value="0.2" units="cm"/>
      <inkml:brushProperty name="color" value="#FFFFFF"/>
    </inkml:brush>
  </inkml:definitions>
  <inkml:trace contextRef="#ctx0" brushRef="#br0">0 0 24575,'0'0'-8191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7T21:04:05.788"/>
    </inkml:context>
    <inkml:brush xml:id="br0">
      <inkml:brushProperty name="width" value="0.1" units="cm"/>
      <inkml:brushProperty name="height" value="0.1" units="cm"/>
      <inkml:brushProperty name="color" value="#FFFFFF"/>
    </inkml:brush>
  </inkml:definitions>
  <inkml:trace contextRef="#ctx0" brushRef="#br0">0 0 24575,'0'0'-8191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7T21:04:05.788"/>
    </inkml:context>
    <inkml:brush xml:id="br0">
      <inkml:brushProperty name="width" value="0.1" units="cm"/>
      <inkml:brushProperty name="height" value="0.1" units="cm"/>
      <inkml:brushProperty name="color" value="#FFFFFF"/>
    </inkml:brush>
  </inkml:definitions>
  <inkml:trace contextRef="#ctx0" brushRef="#br0">0 0 24575,'0'0'-8191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7T21:04:05.788"/>
    </inkml:context>
    <inkml:brush xml:id="br0">
      <inkml:brushProperty name="width" value="0.1" units="cm"/>
      <inkml:brushProperty name="height" value="0.1" units="cm"/>
      <inkml:brushProperty name="color" value="#FFFFFF"/>
    </inkml:brush>
  </inkml:definitions>
  <inkml:trace contextRef="#ctx0" brushRef="#br0">0 0 24575,'0'0'-8191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4T13:14:33.401"/>
    </inkml:context>
    <inkml:brush xml:id="br0">
      <inkml:brushProperty name="width" value="0.2" units="cm"/>
      <inkml:brushProperty name="height" value="0.2" units="cm"/>
      <inkml:brushProperty name="color" value="#FFFFFF"/>
    </inkml:brush>
  </inkml:definitions>
  <inkml:trace contextRef="#ctx0" brushRef="#br0">311 0 24575,'-5'14'0,"-6"10"0,-11 0 0,-1-8 0,3-12 0,5-12 0,0-3 0,-2-1 0,-2 2 0,-4 3 0,-1 2 0,-2 12 0,3 9 0,1 12 0,0 5 0,-2-3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4T20:44:35.520"/>
    </inkml:context>
    <inkml:brush xml:id="br0">
      <inkml:brushProperty name="width" value="0.2" units="cm"/>
      <inkml:brushProperty name="height" value="0.2" units="cm"/>
      <inkml:brushProperty name="color" value="#FFFFFF"/>
    </inkml:brush>
  </inkml:definitions>
  <inkml:trace contextRef="#ctx0" brushRef="#br0">112 836 24575,'-84'0'0,"84"0"0,0 0 0,0 0 0,-1 0 0,1 0 0,0 0 0,0 0 0,0 0 0,-1 0 0,1 0 0,0 0 0,0 0 0,0 1 0,-1-1 0,1 0 0,0 0 0,0 0 0,0 0 0,0 0 0,0 0 0,0 1 0,0-1 0,0 0 0,0 0 0,0 0 0,0 0 0,0 1 0,0-1 0,0 0 0,0 0 0,-1 0 0,1 1 0,0-1 0,0 0 0,0 0 0,0 0 0,0 1 0,0-1 0,0 0 0,0 0 0,0 1 0,4 12 0,10 13 0,-13-24 0,3 3 0,-1 2 0,2 1 0,0-1 0,0 0 0,9 9 0,-14-14 0,2-1 0,-1 0 0,0 0 0,0 0 0,1-1 0,-1 1 0,0 0 0,1 0 0,-1-1 0,0 1 0,1-1 0,-1 0 0,1 2 0,-1-2 0,0 0 0,1 0 0,-1 0 0,1 0 0,-1-2 0,0 2 0,1 0 0,-1-1 0,1 1 0,-1-1 0,0 0 0,1 1 0,-1-1 0,0 0 0,2-2 0,-2 1 0,1 1 0,-2-1 0,1 1 0,1-1 0,-1 1 0,-1-1 0,1 0 0,0-1 0,-1 1 0,1 0 0,-1 0 0,0 1 0,1-1 0,-1 0 0,0 0 0,0 0 0,1 0 0,-1 0 0,-1 0 0,1-2 0,0 2 0,0 0 0,-1 1 0,1-1 0,0 0 0,0 0 0,-2-2 0,1-1 0,-1-2 0,0 2 0,0 0 0,0 0 0,-1 0 0,1 0 0,0 1 0,-5-7 0,1 4 0,-1-1 0,0 0 0,1-2 0,-8-13 0,12 19 0,0 0 0,0 0 0,0-1 0,1 0 0,-1 0 0,2 1 0,-1-1 0,0 1 0,0-2 0,0 1 0,1-8 0,0-6 0,0 0 0,0 0 0,-2 0 0,0 1 0,-1-1 0,-8-32 0,7 32 0,-1 0 0,2-1 0,0 1 0,0 0 0,2-1 0,0 0 0,1-21 0,-6-33 0,4 59 0,0-2 0,1 0 0,1-24 0,0 40 0,0 1 0,0-1 0,0 0 0,0 0 0,1 1 0,-1-1 0,0 0 0,0 0 0,1 1 0,-1-1 0,0 0 0,0 1 0,1-1 0,-1 1 0,1-1 0,-1 0 0,1 1 0,-1-1 0,0 1 0,1-1 0,-1 1 0,1 0 0,0-1 0,-1 1 0,1 0 0,-1-1 0,1 1 0,-1 0 0,1 0 0,0 0 0,0 0 0,-1 0 0,0 0 0,1 0 0,0 0 0,-1 0 0,2 0 0,-1 0 0,0 0 0,0 0 0,0 1 0,0-1 0,0 0 0,0 1 0,-1-1 0,2 1 0,-1 0 0,-1-1 0,1 1 0,0 0 0,0-1 0,0 1 0,-1 0 0,1 0 0,0 0 0,-1 0 0,1 0 0,0 0 0,-1 0 0,0 0 0,2 3 0,-1 11 0,2 1 0,-2-1 0,-1 1 0,0 0 0,-2 28 0,0 9 0,2-47 0,-1 0 0,0 1 0,0-1 0,0 0 0,-1 0 0,1 1 0,-2-1 0,-3 10 0,4-10 0,-2 0 0,3 1 0,-1 0 0,-1 0 0,2 0 0,0 0 0,-2 9 0,3-15 0,0 1 0,0-1 0,0 1 0,0 0 0,0-1 0,0 0 0,0 1 0,0-1 0,0 0 0,0 1 0,0-1 0,0 0 0,1 0 0,-1 1 0,1-1 0,0 0 0,-1 0 0,1 0 0,-1 0 0,1 0 0,-1 0 0,1 1 0,0-1 0,0 0 0,-1 0 0,1 0 0,1 1 0,0-2 0,0 0 0,-2 0 0,2 0 0,-1 0 0,0 0 0,0 0 0,1 0 0,-2 0 0,2-1 0,-1 1 0,0 0 0,0-1 0,1 0 0,-1 1 0,0-1 0,0 0 0,0 0 0,0 1 0,0-2 0,0 1 0,0 0 0,-1-1 0,1 1 0,2-2 0,-2 1 0,1-1 0,-2 0 0,2 0 0,0 0 0,-2-1 0,1 1 0,1 0 0,-2-1 0,0 1 0,1 0 0,0-2 0,-1 2 0,1-6 0,-4-56 0,2 30 0,1-7 0,-6-194 0,6 236 0,0 0 0,0 0 0,0 0 0,0 0 0,0 0 0,0 0 0,0 0 0,0 0 0,0 0 0,0 0 0,0 0 0,0 0 0,0 0 0,0 0 0,0 0 0,0 0 0,0 0 0,0 0 0,0 0 0,0 0 0,0 0 0,-1 0 0,1 0 0,0 0 0,0 0 0,0 0 0,0 0 0,0 0 0,0 0 0,0 0 0,0 0 0,0 0 0,0 0 0,0 0 0,0 0 0,0 0 0,0 0 0,0 0 0,0 0 0,0 0 0,-1 0 0,1 0 0,0 0 0,-3 13 0,-1 18 0,2 68 0,3-67 0,-2 2 0,-6 60 0,-16 112 0,38-294 0,14-95 0,-18 116 0,-7 40 0,0 1 0,3-38 0,-7 58 0,-1 0 0,0 1 0,0-2 0,0 2 0,-1-1 0,1 1 0,-1-2 0,0 2 0,0 0 0,0 0 0,-1 0 0,0-1 0,1 2 0,-1-1 0,-3-3 0,-19-38 0,25 45 0,0 1 0,-1-1 0,1 1 0,0-1 0,0 1 0,0-1 0,0 1 0,0-2 0,0 2 0,0-1 0,0 1 0,0-1 0,0 1 0,0-1 0,1 1 0,-1-1 0,0 1 0,0-1 0,0 1 0,1-1 0,-1 1 0,0 0 0,0-1 0,1 1 0,-1-1 0,0 1 0,1 0 0,-1-1 0,0 1 0,0 0 0,0-1 0,1 1 0,-1 0 0,1 0 0,-1-1 0,1 1 0,-1 0 0,0 0 0,0 0 0,1 0 0,-1 0 0,1 0 0,-1 0 0,1 0 0,-1 0 0,1 0 0,-1 0 0,0 0 0,0 0 0,1 0 0,0 0 0,23 2 0,-13 0 0,1 1 0,-1 0 0,0 2 0,-1 0 0,1 0 0,-1 1 0,1 1 0,-1 0 0,15 15 0,-24-21 0,0 0 0,1 1 0,-1-1 0,0 1 0,0 0 0,0-1 0,0 1 0,0 0 0,0 0 0,0 1 0,-1-1 0,1 0 0,0 0 0,-1 0 0,1 0 0,-1 0 0,1 0 0,-1 0 0,0 1 0,0 0 0,0-1 0,0 0 0,0 0 0,0 0 0,-1 0 0,1 1 0,-1-1 0,1 0 0,-1 0 0,0 0 0,1 1 0,-1-1 0,0 0 0,0-1 0,1 1 0,-2 0 0,1 0 0,-2 1 0,-1 4 0,-1 0 0,1-1 0,-1-1 0,-1 0 0,1 1 0,0-1 0,-1-1 0,-9 6 0,14-9 0,-1 1 0,0-1 0,2 1 0,-2-1 0,1 1 0,0-1 0,0 1 0,-1 0 0,2-1 0,-1 1 0,0 0 0,0 0 0,0 0 0,1 0 0,-1 1 0,0-1 0,1 0 0,-1 0 0,1 0 0,-1 0 0,1 0 0,0 1 0,0-1 0,0 5 0,1 9 0,0 1 0,4 24 0,-2-13 0,0 16 0,13 66 0,-15-107-91,-1 1 0,0-2 0,1 1 0,-1 0 0,0-1 0,0 1 0,0 0 0,0-1 0,0 2 0,-1-1 0,1 0 0,0-1 0,-1 1 0,-1 3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655BE7-F070-43BD-873B-9F2FFC54CCB4}" type="datetimeFigureOut">
              <a:rPr lang="en-US" smtClean="0"/>
              <a:t>6/30/2026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1E7445-0CA9-4583-BD41-D309711E01BE}" type="slidenum">
              <a:rPr lang="en-US" smtClean="0"/>
              <a:t>‹#›</a:t>
            </a:fld>
            <a:endParaRPr lang="en-US"/>
          </a:p>
        </p:txBody>
      </p:sp>
    </p:spTree>
    <p:extLst>
      <p:ext uri="{BB962C8B-B14F-4D97-AF65-F5344CB8AC3E}">
        <p14:creationId xmlns:p14="http://schemas.microsoft.com/office/powerpoint/2010/main" val="13786144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1:notes"/>
          <p:cNvSpPr txBox="1">
            <a:spLocks noGrp="1"/>
          </p:cNvSpPr>
          <p:nvPr>
            <p:ph type="body" idx="1"/>
          </p:nvPr>
        </p:nvSpPr>
        <p:spPr>
          <a:xfrm>
            <a:off x="946150" y="4862513"/>
            <a:ext cx="5207000" cy="4605337"/>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dirty="0"/>
          </a:p>
        </p:txBody>
      </p:sp>
      <p:sp>
        <p:nvSpPr>
          <p:cNvPr id="72" name="Google Shape;72;p1:notes"/>
          <p:cNvSpPr>
            <a:spLocks noGrp="1" noRot="1" noChangeAspect="1"/>
          </p:cNvSpPr>
          <p:nvPr>
            <p:ph type="sldImg" idx="2"/>
          </p:nvPr>
        </p:nvSpPr>
        <p:spPr>
          <a:xfrm>
            <a:off x="138113" y="766763"/>
            <a:ext cx="6823075" cy="38385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092921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2:notes"/>
          <p:cNvSpPr txBox="1">
            <a:spLocks noGrp="1"/>
          </p:cNvSpPr>
          <p:nvPr>
            <p:ph type="body" idx="1"/>
          </p:nvPr>
        </p:nvSpPr>
        <p:spPr>
          <a:xfrm>
            <a:off x="946150" y="4862513"/>
            <a:ext cx="5207000" cy="4605337"/>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81" name="Google Shape;81;p2:notes"/>
          <p:cNvSpPr>
            <a:spLocks noGrp="1" noRot="1" noChangeAspect="1"/>
          </p:cNvSpPr>
          <p:nvPr>
            <p:ph type="sldImg" idx="2"/>
          </p:nvPr>
        </p:nvSpPr>
        <p:spPr>
          <a:xfrm>
            <a:off x="138113" y="766763"/>
            <a:ext cx="6823075" cy="38385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685229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xmlns="" id="{737D8DF5-FADD-DC6B-4004-019C21EE1E7B}"/>
            </a:ext>
          </a:extLst>
        </p:cNvPr>
        <p:cNvGrpSpPr/>
        <p:nvPr/>
      </p:nvGrpSpPr>
      <p:grpSpPr>
        <a:xfrm>
          <a:off x="0" y="0"/>
          <a:ext cx="0" cy="0"/>
          <a:chOff x="0" y="0"/>
          <a:chExt cx="0" cy="0"/>
        </a:xfrm>
      </p:grpSpPr>
      <p:sp>
        <p:nvSpPr>
          <p:cNvPr id="109" name="Google Shape;109;p2:notes">
            <a:extLst>
              <a:ext uri="{FF2B5EF4-FFF2-40B4-BE49-F238E27FC236}">
                <a16:creationId xmlns:a16="http://schemas.microsoft.com/office/drawing/2014/main" xmlns="" id="{FE0902FA-AAB7-A55C-CEBE-DD8475C6A1C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2:notes">
            <a:extLst>
              <a:ext uri="{FF2B5EF4-FFF2-40B4-BE49-F238E27FC236}">
                <a16:creationId xmlns:a16="http://schemas.microsoft.com/office/drawing/2014/main" xmlns="" id="{626FD20D-2C4A-ECAF-632B-5AE6629E541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596853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xmlns="" id="{AEB65A26-1F78-7C74-E81B-0A9D8C742034}"/>
            </a:ext>
          </a:extLst>
        </p:cNvPr>
        <p:cNvGrpSpPr/>
        <p:nvPr/>
      </p:nvGrpSpPr>
      <p:grpSpPr>
        <a:xfrm>
          <a:off x="0" y="0"/>
          <a:ext cx="0" cy="0"/>
          <a:chOff x="0" y="0"/>
          <a:chExt cx="0" cy="0"/>
        </a:xfrm>
      </p:grpSpPr>
      <p:sp>
        <p:nvSpPr>
          <p:cNvPr id="109" name="Google Shape;109;p2:notes">
            <a:extLst>
              <a:ext uri="{FF2B5EF4-FFF2-40B4-BE49-F238E27FC236}">
                <a16:creationId xmlns:a16="http://schemas.microsoft.com/office/drawing/2014/main" xmlns="" id="{4DAD8980-D30F-3363-2FCF-AF6EF1A576C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2:notes">
            <a:extLst>
              <a:ext uri="{FF2B5EF4-FFF2-40B4-BE49-F238E27FC236}">
                <a16:creationId xmlns:a16="http://schemas.microsoft.com/office/drawing/2014/main" xmlns="" id="{30CACAF5-2329-36B3-FA94-39496081C8C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477860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xmlns="" id="{DA08086E-EFFC-941C-9C19-30D91DBF0931}"/>
            </a:ext>
          </a:extLst>
        </p:cNvPr>
        <p:cNvGrpSpPr/>
        <p:nvPr/>
      </p:nvGrpSpPr>
      <p:grpSpPr>
        <a:xfrm>
          <a:off x="0" y="0"/>
          <a:ext cx="0" cy="0"/>
          <a:chOff x="0" y="0"/>
          <a:chExt cx="0" cy="0"/>
        </a:xfrm>
      </p:grpSpPr>
      <p:sp>
        <p:nvSpPr>
          <p:cNvPr id="109" name="Google Shape;109;p2:notes">
            <a:extLst>
              <a:ext uri="{FF2B5EF4-FFF2-40B4-BE49-F238E27FC236}">
                <a16:creationId xmlns:a16="http://schemas.microsoft.com/office/drawing/2014/main" xmlns="" id="{15F0FF6B-652D-E7A8-13B2-A7708D2EC6C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2:notes">
            <a:extLst>
              <a:ext uri="{FF2B5EF4-FFF2-40B4-BE49-F238E27FC236}">
                <a16:creationId xmlns:a16="http://schemas.microsoft.com/office/drawing/2014/main" xmlns="" id="{3A6FC466-2EE3-A611-BB8F-5968C3FBD19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733176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xmlns="" id="{CC52E3A7-82E0-8AA1-552F-A011574590EA}"/>
            </a:ext>
          </a:extLst>
        </p:cNvPr>
        <p:cNvGrpSpPr/>
        <p:nvPr/>
      </p:nvGrpSpPr>
      <p:grpSpPr>
        <a:xfrm>
          <a:off x="0" y="0"/>
          <a:ext cx="0" cy="0"/>
          <a:chOff x="0" y="0"/>
          <a:chExt cx="0" cy="0"/>
        </a:xfrm>
      </p:grpSpPr>
      <p:sp>
        <p:nvSpPr>
          <p:cNvPr id="109" name="Google Shape;109;p2:notes">
            <a:extLst>
              <a:ext uri="{FF2B5EF4-FFF2-40B4-BE49-F238E27FC236}">
                <a16:creationId xmlns:a16="http://schemas.microsoft.com/office/drawing/2014/main" xmlns="" id="{A0B8968B-560D-3490-4384-CE6CAB6B332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2:notes">
            <a:extLst>
              <a:ext uri="{FF2B5EF4-FFF2-40B4-BE49-F238E27FC236}">
                <a16:creationId xmlns:a16="http://schemas.microsoft.com/office/drawing/2014/main" xmlns="" id="{8A14DDD4-7969-971C-07DB-AE3038F9B44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123851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xmlns="" id="{1DA3401F-8EAA-036F-01EB-C14718F12B65}"/>
            </a:ext>
          </a:extLst>
        </p:cNvPr>
        <p:cNvGrpSpPr/>
        <p:nvPr/>
      </p:nvGrpSpPr>
      <p:grpSpPr>
        <a:xfrm>
          <a:off x="0" y="0"/>
          <a:ext cx="0" cy="0"/>
          <a:chOff x="0" y="0"/>
          <a:chExt cx="0" cy="0"/>
        </a:xfrm>
      </p:grpSpPr>
      <p:sp>
        <p:nvSpPr>
          <p:cNvPr id="109" name="Google Shape;109;p2:notes">
            <a:extLst>
              <a:ext uri="{FF2B5EF4-FFF2-40B4-BE49-F238E27FC236}">
                <a16:creationId xmlns:a16="http://schemas.microsoft.com/office/drawing/2014/main" xmlns="" id="{E21B9FB5-BD2C-73A1-34AB-CAF746DC84E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2:notes">
            <a:extLst>
              <a:ext uri="{FF2B5EF4-FFF2-40B4-BE49-F238E27FC236}">
                <a16:creationId xmlns:a16="http://schemas.microsoft.com/office/drawing/2014/main" xmlns="" id="{129B3343-567A-E28D-BC09-F1AF9F5FD84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344113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xmlns="" id="{EB9ECCB0-36A3-A601-1859-54FD90DC1815}"/>
            </a:ext>
          </a:extLst>
        </p:cNvPr>
        <p:cNvGrpSpPr/>
        <p:nvPr/>
      </p:nvGrpSpPr>
      <p:grpSpPr>
        <a:xfrm>
          <a:off x="0" y="0"/>
          <a:ext cx="0" cy="0"/>
          <a:chOff x="0" y="0"/>
          <a:chExt cx="0" cy="0"/>
        </a:xfrm>
      </p:grpSpPr>
      <p:sp>
        <p:nvSpPr>
          <p:cNvPr id="109" name="Google Shape;109;p2:notes">
            <a:extLst>
              <a:ext uri="{FF2B5EF4-FFF2-40B4-BE49-F238E27FC236}">
                <a16:creationId xmlns:a16="http://schemas.microsoft.com/office/drawing/2014/main" xmlns="" id="{C2C65C0D-DC61-7E9A-5874-18681707B0F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2:notes">
            <a:extLst>
              <a:ext uri="{FF2B5EF4-FFF2-40B4-BE49-F238E27FC236}">
                <a16:creationId xmlns:a16="http://schemas.microsoft.com/office/drawing/2014/main" xmlns="" id="{01330211-E6B0-5240-D5C8-552E7B955D8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556304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Google Shape;109;p2:notes">
            <a:extLst>
              <a:ext uri="{FF2B5EF4-FFF2-40B4-BE49-F238E27FC236}">
                <a16:creationId xmlns:a16="http://schemas.microsoft.com/office/drawing/2014/main" xmlns="" id="{DA15894A-D830-4040-71E5-AC1C8E7D542F}"/>
              </a:ext>
            </a:extLst>
          </p:cNvPr>
          <p:cNvSpPr txBox="1">
            <a:spLocks noGrp="1"/>
          </p:cNvSpPr>
          <p:nvPr>
            <p:ph type="body" sz="quarter" idx="1"/>
          </p:nvPr>
        </p:nvSpPr>
        <p:spPr/>
        <p:txBody>
          <a:bodyPr/>
          <a:lstStyle/>
          <a:p>
            <a:endParaRPr lang="en-US"/>
          </a:p>
        </p:txBody>
      </p:sp>
      <p:sp>
        <p:nvSpPr>
          <p:cNvPr id="3" name="Google Shape;110;p2:notes">
            <a:extLst>
              <a:ext uri="{FF2B5EF4-FFF2-40B4-BE49-F238E27FC236}">
                <a16:creationId xmlns:a16="http://schemas.microsoft.com/office/drawing/2014/main" xmlns="" id="{BECCE35B-9EC2-8AB2-CA0D-AD54B5BB7B11}"/>
              </a:ext>
            </a:extLst>
          </p:cNvPr>
          <p:cNvSpPr>
            <a:spLocks noGrp="1" noRot="1" noChangeAspect="1"/>
          </p:cNvSpPr>
          <p:nvPr>
            <p:ph type="sldImg"/>
          </p:nvPr>
        </p:nvSpPr>
        <p:spPr/>
      </p:sp>
    </p:spTree>
    <p:extLst>
      <p:ext uri="{BB962C8B-B14F-4D97-AF65-F5344CB8AC3E}">
        <p14:creationId xmlns:p14="http://schemas.microsoft.com/office/powerpoint/2010/main" val="29357241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374321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Times New Roman"/>
                <a:ea typeface="Times New Roman"/>
                <a:cs typeface="Times New Roman"/>
                <a:sym typeface="Times New Roman"/>
              </a:rPr>
              <a:t>46</a:t>
            </a:fld>
            <a:endParaRPr lang="en-US"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0083510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D0D8065-7917-65A7-06D0-82EA69D391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A15BC69C-15C2-B9E4-1E60-98B64F8B23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81012223-BFF5-B470-7E3C-6CD21E198BB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xmlns="" id="{F8CB1B99-4219-A1BB-BFBB-B90D9E6212C5}"/>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Times New Roman"/>
                <a:ea typeface="Times New Roman"/>
                <a:cs typeface="Times New Roman"/>
                <a:sym typeface="Times New Roman"/>
              </a:rPr>
              <a:t>47</a:t>
            </a:fld>
            <a:endParaRPr lang="en-US"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9236779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Times New Roman"/>
                <a:ea typeface="Times New Roman"/>
                <a:cs typeface="Times New Roman"/>
                <a:sym typeface="Times New Roman"/>
              </a:rPr>
              <a:t>61</a:t>
            </a:fld>
            <a:endParaRPr lang="en-US"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8898091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01E7445-0CA9-4583-BD41-D309711E01BE}" type="slidenum">
              <a:rPr lang="en-US" smtClean="0"/>
              <a:t>75</a:t>
            </a:fld>
            <a:endParaRPr lang="en-US"/>
          </a:p>
        </p:txBody>
      </p:sp>
    </p:spTree>
    <p:extLst>
      <p:ext uri="{BB962C8B-B14F-4D97-AF65-F5344CB8AC3E}">
        <p14:creationId xmlns:p14="http://schemas.microsoft.com/office/powerpoint/2010/main" val="14566630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3"/>
        <p:cNvGrpSpPr/>
        <p:nvPr/>
      </p:nvGrpSpPr>
      <p:grpSpPr>
        <a:xfrm>
          <a:off x="0" y="0"/>
          <a:ext cx="0" cy="0"/>
          <a:chOff x="0" y="0"/>
          <a:chExt cx="0" cy="0"/>
        </a:xfrm>
      </p:grpSpPr>
      <p:sp>
        <p:nvSpPr>
          <p:cNvPr id="1764" name="Google Shape;1764;p162:notes"/>
          <p:cNvSpPr txBox="1">
            <a:spLocks noGrp="1"/>
          </p:cNvSpPr>
          <p:nvPr>
            <p:ph type="body" idx="1"/>
          </p:nvPr>
        </p:nvSpPr>
        <p:spPr>
          <a:xfrm>
            <a:off x="946150" y="4862513"/>
            <a:ext cx="5207000" cy="4605337"/>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765" name="Google Shape;1765;p162:notes"/>
          <p:cNvSpPr>
            <a:spLocks noGrp="1" noRot="1" noChangeAspect="1"/>
          </p:cNvSpPr>
          <p:nvPr>
            <p:ph type="sldImg" idx="2"/>
          </p:nvPr>
        </p:nvSpPr>
        <p:spPr>
          <a:xfrm>
            <a:off x="138113" y="766763"/>
            <a:ext cx="6823075" cy="38385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2224107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English Slide" type="obj">
  <p:cSld name="English Slide">
    <p:spTree>
      <p:nvGrpSpPr>
        <p:cNvPr id="1" name="Shape 20"/>
        <p:cNvGrpSpPr/>
        <p:nvPr/>
      </p:nvGrpSpPr>
      <p:grpSpPr>
        <a:xfrm>
          <a:off x="0" y="0"/>
          <a:ext cx="0" cy="0"/>
          <a:chOff x="0" y="0"/>
          <a:chExt cx="0" cy="0"/>
        </a:xfrm>
      </p:grpSpPr>
      <p:pic>
        <p:nvPicPr>
          <p:cNvPr id="21" name="Google Shape;21;p165" descr="A close up of a logo&#10;&#10;Description automatically generated"/>
          <p:cNvPicPr preferRelativeResize="0"/>
          <p:nvPr/>
        </p:nvPicPr>
        <p:blipFill rotWithShape="1">
          <a:blip r:embed="rId2">
            <a:alphaModFix/>
          </a:blip>
          <a:srcRect/>
          <a:stretch/>
        </p:blipFill>
        <p:spPr>
          <a:xfrm>
            <a:off x="0" y="0"/>
            <a:ext cx="12192000" cy="6858000"/>
          </a:xfrm>
          <a:prstGeom prst="rect">
            <a:avLst/>
          </a:prstGeom>
          <a:noFill/>
          <a:ln>
            <a:noFill/>
          </a:ln>
        </p:spPr>
      </p:pic>
      <p:pic>
        <p:nvPicPr>
          <p:cNvPr id="22" name="Google Shape;22;p165" descr="A close up of a logo&#10;&#10;Description automatically generated"/>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3" name="Google Shape;23;p165"/>
          <p:cNvSpPr txBox="1">
            <a:spLocks noGrp="1"/>
          </p:cNvSpPr>
          <p:nvPr>
            <p:ph type="title"/>
          </p:nvPr>
        </p:nvSpPr>
        <p:spPr>
          <a:xfrm>
            <a:off x="946151" y="578201"/>
            <a:ext cx="10299700" cy="730762"/>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3200">
                <a:solidFill>
                  <a:schemeClr val="dk1"/>
                </a:solidFill>
                <a:latin typeface="Times New Roman (Headings)"/>
                <a:cs typeface="Times New Roman" panose="02020603050405020304" pitchFamily="18" charset="0"/>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r>
              <a:rPr lang="en-US"/>
              <a:t>Click to edit Master title style</a:t>
            </a:r>
            <a:endParaRPr dirty="0"/>
          </a:p>
        </p:txBody>
      </p:sp>
      <p:sp>
        <p:nvSpPr>
          <p:cNvPr id="24" name="Google Shape;24;p165"/>
          <p:cNvSpPr txBox="1">
            <a:spLocks noGrp="1"/>
          </p:cNvSpPr>
          <p:nvPr>
            <p:ph type="body" idx="1"/>
          </p:nvPr>
        </p:nvSpPr>
        <p:spPr>
          <a:xfrm>
            <a:off x="914400" y="1510748"/>
            <a:ext cx="10363200" cy="4984947"/>
          </a:xfrm>
          <a:prstGeom prst="rect">
            <a:avLst/>
          </a:prstGeom>
          <a:noFill/>
          <a:ln>
            <a:noFill/>
          </a:ln>
        </p:spPr>
        <p:txBody>
          <a:bodyPr spcFirstLastPara="1" wrap="square" lIns="91425" tIns="45700" rIns="91425" bIns="45700" anchor="t" anchorCtr="0">
            <a:noAutofit/>
          </a:bodyPr>
          <a:lstStyle>
            <a:lvl1pPr marL="457200" lvl="0" indent="-355600" algn="l">
              <a:spcBef>
                <a:spcPts val="400"/>
              </a:spcBef>
              <a:spcAft>
                <a:spcPts val="0"/>
              </a:spcAft>
              <a:buSzPts val="2000"/>
              <a:buChar char="•"/>
              <a:defRPr sz="2000">
                <a:solidFill>
                  <a:srgbClr val="0B5F9F"/>
                </a:solidFill>
              </a:defRPr>
            </a:lvl1pPr>
            <a:lvl2pPr marL="914400" lvl="1" indent="-355600" algn="l">
              <a:spcBef>
                <a:spcPts val="400"/>
              </a:spcBef>
              <a:spcAft>
                <a:spcPts val="0"/>
              </a:spcAft>
              <a:buClr>
                <a:srgbClr val="5D5D5E"/>
              </a:buClr>
              <a:buSzPts val="2000"/>
              <a:buFont typeface="Courier New"/>
              <a:buChar char="o"/>
              <a:defRPr>
                <a:solidFill>
                  <a:srgbClr val="0B5F9F"/>
                </a:solidFill>
              </a:defRPr>
            </a:lvl2pPr>
            <a:lvl3pPr marL="1371600" lvl="2" indent="-330200" algn="l">
              <a:spcBef>
                <a:spcPts val="400"/>
              </a:spcBef>
              <a:spcAft>
                <a:spcPts val="0"/>
              </a:spcAft>
              <a:buClr>
                <a:srgbClr val="5D5D5E"/>
              </a:buClr>
              <a:buSzPts val="1600"/>
              <a:buFont typeface="Arial"/>
              <a:buChar char="•"/>
              <a:defRPr>
                <a:solidFill>
                  <a:srgbClr val="0B5F9F"/>
                </a:solidFill>
              </a:defRPr>
            </a:lvl3pPr>
            <a:lvl4pPr marL="1828800" lvl="3" indent="-342900" algn="l">
              <a:spcBef>
                <a:spcPts val="360"/>
              </a:spcBef>
              <a:spcAft>
                <a:spcPts val="0"/>
              </a:spcAft>
              <a:buClr>
                <a:srgbClr val="5D5D5E"/>
              </a:buClr>
              <a:buSzPts val="1800"/>
              <a:buFont typeface="Arial"/>
              <a:buChar char="•"/>
              <a:defRPr>
                <a:solidFill>
                  <a:srgbClr val="0B5F9F"/>
                </a:solidFill>
              </a:defRPr>
            </a:lvl4pPr>
            <a:lvl5pPr marL="2286000" lvl="4" indent="-342900" algn="l">
              <a:spcBef>
                <a:spcPts val="360"/>
              </a:spcBef>
              <a:spcAft>
                <a:spcPts val="0"/>
              </a:spcAft>
              <a:buClr>
                <a:srgbClr val="5D5D5E"/>
              </a:buClr>
              <a:buSzPts val="1800"/>
              <a:buFont typeface="Arial"/>
              <a:buChar char="•"/>
              <a:defRPr>
                <a:solidFill>
                  <a:srgbClr val="0B5F9F"/>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lvl="0"/>
            <a:r>
              <a:rPr lang="en-US"/>
              <a:t>Click to edit Master text styles</a:t>
            </a:r>
          </a:p>
        </p:txBody>
      </p:sp>
      <p:sp>
        <p:nvSpPr>
          <p:cNvPr id="25" name="Google Shape;25;p165"/>
          <p:cNvSpPr txBox="1"/>
          <p:nvPr/>
        </p:nvSpPr>
        <p:spPr>
          <a:xfrm>
            <a:off x="9331036" y="6414871"/>
            <a:ext cx="2743200"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800" b="0" i="0" u="none" strike="noStrike" cap="none">
                <a:solidFill>
                  <a:srgbClr val="5D5D5E"/>
                </a:solidFill>
                <a:latin typeface="Calibri"/>
                <a:ea typeface="Calibri"/>
                <a:cs typeface="Calibri"/>
                <a:sym typeface="Calibri"/>
              </a:rPr>
              <a:t>‹#›</a:t>
            </a:fld>
            <a:endParaRPr sz="1800" b="0" i="0" u="none" strike="noStrike" cap="none">
              <a:solidFill>
                <a:srgbClr val="5D5D5E"/>
              </a:solidFill>
              <a:latin typeface="Calibri"/>
              <a:ea typeface="Calibri"/>
              <a:cs typeface="Calibri"/>
              <a:sym typeface="Calibri"/>
            </a:endParaRPr>
          </a:p>
        </p:txBody>
      </p:sp>
      <p:pic>
        <p:nvPicPr>
          <p:cNvPr id="26" name="Google Shape;26;p165"/>
          <p:cNvPicPr preferRelativeResize="0"/>
          <p:nvPr/>
        </p:nvPicPr>
        <p:blipFill rotWithShape="1">
          <a:blip r:embed="rId4">
            <a:alphaModFix/>
          </a:blip>
          <a:srcRect/>
          <a:stretch/>
        </p:blipFill>
        <p:spPr>
          <a:xfrm>
            <a:off x="165347" y="92358"/>
            <a:ext cx="1049894" cy="1049894"/>
          </a:xfrm>
          <a:prstGeom prst="rect">
            <a:avLst/>
          </a:prstGeom>
          <a:noFill/>
          <a:ln>
            <a:noFill/>
          </a:ln>
        </p:spPr>
      </p:pic>
    </p:spTree>
    <p:extLst>
      <p:ext uri="{BB962C8B-B14F-4D97-AF65-F5344CB8AC3E}">
        <p14:creationId xmlns:p14="http://schemas.microsoft.com/office/powerpoint/2010/main" val="11911653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English Title Slide">
  <p:cSld name="English Title Slide">
    <p:spTree>
      <p:nvGrpSpPr>
        <p:cNvPr id="1" name="Shape 12"/>
        <p:cNvGrpSpPr/>
        <p:nvPr/>
      </p:nvGrpSpPr>
      <p:grpSpPr>
        <a:xfrm>
          <a:off x="0" y="0"/>
          <a:ext cx="0" cy="0"/>
          <a:chOff x="0" y="0"/>
          <a:chExt cx="0" cy="0"/>
        </a:xfrm>
      </p:grpSpPr>
      <p:pic>
        <p:nvPicPr>
          <p:cNvPr id="13" name="Google Shape;13;p164"/>
          <p:cNvPicPr preferRelativeResize="0"/>
          <p:nvPr/>
        </p:nvPicPr>
        <p:blipFill rotWithShape="1">
          <a:blip r:embed="rId2">
            <a:alphaModFix/>
          </a:blip>
          <a:srcRect/>
          <a:stretch/>
        </p:blipFill>
        <p:spPr>
          <a:xfrm>
            <a:off x="0" y="0"/>
            <a:ext cx="12192000" cy="6858000"/>
          </a:xfrm>
          <a:prstGeom prst="rect">
            <a:avLst/>
          </a:prstGeom>
          <a:noFill/>
          <a:ln>
            <a:noFill/>
          </a:ln>
        </p:spPr>
      </p:pic>
      <p:pic>
        <p:nvPicPr>
          <p:cNvPr id="14" name="Google Shape;14;p164" descr="A close up of a logo&#10;&#10;Description automatically generated"/>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5" name="Google Shape;15;p164" descr="A close up of a logo&#10;&#10;Description automatically generated"/>
          <p:cNvPicPr preferRelativeResize="0"/>
          <p:nvPr/>
        </p:nvPicPr>
        <p:blipFill rotWithShape="1">
          <a:blip r:embed="rId4">
            <a:alphaModFix/>
          </a:blip>
          <a:srcRect/>
          <a:stretch/>
        </p:blipFill>
        <p:spPr>
          <a:xfrm>
            <a:off x="0" y="0"/>
            <a:ext cx="12192000" cy="6858000"/>
          </a:xfrm>
          <a:prstGeom prst="rect">
            <a:avLst/>
          </a:prstGeom>
          <a:noFill/>
          <a:ln>
            <a:noFill/>
          </a:ln>
        </p:spPr>
      </p:pic>
      <p:sp>
        <p:nvSpPr>
          <p:cNvPr id="16" name="Google Shape;16;p164"/>
          <p:cNvSpPr txBox="1">
            <a:spLocks noGrp="1"/>
          </p:cNvSpPr>
          <p:nvPr>
            <p:ph type="ctrTitle"/>
          </p:nvPr>
        </p:nvSpPr>
        <p:spPr>
          <a:xfrm>
            <a:off x="1219200" y="2904335"/>
            <a:ext cx="9753600" cy="104933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3600" b="1" i="1">
                <a:solidFill>
                  <a:schemeClr val="dk1"/>
                </a:solidFill>
                <a:latin typeface="Calibri"/>
                <a:ea typeface="Calibri"/>
                <a:cs typeface="Calibri"/>
                <a:sym typeface="Calibri"/>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7" name="Google Shape;17;p164"/>
          <p:cNvSpPr txBox="1">
            <a:spLocks noGrp="1"/>
          </p:cNvSpPr>
          <p:nvPr>
            <p:ph type="body" idx="1"/>
          </p:nvPr>
        </p:nvSpPr>
        <p:spPr>
          <a:xfrm>
            <a:off x="6861626" y="5459446"/>
            <a:ext cx="4144433" cy="307389"/>
          </a:xfrm>
          <a:prstGeom prst="rect">
            <a:avLst/>
          </a:prstGeom>
          <a:noFill/>
          <a:ln>
            <a:noFill/>
          </a:ln>
        </p:spPr>
        <p:txBody>
          <a:bodyPr spcFirstLastPara="1" wrap="square" lIns="91425" tIns="45700" rIns="91425" bIns="45700" anchor="t" anchorCtr="0">
            <a:noAutofit/>
          </a:bodyPr>
          <a:lstStyle>
            <a:lvl1pPr marL="457200" lvl="0" indent="-228600" algn="ctr">
              <a:spcBef>
                <a:spcPts val="320"/>
              </a:spcBef>
              <a:spcAft>
                <a:spcPts val="0"/>
              </a:spcAft>
              <a:buSzPts val="1600"/>
              <a:buNone/>
              <a:defRPr sz="1600" u="sng">
                <a:solidFill>
                  <a:srgbClr val="0B5F9F"/>
                </a:solidFill>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8" name="Google Shape;18;p164"/>
          <p:cNvSpPr txBox="1">
            <a:spLocks noGrp="1"/>
          </p:cNvSpPr>
          <p:nvPr>
            <p:ph type="body" idx="2"/>
          </p:nvPr>
        </p:nvSpPr>
        <p:spPr>
          <a:xfrm>
            <a:off x="6384181" y="5084361"/>
            <a:ext cx="5099321" cy="375085"/>
          </a:xfrm>
          <a:prstGeom prst="rect">
            <a:avLst/>
          </a:prstGeom>
          <a:noFill/>
          <a:ln>
            <a:noFill/>
          </a:ln>
        </p:spPr>
        <p:txBody>
          <a:bodyPr spcFirstLastPara="1" wrap="square" lIns="91425" tIns="45700" rIns="91425" bIns="45700" anchor="t" anchorCtr="0">
            <a:noAutofit/>
          </a:bodyPr>
          <a:lstStyle>
            <a:lvl1pPr marL="457200" lvl="0" indent="-228600" algn="ctr">
              <a:spcBef>
                <a:spcPts val="400"/>
              </a:spcBef>
              <a:spcAft>
                <a:spcPts val="0"/>
              </a:spcAft>
              <a:buSzPts val="2000"/>
              <a:buNone/>
              <a:defRPr i="1" u="none">
                <a:solidFill>
                  <a:srgbClr val="0B5F9F"/>
                </a:solidFill>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pic>
        <p:nvPicPr>
          <p:cNvPr id="19" name="Google Shape;19;p164" descr="A close up of a sign&#10;&#10;Description automatically generated"/>
          <p:cNvPicPr preferRelativeResize="0"/>
          <p:nvPr/>
        </p:nvPicPr>
        <p:blipFill rotWithShape="1">
          <a:blip r:embed="rId5">
            <a:alphaModFix/>
          </a:blip>
          <a:srcRect/>
          <a:stretch/>
        </p:blipFill>
        <p:spPr>
          <a:xfrm>
            <a:off x="5318760" y="130343"/>
            <a:ext cx="1554480" cy="1554480"/>
          </a:xfrm>
          <a:prstGeom prst="rect">
            <a:avLst/>
          </a:prstGeom>
          <a:noFill/>
          <a:ln>
            <a:noFill/>
          </a:ln>
        </p:spPr>
      </p:pic>
    </p:spTree>
    <p:extLst>
      <p:ext uri="{BB962C8B-B14F-4D97-AF65-F5344CB8AC3E}">
        <p14:creationId xmlns:p14="http://schemas.microsoft.com/office/powerpoint/2010/main" val="147222141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63"/>
          <p:cNvSpPr txBox="1">
            <a:spLocks noGrp="1"/>
          </p:cNvSpPr>
          <p:nvPr>
            <p:ph type="title"/>
          </p:nvPr>
        </p:nvSpPr>
        <p:spPr>
          <a:xfrm>
            <a:off x="946151" y="943501"/>
            <a:ext cx="10299700" cy="776287"/>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2800" b="1" i="1" u="none" strike="noStrike" cap="none">
                <a:solidFill>
                  <a:srgbClr val="5D5D5E"/>
                </a:solidFill>
                <a:latin typeface="Calibri"/>
                <a:ea typeface="Calibri"/>
                <a:cs typeface="Calibri"/>
                <a:sym typeface="Calibri"/>
              </a:defRPr>
            </a:lvl1pPr>
            <a:lvl2pPr marR="0" lvl="1" algn="ctr" rtl="0">
              <a:spcBef>
                <a:spcPts val="0"/>
              </a:spcBef>
              <a:spcAft>
                <a:spcPts val="0"/>
              </a:spcAft>
              <a:buSzPts val="1400"/>
              <a:buNone/>
              <a:defRPr sz="2800" b="1" i="1" u="none" strike="noStrike" cap="none">
                <a:solidFill>
                  <a:schemeClr val="dk2"/>
                </a:solidFill>
                <a:latin typeface="Times New Roman"/>
                <a:ea typeface="Times New Roman"/>
                <a:cs typeface="Times New Roman"/>
                <a:sym typeface="Times New Roman"/>
              </a:defRPr>
            </a:lvl2pPr>
            <a:lvl3pPr marR="0" lvl="2" algn="ctr" rtl="0">
              <a:spcBef>
                <a:spcPts val="0"/>
              </a:spcBef>
              <a:spcAft>
                <a:spcPts val="0"/>
              </a:spcAft>
              <a:buSzPts val="1400"/>
              <a:buNone/>
              <a:defRPr sz="2800" b="1" i="1" u="none" strike="noStrike" cap="none">
                <a:solidFill>
                  <a:schemeClr val="dk2"/>
                </a:solidFill>
                <a:latin typeface="Times New Roman"/>
                <a:ea typeface="Times New Roman"/>
                <a:cs typeface="Times New Roman"/>
                <a:sym typeface="Times New Roman"/>
              </a:defRPr>
            </a:lvl3pPr>
            <a:lvl4pPr marR="0" lvl="3" algn="ctr" rtl="0">
              <a:spcBef>
                <a:spcPts val="0"/>
              </a:spcBef>
              <a:spcAft>
                <a:spcPts val="0"/>
              </a:spcAft>
              <a:buSzPts val="1400"/>
              <a:buNone/>
              <a:defRPr sz="2800" b="1" i="1" u="none" strike="noStrike" cap="none">
                <a:solidFill>
                  <a:schemeClr val="dk2"/>
                </a:solidFill>
                <a:latin typeface="Times New Roman"/>
                <a:ea typeface="Times New Roman"/>
                <a:cs typeface="Times New Roman"/>
                <a:sym typeface="Times New Roman"/>
              </a:defRPr>
            </a:lvl4pPr>
            <a:lvl5pPr marR="0" lvl="4" algn="ctr" rtl="0">
              <a:spcBef>
                <a:spcPts val="0"/>
              </a:spcBef>
              <a:spcAft>
                <a:spcPts val="0"/>
              </a:spcAft>
              <a:buSzPts val="1400"/>
              <a:buNone/>
              <a:defRPr sz="2800" b="1" i="1" u="none" strike="noStrike" cap="none">
                <a:solidFill>
                  <a:schemeClr val="dk2"/>
                </a:solidFill>
                <a:latin typeface="Times New Roman"/>
                <a:ea typeface="Times New Roman"/>
                <a:cs typeface="Times New Roman"/>
                <a:sym typeface="Times New Roman"/>
              </a:defRPr>
            </a:lvl5pPr>
            <a:lvl6pPr marR="0" lvl="5" algn="ctr" rtl="0">
              <a:spcBef>
                <a:spcPts val="0"/>
              </a:spcBef>
              <a:spcAft>
                <a:spcPts val="0"/>
              </a:spcAft>
              <a:buSzPts val="1400"/>
              <a:buNone/>
              <a:defRPr sz="2800" b="1" i="1" u="none" strike="noStrike" cap="none">
                <a:solidFill>
                  <a:schemeClr val="dk2"/>
                </a:solidFill>
                <a:latin typeface="Times New Roman"/>
                <a:ea typeface="Times New Roman"/>
                <a:cs typeface="Times New Roman"/>
                <a:sym typeface="Times New Roman"/>
              </a:defRPr>
            </a:lvl6pPr>
            <a:lvl7pPr marR="0" lvl="6" algn="ctr" rtl="0">
              <a:spcBef>
                <a:spcPts val="0"/>
              </a:spcBef>
              <a:spcAft>
                <a:spcPts val="0"/>
              </a:spcAft>
              <a:buSzPts val="1400"/>
              <a:buNone/>
              <a:defRPr sz="2800" b="1" i="1" u="none" strike="noStrike" cap="none">
                <a:solidFill>
                  <a:schemeClr val="dk2"/>
                </a:solidFill>
                <a:latin typeface="Times New Roman"/>
                <a:ea typeface="Times New Roman"/>
                <a:cs typeface="Times New Roman"/>
                <a:sym typeface="Times New Roman"/>
              </a:defRPr>
            </a:lvl7pPr>
            <a:lvl8pPr marR="0" lvl="7" algn="ctr" rtl="0">
              <a:spcBef>
                <a:spcPts val="0"/>
              </a:spcBef>
              <a:spcAft>
                <a:spcPts val="0"/>
              </a:spcAft>
              <a:buSzPts val="1400"/>
              <a:buNone/>
              <a:defRPr sz="2800" b="1" i="1" u="none" strike="noStrike" cap="none">
                <a:solidFill>
                  <a:schemeClr val="dk2"/>
                </a:solidFill>
                <a:latin typeface="Times New Roman"/>
                <a:ea typeface="Times New Roman"/>
                <a:cs typeface="Times New Roman"/>
                <a:sym typeface="Times New Roman"/>
              </a:defRPr>
            </a:lvl8pPr>
            <a:lvl9pPr marR="0" lvl="8" algn="ctr" rtl="0">
              <a:spcBef>
                <a:spcPts val="0"/>
              </a:spcBef>
              <a:spcAft>
                <a:spcPts val="0"/>
              </a:spcAft>
              <a:buSzPts val="1400"/>
              <a:buNone/>
              <a:defRPr sz="2800" b="1" i="1" u="none" strike="noStrike" cap="none">
                <a:solidFill>
                  <a:schemeClr val="dk2"/>
                </a:solidFill>
                <a:latin typeface="Times New Roman"/>
                <a:ea typeface="Times New Roman"/>
                <a:cs typeface="Times New Roman"/>
                <a:sym typeface="Times New Roman"/>
              </a:defRPr>
            </a:lvl9pPr>
          </a:lstStyle>
          <a:p>
            <a:endParaRPr/>
          </a:p>
        </p:txBody>
      </p:sp>
      <p:sp>
        <p:nvSpPr>
          <p:cNvPr id="11" name="Google Shape;11;p163"/>
          <p:cNvSpPr txBox="1">
            <a:spLocks noGrp="1"/>
          </p:cNvSpPr>
          <p:nvPr>
            <p:ph type="body" idx="1"/>
          </p:nvPr>
        </p:nvSpPr>
        <p:spPr>
          <a:xfrm>
            <a:off x="914400" y="1855286"/>
            <a:ext cx="10363200" cy="4640409"/>
          </a:xfrm>
          <a:prstGeom prst="rect">
            <a:avLst/>
          </a:prstGeom>
          <a:noFill/>
          <a:ln>
            <a:noFill/>
          </a:ln>
        </p:spPr>
        <p:txBody>
          <a:bodyPr spcFirstLastPara="1" wrap="square" lIns="91425" tIns="45700" rIns="91425" bIns="45700" anchor="t" anchorCtr="0">
            <a:noAutofit/>
          </a:bodyPr>
          <a:lstStyle>
            <a:lvl1pPr marL="457200" marR="0" lvl="0" indent="-355600" algn="l" rtl="0">
              <a:spcBef>
                <a:spcPts val="400"/>
              </a:spcBef>
              <a:spcAft>
                <a:spcPts val="0"/>
              </a:spcAft>
              <a:buClr>
                <a:srgbClr val="5D5D5E"/>
              </a:buClr>
              <a:buSzPts val="2000"/>
              <a:buFont typeface="Arial"/>
              <a:buChar char="•"/>
              <a:defRPr sz="2000" b="1" i="0" u="none" strike="noStrike" cap="none">
                <a:solidFill>
                  <a:srgbClr val="0B5F9F"/>
                </a:solidFill>
                <a:latin typeface="Calibri"/>
                <a:ea typeface="Calibri"/>
                <a:cs typeface="Calibri"/>
                <a:sym typeface="Calibri"/>
              </a:defRPr>
            </a:lvl1pPr>
            <a:lvl2pPr marL="914400" marR="0" lvl="1" indent="-355600" algn="l" rtl="0">
              <a:spcBef>
                <a:spcPts val="400"/>
              </a:spcBef>
              <a:spcAft>
                <a:spcPts val="0"/>
              </a:spcAft>
              <a:buClr>
                <a:srgbClr val="5D5D5E"/>
              </a:buClr>
              <a:buSzPts val="2000"/>
              <a:buFont typeface="Arial"/>
              <a:buChar char="•"/>
              <a:defRPr sz="2000" b="1" i="0" u="none" strike="noStrike" cap="none">
                <a:solidFill>
                  <a:srgbClr val="0B5F9F"/>
                </a:solidFill>
                <a:latin typeface="Calibri"/>
                <a:ea typeface="Calibri"/>
                <a:cs typeface="Calibri"/>
                <a:sym typeface="Calibri"/>
              </a:defRPr>
            </a:lvl2pPr>
            <a:lvl3pPr marL="1371600" marR="0" lvl="2" indent="-355600" algn="l" rtl="0">
              <a:spcBef>
                <a:spcPts val="400"/>
              </a:spcBef>
              <a:spcAft>
                <a:spcPts val="0"/>
              </a:spcAft>
              <a:buClr>
                <a:srgbClr val="5D5D5E"/>
              </a:buClr>
              <a:buSzPts val="2000"/>
              <a:buFont typeface="Arial"/>
              <a:buChar char="•"/>
              <a:defRPr sz="2000" b="1" i="0" u="none" strike="noStrike" cap="none">
                <a:solidFill>
                  <a:srgbClr val="0B5F9F"/>
                </a:solidFill>
                <a:latin typeface="Calibri"/>
                <a:ea typeface="Calibri"/>
                <a:cs typeface="Calibri"/>
                <a:sym typeface="Calibri"/>
              </a:defRPr>
            </a:lvl3pPr>
            <a:lvl4pPr marL="1828800" marR="0" lvl="3" indent="-342900" algn="l" rtl="0">
              <a:spcBef>
                <a:spcPts val="360"/>
              </a:spcBef>
              <a:spcAft>
                <a:spcPts val="0"/>
              </a:spcAft>
              <a:buClr>
                <a:srgbClr val="5D5D5E"/>
              </a:buClr>
              <a:buSzPts val="1800"/>
              <a:buFont typeface="Arial"/>
              <a:buChar char="•"/>
              <a:defRPr sz="1800" b="1" i="0" u="none" strike="noStrike" cap="none">
                <a:solidFill>
                  <a:srgbClr val="0B5F9F"/>
                </a:solidFill>
                <a:latin typeface="Calibri"/>
                <a:ea typeface="Calibri"/>
                <a:cs typeface="Calibri"/>
                <a:sym typeface="Calibri"/>
              </a:defRPr>
            </a:lvl4pPr>
            <a:lvl5pPr marL="2286000" marR="0" lvl="4" indent="-342900" algn="l" rtl="0">
              <a:spcBef>
                <a:spcPts val="360"/>
              </a:spcBef>
              <a:spcAft>
                <a:spcPts val="0"/>
              </a:spcAft>
              <a:buClr>
                <a:srgbClr val="5D5D5E"/>
              </a:buClr>
              <a:buSzPts val="1800"/>
              <a:buFont typeface="Arial"/>
              <a:buChar char="•"/>
              <a:defRPr sz="1800" b="1" i="0" u="none" strike="noStrike" cap="none">
                <a:solidFill>
                  <a:srgbClr val="0B5F9F"/>
                </a:solidFill>
                <a:latin typeface="Calibri"/>
                <a:ea typeface="Calibri"/>
                <a:cs typeface="Calibri"/>
                <a:sym typeface="Calibri"/>
              </a:defRPr>
            </a:lvl5pPr>
            <a:lvl6pPr marL="2743200" marR="0" lvl="5" indent="-342900" algn="l" rtl="0">
              <a:spcBef>
                <a:spcPts val="360"/>
              </a:spcBef>
              <a:spcAft>
                <a:spcPts val="0"/>
              </a:spcAft>
              <a:buClr>
                <a:schemeClr val="dk1"/>
              </a:buClr>
              <a:buSzPts val="1800"/>
              <a:buFont typeface="Garamond"/>
              <a:buChar char="»"/>
              <a:defRPr sz="1800" b="1" i="0" u="none" strike="noStrike" cap="none">
                <a:solidFill>
                  <a:schemeClr val="dk1"/>
                </a:solidFill>
                <a:latin typeface="Garamond"/>
                <a:ea typeface="Garamond"/>
                <a:cs typeface="Garamond"/>
                <a:sym typeface="Garamond"/>
              </a:defRPr>
            </a:lvl6pPr>
            <a:lvl7pPr marL="3200400" marR="0" lvl="6" indent="-342900" algn="l" rtl="0">
              <a:spcBef>
                <a:spcPts val="360"/>
              </a:spcBef>
              <a:spcAft>
                <a:spcPts val="0"/>
              </a:spcAft>
              <a:buClr>
                <a:schemeClr val="dk1"/>
              </a:buClr>
              <a:buSzPts val="1800"/>
              <a:buFont typeface="Garamond"/>
              <a:buChar char="»"/>
              <a:defRPr sz="1800" b="1" i="0" u="none" strike="noStrike" cap="none">
                <a:solidFill>
                  <a:schemeClr val="dk1"/>
                </a:solidFill>
                <a:latin typeface="Garamond"/>
                <a:ea typeface="Garamond"/>
                <a:cs typeface="Garamond"/>
                <a:sym typeface="Garamond"/>
              </a:defRPr>
            </a:lvl7pPr>
            <a:lvl8pPr marL="3657600" marR="0" lvl="7" indent="-342900" algn="l" rtl="0">
              <a:spcBef>
                <a:spcPts val="360"/>
              </a:spcBef>
              <a:spcAft>
                <a:spcPts val="0"/>
              </a:spcAft>
              <a:buClr>
                <a:schemeClr val="dk1"/>
              </a:buClr>
              <a:buSzPts val="1800"/>
              <a:buFont typeface="Garamond"/>
              <a:buChar char="»"/>
              <a:defRPr sz="1800" b="1" i="0" u="none" strike="noStrike" cap="none">
                <a:solidFill>
                  <a:schemeClr val="dk1"/>
                </a:solidFill>
                <a:latin typeface="Garamond"/>
                <a:ea typeface="Garamond"/>
                <a:cs typeface="Garamond"/>
                <a:sym typeface="Garamond"/>
              </a:defRPr>
            </a:lvl8pPr>
            <a:lvl9pPr marL="4114800" marR="0" lvl="8" indent="-342900" algn="l" rtl="0">
              <a:spcBef>
                <a:spcPts val="360"/>
              </a:spcBef>
              <a:spcAft>
                <a:spcPts val="0"/>
              </a:spcAft>
              <a:buClr>
                <a:schemeClr val="dk1"/>
              </a:buClr>
              <a:buSzPts val="1800"/>
              <a:buFont typeface="Garamond"/>
              <a:buChar char="»"/>
              <a:defRPr sz="1800" b="1" i="0" u="none" strike="noStrike" cap="none">
                <a:solidFill>
                  <a:schemeClr val="dk1"/>
                </a:solidFill>
                <a:latin typeface="Garamond"/>
                <a:ea typeface="Garamond"/>
                <a:cs typeface="Garamond"/>
                <a:sym typeface="Garamond"/>
              </a:defRPr>
            </a:lvl9pPr>
          </a:lstStyle>
          <a:p>
            <a:endParaRPr/>
          </a:p>
        </p:txBody>
      </p:sp>
    </p:spTree>
    <p:extLst>
      <p:ext uri="{BB962C8B-B14F-4D97-AF65-F5344CB8AC3E}">
        <p14:creationId xmlns:p14="http://schemas.microsoft.com/office/powerpoint/2010/main" val="264487160"/>
      </p:ext>
    </p:extLst>
  </p:cSld>
  <p:clrMap bg1="lt1" tx1="dk1" bg2="dk2" tx2="lt2" accent1="accent1" accent2="accent2" accent3="accent3" accent4="accent4" accent5="accent5" accent6="accent6" hlink="hlink" folHlink="folHlink"/>
  <p:sldLayoutIdLst>
    <p:sldLayoutId id="2147483662" r:id="rId1"/>
    <p:sldLayoutId id="2147483663" r:id="rId2"/>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6.png"/><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1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210.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xml"/><Relationship Id="rId4" Type="http://schemas.openxmlformats.org/officeDocument/2006/relationships/image" Target="../media/image38.png"/></Relationships>
</file>

<file path=ppt/slides/_rels/slide2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270.png"/><Relationship Id="rId1" Type="http://schemas.openxmlformats.org/officeDocument/2006/relationships/slideLayout" Target="../slideLayouts/slideLayout1.xml"/><Relationship Id="rId4" Type="http://schemas.openxmlformats.org/officeDocument/2006/relationships/image" Target="../media/image40.png"/></Relationships>
</file>

<file path=ppt/slides/_rels/slide2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30.png"/><Relationship Id="rId2" Type="http://schemas.openxmlformats.org/officeDocument/2006/relationships/image" Target="../media/image43.png"/><Relationship Id="rId1" Type="http://schemas.openxmlformats.org/officeDocument/2006/relationships/slideLayout" Target="../slideLayouts/slideLayout1.xml"/><Relationship Id="rId4" Type="http://schemas.openxmlformats.org/officeDocument/2006/relationships/image" Target="../media/image44.png"/></Relationships>
</file>

<file path=ppt/slides/_rels/slide2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xml"/><Relationship Id="rId4" Type="http://schemas.openxmlformats.org/officeDocument/2006/relationships/image" Target="../media/image52.png"/></Relationships>
</file>

<file path=ppt/slides/_rels/slide3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1.xml"/><Relationship Id="rId4" Type="http://schemas.openxmlformats.org/officeDocument/2006/relationships/image" Target="../media/image56.png"/></Relationships>
</file>

<file path=ppt/slides/_rels/slide34.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image" Target="../media/image59.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66.jpe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69.png"/></Relationships>
</file>

<file path=ppt/slides/_rels/slide45.xml.rels><?xml version="1.0" encoding="UTF-8" standalone="yes"?>
<Relationships xmlns="http://schemas.openxmlformats.org/package/2006/relationships"><Relationship Id="rId8" Type="http://schemas.openxmlformats.org/officeDocument/2006/relationships/customXml" Target="../ink/ink4.xml"/><Relationship Id="rId13" Type="http://schemas.openxmlformats.org/officeDocument/2006/relationships/image" Target="../media/image260.png"/><Relationship Id="rId3" Type="http://schemas.openxmlformats.org/officeDocument/2006/relationships/customXml" Target="../ink/ink1.xml"/><Relationship Id="rId7" Type="http://schemas.openxmlformats.org/officeDocument/2006/relationships/customXml" Target="../ink/ink3.xml"/><Relationship Id="rId2" Type="http://schemas.openxmlformats.org/officeDocument/2006/relationships/image" Target="../media/image70.png"/><Relationship Id="rId1" Type="http://schemas.openxmlformats.org/officeDocument/2006/relationships/slideLayout" Target="../slideLayouts/slideLayout1.xml"/><Relationship Id="rId6" Type="http://schemas.openxmlformats.org/officeDocument/2006/relationships/image" Target="../media/image240.png"/><Relationship Id="rId11" Type="http://schemas.openxmlformats.org/officeDocument/2006/relationships/customXml" Target="../ink/ink7.xml"/><Relationship Id="rId5" Type="http://schemas.openxmlformats.org/officeDocument/2006/relationships/customXml" Target="../ink/ink2.xml"/><Relationship Id="rId10" Type="http://schemas.openxmlformats.org/officeDocument/2006/relationships/customXml" Target="../ink/ink6.xml"/><Relationship Id="rId4" Type="http://schemas.openxmlformats.org/officeDocument/2006/relationships/image" Target="../media/image230.png"/><Relationship Id="rId9" Type="http://schemas.openxmlformats.org/officeDocument/2006/relationships/customXml" Target="../ink/ink5.xml"/></Relationships>
</file>

<file path=ppt/slides/_rels/slide46.xml.rels><?xml version="1.0" encoding="UTF-8" standalone="yes"?>
<Relationships xmlns="http://schemas.openxmlformats.org/package/2006/relationships"><Relationship Id="rId13" Type="http://schemas.openxmlformats.org/officeDocument/2006/relationships/image" Target="../media/image260.png"/><Relationship Id="rId3" Type="http://schemas.openxmlformats.org/officeDocument/2006/relationships/image" Target="../media/image7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customXml" Target="../ink/ink8.xml"/></Relationships>
</file>

<file path=ppt/slides/_rels/slide47.xml.rels><?xml version="1.0" encoding="UTF-8" standalone="yes"?>
<Relationships xmlns="http://schemas.openxmlformats.org/package/2006/relationships"><Relationship Id="rId13" Type="http://schemas.openxmlformats.org/officeDocument/2006/relationships/image" Target="../media/image260.png"/><Relationship Id="rId3" Type="http://schemas.openxmlformats.org/officeDocument/2006/relationships/customXml" Target="../ink/ink9.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650.png"/><Relationship Id="rId1" Type="http://schemas.openxmlformats.org/officeDocument/2006/relationships/slideLayout" Target="../slideLayouts/slideLayout1.xml"/><Relationship Id="rId4" Type="http://schemas.openxmlformats.org/officeDocument/2006/relationships/image" Target="../media/image73.png"/></Relationships>
</file>

<file path=ppt/slides/_rels/slide49.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1.xml"/><Relationship Id="rId4" Type="http://schemas.openxmlformats.org/officeDocument/2006/relationships/image" Target="../media/image81.png"/></Relationships>
</file>

<file path=ppt/slides/_rels/slide56.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760.png"/><Relationship Id="rId2" Type="http://schemas.openxmlformats.org/officeDocument/2006/relationships/customXml" Target="../ink/ink10.xml"/><Relationship Id="rId1" Type="http://schemas.openxmlformats.org/officeDocument/2006/relationships/slideLayout" Target="../slideLayouts/slideLayout1.xml"/><Relationship Id="rId6" Type="http://schemas.openxmlformats.org/officeDocument/2006/relationships/image" Target="../media/image241.png"/><Relationship Id="rId5" Type="http://schemas.openxmlformats.org/officeDocument/2006/relationships/customXml" Target="../ink/ink11.xml"/><Relationship Id="rId4" Type="http://schemas.openxmlformats.org/officeDocument/2006/relationships/image" Target="../media/image84.png"/></Relationships>
</file>

<file path=ppt/slides/_rels/slide59.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image" Target="../media/image890.pn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1.xml"/><Relationship Id="rId4" Type="http://schemas.openxmlformats.org/officeDocument/2006/relationships/image" Target="../media/image97.png"/></Relationships>
</file>

<file path=ppt/slides/_rels/slide71.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1.xml"/><Relationship Id="rId5" Type="http://schemas.openxmlformats.org/officeDocument/2006/relationships/image" Target="../media/image160.png"/><Relationship Id="rId4" Type="http://schemas.openxmlformats.org/officeDocument/2006/relationships/image" Target="../media/image150.png"/></Relationships>
</file>

<file path=ppt/slides/_rels/slide72.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image" Target="../media/image101.png"/><Relationship Id="rId1" Type="http://schemas.openxmlformats.org/officeDocument/2006/relationships/slideLayout" Target="../slideLayouts/slideLayout1.xml"/><Relationship Id="rId4" Type="http://schemas.openxmlformats.org/officeDocument/2006/relationships/image" Target="../media/image102.png"/></Relationships>
</file>

<file path=ppt/slides/_rels/slide74.xml.rels><?xml version="1.0" encoding="UTF-8" standalone="yes"?>
<Relationships xmlns="http://schemas.openxmlformats.org/package/2006/relationships"><Relationship Id="rId2" Type="http://schemas.openxmlformats.org/officeDocument/2006/relationships/image" Target="../media/image103.jpg"/><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3" Type="http://schemas.openxmlformats.org/officeDocument/2006/relationships/image" Target="../media/image104.jp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05.png"/></Relationships>
</file>

<file path=ppt/slides/_rels/slide76.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109.png"/><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111.png"/><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
          <p:cNvSpPr txBox="1">
            <a:spLocks noGrp="1"/>
          </p:cNvSpPr>
          <p:nvPr>
            <p:ph type="ctrTitle"/>
          </p:nvPr>
        </p:nvSpPr>
        <p:spPr>
          <a:xfrm>
            <a:off x="1219200" y="2708392"/>
            <a:ext cx="9753600" cy="1441222"/>
          </a:xfrm>
          <a:prstGeom prst="rect">
            <a:avLst/>
          </a:prstGeom>
          <a:noFill/>
          <a:ln>
            <a:noFill/>
          </a:ln>
        </p:spPr>
        <p:txBody>
          <a:bodyPr spcFirstLastPara="1" wrap="square" lIns="91425" tIns="45700" rIns="91425" bIns="45700" anchor="ctr" anchorCtr="0">
            <a:noAutofit/>
          </a:bodyPr>
          <a:lstStyle/>
          <a:p>
            <a:r>
              <a:rPr lang="en-US" sz="4000"/>
              <a:t>BLE Digital Transmitter </a:t>
            </a:r>
            <a:endParaRPr lang="en-US" sz="4000" dirty="0">
              <a:latin typeface="Times New Roman" panose="02020603050405020304" pitchFamily="18" charset="0"/>
              <a:cs typeface="Times New Roman" panose="02020603050405020304" pitchFamily="18" charset="0"/>
            </a:endParaRPr>
          </a:p>
        </p:txBody>
      </p:sp>
      <p:sp>
        <p:nvSpPr>
          <p:cNvPr id="76" name="Google Shape;76;p1"/>
          <p:cNvSpPr txBox="1"/>
          <p:nvPr/>
        </p:nvSpPr>
        <p:spPr>
          <a:xfrm>
            <a:off x="1042264" y="4042306"/>
            <a:ext cx="2058680"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i="1" u="none" strike="noStrike" cap="none" dirty="0">
                <a:solidFill>
                  <a:srgbClr val="2668AE"/>
                </a:solidFill>
                <a:latin typeface="Times New Roman"/>
                <a:ea typeface="Times New Roman"/>
                <a:cs typeface="Times New Roman"/>
                <a:sym typeface="Times New Roman"/>
              </a:rPr>
              <a:t>Sponsored</a:t>
            </a:r>
            <a:r>
              <a:rPr lang="en-US" sz="3200" b="1" i="1" u="none" strike="noStrike" cap="none" dirty="0">
                <a:solidFill>
                  <a:srgbClr val="3676B3"/>
                </a:solidFill>
                <a:latin typeface="Times New Roman"/>
                <a:ea typeface="Times New Roman"/>
                <a:cs typeface="Times New Roman"/>
                <a:sym typeface="Times New Roman"/>
              </a:rPr>
              <a:t> </a:t>
            </a:r>
            <a:r>
              <a:rPr lang="en-US" sz="2400" b="1" i="1" u="none" strike="noStrike" cap="none" dirty="0">
                <a:solidFill>
                  <a:srgbClr val="2668AE"/>
                </a:solidFill>
                <a:latin typeface="Times New Roman"/>
                <a:ea typeface="Times New Roman"/>
                <a:cs typeface="Times New Roman"/>
                <a:sym typeface="Times New Roman"/>
              </a:rPr>
              <a:t>by</a:t>
            </a:r>
            <a:endParaRPr dirty="0"/>
          </a:p>
        </p:txBody>
      </p:sp>
      <p:sp>
        <p:nvSpPr>
          <p:cNvPr id="77" name="Google Shape;77;p1"/>
          <p:cNvSpPr txBox="1"/>
          <p:nvPr/>
        </p:nvSpPr>
        <p:spPr>
          <a:xfrm>
            <a:off x="8107416" y="4247659"/>
            <a:ext cx="3679789" cy="461665"/>
          </a:xfrm>
          <a:prstGeom prst="rect">
            <a:avLst/>
          </a:prstGeom>
          <a:noFill/>
          <a:ln>
            <a:noFill/>
          </a:ln>
        </p:spPr>
        <p:txBody>
          <a:bodyPr spcFirstLastPara="1" wrap="square" lIns="91425" tIns="45700" rIns="91425" bIns="45700" anchor="t" anchorCtr="0">
            <a:spAutoFit/>
          </a:bodyPr>
          <a:lstStyle/>
          <a:p>
            <a:pPr algn="ctr"/>
            <a:r>
              <a:rPr lang="en-US" sz="2400" b="1" i="1" dirty="0">
                <a:solidFill>
                  <a:srgbClr val="2668AE"/>
                </a:solidFill>
                <a:latin typeface="Times New Roman"/>
                <a:cs typeface="Times New Roman"/>
                <a:sym typeface="Times New Roman"/>
              </a:rPr>
              <a:t>Supervisors</a:t>
            </a:r>
            <a:endParaRPr sz="2400" b="1" i="1" dirty="0">
              <a:solidFill>
                <a:srgbClr val="2668AE"/>
              </a:solidFill>
              <a:latin typeface="Times New Roman"/>
              <a:cs typeface="Times New Roman"/>
            </a:endParaRPr>
          </a:p>
        </p:txBody>
      </p:sp>
      <p:sp>
        <p:nvSpPr>
          <p:cNvPr id="78" name="Google Shape;78;p1"/>
          <p:cNvSpPr txBox="1"/>
          <p:nvPr/>
        </p:nvSpPr>
        <p:spPr>
          <a:xfrm>
            <a:off x="8502904" y="4709324"/>
            <a:ext cx="3191256" cy="40006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0" i="1" u="none" strike="noStrike" cap="none" dirty="0">
                <a:solidFill>
                  <a:srgbClr val="2668AE"/>
                </a:solidFill>
                <a:latin typeface="Times New Roman"/>
                <a:ea typeface="Times New Roman"/>
                <a:cs typeface="Times New Roman"/>
                <a:sym typeface="Times New Roman"/>
              </a:rPr>
              <a:t>Prof. Hani Fikry </a:t>
            </a:r>
            <a:r>
              <a:rPr lang="en-US" sz="2000" b="0" i="1" u="none" strike="noStrike" cap="none" dirty="0" err="1">
                <a:solidFill>
                  <a:srgbClr val="2668AE"/>
                </a:solidFill>
                <a:latin typeface="Times New Roman"/>
                <a:ea typeface="Times New Roman"/>
                <a:cs typeface="Times New Roman"/>
                <a:sym typeface="Times New Roman"/>
              </a:rPr>
              <a:t>Ragaai</a:t>
            </a:r>
            <a:endParaRPr dirty="0"/>
          </a:p>
        </p:txBody>
      </p:sp>
      <p:pic>
        <p:nvPicPr>
          <p:cNvPr id="3" name="Picture 2">
            <a:extLst>
              <a:ext uri="{FF2B5EF4-FFF2-40B4-BE49-F238E27FC236}">
                <a16:creationId xmlns:a16="http://schemas.microsoft.com/office/drawing/2014/main" xmlns="" id="{DFF83D0D-3394-1794-AE18-7566C405978A}"/>
              </a:ext>
            </a:extLst>
          </p:cNvPr>
          <p:cNvPicPr>
            <a:picLocks noChangeAspect="1"/>
          </p:cNvPicPr>
          <p:nvPr/>
        </p:nvPicPr>
        <p:blipFill>
          <a:blip r:embed="rId3"/>
          <a:stretch>
            <a:fillRect/>
          </a:stretch>
        </p:blipFill>
        <p:spPr>
          <a:xfrm>
            <a:off x="1052049" y="4709324"/>
            <a:ext cx="2048895" cy="639200"/>
          </a:xfrm>
          <a:prstGeom prst="rect">
            <a:avLst/>
          </a:prstGeom>
        </p:spPr>
      </p:pic>
      <p:sp>
        <p:nvSpPr>
          <p:cNvPr id="6" name="Google Shape;77;p1">
            <a:extLst>
              <a:ext uri="{FF2B5EF4-FFF2-40B4-BE49-F238E27FC236}">
                <a16:creationId xmlns:a16="http://schemas.microsoft.com/office/drawing/2014/main" xmlns="" id="{69B5FD2D-4B4E-B3B0-F313-50EB67BFDDBA}"/>
              </a:ext>
            </a:extLst>
          </p:cNvPr>
          <p:cNvSpPr txBox="1"/>
          <p:nvPr/>
        </p:nvSpPr>
        <p:spPr>
          <a:xfrm>
            <a:off x="4256104" y="4147007"/>
            <a:ext cx="3679789" cy="461665"/>
          </a:xfrm>
          <a:prstGeom prst="rect">
            <a:avLst/>
          </a:prstGeom>
          <a:noFill/>
          <a:ln>
            <a:noFill/>
          </a:ln>
        </p:spPr>
        <p:txBody>
          <a:bodyPr spcFirstLastPara="1" wrap="square" lIns="91425" tIns="45700" rIns="91425" bIns="45700" anchor="t" anchorCtr="0">
            <a:spAutoFit/>
          </a:bodyPr>
          <a:lstStyle/>
          <a:p>
            <a:pPr algn="ctr"/>
            <a:r>
              <a:rPr lang="en-US" sz="2400" b="1" i="1" dirty="0">
                <a:solidFill>
                  <a:srgbClr val="2668AE"/>
                </a:solidFill>
                <a:latin typeface="Times New Roman"/>
                <a:cs typeface="Times New Roman"/>
                <a:sym typeface="Times New Roman"/>
              </a:rPr>
              <a:t>Mentors </a:t>
            </a:r>
            <a:endParaRPr sz="2400" b="1" i="1" dirty="0">
              <a:solidFill>
                <a:srgbClr val="2668AE"/>
              </a:solidFill>
              <a:latin typeface="Times New Roman"/>
              <a:cs typeface="Times New Roman"/>
            </a:endParaRPr>
          </a:p>
        </p:txBody>
      </p:sp>
      <p:sp>
        <p:nvSpPr>
          <p:cNvPr id="7" name="Google Shape;77;p1">
            <a:extLst>
              <a:ext uri="{FF2B5EF4-FFF2-40B4-BE49-F238E27FC236}">
                <a16:creationId xmlns:a16="http://schemas.microsoft.com/office/drawing/2014/main" xmlns="" id="{CA6790E5-7E61-F816-5779-6F9B54C60D9E}"/>
              </a:ext>
            </a:extLst>
          </p:cNvPr>
          <p:cNvSpPr txBox="1"/>
          <p:nvPr/>
        </p:nvSpPr>
        <p:spPr>
          <a:xfrm>
            <a:off x="4238914" y="4580481"/>
            <a:ext cx="3679789" cy="400069"/>
          </a:xfrm>
          <a:prstGeom prst="rect">
            <a:avLst/>
          </a:prstGeom>
          <a:noFill/>
          <a:ln>
            <a:noFill/>
          </a:ln>
        </p:spPr>
        <p:txBody>
          <a:bodyPr spcFirstLastPara="1" wrap="square" lIns="91425" tIns="45700" rIns="91425" bIns="45700" anchor="t" anchorCtr="0">
            <a:spAutoFit/>
          </a:bodyPr>
          <a:lstStyle/>
          <a:p>
            <a:pPr algn="ctr"/>
            <a:r>
              <a:rPr lang="en-US" sz="2000" i="1" dirty="0">
                <a:solidFill>
                  <a:srgbClr val="2668AE"/>
                </a:solidFill>
                <a:latin typeface="Times New Roman"/>
                <a:cs typeface="Times New Roman"/>
              </a:rPr>
              <a:t>Eng. Ahmed Hany</a:t>
            </a:r>
            <a:endParaRPr sz="2000" i="1" dirty="0">
              <a:solidFill>
                <a:srgbClr val="2668AE"/>
              </a:solidFill>
              <a:latin typeface="Times New Roman"/>
              <a:cs typeface="Times New Roman"/>
            </a:endParaRPr>
          </a:p>
        </p:txBody>
      </p:sp>
      <p:sp>
        <p:nvSpPr>
          <p:cNvPr id="8" name="Google Shape;77;p1">
            <a:extLst>
              <a:ext uri="{FF2B5EF4-FFF2-40B4-BE49-F238E27FC236}">
                <a16:creationId xmlns:a16="http://schemas.microsoft.com/office/drawing/2014/main" xmlns="" id="{1795FFA4-BF32-388D-A8D9-09DC4BC8F815}"/>
              </a:ext>
            </a:extLst>
          </p:cNvPr>
          <p:cNvSpPr txBox="1"/>
          <p:nvPr/>
        </p:nvSpPr>
        <p:spPr>
          <a:xfrm>
            <a:off x="4230705" y="4950639"/>
            <a:ext cx="3679789" cy="400069"/>
          </a:xfrm>
          <a:prstGeom prst="rect">
            <a:avLst/>
          </a:prstGeom>
          <a:noFill/>
          <a:ln>
            <a:noFill/>
          </a:ln>
        </p:spPr>
        <p:txBody>
          <a:bodyPr spcFirstLastPara="1" wrap="square" lIns="91425" tIns="45700" rIns="91425" bIns="45700" anchor="t" anchorCtr="0">
            <a:spAutoFit/>
          </a:bodyPr>
          <a:lstStyle/>
          <a:p>
            <a:pPr algn="ctr"/>
            <a:r>
              <a:rPr lang="en-US" sz="2000" i="1" dirty="0">
                <a:solidFill>
                  <a:srgbClr val="2668AE"/>
                </a:solidFill>
                <a:latin typeface="Times New Roman"/>
                <a:cs typeface="Times New Roman"/>
              </a:rPr>
              <a:t>Eng. Moaz Khaled</a:t>
            </a:r>
            <a:endParaRPr sz="2000" i="1" dirty="0">
              <a:solidFill>
                <a:srgbClr val="2668AE"/>
              </a:solidFill>
              <a:latin typeface="Times New Roman"/>
              <a:cs typeface="Times New Roman"/>
            </a:endParaRPr>
          </a:p>
        </p:txBody>
      </p:sp>
      <p:sp>
        <p:nvSpPr>
          <p:cNvPr id="9" name="Google Shape;77;p1">
            <a:extLst>
              <a:ext uri="{FF2B5EF4-FFF2-40B4-BE49-F238E27FC236}">
                <a16:creationId xmlns:a16="http://schemas.microsoft.com/office/drawing/2014/main" xmlns="" id="{E44960AC-DB99-5AAD-FCE3-24D17CA143F7}"/>
              </a:ext>
            </a:extLst>
          </p:cNvPr>
          <p:cNvSpPr txBox="1"/>
          <p:nvPr/>
        </p:nvSpPr>
        <p:spPr>
          <a:xfrm>
            <a:off x="4222496" y="5292606"/>
            <a:ext cx="3679789" cy="400069"/>
          </a:xfrm>
          <a:prstGeom prst="rect">
            <a:avLst/>
          </a:prstGeom>
          <a:noFill/>
          <a:ln>
            <a:noFill/>
          </a:ln>
        </p:spPr>
        <p:txBody>
          <a:bodyPr spcFirstLastPara="1" wrap="square" lIns="91425" tIns="45700" rIns="91425" bIns="45700" anchor="t" anchorCtr="0">
            <a:spAutoFit/>
          </a:bodyPr>
          <a:lstStyle/>
          <a:p>
            <a:pPr algn="ctr"/>
            <a:r>
              <a:rPr lang="en-US" sz="2000" i="1" dirty="0">
                <a:solidFill>
                  <a:srgbClr val="2668AE"/>
                </a:solidFill>
                <a:latin typeface="Times New Roman"/>
                <a:cs typeface="Times New Roman"/>
              </a:rPr>
              <a:t>Eng. Abdelrahman</a:t>
            </a:r>
            <a:endParaRPr sz="2000" i="1" dirty="0">
              <a:solidFill>
                <a:srgbClr val="2668AE"/>
              </a:solidFill>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2"/>
          <p:cNvSpPr txBox="1">
            <a:spLocks noGrp="1"/>
          </p:cNvSpPr>
          <p:nvPr>
            <p:ph type="title"/>
          </p:nvPr>
        </p:nvSpPr>
        <p:spPr>
          <a:xfrm>
            <a:off x="924380" y="578201"/>
            <a:ext cx="10354128" cy="752533"/>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3600" dirty="0">
                <a:latin typeface="Calibri"/>
                <a:ea typeface="Calibri"/>
                <a:cs typeface="Calibri"/>
                <a:sym typeface="Calibri"/>
              </a:rPr>
              <a:t>Presented by </a:t>
            </a:r>
            <a:endParaRPr lang="en-US" sz="3600" b="0" dirty="0">
              <a:latin typeface="Calibri"/>
              <a:ea typeface="Calibri"/>
              <a:cs typeface="Calibri"/>
              <a:sym typeface="Calibri"/>
            </a:endParaRPr>
          </a:p>
        </p:txBody>
      </p:sp>
      <p:sp>
        <p:nvSpPr>
          <p:cNvPr id="84" name="Google Shape;84;p2"/>
          <p:cNvSpPr txBox="1">
            <a:spLocks noGrp="1"/>
          </p:cNvSpPr>
          <p:nvPr>
            <p:ph type="body" idx="1"/>
          </p:nvPr>
        </p:nvSpPr>
        <p:spPr>
          <a:xfrm>
            <a:off x="925285" y="1325691"/>
            <a:ext cx="10504715" cy="4984947"/>
          </a:xfrm>
          <a:prstGeom prst="rect">
            <a:avLst/>
          </a:prstGeom>
          <a:noFill/>
          <a:ln>
            <a:noFill/>
          </a:ln>
        </p:spPr>
        <p:txBody>
          <a:bodyPr spcFirstLastPara="1" wrap="square" lIns="91425" tIns="45700" rIns="91425" bIns="45700" anchor="t" anchorCtr="0">
            <a:noAutofit/>
          </a:bodyPr>
          <a:lstStyle/>
          <a:p>
            <a:pPr marL="342900" lvl="0" indent="-190500" algn="l" rtl="0">
              <a:spcBef>
                <a:spcPts val="0"/>
              </a:spcBef>
              <a:spcAft>
                <a:spcPts val="0"/>
              </a:spcAft>
              <a:buSzPts val="2400"/>
              <a:buFont typeface="Arial"/>
              <a:buNone/>
            </a:pPr>
            <a:endParaRPr lang="en-US" sz="2400" b="0" dirty="0">
              <a:solidFill>
                <a:srgbClr val="000000"/>
              </a:solidFill>
            </a:endParaRPr>
          </a:p>
          <a:p>
            <a:pPr marL="342900" lvl="0" indent="-190500" algn="l" rtl="0">
              <a:spcBef>
                <a:spcPts val="480"/>
              </a:spcBef>
              <a:spcAft>
                <a:spcPts val="0"/>
              </a:spcAft>
              <a:buSzPts val="2400"/>
              <a:buNone/>
            </a:pPr>
            <a:endParaRPr lang="en-US" sz="2400" dirty="0"/>
          </a:p>
        </p:txBody>
      </p:sp>
      <p:graphicFrame>
        <p:nvGraphicFramePr>
          <p:cNvPr id="85" name="Google Shape;85;p2"/>
          <p:cNvGraphicFramePr/>
          <p:nvPr/>
        </p:nvGraphicFramePr>
        <p:xfrm>
          <a:off x="811763" y="2311173"/>
          <a:ext cx="10552923" cy="2743250"/>
        </p:xfrm>
        <a:graphic>
          <a:graphicData uri="http://schemas.openxmlformats.org/drawingml/2006/table">
            <a:tbl>
              <a:tblPr firstRow="1" bandRow="1">
                <a:noFill/>
              </a:tblPr>
              <a:tblGrid>
                <a:gridCol w="6223921">
                  <a:extLst>
                    <a:ext uri="{9D8B030D-6E8A-4147-A177-3AD203B41FA5}">
                      <a16:colId xmlns:a16="http://schemas.microsoft.com/office/drawing/2014/main" xmlns="" val="20000"/>
                    </a:ext>
                  </a:extLst>
                </a:gridCol>
                <a:gridCol w="4329002">
                  <a:extLst>
                    <a:ext uri="{9D8B030D-6E8A-4147-A177-3AD203B41FA5}">
                      <a16:colId xmlns:a16="http://schemas.microsoft.com/office/drawing/2014/main" xmlns="" val="20001"/>
                    </a:ext>
                  </a:extLst>
                </a:gridCol>
              </a:tblGrid>
              <a:tr h="548650">
                <a:tc>
                  <a:txBody>
                    <a:bodyPr/>
                    <a:lstStyle/>
                    <a:p>
                      <a:pPr marL="0" marR="0" lvl="0" indent="0" algn="ctr" rtl="0">
                        <a:lnSpc>
                          <a:spcPct val="100000"/>
                        </a:lnSpc>
                        <a:spcBef>
                          <a:spcPts val="0"/>
                        </a:spcBef>
                        <a:spcAft>
                          <a:spcPts val="0"/>
                        </a:spcAft>
                        <a:buClr>
                          <a:schemeClr val="dk1"/>
                        </a:buClr>
                        <a:buSzPts val="2400"/>
                        <a:buFont typeface="Garamond"/>
                        <a:buNone/>
                      </a:pPr>
                      <a:r>
                        <a:rPr lang="en-US" sz="2400" b="1" u="none" strike="noStrike" cap="none" dirty="0">
                          <a:solidFill>
                            <a:schemeClr val="dk1"/>
                          </a:solidFill>
                        </a:rPr>
                        <a:t>Ahmed Alaa Mohamed </a:t>
                      </a:r>
                      <a:r>
                        <a:rPr lang="en-US" sz="2400" b="1" u="none" strike="noStrike" cap="none" dirty="0" err="1">
                          <a:solidFill>
                            <a:schemeClr val="dk1"/>
                          </a:solidFill>
                        </a:rPr>
                        <a:t>Elsodany</a:t>
                      </a:r>
                      <a:endParaRPr sz="2400" b="1" u="none" strike="noStrike" cap="none" dirty="0">
                        <a:solidFill>
                          <a:schemeClr val="dk1"/>
                        </a:solidFill>
                        <a:latin typeface="Calibri"/>
                        <a:ea typeface="Calibri"/>
                        <a:cs typeface="Calibri"/>
                        <a:sym typeface="Calibri"/>
                      </a:endParaRPr>
                    </a:p>
                  </a:txBody>
                  <a:tcPr marL="68575" marR="68575" marT="0" marB="0" anchor="ctr">
                    <a:lnL w="12700" cap="flat" cmpd="sng">
                      <a:solidFill>
                        <a:srgbClr val="2668AE"/>
                      </a:solidFill>
                      <a:prstDash val="solid"/>
                      <a:round/>
                      <a:headEnd type="none" w="sm" len="sm"/>
                      <a:tailEnd type="none" w="sm" len="sm"/>
                    </a:lnL>
                    <a:lnR w="12700" cap="flat" cmpd="sng">
                      <a:solidFill>
                        <a:srgbClr val="2668AE"/>
                      </a:solidFill>
                      <a:prstDash val="solid"/>
                      <a:round/>
                      <a:headEnd type="none" w="sm" len="sm"/>
                      <a:tailEnd type="none" w="sm" len="sm"/>
                    </a:lnR>
                    <a:lnT w="12700" cap="flat" cmpd="sng">
                      <a:solidFill>
                        <a:srgbClr val="2668AE"/>
                      </a:solidFill>
                      <a:prstDash val="solid"/>
                      <a:round/>
                      <a:headEnd type="none" w="sm" len="sm"/>
                      <a:tailEnd type="none" w="sm" len="sm"/>
                    </a:lnT>
                    <a:lnB w="12700" cap="flat" cmpd="sng">
                      <a:solidFill>
                        <a:srgbClr val="2668AE"/>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400" b="1" u="none" strike="noStrike" cap="none" dirty="0">
                          <a:solidFill>
                            <a:schemeClr val="dk1"/>
                          </a:solidFill>
                        </a:rPr>
                        <a:t>2101434</a:t>
                      </a:r>
                      <a:endParaRPr sz="2400" u="none" strike="noStrike" cap="none" dirty="0">
                        <a:solidFill>
                          <a:schemeClr val="dk1"/>
                        </a:solidFill>
                        <a:latin typeface="Calibri"/>
                        <a:ea typeface="Calibri"/>
                        <a:cs typeface="Calibri"/>
                        <a:sym typeface="Calibri"/>
                      </a:endParaRPr>
                    </a:p>
                  </a:txBody>
                  <a:tcPr marL="91450" marR="91450" marT="45725" marB="45725" anchor="ctr">
                    <a:lnL w="12700" cap="flat" cmpd="sng">
                      <a:solidFill>
                        <a:srgbClr val="2668AE"/>
                      </a:solidFill>
                      <a:prstDash val="solid"/>
                      <a:round/>
                      <a:headEnd type="none" w="sm" len="sm"/>
                      <a:tailEnd type="none" w="sm" len="sm"/>
                    </a:lnL>
                    <a:lnR w="12700" cap="flat" cmpd="sng">
                      <a:solidFill>
                        <a:srgbClr val="2668AE"/>
                      </a:solidFill>
                      <a:prstDash val="solid"/>
                      <a:round/>
                      <a:headEnd type="none" w="sm" len="sm"/>
                      <a:tailEnd type="none" w="sm" len="sm"/>
                    </a:lnR>
                    <a:lnT w="12700" cap="flat" cmpd="sng">
                      <a:solidFill>
                        <a:srgbClr val="2668AE"/>
                      </a:solidFill>
                      <a:prstDash val="solid"/>
                      <a:round/>
                      <a:headEnd type="none" w="sm" len="sm"/>
                      <a:tailEnd type="none" w="sm" len="sm"/>
                    </a:lnT>
                    <a:lnB w="12700" cap="flat" cmpd="sng">
                      <a:solidFill>
                        <a:srgbClr val="2668AE"/>
                      </a:solidFill>
                      <a:prstDash val="solid"/>
                      <a:round/>
                      <a:headEnd type="none" w="sm" len="sm"/>
                      <a:tailEnd type="none" w="sm" len="sm"/>
                    </a:lnB>
                  </a:tcPr>
                </a:tc>
                <a:extLst>
                  <a:ext uri="{0D108BD9-81ED-4DB2-BD59-A6C34878D82A}">
                    <a16:rowId xmlns:a16="http://schemas.microsoft.com/office/drawing/2014/main" xmlns="" val="10000"/>
                  </a:ext>
                </a:extLst>
              </a:tr>
              <a:tr h="548650">
                <a:tc>
                  <a:txBody>
                    <a:bodyPr/>
                    <a:lstStyle/>
                    <a:p>
                      <a:pPr marL="0" marR="0" lvl="0" indent="0" algn="ctr" rtl="0">
                        <a:lnSpc>
                          <a:spcPct val="100000"/>
                        </a:lnSpc>
                        <a:spcBef>
                          <a:spcPts val="0"/>
                        </a:spcBef>
                        <a:spcAft>
                          <a:spcPts val="0"/>
                        </a:spcAft>
                        <a:buClr>
                          <a:schemeClr val="dk1"/>
                        </a:buClr>
                        <a:buSzPts val="2400"/>
                        <a:buFont typeface="Garamond"/>
                        <a:buNone/>
                      </a:pPr>
                      <a:r>
                        <a:rPr lang="en-US" sz="2400" b="1" u="none" strike="noStrike" cap="none" dirty="0">
                          <a:solidFill>
                            <a:schemeClr val="dk1"/>
                          </a:solidFill>
                        </a:rPr>
                        <a:t>Sarah Hamed Mahmoud Al Sayed</a:t>
                      </a:r>
                      <a:endParaRPr sz="2400" b="1" u="none" strike="noStrike" cap="none" dirty="0">
                        <a:solidFill>
                          <a:schemeClr val="dk1"/>
                        </a:solidFill>
                        <a:latin typeface="Calibri"/>
                        <a:ea typeface="Calibri"/>
                        <a:cs typeface="Calibri"/>
                        <a:sym typeface="Calibri"/>
                      </a:endParaRPr>
                    </a:p>
                  </a:txBody>
                  <a:tcPr marL="68575" marR="68575" marT="0" marB="0" anchor="ctr">
                    <a:lnL w="12700" cap="flat" cmpd="sng">
                      <a:solidFill>
                        <a:srgbClr val="2668AE"/>
                      </a:solidFill>
                      <a:prstDash val="solid"/>
                      <a:round/>
                      <a:headEnd type="none" w="sm" len="sm"/>
                      <a:tailEnd type="none" w="sm" len="sm"/>
                    </a:lnL>
                    <a:lnR w="12700" cap="flat" cmpd="sng">
                      <a:solidFill>
                        <a:srgbClr val="2668AE"/>
                      </a:solidFill>
                      <a:prstDash val="solid"/>
                      <a:round/>
                      <a:headEnd type="none" w="sm" len="sm"/>
                      <a:tailEnd type="none" w="sm" len="sm"/>
                    </a:lnR>
                    <a:lnT w="12700" cap="flat" cmpd="sng">
                      <a:solidFill>
                        <a:srgbClr val="2668AE"/>
                      </a:solidFill>
                      <a:prstDash val="solid"/>
                      <a:round/>
                      <a:headEnd type="none" w="sm" len="sm"/>
                      <a:tailEnd type="none" w="sm" len="sm"/>
                    </a:lnT>
                    <a:lnB w="12700" cap="flat" cmpd="sng">
                      <a:solidFill>
                        <a:srgbClr val="2668AE"/>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400" b="1" u="none" strike="noStrike" cap="none" dirty="0">
                          <a:solidFill>
                            <a:schemeClr val="dk1"/>
                          </a:solidFill>
                        </a:rPr>
                        <a:t>2101518</a:t>
                      </a:r>
                      <a:endParaRPr sz="2400" u="none" strike="noStrike" cap="none" dirty="0">
                        <a:solidFill>
                          <a:schemeClr val="dk1"/>
                        </a:solidFill>
                        <a:latin typeface="Calibri"/>
                        <a:ea typeface="Calibri"/>
                        <a:cs typeface="Calibri"/>
                        <a:sym typeface="Calibri"/>
                      </a:endParaRPr>
                    </a:p>
                  </a:txBody>
                  <a:tcPr marL="91450" marR="91450" marT="45725" marB="45725" anchor="ctr">
                    <a:lnL w="12700" cap="flat" cmpd="sng">
                      <a:solidFill>
                        <a:srgbClr val="2668AE"/>
                      </a:solidFill>
                      <a:prstDash val="solid"/>
                      <a:round/>
                      <a:headEnd type="none" w="sm" len="sm"/>
                      <a:tailEnd type="none" w="sm" len="sm"/>
                    </a:lnL>
                    <a:lnR w="12700" cap="flat" cmpd="sng">
                      <a:solidFill>
                        <a:srgbClr val="2668AE"/>
                      </a:solidFill>
                      <a:prstDash val="solid"/>
                      <a:round/>
                      <a:headEnd type="none" w="sm" len="sm"/>
                      <a:tailEnd type="none" w="sm" len="sm"/>
                    </a:lnR>
                    <a:lnT w="12700" cap="flat" cmpd="sng">
                      <a:solidFill>
                        <a:srgbClr val="2668AE"/>
                      </a:solidFill>
                      <a:prstDash val="solid"/>
                      <a:round/>
                      <a:headEnd type="none" w="sm" len="sm"/>
                      <a:tailEnd type="none" w="sm" len="sm"/>
                    </a:lnT>
                    <a:lnB w="12700" cap="flat" cmpd="sng">
                      <a:solidFill>
                        <a:srgbClr val="2668AE"/>
                      </a:solidFill>
                      <a:prstDash val="solid"/>
                      <a:round/>
                      <a:headEnd type="none" w="sm" len="sm"/>
                      <a:tailEnd type="none" w="sm" len="sm"/>
                    </a:lnB>
                  </a:tcPr>
                </a:tc>
                <a:extLst>
                  <a:ext uri="{0D108BD9-81ED-4DB2-BD59-A6C34878D82A}">
                    <a16:rowId xmlns:a16="http://schemas.microsoft.com/office/drawing/2014/main" xmlns="" val="10001"/>
                  </a:ext>
                </a:extLst>
              </a:tr>
              <a:tr h="548650">
                <a:tc>
                  <a:txBody>
                    <a:bodyPr/>
                    <a:lstStyle/>
                    <a:p>
                      <a:pPr marL="0" marR="0" lvl="0" indent="0" algn="ctr" rtl="0">
                        <a:lnSpc>
                          <a:spcPct val="100000"/>
                        </a:lnSpc>
                        <a:spcBef>
                          <a:spcPts val="0"/>
                        </a:spcBef>
                        <a:spcAft>
                          <a:spcPts val="0"/>
                        </a:spcAft>
                        <a:buClr>
                          <a:schemeClr val="dk1"/>
                        </a:buClr>
                        <a:buSzPts val="2400"/>
                        <a:buFont typeface="Garamond"/>
                        <a:buNone/>
                      </a:pPr>
                      <a:r>
                        <a:rPr lang="en-US" sz="2400" b="1" u="none" strike="noStrike" cap="none" dirty="0">
                          <a:solidFill>
                            <a:schemeClr val="dk1"/>
                          </a:solidFill>
                        </a:rPr>
                        <a:t>Habiba Essam Eldin </a:t>
                      </a:r>
                      <a:r>
                        <a:rPr lang="en-US" sz="2400" b="1" u="none" strike="noStrike" cap="none" dirty="0" err="1">
                          <a:solidFill>
                            <a:schemeClr val="dk1"/>
                          </a:solidFill>
                        </a:rPr>
                        <a:t>Abdelhamid</a:t>
                      </a:r>
                      <a:r>
                        <a:rPr lang="en-US" sz="2400" b="1" u="none" strike="noStrike" cap="none" dirty="0">
                          <a:solidFill>
                            <a:schemeClr val="dk1"/>
                          </a:solidFill>
                        </a:rPr>
                        <a:t> </a:t>
                      </a:r>
                      <a:r>
                        <a:rPr lang="en-US" sz="2400" b="1" u="none" strike="noStrike" cap="none" dirty="0" err="1">
                          <a:solidFill>
                            <a:schemeClr val="dk1"/>
                          </a:solidFill>
                        </a:rPr>
                        <a:t>Foad</a:t>
                      </a:r>
                      <a:endParaRPr lang="en-US" sz="2400" b="1" u="none" strike="noStrike" cap="none" dirty="0">
                        <a:solidFill>
                          <a:schemeClr val="dk1"/>
                        </a:solidFill>
                      </a:endParaRPr>
                    </a:p>
                  </a:txBody>
                  <a:tcPr marL="68575" marR="68575" marT="0" marB="0" anchor="ctr">
                    <a:lnL w="12700" cap="flat" cmpd="sng">
                      <a:solidFill>
                        <a:srgbClr val="2668AE"/>
                      </a:solidFill>
                      <a:prstDash val="solid"/>
                      <a:round/>
                      <a:headEnd type="none" w="sm" len="sm"/>
                      <a:tailEnd type="none" w="sm" len="sm"/>
                    </a:lnL>
                    <a:lnR w="12700" cap="flat" cmpd="sng">
                      <a:solidFill>
                        <a:srgbClr val="2668AE"/>
                      </a:solidFill>
                      <a:prstDash val="solid"/>
                      <a:round/>
                      <a:headEnd type="none" w="sm" len="sm"/>
                      <a:tailEnd type="none" w="sm" len="sm"/>
                    </a:lnR>
                    <a:lnT w="12700" cap="flat" cmpd="sng">
                      <a:solidFill>
                        <a:srgbClr val="2668AE"/>
                      </a:solidFill>
                      <a:prstDash val="solid"/>
                      <a:round/>
                      <a:headEnd type="none" w="sm" len="sm"/>
                      <a:tailEnd type="none" w="sm" len="sm"/>
                    </a:lnT>
                    <a:lnB w="12700" cap="flat" cmpd="sng">
                      <a:solidFill>
                        <a:srgbClr val="2668AE"/>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400" b="1" u="none" strike="noStrike" cap="none" dirty="0">
                          <a:solidFill>
                            <a:schemeClr val="dk1"/>
                          </a:solidFill>
                        </a:rPr>
                        <a:t>2100321</a:t>
                      </a:r>
                      <a:endParaRPr sz="2400" u="none" strike="noStrike" cap="none" dirty="0">
                        <a:solidFill>
                          <a:schemeClr val="dk1"/>
                        </a:solidFill>
                        <a:latin typeface="Calibri"/>
                        <a:ea typeface="Calibri"/>
                        <a:cs typeface="Calibri"/>
                        <a:sym typeface="Calibri"/>
                      </a:endParaRPr>
                    </a:p>
                  </a:txBody>
                  <a:tcPr marL="91450" marR="91450" marT="45725" marB="45725" anchor="ctr">
                    <a:lnL w="12700" cap="flat" cmpd="sng">
                      <a:solidFill>
                        <a:srgbClr val="2668AE"/>
                      </a:solidFill>
                      <a:prstDash val="solid"/>
                      <a:round/>
                      <a:headEnd type="none" w="sm" len="sm"/>
                      <a:tailEnd type="none" w="sm" len="sm"/>
                    </a:lnL>
                    <a:lnR w="12700" cap="flat" cmpd="sng">
                      <a:solidFill>
                        <a:srgbClr val="2668AE"/>
                      </a:solidFill>
                      <a:prstDash val="solid"/>
                      <a:round/>
                      <a:headEnd type="none" w="sm" len="sm"/>
                      <a:tailEnd type="none" w="sm" len="sm"/>
                    </a:lnR>
                    <a:lnT w="12700" cap="flat" cmpd="sng">
                      <a:solidFill>
                        <a:srgbClr val="2668AE"/>
                      </a:solidFill>
                      <a:prstDash val="solid"/>
                      <a:round/>
                      <a:headEnd type="none" w="sm" len="sm"/>
                      <a:tailEnd type="none" w="sm" len="sm"/>
                    </a:lnT>
                    <a:lnB w="12700" cap="flat" cmpd="sng">
                      <a:solidFill>
                        <a:srgbClr val="2668AE"/>
                      </a:solidFill>
                      <a:prstDash val="solid"/>
                      <a:round/>
                      <a:headEnd type="none" w="sm" len="sm"/>
                      <a:tailEnd type="none" w="sm" len="sm"/>
                    </a:lnB>
                  </a:tcPr>
                </a:tc>
                <a:extLst>
                  <a:ext uri="{0D108BD9-81ED-4DB2-BD59-A6C34878D82A}">
                    <a16:rowId xmlns:a16="http://schemas.microsoft.com/office/drawing/2014/main" xmlns="" val="10002"/>
                  </a:ext>
                </a:extLst>
              </a:tr>
              <a:tr h="548650">
                <a:tc>
                  <a:txBody>
                    <a:bodyPr/>
                    <a:lstStyle/>
                    <a:p>
                      <a:pPr marL="0" marR="0" lvl="0" indent="0" algn="ctr" rtl="0">
                        <a:lnSpc>
                          <a:spcPct val="100000"/>
                        </a:lnSpc>
                        <a:spcBef>
                          <a:spcPts val="0"/>
                        </a:spcBef>
                        <a:spcAft>
                          <a:spcPts val="0"/>
                        </a:spcAft>
                        <a:buClr>
                          <a:schemeClr val="dk1"/>
                        </a:buClr>
                        <a:buSzPts val="2400"/>
                        <a:buFont typeface="Garamond"/>
                        <a:buNone/>
                      </a:pPr>
                      <a:r>
                        <a:rPr lang="en-US" sz="2400" b="1" u="none" strike="noStrike" cap="none" dirty="0">
                          <a:solidFill>
                            <a:schemeClr val="dk1"/>
                          </a:solidFill>
                        </a:rPr>
                        <a:t>Hanin Ahmed Abdelfattah Ahmed</a:t>
                      </a:r>
                    </a:p>
                  </a:txBody>
                  <a:tcPr marL="68575" marR="68575" marT="0" marB="0" anchor="ctr">
                    <a:lnL w="12700" cap="flat" cmpd="sng">
                      <a:solidFill>
                        <a:srgbClr val="2668AE"/>
                      </a:solidFill>
                      <a:prstDash val="solid"/>
                      <a:round/>
                      <a:headEnd type="none" w="sm" len="sm"/>
                      <a:tailEnd type="none" w="sm" len="sm"/>
                    </a:lnL>
                    <a:lnR w="12700" cap="flat" cmpd="sng">
                      <a:solidFill>
                        <a:srgbClr val="2668AE"/>
                      </a:solidFill>
                      <a:prstDash val="solid"/>
                      <a:round/>
                      <a:headEnd type="none" w="sm" len="sm"/>
                      <a:tailEnd type="none" w="sm" len="sm"/>
                    </a:lnR>
                    <a:lnT w="12700" cap="flat" cmpd="sng">
                      <a:solidFill>
                        <a:srgbClr val="2668AE"/>
                      </a:solidFill>
                      <a:prstDash val="solid"/>
                      <a:round/>
                      <a:headEnd type="none" w="sm" len="sm"/>
                      <a:tailEnd type="none" w="sm" len="sm"/>
                    </a:lnT>
                    <a:lnB w="12700" cap="flat" cmpd="sng">
                      <a:solidFill>
                        <a:srgbClr val="2668AE"/>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400" b="1" u="none" strike="noStrike" cap="none" dirty="0">
                          <a:solidFill>
                            <a:schemeClr val="dk1"/>
                          </a:solidFill>
                        </a:rPr>
                        <a:t>2100661</a:t>
                      </a:r>
                      <a:endParaRPr sz="2400" u="none" strike="noStrike" cap="none" dirty="0">
                        <a:solidFill>
                          <a:schemeClr val="dk1"/>
                        </a:solidFill>
                        <a:latin typeface="Calibri"/>
                        <a:ea typeface="Calibri"/>
                        <a:cs typeface="Calibri"/>
                        <a:sym typeface="Calibri"/>
                      </a:endParaRPr>
                    </a:p>
                  </a:txBody>
                  <a:tcPr marL="91450" marR="91450" marT="45725" marB="45725" anchor="ctr">
                    <a:lnL w="12700" cap="flat" cmpd="sng">
                      <a:solidFill>
                        <a:srgbClr val="2668AE"/>
                      </a:solidFill>
                      <a:prstDash val="solid"/>
                      <a:round/>
                      <a:headEnd type="none" w="sm" len="sm"/>
                      <a:tailEnd type="none" w="sm" len="sm"/>
                    </a:lnL>
                    <a:lnR w="12700" cap="flat" cmpd="sng">
                      <a:solidFill>
                        <a:srgbClr val="2668AE"/>
                      </a:solidFill>
                      <a:prstDash val="solid"/>
                      <a:round/>
                      <a:headEnd type="none" w="sm" len="sm"/>
                      <a:tailEnd type="none" w="sm" len="sm"/>
                    </a:lnR>
                    <a:lnT w="12700" cap="flat" cmpd="sng">
                      <a:solidFill>
                        <a:srgbClr val="2668AE"/>
                      </a:solidFill>
                      <a:prstDash val="solid"/>
                      <a:round/>
                      <a:headEnd type="none" w="sm" len="sm"/>
                      <a:tailEnd type="none" w="sm" len="sm"/>
                    </a:lnT>
                    <a:lnB w="12700" cap="flat" cmpd="sng">
                      <a:solidFill>
                        <a:srgbClr val="2668AE"/>
                      </a:solidFill>
                      <a:prstDash val="solid"/>
                      <a:round/>
                      <a:headEnd type="none" w="sm" len="sm"/>
                      <a:tailEnd type="none" w="sm" len="sm"/>
                    </a:lnB>
                  </a:tcPr>
                </a:tc>
                <a:extLst>
                  <a:ext uri="{0D108BD9-81ED-4DB2-BD59-A6C34878D82A}">
                    <a16:rowId xmlns:a16="http://schemas.microsoft.com/office/drawing/2014/main" xmlns="" val="10003"/>
                  </a:ext>
                </a:extLst>
              </a:tr>
              <a:tr h="548650">
                <a:tc>
                  <a:txBody>
                    <a:bodyPr/>
                    <a:lstStyle/>
                    <a:p>
                      <a:pPr marL="0" marR="0" lvl="0" indent="0" algn="ctr" rtl="0">
                        <a:lnSpc>
                          <a:spcPct val="100000"/>
                        </a:lnSpc>
                        <a:spcBef>
                          <a:spcPts val="0"/>
                        </a:spcBef>
                        <a:spcAft>
                          <a:spcPts val="0"/>
                        </a:spcAft>
                        <a:buClr>
                          <a:schemeClr val="dk1"/>
                        </a:buClr>
                        <a:buSzPts val="2400"/>
                        <a:buFont typeface="Garamond"/>
                        <a:buNone/>
                      </a:pPr>
                      <a:r>
                        <a:rPr lang="en-US" sz="2400" b="1" u="none" strike="noStrike" cap="none" dirty="0">
                          <a:solidFill>
                            <a:schemeClr val="dk1"/>
                          </a:solidFill>
                        </a:rPr>
                        <a:t>Mina Ayad Younan </a:t>
                      </a:r>
                      <a:r>
                        <a:rPr lang="en-US" sz="2400" b="1" u="none" strike="noStrike" cap="none" dirty="0" err="1">
                          <a:solidFill>
                            <a:schemeClr val="dk1"/>
                          </a:solidFill>
                        </a:rPr>
                        <a:t>Bebawi</a:t>
                      </a:r>
                      <a:endParaRPr lang="en-US" sz="2400" b="1" u="none" strike="noStrike" cap="none" dirty="0">
                        <a:solidFill>
                          <a:schemeClr val="dk1"/>
                        </a:solidFill>
                        <a:latin typeface="Calibri"/>
                        <a:ea typeface="Calibri"/>
                        <a:cs typeface="Calibri"/>
                        <a:sym typeface="Calibri"/>
                      </a:endParaRPr>
                    </a:p>
                  </a:txBody>
                  <a:tcPr marL="68575" marR="68575" marT="0" marB="0" anchor="ctr">
                    <a:lnL w="12700" cap="flat" cmpd="sng">
                      <a:solidFill>
                        <a:srgbClr val="2668AE"/>
                      </a:solidFill>
                      <a:prstDash val="solid"/>
                      <a:round/>
                      <a:headEnd type="none" w="sm" len="sm"/>
                      <a:tailEnd type="none" w="sm" len="sm"/>
                    </a:lnL>
                    <a:lnR w="12700" cap="flat" cmpd="sng">
                      <a:solidFill>
                        <a:srgbClr val="2668AE"/>
                      </a:solidFill>
                      <a:prstDash val="solid"/>
                      <a:round/>
                      <a:headEnd type="none" w="sm" len="sm"/>
                      <a:tailEnd type="none" w="sm" len="sm"/>
                    </a:lnR>
                    <a:lnT w="12700" cap="flat" cmpd="sng">
                      <a:solidFill>
                        <a:srgbClr val="2668AE"/>
                      </a:solidFill>
                      <a:prstDash val="solid"/>
                      <a:round/>
                      <a:headEnd type="none" w="sm" len="sm"/>
                      <a:tailEnd type="none" w="sm" len="sm"/>
                    </a:lnT>
                    <a:lnB w="12700" cap="flat" cmpd="sng">
                      <a:solidFill>
                        <a:srgbClr val="2668AE"/>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400" b="1" u="none" strike="noStrike" cap="none" dirty="0">
                          <a:solidFill>
                            <a:schemeClr val="dk1"/>
                          </a:solidFill>
                        </a:rPr>
                        <a:t>2100546</a:t>
                      </a:r>
                      <a:endParaRPr sz="2400" u="none" strike="noStrike" cap="none" dirty="0">
                        <a:solidFill>
                          <a:schemeClr val="dk1"/>
                        </a:solidFill>
                        <a:latin typeface="Calibri"/>
                        <a:ea typeface="Calibri"/>
                        <a:cs typeface="Calibri"/>
                        <a:sym typeface="Calibri"/>
                      </a:endParaRPr>
                    </a:p>
                  </a:txBody>
                  <a:tcPr marL="91450" marR="91450" marT="45725" marB="45725" anchor="ctr">
                    <a:lnL w="12700" cap="flat" cmpd="sng">
                      <a:solidFill>
                        <a:srgbClr val="2668AE"/>
                      </a:solidFill>
                      <a:prstDash val="solid"/>
                      <a:round/>
                      <a:headEnd type="none" w="sm" len="sm"/>
                      <a:tailEnd type="none" w="sm" len="sm"/>
                    </a:lnL>
                    <a:lnR w="12700" cap="flat" cmpd="sng">
                      <a:solidFill>
                        <a:srgbClr val="2668AE"/>
                      </a:solidFill>
                      <a:prstDash val="solid"/>
                      <a:round/>
                      <a:headEnd type="none" w="sm" len="sm"/>
                      <a:tailEnd type="none" w="sm" len="sm"/>
                    </a:lnR>
                    <a:lnT w="12700" cap="flat" cmpd="sng">
                      <a:solidFill>
                        <a:srgbClr val="2668AE"/>
                      </a:solidFill>
                      <a:prstDash val="solid"/>
                      <a:round/>
                      <a:headEnd type="none" w="sm" len="sm"/>
                      <a:tailEnd type="none" w="sm" len="sm"/>
                    </a:lnT>
                    <a:lnB w="12700" cap="flat" cmpd="sng">
                      <a:solidFill>
                        <a:srgbClr val="2668AE"/>
                      </a:solidFill>
                      <a:prstDash val="solid"/>
                      <a:round/>
                      <a:headEnd type="none" w="sm" len="sm"/>
                      <a:tailEnd type="none" w="sm" len="sm"/>
                    </a:lnB>
                  </a:tcPr>
                </a:tc>
                <a:extLst>
                  <a:ext uri="{0D108BD9-81ED-4DB2-BD59-A6C34878D82A}">
                    <a16:rowId xmlns:a16="http://schemas.microsoft.com/office/drawing/2014/main" xmlns="" val="10004"/>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xmlns="" id="{BAF341A0-AA24-B8E8-25F2-9AD7DD7AA98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xmlns="" id="{42A696DE-2464-C784-4F5D-41C47D3BB1DF}"/>
              </a:ext>
            </a:extLst>
          </p:cNvPr>
          <p:cNvSpPr>
            <a:spLocks noGrp="1"/>
          </p:cNvSpPr>
          <p:nvPr>
            <p:ph type="title"/>
          </p:nvPr>
        </p:nvSpPr>
        <p:spPr/>
        <p:txBody>
          <a:bodyPr/>
          <a:lstStyle/>
          <a:p>
            <a:r>
              <a:rPr lang="en-US" sz="3200" dirty="0">
                <a:latin typeface="Times New Roman" panose="02020603050405020304" pitchFamily="18" charset="0"/>
                <a:cs typeface="Times New Roman" panose="02020603050405020304" pitchFamily="18" charset="0"/>
              </a:rPr>
              <a:t>Introduction</a:t>
            </a:r>
          </a:p>
        </p:txBody>
      </p:sp>
      <p:sp>
        <p:nvSpPr>
          <p:cNvPr id="3" name="Text Placeholder 2">
            <a:extLst>
              <a:ext uri="{FF2B5EF4-FFF2-40B4-BE49-F238E27FC236}">
                <a16:creationId xmlns:a16="http://schemas.microsoft.com/office/drawing/2014/main" xmlns="" id="{E9A42B16-987C-293E-B5A3-484E68CC7103}"/>
              </a:ext>
            </a:extLst>
          </p:cNvPr>
          <p:cNvSpPr>
            <a:spLocks noGrp="1"/>
          </p:cNvSpPr>
          <p:nvPr>
            <p:ph type="body" idx="1"/>
          </p:nvPr>
        </p:nvSpPr>
        <p:spPr>
          <a:xfrm>
            <a:off x="882649" y="1308963"/>
            <a:ext cx="10363200" cy="3409595"/>
          </a:xfrm>
        </p:spPr>
        <p:txBody>
          <a:bodyPr/>
          <a:lstStyle/>
          <a:p>
            <a:r>
              <a:rPr lang="en-US" sz="2000" b="1" dirty="0">
                <a:solidFill>
                  <a:schemeClr val="tx1">
                    <a:lumMod val="75000"/>
                    <a:lumOff val="25000"/>
                  </a:schemeClr>
                </a:solidFill>
              </a:rPr>
              <a:t>Bluetooth Low Energy (BLE)</a:t>
            </a:r>
            <a:r>
              <a:rPr lang="en-US" sz="2000" b="0" dirty="0">
                <a:solidFill>
                  <a:schemeClr val="tx1">
                    <a:lumMod val="75000"/>
                    <a:lumOff val="25000"/>
                  </a:schemeClr>
                </a:solidFill>
              </a:rPr>
              <a:t> is a wireless standard created to complement Classic Bluetooth, but with a different priority: ultra-low power and low cost rather than high data rate. It’s widely used for short-range connections in IoT and battery-powered devices (wearables, sensors, beacons, smart home), where devices may need to run for months or years on small batteries.</a:t>
            </a:r>
            <a:endParaRPr lang="en-US" sz="2000" dirty="0">
              <a:solidFill>
                <a:schemeClr val="tx1">
                  <a:lumMod val="75000"/>
                  <a:lumOff val="25000"/>
                </a:schemeClr>
              </a:solidFill>
            </a:endParaRPr>
          </a:p>
          <a:p>
            <a:r>
              <a:rPr lang="en-US" sz="2000" dirty="0">
                <a:solidFill>
                  <a:schemeClr val="tx1">
                    <a:lumMod val="75000"/>
                    <a:lumOff val="25000"/>
                  </a:schemeClr>
                </a:solidFill>
              </a:rPr>
              <a:t>BLE is low-cost since it has:</a:t>
            </a:r>
          </a:p>
          <a:p>
            <a:pPr marL="76200" indent="0">
              <a:buNone/>
            </a:pPr>
            <a:r>
              <a:rPr lang="en-US" sz="2000" b="1" dirty="0">
                <a:solidFill>
                  <a:schemeClr val="tx1">
                    <a:lumMod val="75000"/>
                    <a:lumOff val="25000"/>
                  </a:schemeClr>
                </a:solidFill>
              </a:rPr>
              <a:t>	</a:t>
            </a:r>
            <a:r>
              <a:rPr lang="en-US" sz="2000" b="0" dirty="0">
                <a:solidFill>
                  <a:schemeClr val="tx1">
                    <a:lumMod val="75000"/>
                    <a:lumOff val="25000"/>
                  </a:schemeClr>
                </a:solidFill>
              </a:rPr>
              <a:t>License-free spectrum: BLE operates in the global 2.4 GHz ISM band, so there are no 	paid spectrum licenses.</a:t>
            </a:r>
          </a:p>
          <a:p>
            <a:pPr marL="76200" indent="0">
              <a:buNone/>
            </a:pPr>
            <a:endParaRPr lang="en-US" dirty="0"/>
          </a:p>
        </p:txBody>
      </p:sp>
      <p:pic>
        <p:nvPicPr>
          <p:cNvPr id="7" name="Picture 6">
            <a:extLst>
              <a:ext uri="{FF2B5EF4-FFF2-40B4-BE49-F238E27FC236}">
                <a16:creationId xmlns:a16="http://schemas.microsoft.com/office/drawing/2014/main" xmlns="" id="{56DAB0E2-68C3-CE37-EACA-2B7838108219}"/>
              </a:ext>
            </a:extLst>
          </p:cNvPr>
          <p:cNvPicPr>
            <a:picLocks noChangeAspect="1"/>
          </p:cNvPicPr>
          <p:nvPr/>
        </p:nvPicPr>
        <p:blipFill>
          <a:blip r:embed="rId3"/>
          <a:stretch>
            <a:fillRect/>
          </a:stretch>
        </p:blipFill>
        <p:spPr>
          <a:xfrm>
            <a:off x="1318590" y="4113069"/>
            <a:ext cx="9753600" cy="2057400"/>
          </a:xfrm>
          <a:prstGeom prst="rect">
            <a:avLst/>
          </a:prstGeom>
        </p:spPr>
      </p:pic>
    </p:spTree>
    <p:extLst>
      <p:ext uri="{BB962C8B-B14F-4D97-AF65-F5344CB8AC3E}">
        <p14:creationId xmlns:p14="http://schemas.microsoft.com/office/powerpoint/2010/main" val="20652387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7900" y="569148"/>
            <a:ext cx="10299700" cy="730762"/>
          </a:xfrm>
        </p:spPr>
        <p:txBody>
          <a:bodyPr/>
          <a:lstStyle/>
          <a:p>
            <a:r>
              <a:rPr lang="en-US" dirty="0">
                <a:latin typeface="Times New Roman" panose="02020603050405020304" pitchFamily="18" charset="0"/>
              </a:rPr>
              <a:t>BLE 5.4 Specification and Modulation </a:t>
            </a:r>
          </a:p>
        </p:txBody>
      </p:sp>
      <p:sp>
        <p:nvSpPr>
          <p:cNvPr id="3" name="Text Placeholder 2"/>
          <p:cNvSpPr>
            <a:spLocks noGrp="1"/>
          </p:cNvSpPr>
          <p:nvPr>
            <p:ph type="body" idx="1"/>
          </p:nvPr>
        </p:nvSpPr>
        <p:spPr/>
        <p:txBody>
          <a:bodyPr/>
          <a:lstStyle/>
          <a:p>
            <a:pPr>
              <a:buFont typeface="Wingdings" panose="05000000000000000000" pitchFamily="2" charset="2"/>
              <a:buChar char="q"/>
            </a:pPr>
            <a:r>
              <a:rPr lang="en-US" dirty="0">
                <a:solidFill>
                  <a:schemeClr val="tx1"/>
                </a:solidFill>
              </a:rPr>
              <a:t>Modulation — GMSK</a:t>
            </a:r>
          </a:p>
          <a:p>
            <a:pPr lvl="1">
              <a:buFont typeface="Wingdings" panose="05000000000000000000" pitchFamily="2" charset="2"/>
              <a:buChar char="Ø"/>
            </a:pPr>
            <a:r>
              <a:rPr lang="en-US" sz="1800" b="0" dirty="0">
                <a:solidFill>
                  <a:schemeClr val="tx1"/>
                </a:solidFill>
              </a:rPr>
              <a:t>Gaussian Frequency Shift Keying with BT = 0.5</a:t>
            </a:r>
          </a:p>
          <a:p>
            <a:pPr lvl="1">
              <a:buFont typeface="Wingdings" panose="05000000000000000000" pitchFamily="2" charset="2"/>
              <a:buChar char="Ø"/>
            </a:pPr>
            <a:r>
              <a:rPr lang="en-US" sz="1800" b="0" dirty="0">
                <a:solidFill>
                  <a:schemeClr val="tx1"/>
                </a:solidFill>
              </a:rPr>
              <a:t>Constant envelope → allows efficient non-linear PA</a:t>
            </a:r>
          </a:p>
          <a:p>
            <a:pPr>
              <a:buFont typeface="Wingdings" panose="05000000000000000000" pitchFamily="2" charset="2"/>
              <a:buChar char="q"/>
            </a:pPr>
            <a:r>
              <a:rPr lang="en-US" dirty="0">
                <a:solidFill>
                  <a:schemeClr val="tx1"/>
                </a:solidFill>
              </a:rPr>
              <a:t>Frequency Deviation</a:t>
            </a:r>
          </a:p>
          <a:p>
            <a:pPr lvl="1">
              <a:buFont typeface="Wingdings" panose="05000000000000000000" pitchFamily="2" charset="2"/>
              <a:buChar char="Ø"/>
            </a:pPr>
            <a:r>
              <a:rPr lang="en-US" sz="1800" b="0" dirty="0">
                <a:solidFill>
                  <a:schemeClr val="tx1"/>
                </a:solidFill>
              </a:rPr>
              <a:t>Nominal ±250 kHz for '1' and '0' symbols</a:t>
            </a:r>
          </a:p>
          <a:p>
            <a:pPr lvl="1">
              <a:buFont typeface="Wingdings" panose="05000000000000000000" pitchFamily="2" charset="2"/>
              <a:buChar char="Ø"/>
            </a:pPr>
            <a:r>
              <a:rPr lang="en-US" sz="1800" b="0" dirty="0">
                <a:solidFill>
                  <a:schemeClr val="tx1"/>
                </a:solidFill>
              </a:rPr>
              <a:t>Minimum ±185 kHz at receiver for reliable demodulation</a:t>
            </a:r>
          </a:p>
          <a:p>
            <a:pPr>
              <a:buFont typeface="Wingdings" panose="05000000000000000000" pitchFamily="2" charset="2"/>
              <a:buChar char="q"/>
            </a:pPr>
            <a:r>
              <a:rPr lang="en-US" dirty="0">
                <a:solidFill>
                  <a:schemeClr val="tx1"/>
                </a:solidFill>
              </a:rPr>
              <a:t>Data Rate</a:t>
            </a:r>
          </a:p>
          <a:p>
            <a:pPr lvl="1">
              <a:buFont typeface="Wingdings" panose="05000000000000000000" pitchFamily="2" charset="2"/>
              <a:buChar char="Ø"/>
            </a:pPr>
            <a:r>
              <a:rPr lang="en-US" sz="1800" b="0" dirty="0">
                <a:solidFill>
                  <a:schemeClr val="tx1"/>
                </a:solidFill>
              </a:rPr>
              <a:t>LE 1M: 1 Mb/s at 1 </a:t>
            </a:r>
            <a:r>
              <a:rPr lang="en-US" sz="1800" b="0" dirty="0" err="1">
                <a:solidFill>
                  <a:schemeClr val="tx1"/>
                </a:solidFill>
              </a:rPr>
              <a:t>Msym</a:t>
            </a:r>
            <a:r>
              <a:rPr lang="en-US" sz="1800" b="0" dirty="0">
                <a:solidFill>
                  <a:schemeClr val="tx1"/>
                </a:solidFill>
              </a:rPr>
              <a:t>/s — mandatory</a:t>
            </a:r>
          </a:p>
          <a:p>
            <a:pPr>
              <a:buFont typeface="Wingdings" panose="05000000000000000000" pitchFamily="2" charset="2"/>
              <a:buChar char="q"/>
            </a:pPr>
            <a:r>
              <a:rPr lang="en-US" dirty="0">
                <a:solidFill>
                  <a:schemeClr val="tx1"/>
                </a:solidFill>
              </a:rPr>
              <a:t>Eye Diagram</a:t>
            </a:r>
          </a:p>
          <a:p>
            <a:pPr lvl="1">
              <a:buFont typeface="Wingdings" panose="05000000000000000000" pitchFamily="2" charset="2"/>
              <a:buChar char="Ø"/>
            </a:pPr>
            <a:r>
              <a:rPr lang="en-US" sz="1800" b="0" dirty="0">
                <a:solidFill>
                  <a:schemeClr val="tx1"/>
                </a:solidFill>
              </a:rPr>
              <a:t>Zero crossing shall be less than ±1/8 of a symbol period (±0.125 µs)</a:t>
            </a:r>
          </a:p>
        </p:txBody>
      </p:sp>
      <p:sp>
        <p:nvSpPr>
          <p:cNvPr id="5" name="AutoShape 4" descr="Bluetooth Low Energy (BLE) Tutorial: Protocols, Channels &amp; Technology ..."/>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6" descr="(PDF) Analyzing the Security of Bluetooth Low Energy"/>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r>
              <a:rPr lang="en-US" dirty="0"/>
              <a:t>z</a:t>
            </a:r>
          </a:p>
        </p:txBody>
      </p:sp>
      <p:pic>
        <p:nvPicPr>
          <p:cNvPr id="8" name="Picture 7"/>
          <p:cNvPicPr>
            <a:picLocks noChangeAspect="1"/>
          </p:cNvPicPr>
          <p:nvPr/>
        </p:nvPicPr>
        <p:blipFill>
          <a:blip r:embed="rId2"/>
          <a:stretch>
            <a:fillRect/>
          </a:stretch>
        </p:blipFill>
        <p:spPr>
          <a:xfrm>
            <a:off x="2082298" y="5045389"/>
            <a:ext cx="7880982" cy="1652091"/>
          </a:xfrm>
          <a:prstGeom prst="rect">
            <a:avLst/>
          </a:prstGeom>
        </p:spPr>
      </p:pic>
    </p:spTree>
    <p:extLst>
      <p:ext uri="{BB962C8B-B14F-4D97-AF65-F5344CB8AC3E}">
        <p14:creationId xmlns:p14="http://schemas.microsoft.com/office/powerpoint/2010/main" val="23840530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xmlns="" id="{A83454E7-4ABD-F1A0-C0C6-877C8E75967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xmlns="" id="{C583DAE2-3C9F-6200-BEBF-CAAAF4FD9835}"/>
              </a:ext>
            </a:extLst>
          </p:cNvPr>
          <p:cNvSpPr>
            <a:spLocks noGrp="1"/>
          </p:cNvSpPr>
          <p:nvPr>
            <p:ph type="title"/>
          </p:nvPr>
        </p:nvSpPr>
        <p:spPr/>
        <p:txBody>
          <a:bodyPr/>
          <a:lstStyle/>
          <a:p>
            <a:r>
              <a:rPr lang="en-US" dirty="0">
                <a:latin typeface="Times New Roman" panose="02020603050405020304" pitchFamily="18" charset="0"/>
              </a:rPr>
              <a:t>BLE core system architecture</a:t>
            </a:r>
          </a:p>
        </p:txBody>
      </p:sp>
      <p:pic>
        <p:nvPicPr>
          <p:cNvPr id="9" name="Picture 8">
            <a:extLst>
              <a:ext uri="{FF2B5EF4-FFF2-40B4-BE49-F238E27FC236}">
                <a16:creationId xmlns:a16="http://schemas.microsoft.com/office/drawing/2014/main" xmlns="" id="{DB2BB430-C098-EAE0-3F08-7A179D2B4674}"/>
              </a:ext>
            </a:extLst>
          </p:cNvPr>
          <p:cNvPicPr>
            <a:picLocks noChangeAspect="1"/>
          </p:cNvPicPr>
          <p:nvPr/>
        </p:nvPicPr>
        <p:blipFill>
          <a:blip r:embed="rId3"/>
          <a:stretch>
            <a:fillRect/>
          </a:stretch>
        </p:blipFill>
        <p:spPr>
          <a:xfrm>
            <a:off x="2190939" y="1308963"/>
            <a:ext cx="8365402" cy="5089901"/>
          </a:xfrm>
          <a:prstGeom prst="rect">
            <a:avLst/>
          </a:prstGeom>
        </p:spPr>
      </p:pic>
      <p:sp>
        <p:nvSpPr>
          <p:cNvPr id="11" name="Oval 10"/>
          <p:cNvSpPr/>
          <p:nvPr/>
        </p:nvSpPr>
        <p:spPr>
          <a:xfrm>
            <a:off x="5006567" y="5332492"/>
            <a:ext cx="2589291" cy="715224"/>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299940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rPr>
              <a:t>System Overview </a:t>
            </a:r>
          </a:p>
        </p:txBody>
      </p:sp>
      <p:pic>
        <p:nvPicPr>
          <p:cNvPr id="5" name="Picture 4">
            <a:extLst>
              <a:ext uri="{FF2B5EF4-FFF2-40B4-BE49-F238E27FC236}">
                <a16:creationId xmlns:a16="http://schemas.microsoft.com/office/drawing/2014/main" xmlns="" id="{F5741A0C-EB26-808F-3B18-78FC950F6045}"/>
              </a:ext>
            </a:extLst>
          </p:cNvPr>
          <p:cNvPicPr>
            <a:picLocks noChangeAspect="1"/>
          </p:cNvPicPr>
          <p:nvPr/>
        </p:nvPicPr>
        <p:blipFill>
          <a:blip r:embed="rId3"/>
          <a:stretch>
            <a:fillRect/>
          </a:stretch>
        </p:blipFill>
        <p:spPr>
          <a:xfrm>
            <a:off x="852197" y="1308963"/>
            <a:ext cx="10487608" cy="4814595"/>
          </a:xfrm>
          <a:prstGeom prst="rect">
            <a:avLst/>
          </a:prstGeom>
        </p:spPr>
      </p:pic>
    </p:spTree>
    <p:extLst>
      <p:ext uri="{BB962C8B-B14F-4D97-AF65-F5344CB8AC3E}">
        <p14:creationId xmlns:p14="http://schemas.microsoft.com/office/powerpoint/2010/main" val="3387976331"/>
      </p:ext>
    </p:extLst>
  </p:cSld>
  <p:clrMapOvr>
    <a:overrideClrMapping bg1="lt1" tx1="dk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BB75BF1-3C23-1959-9890-C1E426B81BDF}"/>
              </a:ext>
            </a:extLst>
          </p:cNvPr>
          <p:cNvSpPr txBox="1">
            <a:spLocks noGrp="1"/>
          </p:cNvSpPr>
          <p:nvPr>
            <p:ph type="title"/>
          </p:nvPr>
        </p:nvSpPr>
        <p:spPr/>
        <p:txBody>
          <a:bodyPr anchor="b">
            <a:normAutofit/>
          </a:bodyPr>
          <a:lstStyle/>
          <a:p>
            <a:pPr lvl="0"/>
            <a:r>
              <a:rPr lang="en-US">
                <a:latin typeface="Times New Roman"/>
              </a:rPr>
              <a:t>ADPLL Architecture </a:t>
            </a:r>
          </a:p>
        </p:txBody>
      </p:sp>
      <p:pic>
        <p:nvPicPr>
          <p:cNvPr id="3" name="Picture 2" descr="A diagram of a machine&#10;&#10;AI-generated content may be incorrect.">
            <a:extLst>
              <a:ext uri="{FF2B5EF4-FFF2-40B4-BE49-F238E27FC236}">
                <a16:creationId xmlns:a16="http://schemas.microsoft.com/office/drawing/2014/main" xmlns="" id="{B07C2A78-EE59-7A7C-A7B8-A92F8A089B9A}"/>
              </a:ext>
            </a:extLst>
          </p:cNvPr>
          <p:cNvPicPr>
            <a:picLocks noChangeAspect="1"/>
          </p:cNvPicPr>
          <p:nvPr/>
        </p:nvPicPr>
        <p:blipFill>
          <a:blip r:embed="rId2"/>
          <a:srcRect t="-71" r="112" b="1732"/>
          <a:stretch>
            <a:fillRect/>
          </a:stretch>
        </p:blipFill>
        <p:spPr>
          <a:xfrm>
            <a:off x="1553208" y="1565763"/>
            <a:ext cx="9085588" cy="4617207"/>
          </a:xfrm>
          <a:prstGeom prst="rect">
            <a:avLst/>
          </a:prstGeom>
          <a:noFill/>
          <a:ln cap="flat">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A66B8DC-B347-5FDA-F054-B3D6173AE011}"/>
              </a:ext>
            </a:extLst>
          </p:cNvPr>
          <p:cNvSpPr txBox="1">
            <a:spLocks noGrp="1"/>
          </p:cNvSpPr>
          <p:nvPr>
            <p:ph type="title"/>
          </p:nvPr>
        </p:nvSpPr>
        <p:spPr/>
        <p:txBody>
          <a:bodyPr anchor="b">
            <a:normAutofit/>
          </a:bodyPr>
          <a:lstStyle/>
          <a:p>
            <a:pPr lvl="0"/>
            <a:r>
              <a:rPr lang="en-US">
                <a:latin typeface="Times New Roman"/>
              </a:rPr>
              <a:t>ADPLL Linear Model</a:t>
            </a:r>
          </a:p>
        </p:txBody>
      </p:sp>
      <p:pic>
        <p:nvPicPr>
          <p:cNvPr id="3" name="Picture 4" descr="A diagram of a program&#10;&#10;AI-generated content may be incorrect.">
            <a:extLst>
              <a:ext uri="{FF2B5EF4-FFF2-40B4-BE49-F238E27FC236}">
                <a16:creationId xmlns:a16="http://schemas.microsoft.com/office/drawing/2014/main" xmlns="" id="{12F8022D-7A01-3504-7803-78E35290E4CF}"/>
              </a:ext>
            </a:extLst>
          </p:cNvPr>
          <p:cNvPicPr>
            <a:picLocks noChangeAspect="1"/>
          </p:cNvPicPr>
          <p:nvPr/>
        </p:nvPicPr>
        <p:blipFill>
          <a:blip r:embed="rId2"/>
          <a:stretch>
            <a:fillRect/>
          </a:stretch>
        </p:blipFill>
        <p:spPr>
          <a:xfrm>
            <a:off x="489853" y="1496031"/>
            <a:ext cx="11212290" cy="4453777"/>
          </a:xfrm>
          <a:prstGeom prst="rect">
            <a:avLst/>
          </a:prstGeom>
          <a:noFill/>
          <a:ln cap="flat">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CA94FB6-123C-F81A-101F-CC095EDABFC4}"/>
              </a:ext>
            </a:extLst>
          </p:cNvPr>
          <p:cNvSpPr txBox="1">
            <a:spLocks noGrp="1"/>
          </p:cNvSpPr>
          <p:nvPr>
            <p:ph type="title"/>
          </p:nvPr>
        </p:nvSpPr>
        <p:spPr/>
        <p:txBody>
          <a:bodyPr anchor="b">
            <a:normAutofit/>
          </a:bodyPr>
          <a:lstStyle/>
          <a:p>
            <a:pPr lvl="0"/>
            <a:r>
              <a:rPr lang="en-US">
                <a:latin typeface="Times New Roman"/>
              </a:rPr>
              <a:t>One Point Modulation at Reference Accumulator</a:t>
            </a:r>
          </a:p>
        </p:txBody>
      </p:sp>
      <p:pic>
        <p:nvPicPr>
          <p:cNvPr id="3" name="Picture 9" descr="A diagram of a machine&#10;&#10;AI-generated content may be incorrect.">
            <a:extLst>
              <a:ext uri="{FF2B5EF4-FFF2-40B4-BE49-F238E27FC236}">
                <a16:creationId xmlns:a16="http://schemas.microsoft.com/office/drawing/2014/main" xmlns="" id="{1F30E63C-CAFA-AFF7-56AA-A7687730229D}"/>
              </a:ext>
            </a:extLst>
          </p:cNvPr>
          <p:cNvPicPr>
            <a:picLocks noChangeAspect="1"/>
          </p:cNvPicPr>
          <p:nvPr/>
        </p:nvPicPr>
        <p:blipFill>
          <a:blip r:embed="rId2"/>
          <a:stretch>
            <a:fillRect/>
          </a:stretch>
        </p:blipFill>
        <p:spPr>
          <a:xfrm>
            <a:off x="805540" y="1406603"/>
            <a:ext cx="10428512" cy="3692603"/>
          </a:xfrm>
          <a:prstGeom prst="rect">
            <a:avLst/>
          </a:prstGeom>
          <a:noFill/>
          <a:ln cap="flat">
            <a:noFill/>
          </a:ln>
        </p:spPr>
      </p:pic>
      <p:sp>
        <p:nvSpPr>
          <p:cNvPr id="4" name="Text Placeholder 2">
            <a:extLst>
              <a:ext uri="{FF2B5EF4-FFF2-40B4-BE49-F238E27FC236}">
                <a16:creationId xmlns:a16="http://schemas.microsoft.com/office/drawing/2014/main" xmlns="" id="{98A57753-01A3-6E21-335F-B4C07A5A228F}"/>
              </a:ext>
            </a:extLst>
          </p:cNvPr>
          <p:cNvSpPr txBox="1"/>
          <p:nvPr/>
        </p:nvSpPr>
        <p:spPr>
          <a:xfrm>
            <a:off x="805540" y="5670249"/>
            <a:ext cx="11419118" cy="711650"/>
          </a:xfrm>
          <a:prstGeom prst="rect">
            <a:avLst/>
          </a:prstGeom>
          <a:noFill/>
          <a:ln cap="flat">
            <a:noFill/>
          </a:ln>
        </p:spPr>
        <p:txBody>
          <a:bodyPr vert="horz" wrap="square" lIns="91421" tIns="45701" rIns="91421" bIns="45701" anchor="t" anchorCtr="0" compatLnSpc="1">
            <a:noAutofit/>
          </a:bodyPr>
          <a:lstStyle/>
          <a:p>
            <a:pPr marL="76196" marR="0" lvl="0" indent="0" algn="l" defTabSz="914400" rtl="0" fontAlgn="auto" hangingPunct="1">
              <a:lnSpc>
                <a:spcPct val="100000"/>
              </a:lnSpc>
              <a:spcBef>
                <a:spcPts val="480"/>
              </a:spcBef>
              <a:spcAft>
                <a:spcPts val="0"/>
              </a:spcAft>
              <a:buNone/>
              <a:tabLst/>
              <a:defRPr sz="1800" b="0" i="0" u="none" strike="noStrike" kern="0" cap="none" spc="0" baseline="0">
                <a:solidFill>
                  <a:srgbClr val="000000"/>
                </a:solidFill>
                <a:uFillTx/>
              </a:defRPr>
            </a:pPr>
            <a:r>
              <a:rPr lang="en-US" sz="2400" b="0" i="0" u="none" strike="noStrike" kern="0" cap="none" spc="0" baseline="0">
                <a:solidFill>
                  <a:srgbClr val="000000"/>
                </a:solidFill>
                <a:uFillTx/>
                <a:latin typeface="Calibri"/>
                <a:ea typeface="Calibri"/>
                <a:cs typeface="Calibri"/>
              </a:rPr>
              <a:t>Modulation Transfer function:                                                    where</a:t>
            </a:r>
          </a:p>
          <a:p>
            <a:pPr marL="76196" marR="0" lvl="0" indent="0" algn="l" defTabSz="914400" rtl="0" fontAlgn="auto" hangingPunct="1">
              <a:lnSpc>
                <a:spcPct val="100000"/>
              </a:lnSpc>
              <a:spcBef>
                <a:spcPts val="480"/>
              </a:spcBef>
              <a:spcAft>
                <a:spcPts val="0"/>
              </a:spcAft>
              <a:buNone/>
              <a:tabLst/>
              <a:defRPr sz="1800" b="0" i="0" u="none" strike="noStrike" kern="0" cap="none" spc="0" baseline="0">
                <a:solidFill>
                  <a:srgbClr val="000000"/>
                </a:solidFill>
                <a:uFillTx/>
              </a:defRPr>
            </a:pPr>
            <a:endParaRPr lang="en-US" sz="2400" b="0" i="0" u="none" strike="noStrike" kern="0" cap="none" spc="0" baseline="0">
              <a:solidFill>
                <a:srgbClr val="000000"/>
              </a:solidFill>
              <a:uFillTx/>
              <a:latin typeface="Calibri"/>
              <a:ea typeface="Calibri"/>
              <a:cs typeface="Calibri"/>
            </a:endParaRPr>
          </a:p>
          <a:p>
            <a:pPr marL="76196" marR="0" lvl="0" indent="0" algn="l" defTabSz="914400" rtl="0" fontAlgn="auto" hangingPunct="1">
              <a:lnSpc>
                <a:spcPct val="100000"/>
              </a:lnSpc>
              <a:spcBef>
                <a:spcPts val="480"/>
              </a:spcBef>
              <a:spcAft>
                <a:spcPts val="0"/>
              </a:spcAft>
              <a:buNone/>
              <a:tabLst/>
              <a:defRPr sz="1800" b="0" i="0" u="none" strike="noStrike" kern="0" cap="none" spc="0" baseline="0">
                <a:solidFill>
                  <a:srgbClr val="000000"/>
                </a:solidFill>
                <a:uFillTx/>
              </a:defRPr>
            </a:pPr>
            <a:endParaRPr lang="en-US" sz="2400" b="0" i="0" u="none" strike="noStrike" kern="0" cap="none" spc="0" baseline="0">
              <a:solidFill>
                <a:srgbClr val="000000"/>
              </a:solidFill>
              <a:uFillTx/>
              <a:latin typeface="Calibri"/>
              <a:ea typeface="Calibri"/>
              <a:cs typeface="Calibri"/>
            </a:endParaRPr>
          </a:p>
          <a:p>
            <a:pPr marL="76196" marR="0" lvl="0" indent="0" algn="l" defTabSz="914400" rtl="0" fontAlgn="auto" hangingPunct="1">
              <a:lnSpc>
                <a:spcPct val="100000"/>
              </a:lnSpc>
              <a:spcBef>
                <a:spcPts val="480"/>
              </a:spcBef>
              <a:spcAft>
                <a:spcPts val="0"/>
              </a:spcAft>
              <a:buNone/>
              <a:tabLst/>
              <a:defRPr sz="1800" b="0" i="0" u="none" strike="noStrike" kern="0" cap="none" spc="0" baseline="0">
                <a:solidFill>
                  <a:srgbClr val="000000"/>
                </a:solidFill>
                <a:uFillTx/>
              </a:defRPr>
            </a:pPr>
            <a:endParaRPr lang="en-US" sz="2400" b="0" i="0" u="none" strike="noStrike" kern="0" cap="none" spc="0" baseline="0">
              <a:solidFill>
                <a:srgbClr val="000000"/>
              </a:solidFill>
              <a:uFillTx/>
              <a:latin typeface="Calibri"/>
              <a:ea typeface="Calibri"/>
              <a:cs typeface="Calibri"/>
            </a:endParaRPr>
          </a:p>
          <a:p>
            <a:pPr marL="76196" marR="0" lvl="0" indent="0" algn="l" defTabSz="914400" rtl="0" fontAlgn="auto" hangingPunct="1">
              <a:lnSpc>
                <a:spcPct val="100000"/>
              </a:lnSpc>
              <a:spcBef>
                <a:spcPts val="480"/>
              </a:spcBef>
              <a:spcAft>
                <a:spcPts val="0"/>
              </a:spcAft>
              <a:buNone/>
              <a:tabLst/>
              <a:defRPr sz="1800" b="0" i="0" u="none" strike="noStrike" kern="0" cap="none" spc="0" baseline="0">
                <a:solidFill>
                  <a:srgbClr val="000000"/>
                </a:solidFill>
                <a:uFillTx/>
              </a:defRPr>
            </a:pPr>
            <a:endParaRPr lang="en-US" sz="2400" b="0" i="0" u="none" strike="noStrike" kern="0" cap="none" spc="0" baseline="0">
              <a:solidFill>
                <a:srgbClr val="000000"/>
              </a:solidFill>
              <a:uFillTx/>
              <a:latin typeface="Calibri"/>
              <a:ea typeface="Calibri"/>
              <a:cs typeface="Calibri"/>
            </a:endParaRPr>
          </a:p>
          <a:p>
            <a:pPr marL="76196" marR="0" lvl="0" indent="0" algn="l" defTabSz="914400" rtl="0" fontAlgn="auto" hangingPunct="1">
              <a:lnSpc>
                <a:spcPct val="100000"/>
              </a:lnSpc>
              <a:spcBef>
                <a:spcPts val="480"/>
              </a:spcBef>
              <a:spcAft>
                <a:spcPts val="0"/>
              </a:spcAft>
              <a:buNone/>
              <a:tabLst/>
              <a:defRPr sz="1800" b="0" i="0" u="none" strike="noStrike" kern="0" cap="none" spc="0" baseline="0">
                <a:solidFill>
                  <a:srgbClr val="000000"/>
                </a:solidFill>
                <a:uFillTx/>
              </a:defRPr>
            </a:pPr>
            <a:endParaRPr lang="en-US" sz="2400" b="0" i="0" u="none" strike="noStrike" kern="0" cap="none" spc="0" baseline="0">
              <a:solidFill>
                <a:srgbClr val="000000"/>
              </a:solidFill>
              <a:uFillTx/>
              <a:latin typeface="Calibri"/>
              <a:ea typeface="Calibri"/>
              <a:cs typeface="Calibri"/>
            </a:endParaRPr>
          </a:p>
          <a:p>
            <a:pPr marL="76196" marR="0" lvl="0" indent="0" algn="l" defTabSz="914400" rtl="0" fontAlgn="auto" hangingPunct="1">
              <a:lnSpc>
                <a:spcPct val="100000"/>
              </a:lnSpc>
              <a:spcBef>
                <a:spcPts val="480"/>
              </a:spcBef>
              <a:spcAft>
                <a:spcPts val="0"/>
              </a:spcAft>
              <a:buNone/>
              <a:tabLst/>
              <a:defRPr sz="1800" b="0" i="0" u="none" strike="noStrike" kern="0" cap="none" spc="0" baseline="0">
                <a:solidFill>
                  <a:srgbClr val="000000"/>
                </a:solidFill>
                <a:uFillTx/>
              </a:defRPr>
            </a:pPr>
            <a:endParaRPr lang="en-US" sz="2400" b="0" i="0" u="none" strike="noStrike" kern="0" cap="none" spc="0" baseline="0">
              <a:solidFill>
                <a:srgbClr val="000000"/>
              </a:solidFill>
              <a:uFillTx/>
              <a:latin typeface="Calibri"/>
              <a:ea typeface="Calibri"/>
              <a:cs typeface="Calibri"/>
            </a:endParaRPr>
          </a:p>
        </p:txBody>
      </p:sp>
      <p:pic>
        <p:nvPicPr>
          <p:cNvPr id="5" name="Picture 14">
            <a:extLst>
              <a:ext uri="{FF2B5EF4-FFF2-40B4-BE49-F238E27FC236}">
                <a16:creationId xmlns:a16="http://schemas.microsoft.com/office/drawing/2014/main" xmlns="" id="{2F899AD8-383E-8BA5-612C-6E26FAC55CA2}"/>
              </a:ext>
            </a:extLst>
          </p:cNvPr>
          <p:cNvPicPr>
            <a:picLocks noChangeAspect="1"/>
          </p:cNvPicPr>
          <p:nvPr/>
        </p:nvPicPr>
        <p:blipFill>
          <a:blip r:embed="rId3"/>
          <a:stretch>
            <a:fillRect/>
          </a:stretch>
        </p:blipFill>
        <p:spPr>
          <a:xfrm>
            <a:off x="4708620" y="5653406"/>
            <a:ext cx="3369125" cy="581028"/>
          </a:xfrm>
          <a:prstGeom prst="rect">
            <a:avLst/>
          </a:prstGeom>
          <a:noFill/>
          <a:ln cap="flat">
            <a:noFill/>
          </a:ln>
        </p:spPr>
      </p:pic>
      <p:pic>
        <p:nvPicPr>
          <p:cNvPr id="6" name="Picture 15">
            <a:extLst>
              <a:ext uri="{FF2B5EF4-FFF2-40B4-BE49-F238E27FC236}">
                <a16:creationId xmlns:a16="http://schemas.microsoft.com/office/drawing/2014/main" xmlns="" id="{6EBDDFCC-9EE3-F628-BB79-4CB9D16B671C}"/>
              </a:ext>
            </a:extLst>
          </p:cNvPr>
          <p:cNvPicPr>
            <a:picLocks noChangeAspect="1"/>
          </p:cNvPicPr>
          <p:nvPr/>
        </p:nvPicPr>
        <p:blipFill>
          <a:blip r:embed="rId4"/>
          <a:stretch>
            <a:fillRect/>
          </a:stretch>
        </p:blipFill>
        <p:spPr>
          <a:xfrm>
            <a:off x="9274896" y="5767166"/>
            <a:ext cx="1752603" cy="398687"/>
          </a:xfrm>
          <a:prstGeom prst="rect">
            <a:avLst/>
          </a:prstGeom>
          <a:noFill/>
          <a:ln cap="flat">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01F2DD3-15A9-6680-03A6-2D185E9A276B}"/>
              </a:ext>
            </a:extLst>
          </p:cNvPr>
          <p:cNvSpPr txBox="1">
            <a:spLocks noGrp="1"/>
          </p:cNvSpPr>
          <p:nvPr>
            <p:ph type="title"/>
          </p:nvPr>
        </p:nvSpPr>
        <p:spPr/>
        <p:txBody>
          <a:bodyPr anchor="b">
            <a:normAutofit/>
          </a:bodyPr>
          <a:lstStyle/>
          <a:p>
            <a:pPr lvl="0"/>
            <a:r>
              <a:rPr lang="en-US">
                <a:latin typeface="Times New Roman"/>
              </a:rPr>
              <a:t>One Point Modulation at DCO Input</a:t>
            </a:r>
          </a:p>
        </p:txBody>
      </p:sp>
      <p:pic>
        <p:nvPicPr>
          <p:cNvPr id="3" name="Picture 7" descr="A diagram of a program&#10;&#10;AI-generated content may be incorrect.">
            <a:extLst>
              <a:ext uri="{FF2B5EF4-FFF2-40B4-BE49-F238E27FC236}">
                <a16:creationId xmlns:a16="http://schemas.microsoft.com/office/drawing/2014/main" xmlns="" id="{0A7187B9-F4C0-4935-6B32-16D4BEB8815B}"/>
              </a:ext>
            </a:extLst>
          </p:cNvPr>
          <p:cNvPicPr>
            <a:picLocks noChangeAspect="1"/>
          </p:cNvPicPr>
          <p:nvPr/>
        </p:nvPicPr>
        <p:blipFill>
          <a:blip r:embed="rId2"/>
          <a:stretch>
            <a:fillRect/>
          </a:stretch>
        </p:blipFill>
        <p:spPr>
          <a:xfrm>
            <a:off x="1687287" y="1377644"/>
            <a:ext cx="9187543" cy="3623739"/>
          </a:xfrm>
          <a:prstGeom prst="rect">
            <a:avLst/>
          </a:prstGeom>
          <a:noFill/>
          <a:ln cap="flat">
            <a:noFill/>
          </a:ln>
        </p:spPr>
      </p:pic>
      <p:pic>
        <p:nvPicPr>
          <p:cNvPr id="4" name="Picture 8">
            <a:extLst>
              <a:ext uri="{FF2B5EF4-FFF2-40B4-BE49-F238E27FC236}">
                <a16:creationId xmlns:a16="http://schemas.microsoft.com/office/drawing/2014/main" xmlns="" id="{DCDD187B-77D0-D10B-4C1D-D1E431273317}"/>
              </a:ext>
            </a:extLst>
          </p:cNvPr>
          <p:cNvPicPr>
            <a:picLocks noChangeAspect="1"/>
          </p:cNvPicPr>
          <p:nvPr/>
        </p:nvPicPr>
        <p:blipFill>
          <a:blip r:embed="rId3"/>
          <a:stretch>
            <a:fillRect/>
          </a:stretch>
        </p:blipFill>
        <p:spPr>
          <a:xfrm>
            <a:off x="4652284" y="5338614"/>
            <a:ext cx="3257550" cy="714375"/>
          </a:xfrm>
          <a:prstGeom prst="rect">
            <a:avLst/>
          </a:prstGeom>
          <a:noFill/>
          <a:ln cap="flat">
            <a:noFill/>
          </a:ln>
        </p:spPr>
      </p:pic>
      <p:pic>
        <p:nvPicPr>
          <p:cNvPr id="5" name="Picture 12">
            <a:extLst>
              <a:ext uri="{FF2B5EF4-FFF2-40B4-BE49-F238E27FC236}">
                <a16:creationId xmlns:a16="http://schemas.microsoft.com/office/drawing/2014/main" xmlns="" id="{BE60DCF3-B723-FE07-506C-08D38E93BE57}"/>
              </a:ext>
            </a:extLst>
          </p:cNvPr>
          <p:cNvPicPr>
            <a:picLocks noChangeAspect="1"/>
          </p:cNvPicPr>
          <p:nvPr/>
        </p:nvPicPr>
        <p:blipFill>
          <a:blip r:embed="rId4"/>
          <a:stretch>
            <a:fillRect/>
          </a:stretch>
        </p:blipFill>
        <p:spPr>
          <a:xfrm>
            <a:off x="9122228" y="5570762"/>
            <a:ext cx="1752603" cy="398687"/>
          </a:xfrm>
          <a:prstGeom prst="rect">
            <a:avLst/>
          </a:prstGeom>
          <a:noFill/>
          <a:ln cap="flat">
            <a:noFill/>
          </a:ln>
        </p:spPr>
      </p:pic>
      <p:sp>
        <p:nvSpPr>
          <p:cNvPr id="6" name="TextBox 17">
            <a:extLst>
              <a:ext uri="{FF2B5EF4-FFF2-40B4-BE49-F238E27FC236}">
                <a16:creationId xmlns:a16="http://schemas.microsoft.com/office/drawing/2014/main" xmlns="" id="{D062B290-68D9-F11B-6085-77B71A0DF4F3}"/>
              </a:ext>
            </a:extLst>
          </p:cNvPr>
          <p:cNvSpPr txBox="1"/>
          <p:nvPr/>
        </p:nvSpPr>
        <p:spPr>
          <a:xfrm>
            <a:off x="717502" y="5480355"/>
            <a:ext cx="11127105" cy="430883"/>
          </a:xfrm>
          <a:prstGeom prst="rect">
            <a:avLst/>
          </a:prstGeom>
          <a:noFill/>
          <a:ln cap="flat">
            <a:noFill/>
          </a:ln>
        </p:spPr>
        <p:txBody>
          <a:bodyPr vert="horz" wrap="square" lIns="91440" tIns="45720" rIns="91440" bIns="45720" anchor="t" anchorCtr="0" compatLnSpc="1">
            <a:spAutoFit/>
          </a:bodyPr>
          <a:lstStyle/>
          <a:p>
            <a:pPr marL="75566" marR="0" lvl="0" indent="0" algn="l" defTabSz="914400" rtl="0" fontAlgn="auto" hangingPunct="1">
              <a:lnSpc>
                <a:spcPct val="100000"/>
              </a:lnSpc>
              <a:spcBef>
                <a:spcPts val="480"/>
              </a:spcBef>
              <a:spcAft>
                <a:spcPts val="0"/>
              </a:spcAft>
              <a:buNone/>
              <a:tabLst/>
              <a:defRPr sz="1800" b="0" i="0" u="none" strike="noStrike" kern="0" cap="none" spc="0" baseline="0">
                <a:solidFill>
                  <a:srgbClr val="000000"/>
                </a:solidFill>
                <a:uFillTx/>
              </a:defRPr>
            </a:pPr>
            <a:r>
              <a:rPr lang="en-US" sz="2200" b="0" i="0" u="none" strike="noStrike" kern="0" cap="none" spc="0" baseline="0">
                <a:solidFill>
                  <a:srgbClr val="000000"/>
                </a:solidFill>
                <a:uFillTx/>
                <a:latin typeface="Calibri"/>
                <a:ea typeface="Calibri"/>
                <a:cs typeface="Calibri"/>
              </a:rPr>
              <a:t>Modulation Transfer function:                                                              where </a:t>
            </a:r>
            <a:endParaRPr lang="en-US" sz="1400" b="0" i="0" u="none" strike="noStrike" kern="0" cap="none" spc="0" baseline="0">
              <a:solidFill>
                <a:srgbClr val="000000"/>
              </a:solidFill>
              <a:uFillTx/>
              <a:latin typeface="Arial"/>
              <a:ea typeface="Arial"/>
              <a:cs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52AE459-CF8E-6816-F8ED-24211786FB5A}"/>
              </a:ext>
            </a:extLst>
          </p:cNvPr>
          <p:cNvSpPr txBox="1">
            <a:spLocks noGrp="1"/>
          </p:cNvSpPr>
          <p:nvPr>
            <p:ph type="title"/>
          </p:nvPr>
        </p:nvSpPr>
        <p:spPr/>
        <p:txBody>
          <a:bodyPr anchor="b">
            <a:normAutofit/>
          </a:bodyPr>
          <a:lstStyle/>
          <a:p>
            <a:pPr lvl="0"/>
            <a:r>
              <a:rPr lang="en-US">
                <a:latin typeface="Times New Roman"/>
              </a:rPr>
              <a:t>Two Point Modulation</a:t>
            </a:r>
          </a:p>
        </p:txBody>
      </p:sp>
      <p:pic>
        <p:nvPicPr>
          <p:cNvPr id="3" name="Picture 2" descr="A diagram of a program&#10;&#10;AI-generated content may be incorrect.">
            <a:extLst>
              <a:ext uri="{FF2B5EF4-FFF2-40B4-BE49-F238E27FC236}">
                <a16:creationId xmlns:a16="http://schemas.microsoft.com/office/drawing/2014/main" xmlns="" id="{276FAD99-3D5C-130F-C9D6-D00441F29A56}"/>
              </a:ext>
            </a:extLst>
          </p:cNvPr>
          <p:cNvPicPr>
            <a:picLocks noChangeAspect="1"/>
          </p:cNvPicPr>
          <p:nvPr/>
        </p:nvPicPr>
        <p:blipFill>
          <a:blip r:embed="rId2"/>
          <a:stretch>
            <a:fillRect/>
          </a:stretch>
        </p:blipFill>
        <p:spPr>
          <a:xfrm>
            <a:off x="350270" y="1453438"/>
            <a:ext cx="7456712" cy="2722315"/>
          </a:xfrm>
          <a:prstGeom prst="rect">
            <a:avLst/>
          </a:prstGeom>
          <a:noFill/>
          <a:ln cap="flat">
            <a:noFill/>
          </a:ln>
        </p:spPr>
      </p:pic>
      <p:sp>
        <p:nvSpPr>
          <p:cNvPr id="4" name="Text Placeholder 2">
            <a:extLst>
              <a:ext uri="{FF2B5EF4-FFF2-40B4-BE49-F238E27FC236}">
                <a16:creationId xmlns:a16="http://schemas.microsoft.com/office/drawing/2014/main" xmlns="" id="{F1574E35-226B-BD2D-1ECE-BBE86B360E25}"/>
              </a:ext>
            </a:extLst>
          </p:cNvPr>
          <p:cNvSpPr txBox="1"/>
          <p:nvPr/>
        </p:nvSpPr>
        <p:spPr>
          <a:xfrm>
            <a:off x="7749914" y="1713402"/>
            <a:ext cx="4333222" cy="4924428"/>
          </a:xfrm>
          <a:prstGeom prst="rect">
            <a:avLst/>
          </a:prstGeom>
          <a:noFill/>
          <a:ln cap="flat">
            <a:noFill/>
          </a:ln>
        </p:spPr>
        <p:txBody>
          <a:bodyPr vert="horz" wrap="square" lIns="91421" tIns="45701" rIns="91421" bIns="45701" anchor="t" anchorCtr="0" compatLnSpc="1">
            <a:noAutofit/>
          </a:bodyPr>
          <a:lstStyle/>
          <a:p>
            <a:pPr marL="101598" marR="0" lvl="0" indent="0" algn="l" defTabSz="914400" rtl="0" fontAlgn="auto" hangingPunct="1">
              <a:lnSpc>
                <a:spcPct val="100000"/>
              </a:lnSpc>
              <a:spcBef>
                <a:spcPts val="400"/>
              </a:spcBef>
              <a:spcAft>
                <a:spcPts val="0"/>
              </a:spcAft>
              <a:buNone/>
              <a:tabLst/>
              <a:defRPr sz="1800" b="0" i="0" u="none" strike="noStrike" kern="0" cap="none" spc="0" baseline="0">
                <a:solidFill>
                  <a:srgbClr val="000000"/>
                </a:solidFill>
                <a:uFillTx/>
              </a:defRPr>
            </a:pPr>
            <a:r>
              <a:rPr lang="en-US" sz="2200" b="0" i="0" u="none" strike="noStrike" kern="0" cap="none" spc="0" baseline="0">
                <a:solidFill>
                  <a:srgbClr val="262626"/>
                </a:solidFill>
                <a:uFillTx/>
                <a:latin typeface="Calibri"/>
                <a:ea typeface="Calibri"/>
                <a:cs typeface="Calibri"/>
              </a:rPr>
              <a:t>Modulation Transfer function:</a:t>
            </a:r>
          </a:p>
          <a:p>
            <a:pPr marL="457200" marR="0" lvl="0" indent="-355601" algn="l" defTabSz="914400" rtl="0" fontAlgn="auto" hangingPunct="1">
              <a:lnSpc>
                <a:spcPct val="100000"/>
              </a:lnSpc>
              <a:spcBef>
                <a:spcPts val="400"/>
              </a:spcBef>
              <a:spcAft>
                <a:spcPts val="0"/>
              </a:spcAft>
              <a:buClr>
                <a:srgbClr val="5D5D5E"/>
              </a:buClr>
              <a:buSzPts val="2000"/>
              <a:buFont typeface="Arial"/>
              <a:buChar char="•"/>
              <a:tabLst/>
              <a:defRPr sz="1800" b="0" i="0" u="none" strike="noStrike" kern="0" cap="none" spc="0" baseline="0">
                <a:solidFill>
                  <a:srgbClr val="000000"/>
                </a:solidFill>
                <a:uFillTx/>
              </a:defRPr>
            </a:pPr>
            <a:endParaRPr lang="en-US" sz="2200" b="0" i="0" u="none" strike="noStrike" kern="0" cap="none" spc="0" baseline="0">
              <a:solidFill>
                <a:srgbClr val="262626"/>
              </a:solidFill>
              <a:uFillTx/>
              <a:latin typeface="Calibri"/>
              <a:ea typeface="Calibri"/>
              <a:cs typeface="Calibri"/>
            </a:endParaRPr>
          </a:p>
          <a:p>
            <a:pPr marL="457200" marR="0" lvl="0" indent="-355601" algn="l" defTabSz="914400" rtl="0" fontAlgn="auto" hangingPunct="1">
              <a:lnSpc>
                <a:spcPct val="100000"/>
              </a:lnSpc>
              <a:spcBef>
                <a:spcPts val="400"/>
              </a:spcBef>
              <a:spcAft>
                <a:spcPts val="0"/>
              </a:spcAft>
              <a:buClr>
                <a:srgbClr val="5D5D5E"/>
              </a:buClr>
              <a:buSzPts val="2000"/>
              <a:buFont typeface="Arial"/>
              <a:buChar char="•"/>
              <a:tabLst/>
              <a:defRPr sz="1800" b="0" i="0" u="none" strike="noStrike" kern="0" cap="none" spc="0" baseline="0">
                <a:solidFill>
                  <a:srgbClr val="000000"/>
                </a:solidFill>
                <a:uFillTx/>
              </a:defRPr>
            </a:pPr>
            <a:endParaRPr lang="en-US" sz="2200" b="0" i="0" u="none" strike="noStrike" kern="0" cap="none" spc="0" baseline="0">
              <a:solidFill>
                <a:srgbClr val="262626"/>
              </a:solidFill>
              <a:uFillTx/>
              <a:latin typeface="Calibri"/>
              <a:ea typeface="Calibri"/>
              <a:cs typeface="Calibri"/>
            </a:endParaRPr>
          </a:p>
          <a:p>
            <a:pPr marL="101598" marR="0" lvl="0" indent="0" algn="l" defTabSz="914400" rtl="0" fontAlgn="auto" hangingPunct="1">
              <a:lnSpc>
                <a:spcPct val="100000"/>
              </a:lnSpc>
              <a:spcBef>
                <a:spcPts val="400"/>
              </a:spcBef>
              <a:spcAft>
                <a:spcPts val="0"/>
              </a:spcAft>
              <a:buNone/>
              <a:tabLst/>
              <a:defRPr sz="1800" b="0" i="0" u="none" strike="noStrike" kern="0" cap="none" spc="0" baseline="0">
                <a:solidFill>
                  <a:srgbClr val="000000"/>
                </a:solidFill>
                <a:uFillTx/>
              </a:defRPr>
            </a:pPr>
            <a:r>
              <a:rPr lang="en-US" sz="2200" b="0" i="0" u="none" strike="noStrike" kern="0" cap="none" spc="0" baseline="0">
                <a:solidFill>
                  <a:srgbClr val="262626"/>
                </a:solidFill>
                <a:uFillTx/>
                <a:latin typeface="Calibri"/>
                <a:ea typeface="Calibri"/>
                <a:cs typeface="Calibri"/>
              </a:rPr>
              <a:t>For the case of perfect gain estimation:</a:t>
            </a:r>
          </a:p>
          <a:p>
            <a:pPr marL="457200" marR="0" lvl="0" indent="-355601" algn="l" defTabSz="914400" rtl="0" fontAlgn="auto" hangingPunct="1">
              <a:lnSpc>
                <a:spcPct val="100000"/>
              </a:lnSpc>
              <a:spcBef>
                <a:spcPts val="400"/>
              </a:spcBef>
              <a:spcAft>
                <a:spcPts val="0"/>
              </a:spcAft>
              <a:buClr>
                <a:srgbClr val="5D5D5E"/>
              </a:buClr>
              <a:buSzPts val="2000"/>
              <a:buFont typeface="Arial"/>
              <a:buChar char="•"/>
              <a:tabLst/>
              <a:defRPr sz="1800" b="0" i="0" u="none" strike="noStrike" kern="0" cap="none" spc="0" baseline="0">
                <a:solidFill>
                  <a:srgbClr val="000000"/>
                </a:solidFill>
                <a:uFillTx/>
              </a:defRPr>
            </a:pPr>
            <a:endParaRPr lang="en-US" sz="2200" b="0" i="0" u="none" strike="noStrike" kern="0" cap="none" spc="0" baseline="0">
              <a:solidFill>
                <a:srgbClr val="262626"/>
              </a:solidFill>
              <a:uFillTx/>
              <a:latin typeface="Calibri"/>
              <a:ea typeface="Calibri"/>
              <a:cs typeface="Calibri"/>
            </a:endParaRPr>
          </a:p>
          <a:p>
            <a:pPr marL="457200" marR="0" lvl="0" indent="-355601" algn="l" defTabSz="914400" rtl="0" fontAlgn="auto" hangingPunct="1">
              <a:lnSpc>
                <a:spcPct val="100000"/>
              </a:lnSpc>
              <a:spcBef>
                <a:spcPts val="400"/>
              </a:spcBef>
              <a:spcAft>
                <a:spcPts val="0"/>
              </a:spcAft>
              <a:buClr>
                <a:srgbClr val="5D5D5E"/>
              </a:buClr>
              <a:buSzPts val="2000"/>
              <a:buFont typeface="Arial"/>
              <a:buChar char="•"/>
              <a:tabLst/>
              <a:defRPr sz="1800" b="0" i="0" u="none" strike="noStrike" kern="0" cap="none" spc="0" baseline="0">
                <a:solidFill>
                  <a:srgbClr val="000000"/>
                </a:solidFill>
                <a:uFillTx/>
              </a:defRPr>
            </a:pPr>
            <a:endParaRPr lang="en-US" sz="2200" b="0" i="0" u="none" strike="noStrike" kern="0" cap="none" spc="0" baseline="0">
              <a:solidFill>
                <a:srgbClr val="262626"/>
              </a:solidFill>
              <a:uFillTx/>
              <a:latin typeface="Calibri"/>
              <a:ea typeface="Calibri"/>
              <a:cs typeface="Calibri"/>
            </a:endParaRPr>
          </a:p>
          <a:p>
            <a:pPr marL="101598" marR="0" lvl="0" indent="0" algn="l" defTabSz="914400" rtl="0" fontAlgn="auto" hangingPunct="1">
              <a:lnSpc>
                <a:spcPct val="100000"/>
              </a:lnSpc>
              <a:spcBef>
                <a:spcPts val="400"/>
              </a:spcBef>
              <a:spcAft>
                <a:spcPts val="0"/>
              </a:spcAft>
              <a:buNone/>
              <a:tabLst/>
              <a:defRPr sz="1800" b="0" i="0" u="none" strike="noStrike" kern="0" cap="none" spc="0" baseline="0">
                <a:solidFill>
                  <a:srgbClr val="000000"/>
                </a:solidFill>
                <a:uFillTx/>
              </a:defRPr>
            </a:pPr>
            <a:r>
              <a:rPr lang="en-US" sz="2200" b="0" i="1" u="none" strike="noStrike" kern="0" cap="none" spc="0" baseline="0">
                <a:solidFill>
                  <a:srgbClr val="262626"/>
                </a:solidFill>
                <a:uFillTx/>
                <a:latin typeface="Times New Roman"/>
                <a:ea typeface="Calibri"/>
                <a:cs typeface="Times New Roman"/>
              </a:rPr>
              <a:t>r = </a:t>
            </a:r>
            <a:r>
              <a:rPr lang="en-US" sz="2200" b="0" i="0" u="none" strike="noStrike" kern="0" cap="none" spc="0" baseline="0">
                <a:solidFill>
                  <a:srgbClr val="262626"/>
                </a:solidFill>
                <a:uFillTx/>
                <a:latin typeface="Times New Roman"/>
                <a:ea typeface="Calibri"/>
                <a:cs typeface="Times New Roman"/>
              </a:rPr>
              <a:t>1</a:t>
            </a:r>
            <a:r>
              <a:rPr lang="en-US" sz="2200" b="0" i="0" u="none" strike="noStrike" kern="0" cap="none" spc="0" baseline="0">
                <a:solidFill>
                  <a:srgbClr val="262626"/>
                </a:solidFill>
                <a:uFillTx/>
                <a:latin typeface="Calibri"/>
                <a:ea typeface="Calibri"/>
                <a:cs typeface="Calibri"/>
              </a:rPr>
              <a:t> thus the modulation transfer function is:</a:t>
            </a:r>
          </a:p>
          <a:p>
            <a:pPr marL="76196" marR="0" lvl="0" indent="0" algn="l" defTabSz="914400" rtl="0" fontAlgn="auto" hangingPunct="1">
              <a:lnSpc>
                <a:spcPct val="100000"/>
              </a:lnSpc>
              <a:spcBef>
                <a:spcPts val="480"/>
              </a:spcBef>
              <a:spcAft>
                <a:spcPts val="0"/>
              </a:spcAft>
              <a:buNone/>
              <a:tabLst/>
              <a:defRPr sz="1800" b="0" i="0" u="none" strike="noStrike" kern="0" cap="none" spc="0" baseline="0">
                <a:solidFill>
                  <a:srgbClr val="000000"/>
                </a:solidFill>
                <a:uFillTx/>
              </a:defRPr>
            </a:pPr>
            <a:endParaRPr lang="en-US" sz="2400" b="0" i="0" u="none" strike="noStrike" kern="0" cap="none" spc="0" baseline="0">
              <a:solidFill>
                <a:srgbClr val="000000"/>
              </a:solidFill>
              <a:uFillTx/>
              <a:latin typeface="Calibri"/>
              <a:ea typeface="Calibri"/>
              <a:cs typeface="Calibri"/>
            </a:endParaRPr>
          </a:p>
          <a:p>
            <a:pPr marL="76196" marR="0" lvl="0" indent="0" algn="l" defTabSz="914400" rtl="0" fontAlgn="auto" hangingPunct="1">
              <a:lnSpc>
                <a:spcPct val="100000"/>
              </a:lnSpc>
              <a:spcBef>
                <a:spcPts val="480"/>
              </a:spcBef>
              <a:spcAft>
                <a:spcPts val="0"/>
              </a:spcAft>
              <a:buNone/>
              <a:tabLst/>
              <a:defRPr sz="1800" b="0" i="0" u="none" strike="noStrike" kern="0" cap="none" spc="0" baseline="0">
                <a:solidFill>
                  <a:srgbClr val="000000"/>
                </a:solidFill>
                <a:uFillTx/>
              </a:defRPr>
            </a:pPr>
            <a:endParaRPr lang="en-US" sz="2400" b="0" i="0" u="none" strike="noStrike" kern="0" cap="none" spc="0" baseline="0">
              <a:solidFill>
                <a:srgbClr val="000000"/>
              </a:solidFill>
              <a:uFillTx/>
              <a:latin typeface="Calibri"/>
              <a:ea typeface="Calibri"/>
              <a:cs typeface="Calibri"/>
            </a:endParaRPr>
          </a:p>
          <a:p>
            <a:pPr marL="76196" marR="0" lvl="0" indent="0" algn="l" defTabSz="914400" rtl="0" fontAlgn="auto" hangingPunct="1">
              <a:lnSpc>
                <a:spcPct val="100000"/>
              </a:lnSpc>
              <a:spcBef>
                <a:spcPts val="480"/>
              </a:spcBef>
              <a:spcAft>
                <a:spcPts val="0"/>
              </a:spcAft>
              <a:buNone/>
              <a:tabLst/>
              <a:defRPr sz="1800" b="0" i="0" u="none" strike="noStrike" kern="0" cap="none" spc="0" baseline="0">
                <a:solidFill>
                  <a:srgbClr val="000000"/>
                </a:solidFill>
                <a:uFillTx/>
              </a:defRPr>
            </a:pPr>
            <a:endParaRPr lang="en-US" sz="2400" b="0" i="0" u="none" strike="noStrike" kern="0" cap="none" spc="0" baseline="0">
              <a:solidFill>
                <a:srgbClr val="000000"/>
              </a:solidFill>
              <a:uFillTx/>
              <a:latin typeface="Calibri"/>
              <a:ea typeface="Calibri"/>
              <a:cs typeface="Calibri"/>
            </a:endParaRPr>
          </a:p>
          <a:p>
            <a:pPr marL="76196" marR="0" lvl="0" indent="0" algn="l" defTabSz="914400" rtl="0" fontAlgn="auto" hangingPunct="1">
              <a:lnSpc>
                <a:spcPct val="100000"/>
              </a:lnSpc>
              <a:spcBef>
                <a:spcPts val="480"/>
              </a:spcBef>
              <a:spcAft>
                <a:spcPts val="0"/>
              </a:spcAft>
              <a:buNone/>
              <a:tabLst/>
              <a:defRPr sz="1800" b="0" i="0" u="none" strike="noStrike" kern="0" cap="none" spc="0" baseline="0">
                <a:solidFill>
                  <a:srgbClr val="000000"/>
                </a:solidFill>
                <a:uFillTx/>
              </a:defRPr>
            </a:pPr>
            <a:r>
              <a:rPr lang="en-US" sz="2400" b="0" i="0" u="none" strike="noStrike" kern="0" cap="none" spc="0" baseline="0">
                <a:solidFill>
                  <a:srgbClr val="000000"/>
                </a:solidFill>
                <a:uFillTx/>
                <a:latin typeface="Calibri"/>
                <a:ea typeface="Calibri"/>
                <a:cs typeface="Calibri"/>
              </a:rPr>
              <a:t>                                               </a:t>
            </a:r>
          </a:p>
          <a:p>
            <a:pPr marL="76196" marR="0" lvl="0" indent="0" algn="l" defTabSz="914400" rtl="0" fontAlgn="auto" hangingPunct="1">
              <a:lnSpc>
                <a:spcPct val="100000"/>
              </a:lnSpc>
              <a:spcBef>
                <a:spcPts val="480"/>
              </a:spcBef>
              <a:spcAft>
                <a:spcPts val="0"/>
              </a:spcAft>
              <a:buNone/>
              <a:tabLst/>
              <a:defRPr sz="1800" b="0" i="0" u="none" strike="noStrike" kern="0" cap="none" spc="0" baseline="0">
                <a:solidFill>
                  <a:srgbClr val="000000"/>
                </a:solidFill>
                <a:uFillTx/>
              </a:defRPr>
            </a:pPr>
            <a:endParaRPr lang="en-US" sz="2400" b="0" i="0" u="none" strike="noStrike" kern="0" cap="none" spc="0" baseline="0">
              <a:solidFill>
                <a:srgbClr val="000000"/>
              </a:solidFill>
              <a:uFillTx/>
              <a:latin typeface="Calibri"/>
              <a:ea typeface="Calibri"/>
              <a:cs typeface="Calibri"/>
            </a:endParaRPr>
          </a:p>
          <a:p>
            <a:pPr marL="76196" marR="0" lvl="0" indent="0" algn="l" defTabSz="914400" rtl="0" fontAlgn="auto" hangingPunct="1">
              <a:lnSpc>
                <a:spcPct val="100000"/>
              </a:lnSpc>
              <a:spcBef>
                <a:spcPts val="480"/>
              </a:spcBef>
              <a:spcAft>
                <a:spcPts val="0"/>
              </a:spcAft>
              <a:buNone/>
              <a:tabLst/>
              <a:defRPr sz="1800" b="0" i="0" u="none" strike="noStrike" kern="0" cap="none" spc="0" baseline="0">
                <a:solidFill>
                  <a:srgbClr val="000000"/>
                </a:solidFill>
                <a:uFillTx/>
              </a:defRPr>
            </a:pPr>
            <a:endParaRPr lang="en-US" sz="2400" b="0" i="0" u="none" strike="noStrike" kern="0" cap="none" spc="0" baseline="0">
              <a:solidFill>
                <a:srgbClr val="000000"/>
              </a:solidFill>
              <a:uFillTx/>
              <a:latin typeface="Calibri"/>
              <a:ea typeface="Calibri"/>
              <a:cs typeface="Calibri"/>
            </a:endParaRPr>
          </a:p>
          <a:p>
            <a:pPr marL="76196" marR="0" lvl="0" indent="0" algn="l" defTabSz="914400" rtl="0" fontAlgn="auto" hangingPunct="1">
              <a:lnSpc>
                <a:spcPct val="100000"/>
              </a:lnSpc>
              <a:spcBef>
                <a:spcPts val="480"/>
              </a:spcBef>
              <a:spcAft>
                <a:spcPts val="0"/>
              </a:spcAft>
              <a:buNone/>
              <a:tabLst/>
              <a:defRPr sz="1800" b="0" i="0" u="none" strike="noStrike" kern="0" cap="none" spc="0" baseline="0">
                <a:solidFill>
                  <a:srgbClr val="000000"/>
                </a:solidFill>
                <a:uFillTx/>
              </a:defRPr>
            </a:pPr>
            <a:endParaRPr lang="en-US" sz="2400" b="0" i="0" u="none" strike="noStrike" kern="0" cap="none" spc="0" baseline="0">
              <a:solidFill>
                <a:srgbClr val="000000"/>
              </a:solidFill>
              <a:uFillTx/>
              <a:latin typeface="Calibri"/>
              <a:ea typeface="Calibri"/>
              <a:cs typeface="Calibri"/>
            </a:endParaRPr>
          </a:p>
        </p:txBody>
      </p:sp>
      <p:pic>
        <p:nvPicPr>
          <p:cNvPr id="5" name="Picture 9" descr="A math equation with numbers and symbols&#10;&#10;AI-generated content may be incorrect.">
            <a:extLst>
              <a:ext uri="{FF2B5EF4-FFF2-40B4-BE49-F238E27FC236}">
                <a16:creationId xmlns:a16="http://schemas.microsoft.com/office/drawing/2014/main" xmlns="" id="{A966AF18-CF90-71D0-9E49-8A00CC4F6048}"/>
              </a:ext>
            </a:extLst>
          </p:cNvPr>
          <p:cNvPicPr>
            <a:picLocks noChangeAspect="1"/>
          </p:cNvPicPr>
          <p:nvPr/>
        </p:nvPicPr>
        <p:blipFill>
          <a:blip r:embed="rId3"/>
          <a:stretch>
            <a:fillRect/>
          </a:stretch>
        </p:blipFill>
        <p:spPr>
          <a:xfrm>
            <a:off x="7881926" y="5144597"/>
            <a:ext cx="4219571" cy="790571"/>
          </a:xfrm>
          <a:prstGeom prst="rect">
            <a:avLst/>
          </a:prstGeom>
          <a:noFill/>
          <a:ln cap="flat">
            <a:noFill/>
          </a:ln>
        </p:spPr>
      </p:pic>
      <p:pic>
        <p:nvPicPr>
          <p:cNvPr id="6" name="Picture 5" descr="A black and white math equation&#10;&#10;AI-generated content may be incorrect.">
            <a:extLst>
              <a:ext uri="{FF2B5EF4-FFF2-40B4-BE49-F238E27FC236}">
                <a16:creationId xmlns:a16="http://schemas.microsoft.com/office/drawing/2014/main" xmlns="" id="{EE02C025-86AD-B9E3-9100-DEAF25059A4F}"/>
              </a:ext>
            </a:extLst>
          </p:cNvPr>
          <p:cNvPicPr>
            <a:picLocks noChangeAspect="1"/>
          </p:cNvPicPr>
          <p:nvPr/>
        </p:nvPicPr>
        <p:blipFill>
          <a:blip r:embed="rId4"/>
          <a:stretch>
            <a:fillRect/>
          </a:stretch>
        </p:blipFill>
        <p:spPr>
          <a:xfrm>
            <a:off x="8701759" y="3699369"/>
            <a:ext cx="1323978" cy="476246"/>
          </a:xfrm>
          <a:prstGeom prst="rect">
            <a:avLst/>
          </a:prstGeom>
          <a:noFill/>
          <a:ln cap="flat">
            <a:noFill/>
          </a:ln>
        </p:spPr>
      </p:pic>
      <p:pic>
        <p:nvPicPr>
          <p:cNvPr id="7" name="Picture 4" descr="A black numbers on a white background&#10;&#10;AI-generated content may be incorrect.">
            <a:extLst>
              <a:ext uri="{FF2B5EF4-FFF2-40B4-BE49-F238E27FC236}">
                <a16:creationId xmlns:a16="http://schemas.microsoft.com/office/drawing/2014/main" xmlns="" id="{31E5F74E-C8BB-6F28-0623-15BE0EF7F041}"/>
              </a:ext>
            </a:extLst>
          </p:cNvPr>
          <p:cNvPicPr>
            <a:picLocks noChangeAspect="1"/>
          </p:cNvPicPr>
          <p:nvPr/>
        </p:nvPicPr>
        <p:blipFill>
          <a:blip r:embed="rId5"/>
          <a:stretch>
            <a:fillRect/>
          </a:stretch>
        </p:blipFill>
        <p:spPr>
          <a:xfrm>
            <a:off x="8469767" y="2222046"/>
            <a:ext cx="3297015" cy="585106"/>
          </a:xfrm>
          <a:prstGeom prst="rect">
            <a:avLst/>
          </a:prstGeom>
          <a:noFill/>
          <a:ln cap="flat">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D07363F-38F0-D9C0-2646-F842C34DD604}"/>
              </a:ext>
            </a:extLst>
          </p:cNvPr>
          <p:cNvSpPr txBox="1">
            <a:spLocks noGrp="1"/>
          </p:cNvSpPr>
          <p:nvPr>
            <p:ph type="title"/>
          </p:nvPr>
        </p:nvSpPr>
        <p:spPr/>
        <p:txBody>
          <a:bodyPr anchor="b">
            <a:normAutofit/>
          </a:bodyPr>
          <a:lstStyle/>
          <a:p>
            <a:pPr lvl="0"/>
            <a:r>
              <a:rPr lang="en-US">
                <a:latin typeface="Times New Roman"/>
                <a:cs typeface="Times New Roman"/>
              </a:rPr>
              <a:t>ADPLL Stability Criteria</a:t>
            </a:r>
            <a:endParaRPr lang="en-US">
              <a:latin typeface="Times New Roman"/>
            </a:endParaRPr>
          </a:p>
        </p:txBody>
      </p:sp>
      <p:sp>
        <p:nvSpPr>
          <p:cNvPr id="3" name="Text Placeholder 2">
            <a:extLst>
              <a:ext uri="{FF2B5EF4-FFF2-40B4-BE49-F238E27FC236}">
                <a16:creationId xmlns:a16="http://schemas.microsoft.com/office/drawing/2014/main" xmlns="" id="{382A343A-036C-A6F8-BD1C-7D2D973E3035}"/>
              </a:ext>
            </a:extLst>
          </p:cNvPr>
          <p:cNvSpPr txBox="1"/>
          <p:nvPr/>
        </p:nvSpPr>
        <p:spPr>
          <a:xfrm>
            <a:off x="384624" y="1504645"/>
            <a:ext cx="7057576" cy="711650"/>
          </a:xfrm>
          <a:prstGeom prst="rect">
            <a:avLst/>
          </a:prstGeom>
          <a:noFill/>
          <a:ln cap="flat">
            <a:noFill/>
          </a:ln>
        </p:spPr>
        <p:txBody>
          <a:bodyPr vert="horz" wrap="square" lIns="91421" tIns="45701" rIns="91421" bIns="45701" anchor="t" anchorCtr="0" compatLnSpc="1">
            <a:noAutofit/>
          </a:bodyPr>
          <a:lstStyle/>
          <a:p>
            <a:pPr marL="75566" marR="0" lvl="0" indent="0" algn="l" defTabSz="914400" rtl="0" fontAlgn="auto" hangingPunct="1">
              <a:lnSpc>
                <a:spcPct val="100000"/>
              </a:lnSpc>
              <a:spcBef>
                <a:spcPts val="480"/>
              </a:spcBef>
              <a:spcAft>
                <a:spcPts val="0"/>
              </a:spcAft>
              <a:buNone/>
              <a:tabLst/>
              <a:defRPr sz="1800" b="0" i="0" u="none" strike="noStrike" kern="0" cap="none" spc="0" baseline="0">
                <a:solidFill>
                  <a:srgbClr val="000000"/>
                </a:solidFill>
                <a:uFillTx/>
              </a:defRPr>
            </a:pPr>
            <a:r>
              <a:rPr lang="en-US" sz="2400" b="0" i="0" u="none" strike="noStrike" kern="0" cap="none" spc="0" baseline="0">
                <a:solidFill>
                  <a:srgbClr val="000000"/>
                </a:solidFill>
                <a:uFillTx/>
                <a:latin typeface="Calibri"/>
                <a:ea typeface="Calibri"/>
                <a:cs typeface="Calibri"/>
              </a:rPr>
              <a:t>Channel Control Word Closed Loop Transfer function:  </a:t>
            </a:r>
          </a:p>
          <a:p>
            <a:pPr marL="76196" marR="0" lvl="0" indent="0" algn="l" defTabSz="914400" rtl="0" fontAlgn="auto" hangingPunct="1">
              <a:lnSpc>
                <a:spcPct val="100000"/>
              </a:lnSpc>
              <a:spcBef>
                <a:spcPts val="480"/>
              </a:spcBef>
              <a:spcAft>
                <a:spcPts val="0"/>
              </a:spcAft>
              <a:buNone/>
              <a:tabLst/>
              <a:defRPr sz="1800" b="0" i="0" u="none" strike="noStrike" kern="0" cap="none" spc="0" baseline="0">
                <a:solidFill>
                  <a:srgbClr val="000000"/>
                </a:solidFill>
                <a:uFillTx/>
              </a:defRPr>
            </a:pPr>
            <a:endParaRPr lang="en-US" sz="2400" b="0" i="0" u="none" strike="noStrike" kern="0" cap="none" spc="0" baseline="0">
              <a:solidFill>
                <a:srgbClr val="000000"/>
              </a:solidFill>
              <a:uFillTx/>
              <a:latin typeface="Calibri"/>
              <a:ea typeface="Calibri"/>
              <a:cs typeface="Calibri"/>
            </a:endParaRPr>
          </a:p>
          <a:p>
            <a:pPr marL="76196" marR="0" lvl="0" indent="0" algn="l" defTabSz="914400" rtl="0" fontAlgn="auto" hangingPunct="1">
              <a:lnSpc>
                <a:spcPct val="100000"/>
              </a:lnSpc>
              <a:spcBef>
                <a:spcPts val="480"/>
              </a:spcBef>
              <a:spcAft>
                <a:spcPts val="0"/>
              </a:spcAft>
              <a:buNone/>
              <a:tabLst/>
              <a:defRPr sz="1800" b="0" i="0" u="none" strike="noStrike" kern="0" cap="none" spc="0" baseline="0">
                <a:solidFill>
                  <a:srgbClr val="000000"/>
                </a:solidFill>
                <a:uFillTx/>
              </a:defRPr>
            </a:pPr>
            <a:endParaRPr lang="en-US" sz="2400" b="0" i="0" u="none" strike="noStrike" kern="0" cap="none" spc="0" baseline="0">
              <a:solidFill>
                <a:srgbClr val="000000"/>
              </a:solidFill>
              <a:uFillTx/>
              <a:latin typeface="Calibri"/>
              <a:ea typeface="Calibri"/>
              <a:cs typeface="Calibri"/>
            </a:endParaRPr>
          </a:p>
          <a:p>
            <a:pPr marL="76196" marR="0" lvl="0" indent="0" algn="l" defTabSz="914400" rtl="0" fontAlgn="auto" hangingPunct="1">
              <a:lnSpc>
                <a:spcPct val="100000"/>
              </a:lnSpc>
              <a:spcBef>
                <a:spcPts val="480"/>
              </a:spcBef>
              <a:spcAft>
                <a:spcPts val="0"/>
              </a:spcAft>
              <a:buNone/>
              <a:tabLst/>
              <a:defRPr sz="1800" b="0" i="0" u="none" strike="noStrike" kern="0" cap="none" spc="0" baseline="0">
                <a:solidFill>
                  <a:srgbClr val="000000"/>
                </a:solidFill>
                <a:uFillTx/>
              </a:defRPr>
            </a:pPr>
            <a:endParaRPr lang="en-US" sz="2400" b="0" i="0" u="none" strike="noStrike" kern="0" cap="none" spc="0" baseline="0">
              <a:solidFill>
                <a:srgbClr val="000000"/>
              </a:solidFill>
              <a:uFillTx/>
              <a:latin typeface="Calibri"/>
              <a:ea typeface="Calibri"/>
              <a:cs typeface="Calibri"/>
            </a:endParaRPr>
          </a:p>
          <a:p>
            <a:pPr marL="76196" marR="0" lvl="0" indent="0" algn="l" defTabSz="914400" rtl="0" fontAlgn="auto" hangingPunct="1">
              <a:lnSpc>
                <a:spcPct val="100000"/>
              </a:lnSpc>
              <a:spcBef>
                <a:spcPts val="480"/>
              </a:spcBef>
              <a:spcAft>
                <a:spcPts val="0"/>
              </a:spcAft>
              <a:buNone/>
              <a:tabLst/>
              <a:defRPr sz="1800" b="0" i="0" u="none" strike="noStrike" kern="0" cap="none" spc="0" baseline="0">
                <a:solidFill>
                  <a:srgbClr val="000000"/>
                </a:solidFill>
                <a:uFillTx/>
              </a:defRPr>
            </a:pPr>
            <a:endParaRPr lang="en-US" sz="2400" b="0" i="0" u="none" strike="noStrike" kern="0" cap="none" spc="0" baseline="0">
              <a:solidFill>
                <a:srgbClr val="000000"/>
              </a:solidFill>
              <a:uFillTx/>
              <a:latin typeface="Calibri"/>
              <a:ea typeface="Calibri"/>
              <a:cs typeface="Calibri"/>
            </a:endParaRPr>
          </a:p>
          <a:p>
            <a:pPr marL="76196" marR="0" lvl="0" indent="0" algn="l" defTabSz="914400" rtl="0" fontAlgn="auto" hangingPunct="1">
              <a:lnSpc>
                <a:spcPct val="100000"/>
              </a:lnSpc>
              <a:spcBef>
                <a:spcPts val="480"/>
              </a:spcBef>
              <a:spcAft>
                <a:spcPts val="0"/>
              </a:spcAft>
              <a:buNone/>
              <a:tabLst/>
              <a:defRPr sz="1800" b="0" i="0" u="none" strike="noStrike" kern="0" cap="none" spc="0" baseline="0">
                <a:solidFill>
                  <a:srgbClr val="000000"/>
                </a:solidFill>
                <a:uFillTx/>
              </a:defRPr>
            </a:pPr>
            <a:endParaRPr lang="en-US" sz="2400" b="0" i="0" u="none" strike="noStrike" kern="0" cap="none" spc="0" baseline="0">
              <a:solidFill>
                <a:srgbClr val="000000"/>
              </a:solidFill>
              <a:uFillTx/>
              <a:latin typeface="Calibri"/>
              <a:ea typeface="Calibri"/>
              <a:cs typeface="Calibri"/>
            </a:endParaRPr>
          </a:p>
          <a:p>
            <a:pPr marL="76196" marR="0" lvl="0" indent="0" algn="l" defTabSz="914400" rtl="0" fontAlgn="auto" hangingPunct="1">
              <a:lnSpc>
                <a:spcPct val="100000"/>
              </a:lnSpc>
              <a:spcBef>
                <a:spcPts val="480"/>
              </a:spcBef>
              <a:spcAft>
                <a:spcPts val="0"/>
              </a:spcAft>
              <a:buNone/>
              <a:tabLst/>
              <a:defRPr sz="1800" b="0" i="0" u="none" strike="noStrike" kern="0" cap="none" spc="0" baseline="0">
                <a:solidFill>
                  <a:srgbClr val="000000"/>
                </a:solidFill>
                <a:uFillTx/>
              </a:defRPr>
            </a:pPr>
            <a:endParaRPr lang="en-US" sz="2400" b="0" i="0" u="none" strike="noStrike" kern="0" cap="none" spc="0" baseline="0">
              <a:solidFill>
                <a:srgbClr val="000000"/>
              </a:solidFill>
              <a:uFillTx/>
              <a:latin typeface="Calibri"/>
              <a:ea typeface="Calibri"/>
              <a:cs typeface="Calibri"/>
            </a:endParaRPr>
          </a:p>
        </p:txBody>
      </p:sp>
      <p:pic>
        <p:nvPicPr>
          <p:cNvPr id="4" name="Picture 7">
            <a:extLst>
              <a:ext uri="{FF2B5EF4-FFF2-40B4-BE49-F238E27FC236}">
                <a16:creationId xmlns:a16="http://schemas.microsoft.com/office/drawing/2014/main" xmlns="" id="{01E71C62-87AB-7E2A-0077-6407806F655F}"/>
              </a:ext>
            </a:extLst>
          </p:cNvPr>
          <p:cNvPicPr>
            <a:picLocks noChangeAspect="1"/>
          </p:cNvPicPr>
          <p:nvPr/>
        </p:nvPicPr>
        <p:blipFill>
          <a:blip r:embed="rId2"/>
          <a:stretch>
            <a:fillRect/>
          </a:stretch>
        </p:blipFill>
        <p:spPr>
          <a:xfrm>
            <a:off x="1553300" y="2987673"/>
            <a:ext cx="1752603" cy="398687"/>
          </a:xfrm>
          <a:prstGeom prst="rect">
            <a:avLst/>
          </a:prstGeom>
          <a:noFill/>
          <a:ln cap="flat">
            <a:noFill/>
          </a:ln>
        </p:spPr>
      </p:pic>
      <p:sp>
        <p:nvSpPr>
          <p:cNvPr id="5" name="Text Placeholder 2">
            <a:extLst>
              <a:ext uri="{FF2B5EF4-FFF2-40B4-BE49-F238E27FC236}">
                <a16:creationId xmlns:a16="http://schemas.microsoft.com/office/drawing/2014/main" xmlns="" id="{930EE4FA-F4CE-72F8-3784-5EF4CA67B8C0}"/>
              </a:ext>
            </a:extLst>
          </p:cNvPr>
          <p:cNvSpPr txBox="1"/>
          <p:nvPr/>
        </p:nvSpPr>
        <p:spPr>
          <a:xfrm>
            <a:off x="384624" y="2919788"/>
            <a:ext cx="7057576" cy="711650"/>
          </a:xfrm>
          <a:prstGeom prst="rect">
            <a:avLst/>
          </a:prstGeom>
          <a:noFill/>
          <a:ln cap="flat">
            <a:noFill/>
          </a:ln>
        </p:spPr>
        <p:txBody>
          <a:bodyPr vert="horz" wrap="square" lIns="91421" tIns="45701" rIns="91421" bIns="45701" anchor="t" anchorCtr="0" compatLnSpc="1">
            <a:noAutofit/>
          </a:bodyPr>
          <a:lstStyle/>
          <a:p>
            <a:pPr marL="75566" marR="0" lvl="0" indent="0" algn="l" defTabSz="914400" rtl="0" fontAlgn="auto" hangingPunct="1">
              <a:lnSpc>
                <a:spcPct val="100000"/>
              </a:lnSpc>
              <a:spcBef>
                <a:spcPts val="480"/>
              </a:spcBef>
              <a:spcAft>
                <a:spcPts val="0"/>
              </a:spcAft>
              <a:buNone/>
              <a:tabLst/>
              <a:defRPr sz="1800" b="0" i="0" u="none" strike="noStrike" kern="0" cap="none" spc="0" baseline="0">
                <a:solidFill>
                  <a:srgbClr val="000000"/>
                </a:solidFill>
                <a:uFillTx/>
              </a:defRPr>
            </a:pPr>
            <a:r>
              <a:rPr lang="en-US" sz="2400" b="0" i="0" u="none" strike="noStrike" kern="0" cap="none" spc="0" baseline="0">
                <a:solidFill>
                  <a:srgbClr val="000000"/>
                </a:solidFill>
                <a:uFillTx/>
                <a:latin typeface="Calibri"/>
                <a:ea typeface="Calibri"/>
                <a:cs typeface="Calibri"/>
              </a:rPr>
              <a:t>Where:</a:t>
            </a:r>
            <a:endParaRPr lang="en-US" sz="2000" b="0" i="0" u="none" strike="noStrike" kern="0" cap="none" spc="0" baseline="0">
              <a:solidFill>
                <a:srgbClr val="000000"/>
              </a:solidFill>
              <a:uFillTx/>
              <a:latin typeface="Calibri"/>
              <a:ea typeface="Calibri"/>
              <a:cs typeface="Calibri"/>
            </a:endParaRPr>
          </a:p>
          <a:p>
            <a:pPr marL="76196" marR="0" lvl="0" indent="0" algn="l" defTabSz="914400" rtl="0" fontAlgn="auto" hangingPunct="1">
              <a:lnSpc>
                <a:spcPct val="100000"/>
              </a:lnSpc>
              <a:spcBef>
                <a:spcPts val="480"/>
              </a:spcBef>
              <a:spcAft>
                <a:spcPts val="0"/>
              </a:spcAft>
              <a:buNone/>
              <a:tabLst/>
              <a:defRPr sz="1800" b="0" i="0" u="none" strike="noStrike" kern="0" cap="none" spc="0" baseline="0">
                <a:solidFill>
                  <a:srgbClr val="000000"/>
                </a:solidFill>
                <a:uFillTx/>
              </a:defRPr>
            </a:pPr>
            <a:endParaRPr lang="en-US" sz="2400" b="0" i="0" u="none" strike="noStrike" kern="0" cap="none" spc="0" baseline="0">
              <a:solidFill>
                <a:srgbClr val="000000"/>
              </a:solidFill>
              <a:uFillTx/>
              <a:latin typeface="Calibri"/>
              <a:ea typeface="Calibri"/>
              <a:cs typeface="Calibri"/>
            </a:endParaRPr>
          </a:p>
          <a:p>
            <a:pPr marL="76196" marR="0" lvl="0" indent="0" algn="l" defTabSz="914400" rtl="0" fontAlgn="auto" hangingPunct="1">
              <a:lnSpc>
                <a:spcPct val="100000"/>
              </a:lnSpc>
              <a:spcBef>
                <a:spcPts val="480"/>
              </a:spcBef>
              <a:spcAft>
                <a:spcPts val="0"/>
              </a:spcAft>
              <a:buNone/>
              <a:tabLst/>
              <a:defRPr sz="1800" b="0" i="0" u="none" strike="noStrike" kern="0" cap="none" spc="0" baseline="0">
                <a:solidFill>
                  <a:srgbClr val="000000"/>
                </a:solidFill>
                <a:uFillTx/>
              </a:defRPr>
            </a:pPr>
            <a:endParaRPr lang="en-US" sz="2400" b="0" i="0" u="none" strike="noStrike" kern="0" cap="none" spc="0" baseline="0">
              <a:solidFill>
                <a:srgbClr val="000000"/>
              </a:solidFill>
              <a:uFillTx/>
              <a:latin typeface="Calibri"/>
              <a:ea typeface="Calibri"/>
              <a:cs typeface="Calibri"/>
            </a:endParaRPr>
          </a:p>
          <a:p>
            <a:pPr marL="76196" marR="0" lvl="0" indent="0" algn="l" defTabSz="914400" rtl="0" fontAlgn="auto" hangingPunct="1">
              <a:lnSpc>
                <a:spcPct val="100000"/>
              </a:lnSpc>
              <a:spcBef>
                <a:spcPts val="480"/>
              </a:spcBef>
              <a:spcAft>
                <a:spcPts val="0"/>
              </a:spcAft>
              <a:buNone/>
              <a:tabLst/>
              <a:defRPr sz="1800" b="0" i="0" u="none" strike="noStrike" kern="0" cap="none" spc="0" baseline="0">
                <a:solidFill>
                  <a:srgbClr val="000000"/>
                </a:solidFill>
                <a:uFillTx/>
              </a:defRPr>
            </a:pPr>
            <a:endParaRPr lang="en-US" sz="2400" b="0" i="0" u="none" strike="noStrike" kern="0" cap="none" spc="0" baseline="0">
              <a:solidFill>
                <a:srgbClr val="000000"/>
              </a:solidFill>
              <a:uFillTx/>
              <a:latin typeface="Calibri"/>
              <a:ea typeface="Calibri"/>
              <a:cs typeface="Calibri"/>
            </a:endParaRPr>
          </a:p>
          <a:p>
            <a:pPr marL="76196" marR="0" lvl="0" indent="0" algn="l" defTabSz="914400" rtl="0" fontAlgn="auto" hangingPunct="1">
              <a:lnSpc>
                <a:spcPct val="100000"/>
              </a:lnSpc>
              <a:spcBef>
                <a:spcPts val="480"/>
              </a:spcBef>
              <a:spcAft>
                <a:spcPts val="0"/>
              </a:spcAft>
              <a:buNone/>
              <a:tabLst/>
              <a:defRPr sz="1800" b="0" i="0" u="none" strike="noStrike" kern="0" cap="none" spc="0" baseline="0">
                <a:solidFill>
                  <a:srgbClr val="000000"/>
                </a:solidFill>
                <a:uFillTx/>
              </a:defRPr>
            </a:pPr>
            <a:endParaRPr lang="en-US" sz="2400" b="0" i="0" u="none" strike="noStrike" kern="0" cap="none" spc="0" baseline="0">
              <a:solidFill>
                <a:srgbClr val="000000"/>
              </a:solidFill>
              <a:uFillTx/>
              <a:latin typeface="Calibri"/>
              <a:ea typeface="Calibri"/>
              <a:cs typeface="Calibri"/>
            </a:endParaRPr>
          </a:p>
          <a:p>
            <a:pPr marL="76196" marR="0" lvl="0" indent="0" algn="l" defTabSz="914400" rtl="0" fontAlgn="auto" hangingPunct="1">
              <a:lnSpc>
                <a:spcPct val="100000"/>
              </a:lnSpc>
              <a:spcBef>
                <a:spcPts val="480"/>
              </a:spcBef>
              <a:spcAft>
                <a:spcPts val="0"/>
              </a:spcAft>
              <a:buNone/>
              <a:tabLst/>
              <a:defRPr sz="1800" b="0" i="0" u="none" strike="noStrike" kern="0" cap="none" spc="0" baseline="0">
                <a:solidFill>
                  <a:srgbClr val="000000"/>
                </a:solidFill>
                <a:uFillTx/>
              </a:defRPr>
            </a:pPr>
            <a:endParaRPr lang="en-US" sz="2400" b="0" i="0" u="none" strike="noStrike" kern="0" cap="none" spc="0" baseline="0">
              <a:solidFill>
                <a:srgbClr val="000000"/>
              </a:solidFill>
              <a:uFillTx/>
              <a:latin typeface="Calibri"/>
              <a:ea typeface="Calibri"/>
              <a:cs typeface="Calibri"/>
            </a:endParaRPr>
          </a:p>
        </p:txBody>
      </p:sp>
      <p:sp>
        <p:nvSpPr>
          <p:cNvPr id="6" name="Text Placeholder 2">
            <a:extLst>
              <a:ext uri="{FF2B5EF4-FFF2-40B4-BE49-F238E27FC236}">
                <a16:creationId xmlns:a16="http://schemas.microsoft.com/office/drawing/2014/main" xmlns="" id="{E977B211-B3E8-FD50-13F1-4D2B528F9FEC}"/>
              </a:ext>
            </a:extLst>
          </p:cNvPr>
          <p:cNvSpPr txBox="1"/>
          <p:nvPr/>
        </p:nvSpPr>
        <p:spPr>
          <a:xfrm>
            <a:off x="384624" y="3427783"/>
            <a:ext cx="3327401" cy="522963"/>
          </a:xfrm>
          <a:prstGeom prst="rect">
            <a:avLst/>
          </a:prstGeom>
          <a:noFill/>
          <a:ln cap="flat">
            <a:noFill/>
          </a:ln>
        </p:spPr>
        <p:txBody>
          <a:bodyPr vert="horz" wrap="square" lIns="91421" tIns="45701" rIns="91421" bIns="45701" anchor="t" anchorCtr="0" compatLnSpc="1">
            <a:noAutofit/>
          </a:bodyPr>
          <a:lstStyle/>
          <a:p>
            <a:pPr marL="75566" marR="0" lvl="0" indent="0" algn="l" defTabSz="914400" rtl="0" fontAlgn="auto" hangingPunct="1">
              <a:lnSpc>
                <a:spcPct val="100000"/>
              </a:lnSpc>
              <a:spcBef>
                <a:spcPts val="480"/>
              </a:spcBef>
              <a:spcAft>
                <a:spcPts val="0"/>
              </a:spcAft>
              <a:buNone/>
              <a:tabLst/>
              <a:defRPr sz="1800" b="0" i="0" u="none" strike="noStrike" kern="0" cap="none" spc="0" baseline="0">
                <a:solidFill>
                  <a:srgbClr val="000000"/>
                </a:solidFill>
                <a:uFillTx/>
              </a:defRPr>
            </a:pPr>
            <a:r>
              <a:rPr lang="en-US" sz="2400" b="0" i="0" u="none" strike="noStrike" kern="0" cap="none" spc="0" baseline="0">
                <a:solidFill>
                  <a:srgbClr val="000000"/>
                </a:solidFill>
                <a:uFillTx/>
                <a:latin typeface="Calibri"/>
                <a:ea typeface="Calibri"/>
                <a:cs typeface="Calibri"/>
              </a:rPr>
              <a:t>Stability Criteria:  </a:t>
            </a:r>
          </a:p>
          <a:p>
            <a:pPr marL="76196" marR="0" lvl="0" indent="0" algn="l" defTabSz="914400" rtl="0" fontAlgn="auto" hangingPunct="1">
              <a:lnSpc>
                <a:spcPct val="100000"/>
              </a:lnSpc>
              <a:spcBef>
                <a:spcPts val="480"/>
              </a:spcBef>
              <a:spcAft>
                <a:spcPts val="0"/>
              </a:spcAft>
              <a:buNone/>
              <a:tabLst/>
              <a:defRPr sz="1800" b="0" i="0" u="none" strike="noStrike" kern="0" cap="none" spc="0" baseline="0">
                <a:solidFill>
                  <a:srgbClr val="000000"/>
                </a:solidFill>
                <a:uFillTx/>
              </a:defRPr>
            </a:pPr>
            <a:endParaRPr lang="en-US" sz="2400" b="0" i="0" u="none" strike="noStrike" kern="0" cap="none" spc="0" baseline="0">
              <a:solidFill>
                <a:srgbClr val="000000"/>
              </a:solidFill>
              <a:uFillTx/>
              <a:latin typeface="Calibri"/>
              <a:ea typeface="Calibri"/>
              <a:cs typeface="Calibri"/>
            </a:endParaRPr>
          </a:p>
          <a:p>
            <a:pPr marL="76196" marR="0" lvl="0" indent="0" algn="l" defTabSz="914400" rtl="0" fontAlgn="auto" hangingPunct="1">
              <a:lnSpc>
                <a:spcPct val="100000"/>
              </a:lnSpc>
              <a:spcBef>
                <a:spcPts val="480"/>
              </a:spcBef>
              <a:spcAft>
                <a:spcPts val="0"/>
              </a:spcAft>
              <a:buNone/>
              <a:tabLst/>
              <a:defRPr sz="1800" b="0" i="0" u="none" strike="noStrike" kern="0" cap="none" spc="0" baseline="0">
                <a:solidFill>
                  <a:srgbClr val="000000"/>
                </a:solidFill>
                <a:uFillTx/>
              </a:defRPr>
            </a:pPr>
            <a:endParaRPr lang="en-US" sz="2400" b="0" i="0" u="none" strike="noStrike" kern="0" cap="none" spc="0" baseline="0">
              <a:solidFill>
                <a:srgbClr val="000000"/>
              </a:solidFill>
              <a:uFillTx/>
              <a:latin typeface="Calibri"/>
              <a:ea typeface="Calibri"/>
              <a:cs typeface="Calibri"/>
            </a:endParaRPr>
          </a:p>
          <a:p>
            <a:pPr marL="76196" marR="0" lvl="0" indent="0" algn="l" defTabSz="914400" rtl="0" fontAlgn="auto" hangingPunct="1">
              <a:lnSpc>
                <a:spcPct val="100000"/>
              </a:lnSpc>
              <a:spcBef>
                <a:spcPts val="480"/>
              </a:spcBef>
              <a:spcAft>
                <a:spcPts val="0"/>
              </a:spcAft>
              <a:buNone/>
              <a:tabLst/>
              <a:defRPr sz="1800" b="0" i="0" u="none" strike="noStrike" kern="0" cap="none" spc="0" baseline="0">
                <a:solidFill>
                  <a:srgbClr val="000000"/>
                </a:solidFill>
                <a:uFillTx/>
              </a:defRPr>
            </a:pPr>
            <a:endParaRPr lang="en-US" sz="2400" b="0" i="0" u="none" strike="noStrike" kern="0" cap="none" spc="0" baseline="0">
              <a:solidFill>
                <a:srgbClr val="000000"/>
              </a:solidFill>
              <a:uFillTx/>
              <a:latin typeface="Calibri"/>
              <a:ea typeface="Calibri"/>
              <a:cs typeface="Calibri"/>
            </a:endParaRPr>
          </a:p>
          <a:p>
            <a:pPr marL="76196" marR="0" lvl="0" indent="0" algn="l" defTabSz="914400" rtl="0" fontAlgn="auto" hangingPunct="1">
              <a:lnSpc>
                <a:spcPct val="100000"/>
              </a:lnSpc>
              <a:spcBef>
                <a:spcPts val="480"/>
              </a:spcBef>
              <a:spcAft>
                <a:spcPts val="0"/>
              </a:spcAft>
              <a:buNone/>
              <a:tabLst/>
              <a:defRPr sz="1800" b="0" i="0" u="none" strike="noStrike" kern="0" cap="none" spc="0" baseline="0">
                <a:solidFill>
                  <a:srgbClr val="000000"/>
                </a:solidFill>
                <a:uFillTx/>
              </a:defRPr>
            </a:pPr>
            <a:endParaRPr lang="en-US" sz="2400" b="0" i="0" u="none" strike="noStrike" kern="0" cap="none" spc="0" baseline="0">
              <a:solidFill>
                <a:srgbClr val="000000"/>
              </a:solidFill>
              <a:uFillTx/>
              <a:latin typeface="Calibri"/>
              <a:ea typeface="Calibri"/>
              <a:cs typeface="Calibri"/>
            </a:endParaRPr>
          </a:p>
          <a:p>
            <a:pPr marL="76196" marR="0" lvl="0" indent="0" algn="l" defTabSz="914400" rtl="0" fontAlgn="auto" hangingPunct="1">
              <a:lnSpc>
                <a:spcPct val="100000"/>
              </a:lnSpc>
              <a:spcBef>
                <a:spcPts val="480"/>
              </a:spcBef>
              <a:spcAft>
                <a:spcPts val="0"/>
              </a:spcAft>
              <a:buNone/>
              <a:tabLst/>
              <a:defRPr sz="1800" b="0" i="0" u="none" strike="noStrike" kern="0" cap="none" spc="0" baseline="0">
                <a:solidFill>
                  <a:srgbClr val="000000"/>
                </a:solidFill>
                <a:uFillTx/>
              </a:defRPr>
            </a:pPr>
            <a:endParaRPr lang="en-US" sz="2400" b="0" i="0" u="none" strike="noStrike" kern="0" cap="none" spc="0" baseline="0">
              <a:solidFill>
                <a:srgbClr val="000000"/>
              </a:solidFill>
              <a:uFillTx/>
              <a:latin typeface="Calibri"/>
              <a:ea typeface="Calibri"/>
              <a:cs typeface="Calibri"/>
            </a:endParaRPr>
          </a:p>
          <a:p>
            <a:pPr marL="76196" marR="0" lvl="0" indent="0" algn="l" defTabSz="914400" rtl="0" fontAlgn="auto" hangingPunct="1">
              <a:lnSpc>
                <a:spcPct val="100000"/>
              </a:lnSpc>
              <a:spcBef>
                <a:spcPts val="480"/>
              </a:spcBef>
              <a:spcAft>
                <a:spcPts val="0"/>
              </a:spcAft>
              <a:buNone/>
              <a:tabLst/>
              <a:defRPr sz="1800" b="0" i="0" u="none" strike="noStrike" kern="0" cap="none" spc="0" baseline="0">
                <a:solidFill>
                  <a:srgbClr val="000000"/>
                </a:solidFill>
                <a:uFillTx/>
              </a:defRPr>
            </a:pPr>
            <a:endParaRPr lang="en-US" sz="2400" b="0" i="0" u="none" strike="noStrike" kern="0" cap="none" spc="0" baseline="0">
              <a:solidFill>
                <a:srgbClr val="000000"/>
              </a:solidFill>
              <a:uFillTx/>
              <a:latin typeface="Calibri"/>
              <a:ea typeface="Calibri"/>
              <a:cs typeface="Calibri"/>
            </a:endParaRPr>
          </a:p>
        </p:txBody>
      </p:sp>
      <p:pic>
        <p:nvPicPr>
          <p:cNvPr id="7" name="Picture 3" descr="A math equation with numbers and symbols&#10;&#10;AI-generated content may be incorrect.">
            <a:extLst>
              <a:ext uri="{FF2B5EF4-FFF2-40B4-BE49-F238E27FC236}">
                <a16:creationId xmlns:a16="http://schemas.microsoft.com/office/drawing/2014/main" xmlns="" id="{06EBC1F6-FE96-BC59-3D5B-BB2F5EC462CD}"/>
              </a:ext>
            </a:extLst>
          </p:cNvPr>
          <p:cNvPicPr>
            <a:picLocks noChangeAspect="1"/>
          </p:cNvPicPr>
          <p:nvPr/>
        </p:nvPicPr>
        <p:blipFill>
          <a:blip r:embed="rId3"/>
          <a:stretch>
            <a:fillRect/>
          </a:stretch>
        </p:blipFill>
        <p:spPr>
          <a:xfrm>
            <a:off x="3019650" y="1862367"/>
            <a:ext cx="6145444" cy="1137559"/>
          </a:xfrm>
          <a:prstGeom prst="rect">
            <a:avLst/>
          </a:prstGeom>
          <a:noFill/>
          <a:ln cap="flat">
            <a:noFill/>
          </a:ln>
        </p:spPr>
      </p:pic>
      <p:pic>
        <p:nvPicPr>
          <p:cNvPr id="8" name="Picture 6" descr="A square root of a mathematical equation&#10;&#10;AI-generated content may be incorrect.">
            <a:extLst>
              <a:ext uri="{FF2B5EF4-FFF2-40B4-BE49-F238E27FC236}">
                <a16:creationId xmlns:a16="http://schemas.microsoft.com/office/drawing/2014/main" xmlns="" id="{07B76C2F-B234-6D43-EFC6-42326364DA41}"/>
              </a:ext>
            </a:extLst>
          </p:cNvPr>
          <p:cNvPicPr>
            <a:picLocks noChangeAspect="1"/>
          </p:cNvPicPr>
          <p:nvPr/>
        </p:nvPicPr>
        <p:blipFill>
          <a:blip r:embed="rId4"/>
          <a:stretch>
            <a:fillRect/>
          </a:stretch>
        </p:blipFill>
        <p:spPr>
          <a:xfrm>
            <a:off x="3252785" y="3686632"/>
            <a:ext cx="5686425" cy="1066803"/>
          </a:xfrm>
          <a:prstGeom prst="rect">
            <a:avLst/>
          </a:prstGeom>
          <a:noFill/>
          <a:ln cap="flat">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7DEADB9-E1E4-F89F-EF6E-678FCAB71B08}"/>
              </a:ext>
            </a:extLst>
          </p:cNvPr>
          <p:cNvSpPr txBox="1">
            <a:spLocks noGrp="1"/>
          </p:cNvSpPr>
          <p:nvPr>
            <p:ph type="title"/>
          </p:nvPr>
        </p:nvSpPr>
        <p:spPr/>
        <p:txBody>
          <a:bodyPr anchor="b">
            <a:normAutofit/>
          </a:bodyPr>
          <a:lstStyle/>
          <a:p>
            <a:pPr lvl="0"/>
            <a:r>
              <a:rPr lang="en-US">
                <a:latin typeface="Times New Roman"/>
                <a:cs typeface="Times New Roman"/>
              </a:rPr>
              <a:t>ADPLL Stability Region</a:t>
            </a:r>
            <a:endParaRPr lang="en-US">
              <a:latin typeface="Times New Roman"/>
            </a:endParaRPr>
          </a:p>
        </p:txBody>
      </p:sp>
      <p:sp>
        <p:nvSpPr>
          <p:cNvPr id="3" name="Text Placeholder 2">
            <a:extLst>
              <a:ext uri="{FF2B5EF4-FFF2-40B4-BE49-F238E27FC236}">
                <a16:creationId xmlns:a16="http://schemas.microsoft.com/office/drawing/2014/main" xmlns="" id="{7CAF911F-739E-61B3-6643-5E4C3268E904}"/>
              </a:ext>
            </a:extLst>
          </p:cNvPr>
          <p:cNvSpPr txBox="1"/>
          <p:nvPr/>
        </p:nvSpPr>
        <p:spPr>
          <a:xfrm>
            <a:off x="384624" y="1504645"/>
            <a:ext cx="7057576" cy="711650"/>
          </a:xfrm>
          <a:prstGeom prst="rect">
            <a:avLst/>
          </a:prstGeom>
          <a:noFill/>
          <a:ln cap="flat">
            <a:noFill/>
          </a:ln>
        </p:spPr>
        <p:txBody>
          <a:bodyPr vert="horz" wrap="square" lIns="91421" tIns="45701" rIns="91421" bIns="45701" anchor="t" anchorCtr="0" compatLnSpc="1">
            <a:noAutofit/>
          </a:bodyPr>
          <a:lstStyle/>
          <a:p>
            <a:pPr marL="75566" marR="0" lvl="0" indent="0" algn="l" defTabSz="914400" rtl="0" fontAlgn="auto" hangingPunct="1">
              <a:lnSpc>
                <a:spcPct val="100000"/>
              </a:lnSpc>
              <a:spcBef>
                <a:spcPts val="480"/>
              </a:spcBef>
              <a:spcAft>
                <a:spcPts val="0"/>
              </a:spcAft>
              <a:buNone/>
              <a:tabLst/>
              <a:defRPr sz="1800" b="0" i="0" u="none" strike="noStrike" kern="0" cap="none" spc="0" baseline="0">
                <a:solidFill>
                  <a:srgbClr val="000000"/>
                </a:solidFill>
                <a:uFillTx/>
              </a:defRPr>
            </a:pPr>
            <a:r>
              <a:rPr lang="en-US" sz="2400" b="0" i="0" u="none" strike="noStrike" kern="0" cap="none" spc="0" baseline="0">
                <a:solidFill>
                  <a:srgbClr val="000000"/>
                </a:solidFill>
                <a:uFillTx/>
                <a:latin typeface="Calibri"/>
                <a:ea typeface="Calibri"/>
                <a:cs typeface="Calibri"/>
              </a:rPr>
              <a:t>For </a:t>
            </a:r>
            <a:r>
              <a:rPr lang="en-US" sz="2400" b="0" i="1" u="none" strike="noStrike" kern="0" cap="none" spc="0" baseline="0">
                <a:solidFill>
                  <a:srgbClr val="000000"/>
                </a:solidFill>
                <a:uFillTx/>
                <a:latin typeface="Times New Roman"/>
                <a:ea typeface="Calibri"/>
                <a:cs typeface="Times New Roman"/>
              </a:rPr>
              <a:t>r</a:t>
            </a:r>
            <a:r>
              <a:rPr lang="en-US" sz="2400" b="0" i="0" u="none" strike="noStrike" kern="0" cap="none" spc="0" baseline="0">
                <a:solidFill>
                  <a:srgbClr val="000000"/>
                </a:solidFill>
                <a:uFillTx/>
                <a:latin typeface="Times New Roman"/>
                <a:ea typeface="Calibri"/>
                <a:cs typeface="Times New Roman"/>
              </a:rPr>
              <a:t> = 0.95 - 1.05 </a:t>
            </a:r>
            <a:r>
              <a:rPr lang="en-US" sz="2400" b="0" i="0" u="none" strike="noStrike" kern="0" cap="none" spc="0" baseline="0">
                <a:solidFill>
                  <a:srgbClr val="000000"/>
                </a:solidFill>
                <a:uFillTx/>
                <a:latin typeface="Calibri"/>
                <a:ea typeface="Calibri"/>
                <a:cs typeface="Calibri"/>
              </a:rPr>
              <a:t>:</a:t>
            </a:r>
            <a:endParaRPr lang="en-US" sz="2000" b="0" i="0" u="none" strike="noStrike" kern="0" cap="none" spc="0" baseline="0">
              <a:solidFill>
                <a:srgbClr val="000000"/>
              </a:solidFill>
              <a:uFillTx/>
              <a:latin typeface="Calibri"/>
              <a:ea typeface="Calibri"/>
              <a:cs typeface="Calibri"/>
            </a:endParaRPr>
          </a:p>
          <a:p>
            <a:pPr marL="76196" marR="0" lvl="0" indent="0" algn="l" defTabSz="914400" rtl="0" fontAlgn="auto" hangingPunct="1">
              <a:lnSpc>
                <a:spcPct val="100000"/>
              </a:lnSpc>
              <a:spcBef>
                <a:spcPts val="480"/>
              </a:spcBef>
              <a:spcAft>
                <a:spcPts val="0"/>
              </a:spcAft>
              <a:buNone/>
              <a:tabLst/>
              <a:defRPr sz="1800" b="0" i="0" u="none" strike="noStrike" kern="0" cap="none" spc="0" baseline="0">
                <a:solidFill>
                  <a:srgbClr val="000000"/>
                </a:solidFill>
                <a:uFillTx/>
              </a:defRPr>
            </a:pPr>
            <a:endParaRPr lang="en-US" sz="2400" b="0" i="0" u="none" strike="noStrike" kern="0" cap="none" spc="0" baseline="0">
              <a:solidFill>
                <a:srgbClr val="000000"/>
              </a:solidFill>
              <a:uFillTx/>
              <a:latin typeface="Calibri"/>
              <a:ea typeface="Calibri"/>
              <a:cs typeface="Calibri"/>
            </a:endParaRPr>
          </a:p>
          <a:p>
            <a:pPr marL="76196" marR="0" lvl="0" indent="0" algn="l" defTabSz="914400" rtl="0" fontAlgn="auto" hangingPunct="1">
              <a:lnSpc>
                <a:spcPct val="100000"/>
              </a:lnSpc>
              <a:spcBef>
                <a:spcPts val="480"/>
              </a:spcBef>
              <a:spcAft>
                <a:spcPts val="0"/>
              </a:spcAft>
              <a:buNone/>
              <a:tabLst/>
              <a:defRPr sz="1800" b="0" i="0" u="none" strike="noStrike" kern="0" cap="none" spc="0" baseline="0">
                <a:solidFill>
                  <a:srgbClr val="000000"/>
                </a:solidFill>
                <a:uFillTx/>
              </a:defRPr>
            </a:pPr>
            <a:endParaRPr lang="en-US" sz="2400" b="0" i="0" u="none" strike="noStrike" kern="0" cap="none" spc="0" baseline="0">
              <a:solidFill>
                <a:srgbClr val="000000"/>
              </a:solidFill>
              <a:uFillTx/>
              <a:latin typeface="Calibri"/>
              <a:ea typeface="Calibri"/>
              <a:cs typeface="Calibri"/>
            </a:endParaRPr>
          </a:p>
          <a:p>
            <a:pPr marL="76196" marR="0" lvl="0" indent="0" algn="l" defTabSz="914400" rtl="0" fontAlgn="auto" hangingPunct="1">
              <a:lnSpc>
                <a:spcPct val="100000"/>
              </a:lnSpc>
              <a:spcBef>
                <a:spcPts val="480"/>
              </a:spcBef>
              <a:spcAft>
                <a:spcPts val="0"/>
              </a:spcAft>
              <a:buNone/>
              <a:tabLst/>
              <a:defRPr sz="1800" b="0" i="0" u="none" strike="noStrike" kern="0" cap="none" spc="0" baseline="0">
                <a:solidFill>
                  <a:srgbClr val="000000"/>
                </a:solidFill>
                <a:uFillTx/>
              </a:defRPr>
            </a:pPr>
            <a:endParaRPr lang="en-US" sz="2400" b="0" i="0" u="none" strike="noStrike" kern="0" cap="none" spc="0" baseline="0">
              <a:solidFill>
                <a:srgbClr val="000000"/>
              </a:solidFill>
              <a:uFillTx/>
              <a:latin typeface="Calibri"/>
              <a:ea typeface="Calibri"/>
              <a:cs typeface="Calibri"/>
            </a:endParaRPr>
          </a:p>
          <a:p>
            <a:pPr marL="76196" marR="0" lvl="0" indent="0" algn="l" defTabSz="914400" rtl="0" fontAlgn="auto" hangingPunct="1">
              <a:lnSpc>
                <a:spcPct val="100000"/>
              </a:lnSpc>
              <a:spcBef>
                <a:spcPts val="480"/>
              </a:spcBef>
              <a:spcAft>
                <a:spcPts val="0"/>
              </a:spcAft>
              <a:buNone/>
              <a:tabLst/>
              <a:defRPr sz="1800" b="0" i="0" u="none" strike="noStrike" kern="0" cap="none" spc="0" baseline="0">
                <a:solidFill>
                  <a:srgbClr val="000000"/>
                </a:solidFill>
                <a:uFillTx/>
              </a:defRPr>
            </a:pPr>
            <a:endParaRPr lang="en-US" sz="2400" b="0" i="0" u="none" strike="noStrike" kern="0" cap="none" spc="0" baseline="0">
              <a:solidFill>
                <a:srgbClr val="000000"/>
              </a:solidFill>
              <a:uFillTx/>
              <a:latin typeface="Calibri"/>
              <a:ea typeface="Calibri"/>
              <a:cs typeface="Calibri"/>
            </a:endParaRPr>
          </a:p>
          <a:p>
            <a:pPr marL="76196" marR="0" lvl="0" indent="0" algn="l" defTabSz="914400" rtl="0" fontAlgn="auto" hangingPunct="1">
              <a:lnSpc>
                <a:spcPct val="100000"/>
              </a:lnSpc>
              <a:spcBef>
                <a:spcPts val="480"/>
              </a:spcBef>
              <a:spcAft>
                <a:spcPts val="0"/>
              </a:spcAft>
              <a:buNone/>
              <a:tabLst/>
              <a:defRPr sz="1800" b="0" i="0" u="none" strike="noStrike" kern="0" cap="none" spc="0" baseline="0">
                <a:solidFill>
                  <a:srgbClr val="000000"/>
                </a:solidFill>
                <a:uFillTx/>
              </a:defRPr>
            </a:pPr>
            <a:endParaRPr lang="en-US" sz="2400" b="0" i="0" u="none" strike="noStrike" kern="0" cap="none" spc="0" baseline="0">
              <a:solidFill>
                <a:srgbClr val="000000"/>
              </a:solidFill>
              <a:uFillTx/>
              <a:latin typeface="Calibri"/>
              <a:ea typeface="Calibri"/>
              <a:cs typeface="Calibri"/>
            </a:endParaRPr>
          </a:p>
        </p:txBody>
      </p:sp>
      <p:pic>
        <p:nvPicPr>
          <p:cNvPr id="4" name="Picture 6" descr="A graph of a blue triangle&#10;&#10;AI-generated content may be incorrect.">
            <a:extLst>
              <a:ext uri="{FF2B5EF4-FFF2-40B4-BE49-F238E27FC236}">
                <a16:creationId xmlns:a16="http://schemas.microsoft.com/office/drawing/2014/main" xmlns="" id="{5BE3AB8A-BB97-A4DC-C74F-6062C5F2B2D5}"/>
              </a:ext>
            </a:extLst>
          </p:cNvPr>
          <p:cNvPicPr>
            <a:picLocks noChangeAspect="1"/>
          </p:cNvPicPr>
          <p:nvPr/>
        </p:nvPicPr>
        <p:blipFill>
          <a:blip r:embed="rId2"/>
          <a:srcRect t="329" r="26463"/>
          <a:stretch>
            <a:fillRect/>
          </a:stretch>
        </p:blipFill>
        <p:spPr>
          <a:xfrm>
            <a:off x="3342177" y="1627613"/>
            <a:ext cx="5928695" cy="5012667"/>
          </a:xfrm>
          <a:prstGeom prst="rect">
            <a:avLst/>
          </a:prstGeom>
          <a:noFill/>
          <a:ln cap="flat">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xmlns="" id="{A70B136A-EAEE-30F0-9642-05495FFC99A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xmlns="" id="{F622216C-494A-3057-9802-D7BD534E779E}"/>
              </a:ext>
            </a:extLst>
          </p:cNvPr>
          <p:cNvSpPr>
            <a:spLocks noGrp="1"/>
          </p:cNvSpPr>
          <p:nvPr>
            <p:ph type="title"/>
          </p:nvPr>
        </p:nvSpPr>
        <p:spPr/>
        <p:txBody>
          <a:bodyPr/>
          <a:lstStyle/>
          <a:p>
            <a:r>
              <a:rPr lang="en-US" dirty="0">
                <a:latin typeface="Times New Roman" panose="02020603050405020304" pitchFamily="18" charset="0"/>
              </a:rPr>
              <a:t>System Block Diagram</a:t>
            </a:r>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xmlns="" id="{B73D3E4A-EC58-B4E2-FA59-BEDA6F83EB38}"/>
              </a:ext>
            </a:extLst>
          </p:cNvPr>
          <p:cNvPicPr>
            <a:picLocks noChangeAspect="1"/>
          </p:cNvPicPr>
          <p:nvPr/>
        </p:nvPicPr>
        <p:blipFill>
          <a:blip r:embed="rId3"/>
          <a:stretch>
            <a:fillRect/>
          </a:stretch>
        </p:blipFill>
        <p:spPr>
          <a:xfrm>
            <a:off x="1053656" y="1488304"/>
            <a:ext cx="10192195" cy="5252991"/>
          </a:xfrm>
          <a:prstGeom prst="rect">
            <a:avLst/>
          </a:prstGeom>
        </p:spPr>
      </p:pic>
      <p:sp>
        <p:nvSpPr>
          <p:cNvPr id="5" name="Oval 4">
            <a:extLst>
              <a:ext uri="{FF2B5EF4-FFF2-40B4-BE49-F238E27FC236}">
                <a16:creationId xmlns:a16="http://schemas.microsoft.com/office/drawing/2014/main" xmlns="" id="{5D3F4D2F-3678-5853-238A-D9F4C4AD6DF1}"/>
              </a:ext>
            </a:extLst>
          </p:cNvPr>
          <p:cNvSpPr/>
          <p:nvPr/>
        </p:nvSpPr>
        <p:spPr>
          <a:xfrm>
            <a:off x="3549486" y="3494314"/>
            <a:ext cx="1371600" cy="785191"/>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0361255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42B01CE-2652-F3EE-2B0C-02FDC6E6EB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3B9A1A96-B653-931B-76D8-37ABACCEF7D3}"/>
              </a:ext>
            </a:extLst>
          </p:cNvPr>
          <p:cNvSpPr>
            <a:spLocks noGrp="1"/>
          </p:cNvSpPr>
          <p:nvPr>
            <p:ph type="title"/>
          </p:nvPr>
        </p:nvSpPr>
        <p:spPr/>
        <p:txBody>
          <a:bodyPr>
            <a:normAutofit/>
          </a:bodyPr>
          <a:lstStyle/>
          <a:p>
            <a:r>
              <a:rPr lang="en-US" sz="3200" dirty="0">
                <a:latin typeface="Times New Roman" panose="02020603050405020304" pitchFamily="18" charset="0"/>
                <a:cs typeface="Times New Roman" panose="02020603050405020304" pitchFamily="18" charset="0"/>
              </a:rPr>
              <a:t>NRZ Block</a:t>
            </a:r>
          </a:p>
        </p:txBody>
      </p:sp>
      <p:sp>
        <p:nvSpPr>
          <p:cNvPr id="20" name="TextBox 19">
            <a:extLst>
              <a:ext uri="{FF2B5EF4-FFF2-40B4-BE49-F238E27FC236}">
                <a16:creationId xmlns:a16="http://schemas.microsoft.com/office/drawing/2014/main" xmlns="" id="{AE5282EA-1874-2EDB-5C6F-ED0134EAB12B}"/>
              </a:ext>
            </a:extLst>
          </p:cNvPr>
          <p:cNvSpPr txBox="1"/>
          <p:nvPr/>
        </p:nvSpPr>
        <p:spPr>
          <a:xfrm>
            <a:off x="442751" y="1056588"/>
            <a:ext cx="11319588" cy="3170099"/>
          </a:xfrm>
          <a:prstGeom prst="rect">
            <a:avLst/>
          </a:prstGeom>
          <a:noFill/>
        </p:spPr>
        <p:txBody>
          <a:bodyPr wrap="square">
            <a:spAutoFit/>
          </a:bodyPr>
          <a:lstStyle/>
          <a:p>
            <a:r>
              <a:rPr lang="en-US" sz="2000" dirty="0">
                <a:latin typeface="Calibri"/>
                <a:ea typeface="Calibri"/>
                <a:cs typeface="Calibri"/>
                <a:sym typeface="Calibri"/>
              </a:rPr>
              <a:t>• Converts binary PHY bits into signed bipolar NRZ samples.</a:t>
            </a:r>
          </a:p>
          <a:p>
            <a:r>
              <a:rPr lang="en-US" sz="2000" dirty="0">
                <a:latin typeface="Calibri"/>
                <a:ea typeface="Calibri"/>
                <a:cs typeface="Calibri"/>
                <a:sym typeface="Calibri"/>
              </a:rPr>
              <a:t>• Creates a zero-centered signal required for GFSK modulation.</a:t>
            </a:r>
          </a:p>
          <a:p>
            <a:r>
              <a:rPr lang="en-US" sz="2000" dirty="0">
                <a:latin typeface="Calibri"/>
                <a:ea typeface="Calibri"/>
                <a:cs typeface="Calibri"/>
                <a:sym typeface="Calibri"/>
              </a:rPr>
              <a:t>• RTL mapping:    </a:t>
            </a:r>
          </a:p>
          <a:p>
            <a:pPr algn="ctr"/>
            <a:r>
              <a:rPr lang="en-US" sz="2000" dirty="0">
                <a:latin typeface="Calibri"/>
                <a:ea typeface="Calibri"/>
                <a:cs typeface="Calibri"/>
                <a:sym typeface="Calibri"/>
              </a:rPr>
              <a:t>  1 → +1    </a:t>
            </a:r>
          </a:p>
          <a:p>
            <a:pPr algn="ctr"/>
            <a:r>
              <a:rPr lang="en-US" sz="2000" dirty="0">
                <a:latin typeface="Calibri"/>
                <a:ea typeface="Calibri"/>
                <a:cs typeface="Calibri"/>
                <a:sym typeface="Calibri"/>
              </a:rPr>
              <a:t>  0 → -1</a:t>
            </a:r>
          </a:p>
          <a:p>
            <a:r>
              <a:rPr lang="en-US" sz="2000" dirty="0">
                <a:latin typeface="Calibri"/>
                <a:ea typeface="Calibri"/>
                <a:cs typeface="Calibri"/>
                <a:sym typeface="Calibri"/>
              </a:rPr>
              <a:t>• Output is signed 2-bit [1:0], enough to represent +1 and -1.</a:t>
            </a:r>
          </a:p>
          <a:p>
            <a:r>
              <a:rPr lang="en-US" sz="2000" dirty="0">
                <a:latin typeface="Calibri"/>
                <a:ea typeface="Calibri"/>
                <a:cs typeface="Calibri"/>
                <a:sym typeface="Calibri"/>
              </a:rPr>
              <a:t>• Uses ready/valid handshaking to control data transfer between blocks.</a:t>
            </a:r>
          </a:p>
          <a:p>
            <a:r>
              <a:rPr lang="en-US" sz="2000" dirty="0">
                <a:latin typeface="Calibri"/>
                <a:ea typeface="Calibri"/>
                <a:cs typeface="Calibri"/>
                <a:sym typeface="Calibri"/>
              </a:rPr>
              <a:t>• Operates on the 16 MHz data-path clock:    </a:t>
            </a:r>
          </a:p>
          <a:p>
            <a:pPr algn="ctr"/>
            <a:r>
              <a:rPr lang="en-US" sz="2000" dirty="0">
                <a:latin typeface="Calibri"/>
                <a:ea typeface="Calibri"/>
                <a:cs typeface="Calibri"/>
                <a:sym typeface="Calibri"/>
              </a:rPr>
              <a:t>  1 </a:t>
            </a:r>
            <a:r>
              <a:rPr lang="en-US" sz="2000" dirty="0" err="1">
                <a:latin typeface="Calibri"/>
                <a:ea typeface="Calibri"/>
                <a:cs typeface="Calibri"/>
                <a:sym typeface="Calibri"/>
              </a:rPr>
              <a:t>MSym</a:t>
            </a:r>
            <a:r>
              <a:rPr lang="en-US" sz="2000" dirty="0">
                <a:latin typeface="Calibri"/>
                <a:ea typeface="Calibri"/>
                <a:cs typeface="Calibri"/>
                <a:sym typeface="Calibri"/>
              </a:rPr>
              <a:t>/s × 16 samples/symbol = 16 MHz</a:t>
            </a:r>
          </a:p>
          <a:p>
            <a:r>
              <a:rPr lang="en-US" sz="2000" dirty="0">
                <a:latin typeface="Calibri"/>
                <a:ea typeface="Calibri"/>
                <a:cs typeface="Calibri"/>
                <a:sym typeface="Calibri"/>
              </a:rPr>
              <a:t>• Hardware view: mapping logic acts as a 2:1 MUX selecting +1 or -1.</a:t>
            </a:r>
          </a:p>
        </p:txBody>
      </p:sp>
      <p:pic>
        <p:nvPicPr>
          <p:cNvPr id="5" name="Picture 4">
            <a:extLst>
              <a:ext uri="{FF2B5EF4-FFF2-40B4-BE49-F238E27FC236}">
                <a16:creationId xmlns:a16="http://schemas.microsoft.com/office/drawing/2014/main" xmlns="" id="{7D7CE21E-AC91-22F4-C772-5544C71F3D3E}"/>
              </a:ext>
            </a:extLst>
          </p:cNvPr>
          <p:cNvPicPr>
            <a:picLocks noChangeAspect="1"/>
          </p:cNvPicPr>
          <p:nvPr/>
        </p:nvPicPr>
        <p:blipFill>
          <a:blip r:embed="rId2"/>
          <a:stretch>
            <a:fillRect/>
          </a:stretch>
        </p:blipFill>
        <p:spPr>
          <a:xfrm>
            <a:off x="343062" y="4485512"/>
            <a:ext cx="2648615" cy="1950889"/>
          </a:xfrm>
          <a:prstGeom prst="rect">
            <a:avLst/>
          </a:prstGeom>
        </p:spPr>
      </p:pic>
      <p:pic>
        <p:nvPicPr>
          <p:cNvPr id="7" name="Picture 6">
            <a:extLst>
              <a:ext uri="{FF2B5EF4-FFF2-40B4-BE49-F238E27FC236}">
                <a16:creationId xmlns:a16="http://schemas.microsoft.com/office/drawing/2014/main" xmlns="" id="{868F1350-0D0B-5358-C5AE-CD98112E3354}"/>
              </a:ext>
            </a:extLst>
          </p:cNvPr>
          <p:cNvPicPr>
            <a:picLocks noChangeAspect="1"/>
          </p:cNvPicPr>
          <p:nvPr/>
        </p:nvPicPr>
        <p:blipFill>
          <a:blip r:embed="rId3"/>
          <a:stretch>
            <a:fillRect/>
          </a:stretch>
        </p:blipFill>
        <p:spPr>
          <a:xfrm>
            <a:off x="8537714" y="4523615"/>
            <a:ext cx="3064940" cy="1912786"/>
          </a:xfrm>
          <a:prstGeom prst="rect">
            <a:avLst/>
          </a:prstGeom>
        </p:spPr>
      </p:pic>
      <p:pic>
        <p:nvPicPr>
          <p:cNvPr id="9" name="Picture 8">
            <a:extLst>
              <a:ext uri="{FF2B5EF4-FFF2-40B4-BE49-F238E27FC236}">
                <a16:creationId xmlns:a16="http://schemas.microsoft.com/office/drawing/2014/main" xmlns="" id="{DD037CE1-CE9A-CC5F-7CBF-3E7865F04B39}"/>
              </a:ext>
            </a:extLst>
          </p:cNvPr>
          <p:cNvPicPr>
            <a:picLocks noChangeAspect="1"/>
          </p:cNvPicPr>
          <p:nvPr/>
        </p:nvPicPr>
        <p:blipFill>
          <a:blip r:embed="rId4"/>
          <a:stretch>
            <a:fillRect/>
          </a:stretch>
        </p:blipFill>
        <p:spPr>
          <a:xfrm>
            <a:off x="3069386" y="4290807"/>
            <a:ext cx="5468327" cy="2259080"/>
          </a:xfrm>
          <a:prstGeom prst="rect">
            <a:avLst/>
          </a:prstGeom>
        </p:spPr>
      </p:pic>
    </p:spTree>
    <p:extLst>
      <p:ext uri="{BB962C8B-B14F-4D97-AF65-F5344CB8AC3E}">
        <p14:creationId xmlns:p14="http://schemas.microsoft.com/office/powerpoint/2010/main" val="28389956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xmlns="" id="{B8881F82-DE08-B79C-9AF4-E8ACCC3AAC9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xmlns="" id="{F8FD6F91-5DAE-2F83-E68E-E7B6FECF37FB}"/>
              </a:ext>
            </a:extLst>
          </p:cNvPr>
          <p:cNvSpPr>
            <a:spLocks noGrp="1"/>
          </p:cNvSpPr>
          <p:nvPr>
            <p:ph type="title"/>
          </p:nvPr>
        </p:nvSpPr>
        <p:spPr/>
        <p:txBody>
          <a:bodyPr/>
          <a:lstStyle/>
          <a:p>
            <a:r>
              <a:rPr lang="en-US" dirty="0">
                <a:latin typeface="Times New Roman" panose="02020603050405020304" pitchFamily="18" charset="0"/>
              </a:rPr>
              <a:t>System Block Diagram</a:t>
            </a:r>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xmlns="" id="{BA5BF31F-0118-9A76-8613-3050E33496AF}"/>
              </a:ext>
            </a:extLst>
          </p:cNvPr>
          <p:cNvPicPr>
            <a:picLocks noChangeAspect="1"/>
          </p:cNvPicPr>
          <p:nvPr/>
        </p:nvPicPr>
        <p:blipFill>
          <a:blip r:embed="rId3"/>
          <a:stretch>
            <a:fillRect/>
          </a:stretch>
        </p:blipFill>
        <p:spPr>
          <a:xfrm>
            <a:off x="1061884" y="1308963"/>
            <a:ext cx="9724103" cy="5330376"/>
          </a:xfrm>
          <a:prstGeom prst="rect">
            <a:avLst/>
          </a:prstGeom>
        </p:spPr>
      </p:pic>
      <p:sp>
        <p:nvSpPr>
          <p:cNvPr id="2" name="Oval 1">
            <a:extLst>
              <a:ext uri="{FF2B5EF4-FFF2-40B4-BE49-F238E27FC236}">
                <a16:creationId xmlns:a16="http://schemas.microsoft.com/office/drawing/2014/main" xmlns="" id="{4E9007B0-B95D-6C64-9802-EC60D25AA8D0}"/>
              </a:ext>
            </a:extLst>
          </p:cNvPr>
          <p:cNvSpPr/>
          <p:nvPr/>
        </p:nvSpPr>
        <p:spPr>
          <a:xfrm>
            <a:off x="4870172" y="3329609"/>
            <a:ext cx="1520687" cy="785191"/>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97590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49A8EE9-BD9C-E70B-C714-BA73CDD3D8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D5B9BBD3-4230-60F9-5338-2B46E5A473AA}"/>
              </a:ext>
            </a:extLst>
          </p:cNvPr>
          <p:cNvSpPr>
            <a:spLocks noGrp="1"/>
          </p:cNvSpPr>
          <p:nvPr>
            <p:ph type="title"/>
          </p:nvPr>
        </p:nvSpPr>
        <p:spPr/>
        <p:txBody>
          <a:bodyPr>
            <a:normAutofit/>
          </a:bodyPr>
          <a:lstStyle/>
          <a:p>
            <a:r>
              <a:rPr lang="en-US" sz="3200" dirty="0" err="1">
                <a:latin typeface="Times New Roman" panose="02020603050405020304" pitchFamily="18" charset="0"/>
                <a:cs typeface="Times New Roman" panose="02020603050405020304" pitchFamily="18" charset="0"/>
              </a:rPr>
              <a:t>Upsampling</a:t>
            </a:r>
            <a:r>
              <a:rPr lang="en-US" sz="3200" dirty="0">
                <a:latin typeface="Times New Roman" panose="02020603050405020304" pitchFamily="18" charset="0"/>
                <a:cs typeface="Times New Roman" panose="02020603050405020304" pitchFamily="18" charset="0"/>
              </a:rPr>
              <a:t> Block</a:t>
            </a:r>
          </a:p>
        </p:txBody>
      </p:sp>
      <p:sp>
        <p:nvSpPr>
          <p:cNvPr id="20" name="TextBox 19">
            <a:extLst>
              <a:ext uri="{FF2B5EF4-FFF2-40B4-BE49-F238E27FC236}">
                <a16:creationId xmlns:a16="http://schemas.microsoft.com/office/drawing/2014/main" xmlns="" id="{EEDF1620-8438-3C00-715A-6F22056E13A2}"/>
              </a:ext>
            </a:extLst>
          </p:cNvPr>
          <p:cNvSpPr txBox="1"/>
          <p:nvPr/>
        </p:nvSpPr>
        <p:spPr>
          <a:xfrm>
            <a:off x="529512" y="1372603"/>
            <a:ext cx="11319588" cy="2862322"/>
          </a:xfrm>
          <a:prstGeom prst="rect">
            <a:avLst/>
          </a:prstGeom>
          <a:noFill/>
        </p:spPr>
        <p:txBody>
          <a:bodyPr wrap="square">
            <a:spAutoFit/>
          </a:bodyPr>
          <a:lstStyle/>
          <a:p>
            <a:r>
              <a:rPr lang="en-US" sz="2000" dirty="0">
                <a:latin typeface="Calibri"/>
                <a:ea typeface="Calibri"/>
                <a:cs typeface="Calibri"/>
              </a:rPr>
              <a:t>• Receives signed NRZ samples from the NRZ block.</a:t>
            </a:r>
            <a:br>
              <a:rPr lang="en-US" sz="2000" dirty="0">
                <a:latin typeface="Calibri"/>
                <a:ea typeface="Calibri"/>
                <a:cs typeface="Calibri"/>
              </a:rPr>
            </a:br>
            <a:r>
              <a:rPr lang="en-US" sz="2000" dirty="0">
                <a:latin typeface="Calibri"/>
                <a:ea typeface="Calibri"/>
                <a:cs typeface="Calibri"/>
              </a:rPr>
              <a:t>• Repeats each NRZ sample for SPS = 16 clock cycles.</a:t>
            </a:r>
            <a:br>
              <a:rPr lang="en-US" sz="2000" dirty="0">
                <a:latin typeface="Calibri"/>
                <a:ea typeface="Calibri"/>
                <a:cs typeface="Calibri"/>
              </a:rPr>
            </a:br>
            <a:r>
              <a:rPr lang="en-US" sz="2000" dirty="0">
                <a:latin typeface="Calibri"/>
                <a:ea typeface="Calibri"/>
                <a:cs typeface="Calibri"/>
              </a:rPr>
              <a:t>• Converts the data stream from:</a:t>
            </a:r>
          </a:p>
          <a:p>
            <a:pPr algn="ctr"/>
            <a:r>
              <a:rPr lang="en-US" sz="2000" dirty="0">
                <a:latin typeface="Calibri"/>
                <a:ea typeface="Calibri"/>
                <a:cs typeface="Calibri"/>
              </a:rPr>
              <a:t>1 </a:t>
            </a:r>
            <a:r>
              <a:rPr lang="en-US" sz="2000" dirty="0" err="1">
                <a:latin typeface="Calibri"/>
                <a:ea typeface="Calibri"/>
                <a:cs typeface="Calibri"/>
              </a:rPr>
              <a:t>MSym</a:t>
            </a:r>
            <a:r>
              <a:rPr lang="en-US" sz="2000" dirty="0">
                <a:latin typeface="Calibri"/>
                <a:ea typeface="Calibri"/>
                <a:cs typeface="Calibri"/>
              </a:rPr>
              <a:t>/s symbol rate → 16 MS/s sample rate</a:t>
            </a:r>
          </a:p>
          <a:p>
            <a:r>
              <a:rPr lang="en-US" sz="2000" dirty="0">
                <a:latin typeface="Calibri"/>
                <a:ea typeface="Calibri"/>
                <a:cs typeface="Calibri"/>
              </a:rPr>
              <a:t/>
            </a:r>
            <a:br>
              <a:rPr lang="en-US" sz="2000" dirty="0">
                <a:latin typeface="Calibri"/>
                <a:ea typeface="Calibri"/>
                <a:cs typeface="Calibri"/>
              </a:rPr>
            </a:br>
            <a:r>
              <a:rPr lang="en-US" sz="2000" dirty="0">
                <a:latin typeface="Calibri"/>
                <a:ea typeface="Calibri"/>
                <a:cs typeface="Calibri"/>
              </a:rPr>
              <a:t>• Provides enough sample resolution for the Gaussian FIR filter.</a:t>
            </a:r>
            <a:br>
              <a:rPr lang="en-US" sz="2000" dirty="0">
                <a:latin typeface="Calibri"/>
                <a:ea typeface="Calibri"/>
                <a:cs typeface="Calibri"/>
              </a:rPr>
            </a:br>
            <a:r>
              <a:rPr lang="en-US" sz="2000" dirty="0">
                <a:latin typeface="Calibri"/>
                <a:ea typeface="Calibri"/>
                <a:cs typeface="Calibri"/>
              </a:rPr>
              <a:t>• The </a:t>
            </a:r>
            <a:r>
              <a:rPr lang="en-US" sz="2000" dirty="0" err="1">
                <a:latin typeface="Calibri"/>
                <a:ea typeface="Calibri"/>
                <a:cs typeface="Calibri"/>
              </a:rPr>
              <a:t>upsampler</a:t>
            </a:r>
            <a:r>
              <a:rPr lang="en-US" sz="2000" dirty="0">
                <a:latin typeface="Calibri"/>
                <a:ea typeface="Calibri"/>
                <a:cs typeface="Calibri"/>
              </a:rPr>
              <a:t> does not smooth the signal; it only repeats the samples.</a:t>
            </a:r>
            <a:br>
              <a:rPr lang="en-US" sz="2000" dirty="0">
                <a:latin typeface="Calibri"/>
                <a:ea typeface="Calibri"/>
                <a:cs typeface="Calibri"/>
              </a:rPr>
            </a:br>
            <a:r>
              <a:rPr lang="en-US" sz="2000" dirty="0">
                <a:latin typeface="Calibri"/>
                <a:ea typeface="Calibri"/>
                <a:cs typeface="Calibri"/>
              </a:rPr>
              <a:t>• Hardware view: sample-hold register + repeat counter.</a:t>
            </a:r>
            <a:br>
              <a:rPr lang="en-US" sz="2000" dirty="0">
                <a:latin typeface="Calibri"/>
                <a:ea typeface="Calibri"/>
                <a:cs typeface="Calibri"/>
              </a:rPr>
            </a:br>
            <a:endParaRPr lang="en-US" sz="2000" dirty="0">
              <a:latin typeface="Calibri"/>
              <a:ea typeface="Calibri"/>
              <a:cs typeface="Calibri"/>
            </a:endParaRPr>
          </a:p>
        </p:txBody>
      </p:sp>
      <p:pic>
        <p:nvPicPr>
          <p:cNvPr id="10" name="Picture 9">
            <a:extLst>
              <a:ext uri="{FF2B5EF4-FFF2-40B4-BE49-F238E27FC236}">
                <a16:creationId xmlns:a16="http://schemas.microsoft.com/office/drawing/2014/main" xmlns="" id="{C7AB53BF-474D-DB76-2395-35BE1F9A91BD}"/>
              </a:ext>
            </a:extLst>
          </p:cNvPr>
          <p:cNvPicPr>
            <a:picLocks noChangeAspect="1"/>
          </p:cNvPicPr>
          <p:nvPr/>
        </p:nvPicPr>
        <p:blipFill>
          <a:blip r:embed="rId2"/>
          <a:stretch>
            <a:fillRect/>
          </a:stretch>
        </p:blipFill>
        <p:spPr>
          <a:xfrm>
            <a:off x="402291" y="4390206"/>
            <a:ext cx="2370725" cy="1912786"/>
          </a:xfrm>
          <a:prstGeom prst="rect">
            <a:avLst/>
          </a:prstGeom>
        </p:spPr>
      </p:pic>
      <p:pic>
        <p:nvPicPr>
          <p:cNvPr id="12" name="Picture 11">
            <a:extLst>
              <a:ext uri="{FF2B5EF4-FFF2-40B4-BE49-F238E27FC236}">
                <a16:creationId xmlns:a16="http://schemas.microsoft.com/office/drawing/2014/main" xmlns="" id="{89BB1529-6C7A-8413-FCD8-472F7DB72205}"/>
              </a:ext>
            </a:extLst>
          </p:cNvPr>
          <p:cNvPicPr>
            <a:picLocks noChangeAspect="1"/>
          </p:cNvPicPr>
          <p:nvPr/>
        </p:nvPicPr>
        <p:blipFill>
          <a:blip r:embed="rId3"/>
          <a:stretch>
            <a:fillRect/>
          </a:stretch>
        </p:blipFill>
        <p:spPr>
          <a:xfrm>
            <a:off x="8716620" y="4390287"/>
            <a:ext cx="3132480" cy="1950889"/>
          </a:xfrm>
          <a:prstGeom prst="rect">
            <a:avLst/>
          </a:prstGeom>
        </p:spPr>
      </p:pic>
      <p:pic>
        <p:nvPicPr>
          <p:cNvPr id="14" name="Picture 13">
            <a:extLst>
              <a:ext uri="{FF2B5EF4-FFF2-40B4-BE49-F238E27FC236}">
                <a16:creationId xmlns:a16="http://schemas.microsoft.com/office/drawing/2014/main" xmlns="" id="{25606659-F5AB-B287-1310-C321255B8113}"/>
              </a:ext>
            </a:extLst>
          </p:cNvPr>
          <p:cNvPicPr>
            <a:picLocks noChangeAspect="1"/>
          </p:cNvPicPr>
          <p:nvPr/>
        </p:nvPicPr>
        <p:blipFill>
          <a:blip r:embed="rId4"/>
          <a:stretch>
            <a:fillRect/>
          </a:stretch>
        </p:blipFill>
        <p:spPr>
          <a:xfrm>
            <a:off x="2912166" y="3927148"/>
            <a:ext cx="5665304" cy="2712191"/>
          </a:xfrm>
          <a:prstGeom prst="rect">
            <a:avLst/>
          </a:prstGeom>
        </p:spPr>
      </p:pic>
    </p:spTree>
    <p:extLst>
      <p:ext uri="{BB962C8B-B14F-4D97-AF65-F5344CB8AC3E}">
        <p14:creationId xmlns:p14="http://schemas.microsoft.com/office/powerpoint/2010/main" val="1354040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6251EE6-4BF8-4922-E23E-386EAC2814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0941A39C-B1C0-2CA1-2145-433B0F4F7732}"/>
              </a:ext>
            </a:extLst>
          </p:cNvPr>
          <p:cNvSpPr>
            <a:spLocks noGrp="1"/>
          </p:cNvSpPr>
          <p:nvPr>
            <p:ph type="title"/>
          </p:nvPr>
        </p:nvSpPr>
        <p:spPr/>
        <p:txBody>
          <a:bodyPr>
            <a:normAutofit/>
          </a:bodyPr>
          <a:lstStyle/>
          <a:p>
            <a:r>
              <a:rPr lang="en-US" sz="3200" dirty="0" err="1">
                <a:latin typeface="Times New Roman" panose="02020603050405020304" pitchFamily="18" charset="0"/>
                <a:cs typeface="Times New Roman" panose="02020603050405020304" pitchFamily="18" charset="0"/>
              </a:rPr>
              <a:t>Upsampling</a:t>
            </a:r>
            <a:r>
              <a:rPr lang="en-US" sz="3200" dirty="0">
                <a:latin typeface="Times New Roman" panose="02020603050405020304" pitchFamily="18" charset="0"/>
                <a:cs typeface="Times New Roman" panose="02020603050405020304" pitchFamily="18" charset="0"/>
              </a:rPr>
              <a:t> Block</a:t>
            </a:r>
          </a:p>
        </p:txBody>
      </p:sp>
      <p:sp>
        <p:nvSpPr>
          <p:cNvPr id="20" name="TextBox 19">
            <a:extLst>
              <a:ext uri="{FF2B5EF4-FFF2-40B4-BE49-F238E27FC236}">
                <a16:creationId xmlns:a16="http://schemas.microsoft.com/office/drawing/2014/main" xmlns="" id="{A1DB8E1D-341B-9171-9295-830F8CA89BF5}"/>
              </a:ext>
            </a:extLst>
          </p:cNvPr>
          <p:cNvSpPr txBox="1"/>
          <p:nvPr/>
        </p:nvSpPr>
        <p:spPr>
          <a:xfrm>
            <a:off x="529512" y="1372603"/>
            <a:ext cx="11319588" cy="2554545"/>
          </a:xfrm>
          <a:prstGeom prst="rect">
            <a:avLst/>
          </a:prstGeom>
          <a:noFill/>
        </p:spPr>
        <p:txBody>
          <a:bodyPr wrap="square">
            <a:spAutoFit/>
          </a:bodyPr>
          <a:lstStyle/>
          <a:p>
            <a:r>
              <a:rPr lang="en-US" sz="2000" dirty="0">
                <a:latin typeface="Calibri"/>
                <a:ea typeface="Calibri"/>
                <a:cs typeface="Calibri"/>
              </a:rPr>
              <a:t>• </a:t>
            </a:r>
            <a:r>
              <a:rPr lang="en-US" sz="2000" dirty="0" err="1">
                <a:latin typeface="Calibri"/>
                <a:ea typeface="Calibri"/>
                <a:cs typeface="Calibri"/>
              </a:rPr>
              <a:t>i_hold_sample</a:t>
            </a:r>
            <a:r>
              <a:rPr lang="en-US" sz="2000" dirty="0">
                <a:latin typeface="Calibri"/>
                <a:ea typeface="Calibri"/>
                <a:cs typeface="Calibri"/>
              </a:rPr>
              <a:t> keeps the previous sample during Gaussian filter flushing.</a:t>
            </a:r>
          </a:p>
          <a:p>
            <a:r>
              <a:rPr lang="en-US" sz="2000" dirty="0"/>
              <a:t>The Gaussian FIR filter has memory because it uses a 64-sample delay line.</a:t>
            </a:r>
          </a:p>
          <a:p>
            <a:r>
              <a:rPr lang="en-US" sz="2000" dirty="0">
                <a:latin typeface="Calibri"/>
                <a:ea typeface="Calibri"/>
                <a:cs typeface="Calibri"/>
              </a:rPr>
              <a:t>• Filter length:                       L = SPAN × SPS = 4 × 16 = 64 samples</a:t>
            </a:r>
          </a:p>
          <a:p>
            <a:r>
              <a:rPr lang="en-US" sz="2000" dirty="0">
                <a:latin typeface="Calibri"/>
                <a:ea typeface="Calibri"/>
                <a:cs typeface="Calibri"/>
              </a:rPr>
              <a:t>• Linear-phase FIR group delay:                      Group delay = (L - 1) / 2 = 31.5 samples</a:t>
            </a:r>
          </a:p>
          <a:p>
            <a:r>
              <a:rPr lang="en-US" sz="2000" dirty="0">
                <a:latin typeface="Calibri"/>
                <a:ea typeface="Calibri"/>
                <a:cs typeface="Calibri"/>
              </a:rPr>
              <a:t>• In symbols:                          31.5 / 16 = 1.97 symbols ≈ 2 symbols</a:t>
            </a:r>
          </a:p>
          <a:p>
            <a:r>
              <a:rPr lang="en-US" sz="2000" dirty="0">
                <a:latin typeface="Calibri"/>
                <a:ea typeface="Calibri"/>
                <a:cs typeface="Calibri"/>
              </a:rPr>
              <a:t>• This means about 2 symbols of the filtered response are delayed inside the Gaussian filter.</a:t>
            </a:r>
          </a:p>
          <a:p>
            <a:r>
              <a:rPr lang="en-US" sz="2000" dirty="0">
                <a:latin typeface="Calibri"/>
                <a:ea typeface="Calibri"/>
                <a:cs typeface="Calibri"/>
              </a:rPr>
              <a:t>• To flush the full 4-symbol filter span:                  4 symbols × 1 µs/symbol = 4 µs</a:t>
            </a:r>
          </a:p>
          <a:p>
            <a:endParaRPr lang="en-US" sz="2000" dirty="0">
              <a:latin typeface="Calibri"/>
              <a:ea typeface="Calibri"/>
              <a:cs typeface="Calibri"/>
            </a:endParaRPr>
          </a:p>
        </p:txBody>
      </p:sp>
      <p:pic>
        <p:nvPicPr>
          <p:cNvPr id="4" name="Picture 3">
            <a:extLst>
              <a:ext uri="{FF2B5EF4-FFF2-40B4-BE49-F238E27FC236}">
                <a16:creationId xmlns:a16="http://schemas.microsoft.com/office/drawing/2014/main" xmlns="" id="{3CD0C740-1B39-35D7-C41E-CC3367204A94}"/>
              </a:ext>
            </a:extLst>
          </p:cNvPr>
          <p:cNvPicPr>
            <a:picLocks noChangeAspect="1"/>
          </p:cNvPicPr>
          <p:nvPr/>
        </p:nvPicPr>
        <p:blipFill>
          <a:blip r:embed="rId2"/>
          <a:stretch>
            <a:fillRect/>
          </a:stretch>
        </p:blipFill>
        <p:spPr>
          <a:xfrm>
            <a:off x="529512" y="3916017"/>
            <a:ext cx="4945809" cy="2745354"/>
          </a:xfrm>
          <a:prstGeom prst="rect">
            <a:avLst/>
          </a:prstGeom>
        </p:spPr>
      </p:pic>
      <p:pic>
        <p:nvPicPr>
          <p:cNvPr id="6" name="Picture 5">
            <a:extLst>
              <a:ext uri="{FF2B5EF4-FFF2-40B4-BE49-F238E27FC236}">
                <a16:creationId xmlns:a16="http://schemas.microsoft.com/office/drawing/2014/main" xmlns="" id="{C42AE51F-1134-1BB6-E7EC-59BAC3E69FD9}"/>
              </a:ext>
            </a:extLst>
          </p:cNvPr>
          <p:cNvPicPr>
            <a:picLocks noChangeAspect="1"/>
          </p:cNvPicPr>
          <p:nvPr/>
        </p:nvPicPr>
        <p:blipFill>
          <a:blip r:embed="rId3"/>
          <a:stretch>
            <a:fillRect/>
          </a:stretch>
        </p:blipFill>
        <p:spPr>
          <a:xfrm>
            <a:off x="6096000" y="3916016"/>
            <a:ext cx="5189670" cy="2791077"/>
          </a:xfrm>
          <a:prstGeom prst="rect">
            <a:avLst/>
          </a:prstGeom>
        </p:spPr>
      </p:pic>
    </p:spTree>
    <p:extLst>
      <p:ext uri="{BB962C8B-B14F-4D97-AF65-F5344CB8AC3E}">
        <p14:creationId xmlns:p14="http://schemas.microsoft.com/office/powerpoint/2010/main" val="33932299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xmlns="" id="{F87A82DB-FDD8-DB5A-C961-C4DC257B280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xmlns="" id="{D22EB897-4EDF-4CF6-9278-0DA2F9B8D4E0}"/>
              </a:ext>
            </a:extLst>
          </p:cNvPr>
          <p:cNvSpPr>
            <a:spLocks noGrp="1"/>
          </p:cNvSpPr>
          <p:nvPr>
            <p:ph type="title"/>
          </p:nvPr>
        </p:nvSpPr>
        <p:spPr/>
        <p:txBody>
          <a:bodyPr/>
          <a:lstStyle/>
          <a:p>
            <a:r>
              <a:rPr lang="en-US" dirty="0">
                <a:latin typeface="Times New Roman" panose="02020603050405020304" pitchFamily="18" charset="0"/>
              </a:rPr>
              <a:t>System Block Diagram</a:t>
            </a:r>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xmlns="" id="{B833E666-AD3E-A63C-BCD4-2472CA3413DB}"/>
              </a:ext>
            </a:extLst>
          </p:cNvPr>
          <p:cNvPicPr>
            <a:picLocks noChangeAspect="1"/>
          </p:cNvPicPr>
          <p:nvPr/>
        </p:nvPicPr>
        <p:blipFill>
          <a:blip r:embed="rId3"/>
          <a:stretch>
            <a:fillRect/>
          </a:stretch>
        </p:blipFill>
        <p:spPr>
          <a:xfrm>
            <a:off x="946148" y="1308963"/>
            <a:ext cx="10046317" cy="5330376"/>
          </a:xfrm>
          <a:prstGeom prst="rect">
            <a:avLst/>
          </a:prstGeom>
        </p:spPr>
      </p:pic>
      <p:sp>
        <p:nvSpPr>
          <p:cNvPr id="2" name="Oval 1">
            <a:extLst>
              <a:ext uri="{FF2B5EF4-FFF2-40B4-BE49-F238E27FC236}">
                <a16:creationId xmlns:a16="http://schemas.microsoft.com/office/drawing/2014/main" xmlns="" id="{17C31E37-DADD-C5CF-A726-912B9727E4BA}"/>
              </a:ext>
            </a:extLst>
          </p:cNvPr>
          <p:cNvSpPr/>
          <p:nvPr/>
        </p:nvSpPr>
        <p:spPr>
          <a:xfrm>
            <a:off x="6731463" y="3160643"/>
            <a:ext cx="2087217" cy="1103244"/>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152312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A87F594-60AD-7EB9-5067-72A0292DDF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ED6B2F70-4B21-7430-2AAF-0D8BB926150D}"/>
              </a:ext>
            </a:extLst>
          </p:cNvPr>
          <p:cNvSpPr>
            <a:spLocks noGrp="1"/>
          </p:cNvSpPr>
          <p:nvPr>
            <p:ph type="title"/>
          </p:nvPr>
        </p:nvSpPr>
        <p:spPr/>
        <p:txBody>
          <a:bodyPr>
            <a:normAutofit/>
          </a:bodyPr>
          <a:lstStyle/>
          <a:p>
            <a:r>
              <a:rPr lang="en-US" sz="3200" dirty="0">
                <a:latin typeface="Times New Roman" panose="02020603050405020304" pitchFamily="18" charset="0"/>
                <a:cs typeface="Times New Roman" panose="02020603050405020304" pitchFamily="18" charset="0"/>
              </a:rPr>
              <a:t>Gaussian Filter as FIR Filter</a:t>
            </a: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xmlns="" id="{2E96E203-CCF0-61AB-0AED-B73395427875}"/>
                  </a:ext>
                </a:extLst>
              </p:cNvPr>
              <p:cNvSpPr txBox="1"/>
              <p:nvPr/>
            </p:nvSpPr>
            <p:spPr>
              <a:xfrm>
                <a:off x="529512" y="1372603"/>
                <a:ext cx="11319588" cy="1945533"/>
              </a:xfrm>
              <a:prstGeom prst="rect">
                <a:avLst/>
              </a:prstGeom>
              <a:noFill/>
            </p:spPr>
            <p:txBody>
              <a:bodyPr wrap="square">
                <a:spAutoFit/>
              </a:bodyPr>
              <a:lstStyle/>
              <a:p>
                <a:pPr marL="457200" marR="0" lvl="0" indent="-381000" algn="l" defTabSz="914400" rtl="0" eaLnBrk="1" fontAlgn="auto" latinLnBrk="0" hangingPunct="1">
                  <a:lnSpc>
                    <a:spcPct val="100000"/>
                  </a:lnSpc>
                  <a:spcBef>
                    <a:spcPts val="480"/>
                  </a:spcBef>
                  <a:spcAft>
                    <a:spcPts val="0"/>
                  </a:spcAft>
                  <a:buClr>
                    <a:srgbClr val="000000"/>
                  </a:buClr>
                  <a:buSzPts val="2400"/>
                  <a:buFont typeface="Arial"/>
                  <a:buChar char="•"/>
                  <a:tabLst/>
                  <a:defRPr/>
                </a:pPr>
                <a:r>
                  <a:rPr kumimoji="0" lang="en-US" sz="2000" b="0" i="0" u="none" strike="noStrike" kern="0" cap="none" spc="0" normalizeH="0" baseline="0" noProof="0" dirty="0">
                    <a:ln>
                      <a:noFill/>
                    </a:ln>
                    <a:solidFill>
                      <a:srgbClr val="000000"/>
                    </a:solidFill>
                    <a:effectLst/>
                    <a:uLnTx/>
                    <a:uFillTx/>
                    <a:latin typeface="Calibri"/>
                    <a:ea typeface="Calibri"/>
                    <a:cs typeface="Calibri"/>
                    <a:sym typeface="Calibri"/>
                  </a:rPr>
                  <a:t>The Gaussian pulse-shaping filter is implemented digitally as a </a:t>
                </a:r>
                <a:r>
                  <a:rPr kumimoji="0" lang="en-US" sz="2000" b="1" i="0" u="none" strike="noStrike" kern="0" cap="none" spc="0" normalizeH="0" baseline="0" noProof="0" dirty="0">
                    <a:ln>
                      <a:noFill/>
                    </a:ln>
                    <a:solidFill>
                      <a:srgbClr val="000000"/>
                    </a:solidFill>
                    <a:effectLst/>
                    <a:uLnTx/>
                    <a:uFillTx/>
                    <a:latin typeface="Calibri"/>
                    <a:ea typeface="Calibri"/>
                    <a:cs typeface="Calibri"/>
                    <a:sym typeface="Calibri"/>
                  </a:rPr>
                  <a:t>finite impulse response (FIR)</a:t>
                </a:r>
                <a:r>
                  <a:rPr kumimoji="0" lang="en-US" sz="2000" b="0" i="0" u="none" strike="noStrike" kern="0" cap="none" spc="0" normalizeH="0" baseline="0" noProof="0" dirty="0">
                    <a:ln>
                      <a:noFill/>
                    </a:ln>
                    <a:solidFill>
                      <a:srgbClr val="000000"/>
                    </a:solidFill>
                    <a:effectLst/>
                    <a:uLnTx/>
                    <a:uFillTx/>
                    <a:latin typeface="Calibri"/>
                    <a:ea typeface="Calibri"/>
                    <a:cs typeface="Calibri"/>
                    <a:sym typeface="Calibri"/>
                  </a:rPr>
                  <a:t> filter:</a:t>
                </a:r>
              </a:p>
              <a:p>
                <a:pPr marL="76200" marR="0" lvl="0" indent="0" algn="l" defTabSz="914400" rtl="0" eaLnBrk="1" fontAlgn="auto" latinLnBrk="0" hangingPunct="1">
                  <a:lnSpc>
                    <a:spcPct val="100000"/>
                  </a:lnSpc>
                  <a:spcBef>
                    <a:spcPts val="480"/>
                  </a:spcBef>
                  <a:spcAft>
                    <a:spcPts val="0"/>
                  </a:spcAft>
                  <a:buClr>
                    <a:srgbClr val="000000"/>
                  </a:buClr>
                  <a:buSzPts val="2400"/>
                  <a:buFont typeface="Arial"/>
                  <a:buNone/>
                  <a:tabLst/>
                  <a:defRPr/>
                </a:pPr>
                <a14:m>
                  <m:oMathPara xmlns:m="http://schemas.openxmlformats.org/officeDocument/2006/math">
                    <m:oMathParaPr>
                      <m:jc m:val="centerGroup"/>
                    </m:oMathParaPr>
                    <m:oMath xmlns:m="http://schemas.openxmlformats.org/officeDocument/2006/math">
                      <m:r>
                        <a:rPr kumimoji="0" lang="en-US" sz="2000" b="0" i="1" u="none" strike="noStrike" kern="0" cap="none" spc="0" normalizeH="0" baseline="0" noProof="0">
                          <a:ln>
                            <a:noFill/>
                          </a:ln>
                          <a:solidFill>
                            <a:srgbClr val="000000"/>
                          </a:solidFill>
                          <a:effectLst/>
                          <a:uLnTx/>
                          <a:uFillTx/>
                          <a:latin typeface="Cambria Math" panose="02040503050406030204" pitchFamily="18" charset="0"/>
                          <a:sym typeface="Calibri"/>
                        </a:rPr>
                        <m:t>𝑦</m:t>
                      </m:r>
                      <m:d>
                        <m:dPr>
                          <m:begChr m:val="["/>
                          <m:endChr m:val="]"/>
                          <m:ctrlPr>
                            <a:rPr kumimoji="0" lang="ar-EG" sz="2000" b="0" i="1" u="none" strike="noStrike" kern="0" cap="none" spc="0" normalizeH="0" baseline="0" noProof="0">
                              <a:ln>
                                <a:noFill/>
                              </a:ln>
                              <a:solidFill>
                                <a:srgbClr val="000000"/>
                              </a:solidFill>
                              <a:effectLst/>
                              <a:uLnTx/>
                              <a:uFillTx/>
                              <a:latin typeface="Cambria Math" panose="02040503050406030204" pitchFamily="18" charset="0"/>
                              <a:sym typeface="Calibri"/>
                            </a:rPr>
                          </m:ctrlPr>
                        </m:dPr>
                        <m:e>
                          <m:r>
                            <a:rPr kumimoji="0" lang="ar-EG" sz="2000" b="0" i="1" u="none" strike="noStrike" kern="0" cap="none" spc="0" normalizeH="0" baseline="0" noProof="0">
                              <a:ln>
                                <a:noFill/>
                              </a:ln>
                              <a:solidFill>
                                <a:srgbClr val="000000"/>
                              </a:solidFill>
                              <a:effectLst/>
                              <a:uLnTx/>
                              <a:uFillTx/>
                              <a:latin typeface="Cambria Math" panose="02040503050406030204" pitchFamily="18" charset="0"/>
                              <a:sym typeface="Calibri"/>
                            </a:rPr>
                            <m:t>𝑛</m:t>
                          </m:r>
                        </m:e>
                      </m:d>
                      <m:r>
                        <a:rPr kumimoji="0" lang="ar-EG" sz="2000" b="0" i="0" u="none" strike="noStrike" kern="0" cap="none" spc="0" normalizeH="0" baseline="0" noProof="0">
                          <a:ln>
                            <a:noFill/>
                          </a:ln>
                          <a:solidFill>
                            <a:srgbClr val="000000"/>
                          </a:solidFill>
                          <a:effectLst/>
                          <a:uLnTx/>
                          <a:uFillTx/>
                          <a:latin typeface="Cambria Math" panose="02040503050406030204" pitchFamily="18" charset="0"/>
                          <a:sym typeface="Calibri"/>
                        </a:rPr>
                        <m:t>=</m:t>
                      </m:r>
                      <m:nary>
                        <m:naryPr>
                          <m:chr m:val="∑"/>
                          <m:grow m:val="on"/>
                          <m:ctrlPr>
                            <a:rPr kumimoji="0" lang="ar-EG" sz="2000" b="0" i="1" u="none" strike="noStrike" kern="0" cap="none" spc="0" normalizeH="0" baseline="0" noProof="0">
                              <a:ln>
                                <a:noFill/>
                              </a:ln>
                              <a:solidFill>
                                <a:srgbClr val="000000"/>
                              </a:solidFill>
                              <a:effectLst/>
                              <a:uLnTx/>
                              <a:uFillTx/>
                              <a:latin typeface="Cambria Math" panose="02040503050406030204" pitchFamily="18" charset="0"/>
                              <a:sym typeface="Calibri"/>
                            </a:rPr>
                          </m:ctrlPr>
                        </m:naryPr>
                        <m:sub>
                          <m:r>
                            <a:rPr kumimoji="0" lang="ar-EG" sz="2000" b="0" i="1" u="none" strike="noStrike" kern="0" cap="none" spc="0" normalizeH="0" baseline="0" noProof="0">
                              <a:ln>
                                <a:noFill/>
                              </a:ln>
                              <a:solidFill>
                                <a:srgbClr val="000000"/>
                              </a:solidFill>
                              <a:effectLst/>
                              <a:uLnTx/>
                              <a:uFillTx/>
                              <a:latin typeface="Cambria Math" panose="02040503050406030204" pitchFamily="18" charset="0"/>
                              <a:sym typeface="Calibri"/>
                            </a:rPr>
                            <m:t>𝑘</m:t>
                          </m:r>
                          <m:r>
                            <a:rPr kumimoji="0" lang="ar-EG" sz="2000" b="0" i="0" u="none" strike="noStrike" kern="0" cap="none" spc="0" normalizeH="0" baseline="0" noProof="0">
                              <a:ln>
                                <a:noFill/>
                              </a:ln>
                              <a:solidFill>
                                <a:srgbClr val="000000"/>
                              </a:solidFill>
                              <a:effectLst/>
                              <a:uLnTx/>
                              <a:uFillTx/>
                              <a:latin typeface="Cambria Math" panose="02040503050406030204" pitchFamily="18" charset="0"/>
                              <a:sym typeface="Calibri"/>
                            </a:rPr>
                            <m:t>=</m:t>
                          </m:r>
                          <m:r>
                            <a:rPr kumimoji="0" lang="ar-EG" sz="2000" b="0" i="0" u="none" strike="noStrike" kern="0" cap="none" spc="0" normalizeH="0" baseline="0" noProof="0">
                              <a:ln>
                                <a:noFill/>
                              </a:ln>
                              <a:solidFill>
                                <a:srgbClr val="000000"/>
                              </a:solidFill>
                              <a:effectLst/>
                              <a:uLnTx/>
                              <a:uFillTx/>
                              <a:latin typeface="Cambria Math" panose="02040503050406030204" pitchFamily="18" charset="0"/>
                              <a:sym typeface="Calibri"/>
                            </a:rPr>
                            <m:t>0</m:t>
                          </m:r>
                        </m:sub>
                        <m:sup>
                          <m:r>
                            <a:rPr kumimoji="0" lang="ar-EG" sz="2000" b="0" i="1" u="none" strike="noStrike" kern="0" cap="none" spc="0" normalizeH="0" baseline="0" noProof="0">
                              <a:ln>
                                <a:noFill/>
                              </a:ln>
                              <a:solidFill>
                                <a:srgbClr val="000000"/>
                              </a:solidFill>
                              <a:effectLst/>
                              <a:uLnTx/>
                              <a:uFillTx/>
                              <a:latin typeface="Cambria Math" panose="02040503050406030204" pitchFamily="18" charset="0"/>
                              <a:sym typeface="Calibri"/>
                            </a:rPr>
                            <m:t>𝑁</m:t>
                          </m:r>
                          <m:r>
                            <a:rPr kumimoji="0" lang="ar-EG" sz="2000" b="0" i="0" u="none" strike="noStrike" kern="0" cap="none" spc="0" normalizeH="0" baseline="0" noProof="0">
                              <a:ln>
                                <a:noFill/>
                              </a:ln>
                              <a:solidFill>
                                <a:srgbClr val="000000"/>
                              </a:solidFill>
                              <a:effectLst/>
                              <a:uLnTx/>
                              <a:uFillTx/>
                              <a:latin typeface="Cambria Math" panose="02040503050406030204" pitchFamily="18" charset="0"/>
                              <a:sym typeface="Calibri"/>
                            </a:rPr>
                            <m:t>−</m:t>
                          </m:r>
                          <m:r>
                            <a:rPr kumimoji="0" lang="ar-EG" sz="2000" b="0" i="0" u="none" strike="noStrike" kern="0" cap="none" spc="0" normalizeH="0" baseline="0" noProof="0">
                              <a:ln>
                                <a:noFill/>
                              </a:ln>
                              <a:solidFill>
                                <a:srgbClr val="000000"/>
                              </a:solidFill>
                              <a:effectLst/>
                              <a:uLnTx/>
                              <a:uFillTx/>
                              <a:latin typeface="Cambria Math" panose="02040503050406030204" pitchFamily="18" charset="0"/>
                              <a:sym typeface="Calibri"/>
                            </a:rPr>
                            <m:t>1</m:t>
                          </m:r>
                        </m:sup>
                        <m:e>
                          <m:r>
                            <a:rPr kumimoji="0" lang="ar-EG" sz="2000" b="0" i="1" u="none" strike="noStrike" kern="0" cap="none" spc="0" normalizeH="0" baseline="0" noProof="0">
                              <a:ln>
                                <a:noFill/>
                              </a:ln>
                              <a:solidFill>
                                <a:srgbClr val="000000"/>
                              </a:solidFill>
                              <a:effectLst/>
                              <a:uLnTx/>
                              <a:uFillTx/>
                              <a:latin typeface="Cambria Math" panose="02040503050406030204" pitchFamily="18" charset="0"/>
                              <a:sym typeface="Calibri"/>
                            </a:rPr>
                            <m:t>h</m:t>
                          </m:r>
                        </m:e>
                      </m:nary>
                      <m:d>
                        <m:dPr>
                          <m:begChr m:val="["/>
                          <m:endChr m:val="]"/>
                          <m:ctrlPr>
                            <a:rPr kumimoji="0" lang="ar-EG" sz="2000" b="0" i="1" u="none" strike="noStrike" kern="0" cap="none" spc="0" normalizeH="0" baseline="0" noProof="0">
                              <a:ln>
                                <a:noFill/>
                              </a:ln>
                              <a:solidFill>
                                <a:srgbClr val="000000"/>
                              </a:solidFill>
                              <a:effectLst/>
                              <a:uLnTx/>
                              <a:uFillTx/>
                              <a:latin typeface="Cambria Math" panose="02040503050406030204" pitchFamily="18" charset="0"/>
                              <a:sym typeface="Calibri"/>
                            </a:rPr>
                          </m:ctrlPr>
                        </m:dPr>
                        <m:e>
                          <m:r>
                            <a:rPr kumimoji="0" lang="ar-EG" sz="2000" b="0" i="1" u="none" strike="noStrike" kern="0" cap="none" spc="0" normalizeH="0" baseline="0" noProof="0">
                              <a:ln>
                                <a:noFill/>
                              </a:ln>
                              <a:solidFill>
                                <a:srgbClr val="000000"/>
                              </a:solidFill>
                              <a:effectLst/>
                              <a:uLnTx/>
                              <a:uFillTx/>
                              <a:latin typeface="Cambria Math" panose="02040503050406030204" pitchFamily="18" charset="0"/>
                              <a:sym typeface="Calibri"/>
                            </a:rPr>
                            <m:t>𝑘</m:t>
                          </m:r>
                        </m:e>
                      </m:d>
                      <m:r>
                        <m:rPr>
                          <m:nor/>
                        </m:rPr>
                        <a:rPr kumimoji="0" lang="ar-EG" sz="2000" b="0" i="1" u="none" strike="noStrike" kern="0" cap="none" spc="0" normalizeH="0" baseline="0" noProof="0">
                          <a:ln>
                            <a:noFill/>
                          </a:ln>
                          <a:solidFill>
                            <a:srgbClr val="000000"/>
                          </a:solidFill>
                          <a:effectLst/>
                          <a:uLnTx/>
                          <a:uFillTx/>
                          <a:latin typeface="Calibri"/>
                          <a:ea typeface="Calibri"/>
                          <a:cs typeface="Calibri"/>
                          <a:sym typeface="Calibri"/>
                        </a:rPr>
                        <m:t> </m:t>
                      </m:r>
                      <m:r>
                        <a:rPr kumimoji="0" lang="ar-EG" sz="2000" b="0" i="1" u="none" strike="noStrike" kern="0" cap="none" spc="0" normalizeH="0" baseline="0" noProof="0">
                          <a:ln>
                            <a:noFill/>
                          </a:ln>
                          <a:solidFill>
                            <a:srgbClr val="000000"/>
                          </a:solidFill>
                          <a:effectLst/>
                          <a:uLnTx/>
                          <a:uFillTx/>
                          <a:latin typeface="Cambria Math" panose="02040503050406030204" pitchFamily="18" charset="0"/>
                          <a:sym typeface="Calibri"/>
                        </a:rPr>
                        <m:t>𝑥</m:t>
                      </m:r>
                      <m:d>
                        <m:dPr>
                          <m:begChr m:val="["/>
                          <m:endChr m:val="]"/>
                          <m:ctrlPr>
                            <a:rPr kumimoji="0" lang="ar-EG" sz="2000" b="0" i="1" u="none" strike="noStrike" kern="0" cap="none" spc="0" normalizeH="0" baseline="0" noProof="0">
                              <a:ln>
                                <a:noFill/>
                              </a:ln>
                              <a:solidFill>
                                <a:srgbClr val="000000"/>
                              </a:solidFill>
                              <a:effectLst/>
                              <a:uLnTx/>
                              <a:uFillTx/>
                              <a:latin typeface="Cambria Math" panose="02040503050406030204" pitchFamily="18" charset="0"/>
                              <a:sym typeface="Calibri"/>
                            </a:rPr>
                          </m:ctrlPr>
                        </m:dPr>
                        <m:e>
                          <m:r>
                            <a:rPr kumimoji="0" lang="ar-EG" sz="2000" b="0" i="1" u="none" strike="noStrike" kern="0" cap="none" spc="0" normalizeH="0" baseline="0" noProof="0">
                              <a:ln>
                                <a:noFill/>
                              </a:ln>
                              <a:solidFill>
                                <a:srgbClr val="000000"/>
                              </a:solidFill>
                              <a:effectLst/>
                              <a:uLnTx/>
                              <a:uFillTx/>
                              <a:latin typeface="Cambria Math" panose="02040503050406030204" pitchFamily="18" charset="0"/>
                              <a:sym typeface="Calibri"/>
                            </a:rPr>
                            <m:t>𝑛</m:t>
                          </m:r>
                          <m:r>
                            <a:rPr kumimoji="0" lang="ar-EG" sz="2000" b="0" i="0" u="none" strike="noStrike" kern="0" cap="none" spc="0" normalizeH="0" baseline="0" noProof="0">
                              <a:ln>
                                <a:noFill/>
                              </a:ln>
                              <a:solidFill>
                                <a:srgbClr val="000000"/>
                              </a:solidFill>
                              <a:effectLst/>
                              <a:uLnTx/>
                              <a:uFillTx/>
                              <a:latin typeface="Cambria Math" panose="02040503050406030204" pitchFamily="18" charset="0"/>
                              <a:sym typeface="Calibri"/>
                            </a:rPr>
                            <m:t>−</m:t>
                          </m:r>
                          <m:r>
                            <a:rPr kumimoji="0" lang="ar-EG" sz="2000" b="0" i="1" u="none" strike="noStrike" kern="0" cap="none" spc="0" normalizeH="0" baseline="0" noProof="0">
                              <a:ln>
                                <a:noFill/>
                              </a:ln>
                              <a:solidFill>
                                <a:srgbClr val="000000"/>
                              </a:solidFill>
                              <a:effectLst/>
                              <a:uLnTx/>
                              <a:uFillTx/>
                              <a:latin typeface="Cambria Math" panose="02040503050406030204" pitchFamily="18" charset="0"/>
                              <a:sym typeface="Calibri"/>
                            </a:rPr>
                            <m:t>𝑘</m:t>
                          </m:r>
                        </m:e>
                      </m:d>
                    </m:oMath>
                  </m:oMathPara>
                </a14:m>
                <a:endParaRPr kumimoji="0" lang="ar-EG" sz="2000" b="0" i="0" u="none" strike="noStrike" kern="0" cap="none" spc="0" normalizeH="0" baseline="0" noProof="0" dirty="0">
                  <a:ln>
                    <a:noFill/>
                  </a:ln>
                  <a:solidFill>
                    <a:srgbClr val="000000"/>
                  </a:solidFill>
                  <a:effectLst/>
                  <a:uLnTx/>
                  <a:uFillTx/>
                  <a:latin typeface="Calibri"/>
                  <a:ea typeface="Calibri"/>
                  <a:cs typeface="Calibri"/>
                  <a:sym typeface="Calibri"/>
                </a:endParaRPr>
              </a:p>
              <a:p>
                <a:pPr marL="457200" marR="0" lvl="0" indent="-381000" algn="l" defTabSz="914400" rtl="0" eaLnBrk="1" fontAlgn="auto" latinLnBrk="0" hangingPunct="1">
                  <a:lnSpc>
                    <a:spcPct val="100000"/>
                  </a:lnSpc>
                  <a:spcBef>
                    <a:spcPts val="480"/>
                  </a:spcBef>
                  <a:spcAft>
                    <a:spcPts val="0"/>
                  </a:spcAft>
                  <a:buClr>
                    <a:srgbClr val="000000"/>
                  </a:buClr>
                  <a:buSzPts val="2400"/>
                  <a:buFont typeface="Arial"/>
                  <a:buChar char="•"/>
                  <a:tabLst/>
                  <a:defRPr/>
                </a:pPr>
                <a:r>
                  <a:rPr kumimoji="0" lang="en-US" sz="2000" b="0" i="0" u="none" strike="noStrike" kern="0" cap="none" spc="0" normalizeH="0" baseline="0" noProof="0" dirty="0">
                    <a:ln>
                      <a:noFill/>
                    </a:ln>
                    <a:solidFill>
                      <a:srgbClr val="000000"/>
                    </a:solidFill>
                    <a:effectLst/>
                    <a:uLnTx/>
                    <a:uFillTx/>
                    <a:latin typeface="Calibri"/>
                    <a:ea typeface="Calibri"/>
                    <a:cs typeface="Calibri"/>
                    <a:sym typeface="Calibri"/>
                  </a:rPr>
                  <a:t>Once </a:t>
                </a:r>
                <a14:m>
                  <m:oMath xmlns:m="http://schemas.openxmlformats.org/officeDocument/2006/math">
                    <m:r>
                      <a:rPr kumimoji="0" lang="en-US" sz="2000" b="0" i="1" u="none" strike="noStrike" kern="0" cap="none" spc="0" normalizeH="0" baseline="0" noProof="0">
                        <a:ln>
                          <a:noFill/>
                        </a:ln>
                        <a:solidFill>
                          <a:srgbClr val="000000"/>
                        </a:solidFill>
                        <a:effectLst/>
                        <a:uLnTx/>
                        <a:uFillTx/>
                        <a:latin typeface="Cambria Math" panose="02040503050406030204" pitchFamily="18" charset="0"/>
                        <a:sym typeface="Calibri"/>
                      </a:rPr>
                      <m:t>𝐵𝑇</m:t>
                    </m:r>
                  </m:oMath>
                </a14:m>
                <a:r>
                  <a:rPr kumimoji="0" lang="en-US" sz="2000" b="0" i="0" u="none" strike="noStrike" kern="0" cap="none" spc="0" normalizeH="0" baseline="0" noProof="0" dirty="0">
                    <a:ln>
                      <a:noFill/>
                    </a:ln>
                    <a:solidFill>
                      <a:srgbClr val="000000"/>
                    </a:solidFill>
                    <a:effectLst/>
                    <a:uLnTx/>
                    <a:uFillTx/>
                    <a:latin typeface="Calibri"/>
                    <a:ea typeface="Calibri"/>
                    <a:cs typeface="Calibri"/>
                    <a:sym typeface="Calibri"/>
                  </a:rPr>
                  <a:t>, span, and SPS are selected, the coefficient set </a:t>
                </a:r>
                <a14:m>
                  <m:oMath xmlns:m="http://schemas.openxmlformats.org/officeDocument/2006/math">
                    <m:r>
                      <a:rPr kumimoji="0" lang="en-US" sz="2000" b="0" i="1" u="none" strike="noStrike" kern="0" cap="none" spc="0" normalizeH="0" baseline="0" noProof="0">
                        <a:ln>
                          <a:noFill/>
                        </a:ln>
                        <a:solidFill>
                          <a:srgbClr val="000000"/>
                        </a:solidFill>
                        <a:effectLst/>
                        <a:uLnTx/>
                        <a:uFillTx/>
                        <a:latin typeface="Cambria Math" panose="02040503050406030204" pitchFamily="18" charset="0"/>
                        <a:sym typeface="Calibri"/>
                      </a:rPr>
                      <m:t>h</m:t>
                    </m:r>
                    <m:d>
                      <m:dPr>
                        <m:begChr m:val="["/>
                        <m:endChr m:val="]"/>
                        <m:ctrlPr>
                          <a:rPr kumimoji="0" lang="ar-EG" sz="2000" b="0" i="1" u="none" strike="noStrike" kern="0" cap="none" spc="0" normalizeH="0" baseline="0" noProof="0">
                            <a:ln>
                              <a:noFill/>
                            </a:ln>
                            <a:solidFill>
                              <a:srgbClr val="000000"/>
                            </a:solidFill>
                            <a:effectLst/>
                            <a:uLnTx/>
                            <a:uFillTx/>
                            <a:latin typeface="Cambria Math" panose="02040503050406030204" pitchFamily="18" charset="0"/>
                            <a:sym typeface="Calibri"/>
                          </a:rPr>
                        </m:ctrlPr>
                      </m:dPr>
                      <m:e>
                        <m:r>
                          <a:rPr kumimoji="0" lang="ar-EG" sz="2000" b="0" i="1" u="none" strike="noStrike" kern="0" cap="none" spc="0" normalizeH="0" baseline="0" noProof="0">
                            <a:ln>
                              <a:noFill/>
                            </a:ln>
                            <a:solidFill>
                              <a:srgbClr val="000000"/>
                            </a:solidFill>
                            <a:effectLst/>
                            <a:uLnTx/>
                            <a:uFillTx/>
                            <a:latin typeface="Cambria Math" panose="02040503050406030204" pitchFamily="18" charset="0"/>
                            <a:sym typeface="Calibri"/>
                          </a:rPr>
                          <m:t>𝑘</m:t>
                        </m:r>
                      </m:e>
                    </m:d>
                  </m:oMath>
                </a14:m>
                <a:r>
                  <a:rPr kumimoji="0" lang="en-US" sz="2000" b="0" i="0" u="none" strike="noStrike" kern="0" cap="none" spc="0" normalizeH="0" baseline="0" noProof="0" dirty="0">
                    <a:ln>
                      <a:noFill/>
                    </a:ln>
                    <a:solidFill>
                      <a:srgbClr val="000000"/>
                    </a:solidFill>
                    <a:effectLst/>
                    <a:uLnTx/>
                    <a:uFillTx/>
                    <a:latin typeface="Calibri"/>
                    <a:ea typeface="Calibri"/>
                    <a:cs typeface="Calibri"/>
                    <a:sym typeface="Calibri"/>
                  </a:rPr>
                  <a:t>is fixed and can be stored in hardware (e.g., Register file).</a:t>
                </a:r>
              </a:p>
            </p:txBody>
          </p:sp>
        </mc:Choice>
        <mc:Fallback xmlns="">
          <p:sp>
            <p:nvSpPr>
              <p:cNvPr id="20" name="TextBox 19">
                <a:extLst>
                  <a:ext uri="{FF2B5EF4-FFF2-40B4-BE49-F238E27FC236}">
                    <a16:creationId xmlns:a16="http://schemas.microsoft.com/office/drawing/2014/main" id="{2E96E203-CCF0-61AB-0AED-B73395427875}"/>
                  </a:ext>
                </a:extLst>
              </p:cNvPr>
              <p:cNvSpPr txBox="1">
                <a:spLocks noRot="1" noChangeAspect="1" noMove="1" noResize="1" noEditPoints="1" noAdjustHandles="1" noChangeArrowheads="1" noChangeShapeType="1" noTextEdit="1"/>
              </p:cNvSpPr>
              <p:nvPr/>
            </p:nvSpPr>
            <p:spPr>
              <a:xfrm>
                <a:off x="529512" y="1372603"/>
                <a:ext cx="11319588" cy="1945533"/>
              </a:xfrm>
              <a:prstGeom prst="rect">
                <a:avLst/>
              </a:prstGeom>
              <a:blipFill>
                <a:blip r:embed="rId2"/>
                <a:stretch>
                  <a:fillRect l="-54" t="-4075" b="-4702"/>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xmlns="" id="{EABE4474-0928-097D-8CB2-CC416C564E1C}"/>
              </a:ext>
            </a:extLst>
          </p:cNvPr>
          <p:cNvPicPr>
            <a:picLocks noChangeAspect="1"/>
          </p:cNvPicPr>
          <p:nvPr/>
        </p:nvPicPr>
        <p:blipFill>
          <a:blip r:embed="rId3"/>
          <a:stretch>
            <a:fillRect/>
          </a:stretch>
        </p:blipFill>
        <p:spPr>
          <a:xfrm>
            <a:off x="2094047" y="3676261"/>
            <a:ext cx="7773074" cy="2453951"/>
          </a:xfrm>
          <a:prstGeom prst="rect">
            <a:avLst/>
          </a:prstGeom>
        </p:spPr>
      </p:pic>
    </p:spTree>
    <p:extLst>
      <p:ext uri="{BB962C8B-B14F-4D97-AF65-F5344CB8AC3E}">
        <p14:creationId xmlns:p14="http://schemas.microsoft.com/office/powerpoint/2010/main" val="21883928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7464F0D-8D4A-F155-BC54-3DA826DC8D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21D8137D-BD22-A863-1081-0503654BB7CE}"/>
              </a:ext>
            </a:extLst>
          </p:cNvPr>
          <p:cNvSpPr>
            <a:spLocks noGrp="1"/>
          </p:cNvSpPr>
          <p:nvPr>
            <p:ph type="title"/>
          </p:nvPr>
        </p:nvSpPr>
        <p:spPr/>
        <p:txBody>
          <a:bodyPr/>
          <a:lstStyle/>
          <a:p>
            <a:r>
              <a:rPr lang="en-US" sz="3200" dirty="0">
                <a:latin typeface="Times New Roman" panose="02020603050405020304" pitchFamily="18" charset="0"/>
                <a:cs typeface="Times New Roman" panose="02020603050405020304" pitchFamily="18" charset="0"/>
              </a:rPr>
              <a:t>Gaussian Filter as FIR Filter</a:t>
            </a:r>
          </a:p>
        </p:txBody>
      </p:sp>
      <p:pic>
        <p:nvPicPr>
          <p:cNvPr id="4" name="Picture 3">
            <a:extLst>
              <a:ext uri="{FF2B5EF4-FFF2-40B4-BE49-F238E27FC236}">
                <a16:creationId xmlns:a16="http://schemas.microsoft.com/office/drawing/2014/main" xmlns="" id="{50BE23BB-C1BA-6282-46DF-A5CB106FFAB8}"/>
              </a:ext>
            </a:extLst>
          </p:cNvPr>
          <p:cNvPicPr>
            <a:picLocks noChangeAspect="1"/>
          </p:cNvPicPr>
          <p:nvPr/>
        </p:nvPicPr>
        <p:blipFill>
          <a:blip r:embed="rId2"/>
          <a:stretch>
            <a:fillRect/>
          </a:stretch>
        </p:blipFill>
        <p:spPr>
          <a:xfrm>
            <a:off x="6964137" y="1759974"/>
            <a:ext cx="5094513" cy="2653405"/>
          </a:xfrm>
          <a:prstGeom prst="rect">
            <a:avLst/>
          </a:prstGeom>
        </p:spPr>
      </p:pic>
      <mc:AlternateContent xmlns:mc="http://schemas.openxmlformats.org/markup-compatibility/2006" xmlns:a14="http://schemas.microsoft.com/office/drawing/2010/main">
        <mc:Choice Requires="a14">
          <p:sp>
            <p:nvSpPr>
              <p:cNvPr id="7" name="Text Placeholder 2">
                <a:extLst>
                  <a:ext uri="{FF2B5EF4-FFF2-40B4-BE49-F238E27FC236}">
                    <a16:creationId xmlns:a16="http://schemas.microsoft.com/office/drawing/2014/main" xmlns="" id="{05AE4904-0E88-6BDC-8B15-9D14699AA320}"/>
                  </a:ext>
                </a:extLst>
              </p:cNvPr>
              <p:cNvSpPr>
                <a:spLocks noGrp="1"/>
              </p:cNvSpPr>
              <p:nvPr>
                <p:ph type="body" idx="1"/>
              </p:nvPr>
            </p:nvSpPr>
            <p:spPr>
              <a:xfrm>
                <a:off x="609601" y="1676401"/>
                <a:ext cx="6743699" cy="3028950"/>
              </a:xfrm>
            </p:spPr>
            <p:txBody>
              <a:bodyPr/>
              <a:lstStyle/>
              <a:p>
                <a:r>
                  <a:rPr lang="en-US" sz="2000" b="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The Gaussian pulse-shaping filter is originally defined in continuous time by a Gaussian impulse response</a:t>
                </a:r>
              </a:p>
              <a:p>
                <a:pPr marL="76200" indent="0">
                  <a:buNone/>
                </a:pPr>
                <a14:m>
                  <m:oMathPara xmlns:m="http://schemas.openxmlformats.org/officeDocument/2006/math">
                    <m:oMathParaPr>
                      <m:jc m:val="centerGroup"/>
                    </m:oMathParaPr>
                    <m:oMath xmlns:m="http://schemas.openxmlformats.org/officeDocument/2006/math">
                      <m:r>
                        <a:rPr lang="en-US" sz="2000" i="1">
                          <a:solidFill>
                            <a:schemeClr val="tx1">
                              <a:lumMod val="85000"/>
                              <a:lumOff val="15000"/>
                            </a:schemeClr>
                          </a:solidFill>
                          <a:latin typeface="Cambria Math" panose="02040503050406030204" pitchFamily="18" charset="0"/>
                        </a:rPr>
                        <m:t>h</m:t>
                      </m:r>
                      <m:d>
                        <m:dPr>
                          <m:ctrlPr>
                            <a:rPr lang="ar-EG" sz="2000" i="1">
                              <a:solidFill>
                                <a:schemeClr val="tx1">
                                  <a:lumMod val="85000"/>
                                  <a:lumOff val="15000"/>
                                </a:schemeClr>
                              </a:solidFill>
                              <a:latin typeface="Cambria Math" panose="02040503050406030204" pitchFamily="18" charset="0"/>
                            </a:rPr>
                          </m:ctrlPr>
                        </m:dPr>
                        <m:e>
                          <m:r>
                            <a:rPr lang="ar-EG" sz="2000" i="1">
                              <a:solidFill>
                                <a:schemeClr val="tx1">
                                  <a:lumMod val="85000"/>
                                  <a:lumOff val="15000"/>
                                </a:schemeClr>
                              </a:solidFill>
                              <a:latin typeface="Cambria Math" panose="02040503050406030204" pitchFamily="18" charset="0"/>
                            </a:rPr>
                            <m:t>𝑡</m:t>
                          </m:r>
                        </m:e>
                      </m:d>
                      <m:r>
                        <a:rPr lang="ar-EG" sz="2000">
                          <a:solidFill>
                            <a:schemeClr val="tx1">
                              <a:lumMod val="85000"/>
                              <a:lumOff val="15000"/>
                            </a:schemeClr>
                          </a:solidFill>
                          <a:latin typeface="Cambria Math" panose="02040503050406030204" pitchFamily="18" charset="0"/>
                        </a:rPr>
                        <m:t>=</m:t>
                      </m:r>
                      <m:f>
                        <m:fPr>
                          <m:ctrlPr>
                            <a:rPr lang="ar-EG" sz="2000" i="1">
                              <a:solidFill>
                                <a:schemeClr val="tx1">
                                  <a:lumMod val="85000"/>
                                  <a:lumOff val="15000"/>
                                </a:schemeClr>
                              </a:solidFill>
                              <a:latin typeface="Cambria Math" panose="02040503050406030204" pitchFamily="18" charset="0"/>
                            </a:rPr>
                          </m:ctrlPr>
                        </m:fPr>
                        <m:num>
                          <m:rad>
                            <m:radPr>
                              <m:degHide m:val="on"/>
                              <m:ctrlPr>
                                <a:rPr lang="ar-EG" sz="2000" i="1">
                                  <a:solidFill>
                                    <a:schemeClr val="tx1">
                                      <a:lumMod val="85000"/>
                                      <a:lumOff val="15000"/>
                                    </a:schemeClr>
                                  </a:solidFill>
                                  <a:latin typeface="Cambria Math" panose="02040503050406030204" pitchFamily="18" charset="0"/>
                                </a:rPr>
                              </m:ctrlPr>
                            </m:radPr>
                            <m:deg/>
                            <m:e>
                              <m:r>
                                <a:rPr lang="ar-EG" sz="2000" i="1">
                                  <a:solidFill>
                                    <a:schemeClr val="tx1">
                                      <a:lumMod val="85000"/>
                                      <a:lumOff val="15000"/>
                                    </a:schemeClr>
                                  </a:solidFill>
                                  <a:latin typeface="Cambria Math" panose="02040503050406030204" pitchFamily="18" charset="0"/>
                                </a:rPr>
                                <m:t>𝜋</m:t>
                              </m:r>
                            </m:e>
                          </m:rad>
                        </m:num>
                        <m:den>
                          <m:r>
                            <a:rPr lang="ar-EG" sz="2000" i="1">
                              <a:solidFill>
                                <a:schemeClr val="tx1">
                                  <a:lumMod val="85000"/>
                                  <a:lumOff val="15000"/>
                                </a:schemeClr>
                              </a:solidFill>
                              <a:latin typeface="Cambria Math" panose="02040503050406030204" pitchFamily="18" charset="0"/>
                            </a:rPr>
                            <m:t>𝑎</m:t>
                          </m:r>
                        </m:den>
                      </m:f>
                      <m:r>
                        <m:rPr>
                          <m:nor/>
                        </m:rPr>
                        <a:rPr lang="ar-EG" sz="2000" i="1">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m:t> </m:t>
                      </m:r>
                      <m:sSup>
                        <m:sSupPr>
                          <m:ctrlPr>
                            <a:rPr lang="ar-EG" sz="2000" i="1">
                              <a:solidFill>
                                <a:schemeClr val="tx1">
                                  <a:lumMod val="85000"/>
                                  <a:lumOff val="15000"/>
                                </a:schemeClr>
                              </a:solidFill>
                              <a:latin typeface="Cambria Math" panose="02040503050406030204" pitchFamily="18" charset="0"/>
                            </a:rPr>
                          </m:ctrlPr>
                        </m:sSupPr>
                        <m:e>
                          <m:r>
                            <a:rPr lang="ar-EG" sz="2000" i="1">
                              <a:solidFill>
                                <a:schemeClr val="tx1">
                                  <a:lumMod val="85000"/>
                                  <a:lumOff val="15000"/>
                                </a:schemeClr>
                              </a:solidFill>
                              <a:latin typeface="Cambria Math" panose="02040503050406030204" pitchFamily="18" charset="0"/>
                            </a:rPr>
                            <m:t>𝑒</m:t>
                          </m:r>
                        </m:e>
                        <m:sup>
                          <m:r>
                            <a:rPr lang="ar-EG" sz="2000">
                              <a:solidFill>
                                <a:schemeClr val="tx1">
                                  <a:lumMod val="85000"/>
                                  <a:lumOff val="15000"/>
                                </a:schemeClr>
                              </a:solidFill>
                              <a:latin typeface="Cambria Math" panose="02040503050406030204" pitchFamily="18" charset="0"/>
                            </a:rPr>
                            <m:t>−</m:t>
                          </m:r>
                          <m:sSup>
                            <m:sSupPr>
                              <m:ctrlPr>
                                <a:rPr lang="ar-EG" sz="2000" i="1">
                                  <a:solidFill>
                                    <a:schemeClr val="tx1">
                                      <a:lumMod val="85000"/>
                                      <a:lumOff val="15000"/>
                                    </a:schemeClr>
                                  </a:solidFill>
                                  <a:latin typeface="Cambria Math" panose="02040503050406030204" pitchFamily="18" charset="0"/>
                                </a:rPr>
                              </m:ctrlPr>
                            </m:sSupPr>
                            <m:e>
                              <m:r>
                                <a:rPr lang="ar-EG" sz="2000" i="1">
                                  <a:solidFill>
                                    <a:schemeClr val="tx1">
                                      <a:lumMod val="85000"/>
                                      <a:lumOff val="15000"/>
                                    </a:schemeClr>
                                  </a:solidFill>
                                  <a:latin typeface="Cambria Math" panose="02040503050406030204" pitchFamily="18" charset="0"/>
                                </a:rPr>
                                <m:t>𝜋</m:t>
                              </m:r>
                            </m:e>
                            <m:sup>
                              <m:r>
                                <a:rPr lang="ar-EG" sz="2000">
                                  <a:solidFill>
                                    <a:schemeClr val="tx1">
                                      <a:lumMod val="85000"/>
                                      <a:lumOff val="15000"/>
                                    </a:schemeClr>
                                  </a:solidFill>
                                  <a:latin typeface="Cambria Math" panose="02040503050406030204" pitchFamily="18" charset="0"/>
                                </a:rPr>
                                <m:t>2</m:t>
                              </m:r>
                            </m:sup>
                          </m:sSup>
                          <m:sSup>
                            <m:sSupPr>
                              <m:ctrlPr>
                                <a:rPr lang="ar-EG" sz="2000" i="1">
                                  <a:solidFill>
                                    <a:schemeClr val="tx1">
                                      <a:lumMod val="85000"/>
                                      <a:lumOff val="15000"/>
                                    </a:schemeClr>
                                  </a:solidFill>
                                  <a:latin typeface="Cambria Math" panose="02040503050406030204" pitchFamily="18" charset="0"/>
                                </a:rPr>
                              </m:ctrlPr>
                            </m:sSupPr>
                            <m:e>
                              <m:r>
                                <a:rPr lang="ar-EG" sz="2000" i="1">
                                  <a:solidFill>
                                    <a:schemeClr val="tx1">
                                      <a:lumMod val="85000"/>
                                      <a:lumOff val="15000"/>
                                    </a:schemeClr>
                                  </a:solidFill>
                                  <a:latin typeface="Cambria Math" panose="02040503050406030204" pitchFamily="18" charset="0"/>
                                </a:rPr>
                                <m:t>𝑡</m:t>
                              </m:r>
                            </m:e>
                            <m:sup>
                              <m:r>
                                <a:rPr lang="ar-EG" sz="2000">
                                  <a:solidFill>
                                    <a:schemeClr val="tx1">
                                      <a:lumMod val="85000"/>
                                      <a:lumOff val="15000"/>
                                    </a:schemeClr>
                                  </a:solidFill>
                                  <a:latin typeface="Cambria Math" panose="02040503050406030204" pitchFamily="18" charset="0"/>
                                </a:rPr>
                                <m:t>2</m:t>
                              </m:r>
                            </m:sup>
                          </m:sSup>
                          <m:r>
                            <a:rPr lang="ar-EG" sz="2000">
                              <a:solidFill>
                                <a:schemeClr val="tx1">
                                  <a:lumMod val="85000"/>
                                  <a:lumOff val="15000"/>
                                </a:schemeClr>
                              </a:solidFill>
                              <a:latin typeface="Cambria Math" panose="02040503050406030204" pitchFamily="18" charset="0"/>
                            </a:rPr>
                            <m:t>/</m:t>
                          </m:r>
                          <m:sSup>
                            <m:sSupPr>
                              <m:ctrlPr>
                                <a:rPr lang="ar-EG" sz="2000" i="1">
                                  <a:solidFill>
                                    <a:schemeClr val="tx1">
                                      <a:lumMod val="85000"/>
                                      <a:lumOff val="15000"/>
                                    </a:schemeClr>
                                  </a:solidFill>
                                  <a:latin typeface="Cambria Math" panose="02040503050406030204" pitchFamily="18" charset="0"/>
                                </a:rPr>
                              </m:ctrlPr>
                            </m:sSupPr>
                            <m:e>
                              <m:r>
                                <a:rPr lang="ar-EG" sz="2000" i="1">
                                  <a:solidFill>
                                    <a:schemeClr val="tx1">
                                      <a:lumMod val="85000"/>
                                      <a:lumOff val="15000"/>
                                    </a:schemeClr>
                                  </a:solidFill>
                                  <a:latin typeface="Cambria Math" panose="02040503050406030204" pitchFamily="18" charset="0"/>
                                </a:rPr>
                                <m:t>𝑎</m:t>
                              </m:r>
                            </m:e>
                            <m:sup>
                              <m:r>
                                <a:rPr lang="ar-EG" sz="2000">
                                  <a:solidFill>
                                    <a:schemeClr val="tx1">
                                      <a:lumMod val="85000"/>
                                      <a:lumOff val="15000"/>
                                    </a:schemeClr>
                                  </a:solidFill>
                                  <a:latin typeface="Cambria Math" panose="02040503050406030204" pitchFamily="18" charset="0"/>
                                </a:rPr>
                                <m:t>2</m:t>
                              </m:r>
                            </m:sup>
                          </m:sSup>
                        </m:sup>
                      </m:sSup>
                      <m:r>
                        <a:rPr lang="ar-EG" sz="2000">
                          <a:solidFill>
                            <a:schemeClr val="tx1">
                              <a:lumMod val="85000"/>
                              <a:lumOff val="15000"/>
                            </a:schemeClr>
                          </a:solidFill>
                          <a:latin typeface="Cambria Math" panose="02040503050406030204" pitchFamily="18" charset="0"/>
                        </a:rPr>
                        <m:t>,</m:t>
                      </m:r>
                    </m:oMath>
                  </m:oMathPara>
                </a14:m>
                <a:endParaRPr lang="ar-EG" sz="200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endParaRPr>
              </a:p>
              <a:p>
                <a:r>
                  <a:rPr lang="en-US" sz="2000" b="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where the parameter </a:t>
                </a:r>
                <a14:m>
                  <m:oMath xmlns:m="http://schemas.openxmlformats.org/officeDocument/2006/math">
                    <m:r>
                      <a:rPr lang="en-US" sz="2000" b="0" i="1">
                        <a:solidFill>
                          <a:schemeClr val="tx1">
                            <a:lumMod val="85000"/>
                            <a:lumOff val="15000"/>
                          </a:schemeClr>
                        </a:solidFill>
                        <a:latin typeface="Cambria Math" panose="02040503050406030204" pitchFamily="18" charset="0"/>
                      </a:rPr>
                      <m:t>𝑎</m:t>
                    </m:r>
                  </m:oMath>
                </a14:m>
                <a:r>
                  <a:rPr lang="en-US" sz="2000" b="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 is related to the bandwidth–time product </a:t>
                </a:r>
                <a14:m>
                  <m:oMath xmlns:m="http://schemas.openxmlformats.org/officeDocument/2006/math">
                    <m:r>
                      <a:rPr lang="en-US" sz="2000" b="0" i="1">
                        <a:solidFill>
                          <a:schemeClr val="tx1">
                            <a:lumMod val="85000"/>
                            <a:lumOff val="15000"/>
                          </a:schemeClr>
                        </a:solidFill>
                        <a:latin typeface="Cambria Math" panose="02040503050406030204" pitchFamily="18" charset="0"/>
                      </a:rPr>
                      <m:t>𝐵𝑇</m:t>
                    </m:r>
                  </m:oMath>
                </a14:m>
                <a:r>
                  <a:rPr lang="en-US" sz="2000" b="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and the sampling period </a:t>
                </a:r>
                <a14:m>
                  <m:oMath xmlns:m="http://schemas.openxmlformats.org/officeDocument/2006/math">
                    <m:sSub>
                      <m:sSubPr>
                        <m:ctrlPr>
                          <a:rPr lang="ar-EG" sz="2000" b="0" i="1">
                            <a:solidFill>
                              <a:schemeClr val="tx1">
                                <a:lumMod val="85000"/>
                                <a:lumOff val="15000"/>
                              </a:schemeClr>
                            </a:solidFill>
                            <a:latin typeface="Cambria Math" panose="02040503050406030204" pitchFamily="18" charset="0"/>
                          </a:rPr>
                        </m:ctrlPr>
                      </m:sSubPr>
                      <m:e>
                        <m:r>
                          <a:rPr lang="ar-EG" sz="2000" b="0" i="1">
                            <a:solidFill>
                              <a:schemeClr val="tx1">
                                <a:lumMod val="85000"/>
                                <a:lumOff val="15000"/>
                              </a:schemeClr>
                            </a:solidFill>
                            <a:latin typeface="Cambria Math" panose="02040503050406030204" pitchFamily="18" charset="0"/>
                          </a:rPr>
                          <m:t>𝑇</m:t>
                        </m:r>
                      </m:e>
                      <m:sub>
                        <m:r>
                          <a:rPr lang="ar-EG" sz="2000" b="0" i="1">
                            <a:solidFill>
                              <a:schemeClr val="tx1">
                                <a:lumMod val="85000"/>
                                <a:lumOff val="15000"/>
                              </a:schemeClr>
                            </a:solidFill>
                            <a:latin typeface="Cambria Math" panose="02040503050406030204" pitchFamily="18" charset="0"/>
                          </a:rPr>
                          <m:t>𝑠</m:t>
                        </m:r>
                      </m:sub>
                    </m:sSub>
                  </m:oMath>
                </a14:m>
                <a:r>
                  <a:rPr lang="en-US" sz="2000" b="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by</a:t>
                </a:r>
              </a:p>
              <a:p>
                <a:pPr marL="76200" indent="0">
                  <a:buNone/>
                </a:pPr>
                <a14:m>
                  <m:oMathPara xmlns:m="http://schemas.openxmlformats.org/officeDocument/2006/math">
                    <m:oMathParaPr>
                      <m:jc m:val="centerGroup"/>
                    </m:oMathParaPr>
                    <m:oMath xmlns:m="http://schemas.openxmlformats.org/officeDocument/2006/math">
                      <m:r>
                        <a:rPr lang="en-US" sz="2000" i="1">
                          <a:solidFill>
                            <a:schemeClr val="tx1">
                              <a:lumMod val="85000"/>
                              <a:lumOff val="15000"/>
                            </a:schemeClr>
                          </a:solidFill>
                          <a:latin typeface="Cambria Math" panose="02040503050406030204" pitchFamily="18" charset="0"/>
                        </a:rPr>
                        <m:t>𝑎</m:t>
                      </m:r>
                      <m:r>
                        <a:rPr lang="en-US" sz="2000">
                          <a:solidFill>
                            <a:schemeClr val="tx1">
                              <a:lumMod val="85000"/>
                              <a:lumOff val="15000"/>
                            </a:schemeClr>
                          </a:solidFill>
                          <a:latin typeface="Cambria Math" panose="02040503050406030204" pitchFamily="18" charset="0"/>
                        </a:rPr>
                        <m:t>=</m:t>
                      </m:r>
                      <m:f>
                        <m:fPr>
                          <m:ctrlPr>
                            <a:rPr lang="ar-EG" sz="2000" i="1">
                              <a:solidFill>
                                <a:schemeClr val="tx1">
                                  <a:lumMod val="85000"/>
                                  <a:lumOff val="15000"/>
                                </a:schemeClr>
                              </a:solidFill>
                              <a:latin typeface="Cambria Math" panose="02040503050406030204" pitchFamily="18" charset="0"/>
                            </a:rPr>
                          </m:ctrlPr>
                        </m:fPr>
                        <m:num>
                          <m:r>
                            <a:rPr lang="ar-EG" sz="2000">
                              <a:solidFill>
                                <a:schemeClr val="tx1">
                                  <a:lumMod val="85000"/>
                                  <a:lumOff val="15000"/>
                                </a:schemeClr>
                              </a:solidFill>
                              <a:latin typeface="Cambria Math" panose="02040503050406030204" pitchFamily="18" charset="0"/>
                            </a:rPr>
                            <m:t>1</m:t>
                          </m:r>
                        </m:num>
                        <m:den>
                          <m:r>
                            <a:rPr lang="ar-EG" sz="2000" i="1">
                              <a:solidFill>
                                <a:schemeClr val="tx1">
                                  <a:lumMod val="85000"/>
                                  <a:lumOff val="15000"/>
                                </a:schemeClr>
                              </a:solidFill>
                              <a:latin typeface="Cambria Math" panose="02040503050406030204" pitchFamily="18" charset="0"/>
                            </a:rPr>
                            <m:t>𝐵</m:t>
                          </m:r>
                          <m:sSub>
                            <m:sSubPr>
                              <m:ctrlPr>
                                <a:rPr lang="ar-EG" sz="2000" i="1">
                                  <a:solidFill>
                                    <a:schemeClr val="tx1">
                                      <a:lumMod val="85000"/>
                                      <a:lumOff val="15000"/>
                                    </a:schemeClr>
                                  </a:solidFill>
                                  <a:latin typeface="Cambria Math" panose="02040503050406030204" pitchFamily="18" charset="0"/>
                                </a:rPr>
                              </m:ctrlPr>
                            </m:sSubPr>
                            <m:e>
                              <m:r>
                                <a:rPr lang="ar-EG" sz="2000" i="1">
                                  <a:solidFill>
                                    <a:schemeClr val="tx1">
                                      <a:lumMod val="85000"/>
                                      <a:lumOff val="15000"/>
                                    </a:schemeClr>
                                  </a:solidFill>
                                  <a:latin typeface="Cambria Math" panose="02040503050406030204" pitchFamily="18" charset="0"/>
                                </a:rPr>
                                <m:t>𝑇</m:t>
                              </m:r>
                            </m:e>
                            <m:sub>
                              <m:r>
                                <a:rPr lang="ar-EG" sz="2000" i="1">
                                  <a:solidFill>
                                    <a:schemeClr val="tx1">
                                      <a:lumMod val="85000"/>
                                      <a:lumOff val="15000"/>
                                    </a:schemeClr>
                                  </a:solidFill>
                                  <a:latin typeface="Cambria Math" panose="02040503050406030204" pitchFamily="18" charset="0"/>
                                </a:rPr>
                                <m:t>𝑠</m:t>
                              </m:r>
                            </m:sub>
                          </m:sSub>
                        </m:den>
                      </m:f>
                      <m:rad>
                        <m:radPr>
                          <m:degHide m:val="on"/>
                          <m:ctrlPr>
                            <a:rPr lang="ar-EG" sz="2000" i="1">
                              <a:solidFill>
                                <a:schemeClr val="tx1">
                                  <a:lumMod val="85000"/>
                                  <a:lumOff val="15000"/>
                                </a:schemeClr>
                              </a:solidFill>
                              <a:latin typeface="Cambria Math" panose="02040503050406030204" pitchFamily="18" charset="0"/>
                            </a:rPr>
                          </m:ctrlPr>
                        </m:radPr>
                        <m:deg/>
                        <m:e>
                          <m:f>
                            <m:fPr>
                              <m:ctrlPr>
                                <a:rPr lang="ar-EG" sz="2000" i="1">
                                  <a:solidFill>
                                    <a:schemeClr val="tx1">
                                      <a:lumMod val="85000"/>
                                      <a:lumOff val="15000"/>
                                    </a:schemeClr>
                                  </a:solidFill>
                                  <a:latin typeface="Cambria Math" panose="02040503050406030204" pitchFamily="18" charset="0"/>
                                </a:rPr>
                              </m:ctrlPr>
                            </m:fPr>
                            <m:num>
                              <m:func>
                                <m:funcPr>
                                  <m:ctrlPr>
                                    <a:rPr lang="ar-EG" sz="2000" i="1">
                                      <a:solidFill>
                                        <a:schemeClr val="tx1">
                                          <a:lumMod val="85000"/>
                                          <a:lumOff val="15000"/>
                                        </a:schemeClr>
                                      </a:solidFill>
                                      <a:latin typeface="Cambria Math" panose="02040503050406030204" pitchFamily="18" charset="0"/>
                                    </a:rPr>
                                  </m:ctrlPr>
                                </m:funcPr>
                                <m:fName>
                                  <m:r>
                                    <m:rPr>
                                      <m:sty m:val="p"/>
                                    </m:rPr>
                                    <a:rPr lang="en-US" sz="2000">
                                      <a:solidFill>
                                        <a:schemeClr val="tx1">
                                          <a:lumMod val="85000"/>
                                          <a:lumOff val="15000"/>
                                        </a:schemeClr>
                                      </a:solidFill>
                                      <a:latin typeface="Cambria Math" panose="02040503050406030204" pitchFamily="18" charset="0"/>
                                    </a:rPr>
                                    <m:t>ln</m:t>
                                  </m:r>
                                </m:fName>
                                <m:e>
                                  <m:r>
                                    <a:rPr lang="ar-EG" sz="2000">
                                      <a:solidFill>
                                        <a:schemeClr val="tx1">
                                          <a:lumMod val="85000"/>
                                          <a:lumOff val="15000"/>
                                        </a:schemeClr>
                                      </a:solidFill>
                                      <a:latin typeface="Cambria Math" panose="02040503050406030204" pitchFamily="18" charset="0"/>
                                    </a:rPr>
                                    <m:t>2</m:t>
                                  </m:r>
                                </m:e>
                              </m:func>
                            </m:num>
                            <m:den>
                              <m:r>
                                <a:rPr lang="ar-EG" sz="2000">
                                  <a:solidFill>
                                    <a:schemeClr val="tx1">
                                      <a:lumMod val="85000"/>
                                      <a:lumOff val="15000"/>
                                    </a:schemeClr>
                                  </a:solidFill>
                                  <a:latin typeface="Cambria Math" panose="02040503050406030204" pitchFamily="18" charset="0"/>
                                </a:rPr>
                                <m:t>2</m:t>
                              </m:r>
                            </m:den>
                          </m:f>
                        </m:e>
                      </m:rad>
                      <m:r>
                        <a:rPr lang="ar-EG" sz="2000">
                          <a:solidFill>
                            <a:schemeClr val="tx1">
                              <a:lumMod val="85000"/>
                              <a:lumOff val="15000"/>
                            </a:schemeClr>
                          </a:solidFill>
                          <a:latin typeface="Cambria Math" panose="02040503050406030204" pitchFamily="18" charset="0"/>
                        </a:rPr>
                        <m:t>.</m:t>
                      </m:r>
                    </m:oMath>
                  </m:oMathPara>
                </a14:m>
                <a:endParaRPr lang="ar-EG" sz="200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endParaRPr>
              </a:p>
              <a:p>
                <a:endParaRPr lang="en-US" dirty="0"/>
              </a:p>
            </p:txBody>
          </p:sp>
        </mc:Choice>
        <mc:Fallback xmlns="">
          <p:sp>
            <p:nvSpPr>
              <p:cNvPr id="7" name="Text Placeholder 2">
                <a:extLst>
                  <a:ext uri="{FF2B5EF4-FFF2-40B4-BE49-F238E27FC236}">
                    <a16:creationId xmlns:a16="http://schemas.microsoft.com/office/drawing/2014/main" id="{05AE4904-0E88-6BDC-8B15-9D14699AA320}"/>
                  </a:ext>
                </a:extLst>
              </p:cNvPr>
              <p:cNvSpPr>
                <a:spLocks noGrp="1" noRot="1" noChangeAspect="1" noMove="1" noResize="1" noEditPoints="1" noAdjustHandles="1" noChangeArrowheads="1" noChangeShapeType="1" noTextEdit="1"/>
              </p:cNvSpPr>
              <p:nvPr>
                <p:ph type="body" idx="1"/>
              </p:nvPr>
            </p:nvSpPr>
            <p:spPr>
              <a:xfrm>
                <a:off x="609601" y="1676401"/>
                <a:ext cx="6743699" cy="3028950"/>
              </a:xfr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xmlns="" id="{75D1A2A4-3412-EA77-9BC0-B7A3DB6BB889}"/>
                  </a:ext>
                </a:extLst>
              </p:cNvPr>
              <p:cNvSpPr txBox="1"/>
              <p:nvPr/>
            </p:nvSpPr>
            <p:spPr>
              <a:xfrm>
                <a:off x="609600" y="4705351"/>
                <a:ext cx="10972799" cy="1631216"/>
              </a:xfrm>
              <a:prstGeom prst="rect">
                <a:avLst/>
              </a:prstGeom>
              <a:noFill/>
            </p:spPr>
            <p:txBody>
              <a:bodyPr wrap="square">
                <a:sp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Smaller </a:t>
                </a:r>
                <a14:m>
                  <m:oMath xmlns:m="http://schemas.openxmlformats.org/officeDocument/2006/math">
                    <m:r>
                      <a:rPr lang="en-US" sz="2000" b="0" i="1">
                        <a:latin typeface="Cambria Math" panose="02040503050406030204" pitchFamily="18" charset="0"/>
                      </a:rPr>
                      <m:t>𝐵𝑇</m:t>
                    </m:r>
                  </m:oMath>
                </a14:m>
                <a:r>
                  <a:rPr lang="en-US" sz="2000" dirty="0">
                    <a:latin typeface="Calibri" panose="020F0502020204030204" pitchFamily="34" charset="0"/>
                    <a:ea typeface="Calibri" panose="020F0502020204030204" pitchFamily="34" charset="0"/>
                    <a:cs typeface="Calibri" panose="020F0502020204030204" pitchFamily="34" charset="0"/>
                  </a:rPr>
                  <a:t>produces a narrower frequency response and therefore a wider impulse response in time (longer transitions), while larger </a:t>
                </a:r>
                <a14:m>
                  <m:oMath xmlns:m="http://schemas.openxmlformats.org/officeDocument/2006/math">
                    <m:r>
                      <a:rPr lang="en-US" sz="2000" b="0" i="1">
                        <a:latin typeface="Cambria Math" panose="02040503050406030204" pitchFamily="18" charset="0"/>
                      </a:rPr>
                      <m:t>𝐵𝑇</m:t>
                    </m:r>
                  </m:oMath>
                </a14:m>
                <a:r>
                  <a:rPr lang="en-US" sz="2000" dirty="0">
                    <a:latin typeface="Calibri" panose="020F0502020204030204" pitchFamily="34" charset="0"/>
                    <a:ea typeface="Calibri" panose="020F0502020204030204" pitchFamily="34" charset="0"/>
                    <a:cs typeface="Calibri" panose="020F0502020204030204" pitchFamily="34" charset="0"/>
                  </a:rPr>
                  <a:t>produces the opposite trend. In digital implementation, this continuous-time impulse response is sampled and truncated to obtain FIR coefficients </a:t>
                </a:r>
                <a14:m>
                  <m:oMath xmlns:m="http://schemas.openxmlformats.org/officeDocument/2006/math">
                    <m:r>
                      <a:rPr lang="en-US" sz="2000" b="0" i="1">
                        <a:latin typeface="Cambria Math" panose="02040503050406030204" pitchFamily="18" charset="0"/>
                      </a:rPr>
                      <m:t>h</m:t>
                    </m:r>
                    <m:d>
                      <m:dPr>
                        <m:begChr m:val="["/>
                        <m:endChr m:val="]"/>
                        <m:ctrlPr>
                          <a:rPr lang="ar-EG" sz="2000" i="1">
                            <a:latin typeface="Cambria Math" panose="02040503050406030204" pitchFamily="18" charset="0"/>
                          </a:rPr>
                        </m:ctrlPr>
                      </m:dPr>
                      <m:e>
                        <m:r>
                          <a:rPr lang="ar-EG" sz="2000" b="0" i="1">
                            <a:latin typeface="Cambria Math" panose="02040503050406030204" pitchFamily="18" charset="0"/>
                          </a:rPr>
                          <m:t>𝑘</m:t>
                        </m:r>
                      </m:e>
                    </m:d>
                    <m:r>
                      <a:rPr lang="en-US" sz="2000" b="0" i="0" smtClean="0">
                        <a:latin typeface="Cambria Math" panose="02040503050406030204" pitchFamily="18" charset="0"/>
                      </a:rPr>
                      <m:t>(</m:t>
                    </m:r>
                  </m:oMath>
                </a14:m>
                <a:r>
                  <a:rPr lang="en-US" sz="2000" dirty="0">
                    <a:latin typeface="Calibri" panose="020F0502020204030204" pitchFamily="34" charset="0"/>
                    <a:ea typeface="Calibri" panose="020F0502020204030204" pitchFamily="34" charset="0"/>
                    <a:cs typeface="Calibri" panose="020F0502020204030204" pitchFamily="34" charset="0"/>
                  </a:rPr>
                  <a:t>span and SPS determine the truncation length and sampling density).</a:t>
                </a:r>
              </a:p>
              <a:p>
                <a:pPr marL="342900" indent="-342900">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The Bluetooth Low Energy 5.4 Core specification require a BT product of 0.5.</a:t>
                </a:r>
              </a:p>
            </p:txBody>
          </p:sp>
        </mc:Choice>
        <mc:Fallback xmlns="">
          <p:sp>
            <p:nvSpPr>
              <p:cNvPr id="9" name="TextBox 8">
                <a:extLst>
                  <a:ext uri="{FF2B5EF4-FFF2-40B4-BE49-F238E27FC236}">
                    <a16:creationId xmlns:a16="http://schemas.microsoft.com/office/drawing/2014/main" id="{75D1A2A4-3412-EA77-9BC0-B7A3DB6BB889}"/>
                  </a:ext>
                </a:extLst>
              </p:cNvPr>
              <p:cNvSpPr txBox="1">
                <a:spLocks noRot="1" noChangeAspect="1" noMove="1" noResize="1" noEditPoints="1" noAdjustHandles="1" noChangeArrowheads="1" noChangeShapeType="1" noTextEdit="1"/>
              </p:cNvSpPr>
              <p:nvPr/>
            </p:nvSpPr>
            <p:spPr>
              <a:xfrm>
                <a:off x="609600" y="4705351"/>
                <a:ext cx="10972799" cy="1631216"/>
              </a:xfrm>
              <a:prstGeom prst="rect">
                <a:avLst/>
              </a:prstGeom>
              <a:blipFill>
                <a:blip r:embed="rId4"/>
                <a:stretch>
                  <a:fillRect l="-556" t="-2247" b="-5993"/>
                </a:stretch>
              </a:blipFill>
            </p:spPr>
            <p:txBody>
              <a:bodyPr/>
              <a:lstStyle/>
              <a:p>
                <a:r>
                  <a:rPr lang="en-US">
                    <a:noFill/>
                  </a:rPr>
                  <a:t> </a:t>
                </a:r>
              </a:p>
            </p:txBody>
          </p:sp>
        </mc:Fallback>
      </mc:AlternateContent>
    </p:spTree>
    <p:extLst>
      <p:ext uri="{BB962C8B-B14F-4D97-AF65-F5344CB8AC3E}">
        <p14:creationId xmlns:p14="http://schemas.microsoft.com/office/powerpoint/2010/main" val="8599662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73B1082-D862-0D81-11B5-7F8FB24A10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40A3BDBB-6115-9B44-89AB-91E3FF92ACB2}"/>
              </a:ext>
            </a:extLst>
          </p:cNvPr>
          <p:cNvSpPr>
            <a:spLocks noGrp="1"/>
          </p:cNvSpPr>
          <p:nvPr>
            <p:ph type="title"/>
          </p:nvPr>
        </p:nvSpPr>
        <p:spPr/>
        <p:txBody>
          <a:bodyPr>
            <a:normAutofit/>
          </a:bodyPr>
          <a:lstStyle/>
          <a:p>
            <a:r>
              <a:rPr lang="en-US" sz="3200" dirty="0">
                <a:latin typeface="Times New Roman" panose="02020603050405020304" pitchFamily="18" charset="0"/>
                <a:cs typeface="Times New Roman" panose="02020603050405020304" pitchFamily="18" charset="0"/>
              </a:rPr>
              <a:t>Parameters (span/</a:t>
            </a:r>
            <a:r>
              <a:rPr lang="en-US" sz="3200" dirty="0" err="1">
                <a:latin typeface="Times New Roman" panose="02020603050405020304" pitchFamily="18" charset="0"/>
                <a:cs typeface="Times New Roman" panose="02020603050405020304" pitchFamily="18" charset="0"/>
              </a:rPr>
              <a:t>sps</a:t>
            </a:r>
            <a:r>
              <a:rPr lang="en-US" sz="3200" dirty="0">
                <a:latin typeface="Times New Roman" panose="02020603050405020304" pitchFamily="18" charset="0"/>
                <a:cs typeface="Times New Roman" panose="02020603050405020304" pitchFamily="18" charset="0"/>
              </a:rPr>
              <a:t>)</a:t>
            </a:r>
          </a:p>
        </p:txBody>
      </p:sp>
      <mc:AlternateContent xmlns:mc="http://schemas.openxmlformats.org/markup-compatibility/2006" xmlns:a14="http://schemas.microsoft.com/office/drawing/2010/main">
        <mc:Choice Requires="a14">
          <p:sp>
            <p:nvSpPr>
              <p:cNvPr id="7" name="Text Placeholder 2">
                <a:extLst>
                  <a:ext uri="{FF2B5EF4-FFF2-40B4-BE49-F238E27FC236}">
                    <a16:creationId xmlns:a16="http://schemas.microsoft.com/office/drawing/2014/main" xmlns="" id="{006BD8EA-E058-69E8-D568-871C66F41037}"/>
                  </a:ext>
                </a:extLst>
              </p:cNvPr>
              <p:cNvSpPr txBox="1">
                <a:spLocks/>
              </p:cNvSpPr>
              <p:nvPr/>
            </p:nvSpPr>
            <p:spPr>
              <a:xfrm>
                <a:off x="609600" y="1642189"/>
                <a:ext cx="10972800" cy="431074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342900" algn="l" rtl="0">
                  <a:lnSpc>
                    <a:spcPct val="100000"/>
                  </a:lnSpc>
                  <a:spcBef>
                    <a:spcPts val="400"/>
                  </a:spcBef>
                  <a:spcAft>
                    <a:spcPts val="0"/>
                  </a:spcAft>
                  <a:buClr>
                    <a:schemeClr val="dk1"/>
                  </a:buClr>
                  <a:buSzPts val="1800"/>
                  <a:buFont typeface="Calibri"/>
                  <a:buChar char="–"/>
                  <a:defRPr sz="20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dk1"/>
                  </a:buClr>
                  <a:buSzPts val="1800"/>
                  <a:buFont typeface="Calibri"/>
                  <a:buChar char="–"/>
                  <a:defRPr sz="1800" b="0" i="0" u="none" strike="noStrike" cap="none">
                    <a:solidFill>
                      <a:schemeClr val="dk1"/>
                    </a:solidFill>
                    <a:latin typeface="Calibri"/>
                    <a:ea typeface="Calibri"/>
                    <a:cs typeface="Calibri"/>
                    <a:sym typeface="Calibri"/>
                  </a:defRPr>
                </a:lvl3pPr>
                <a:lvl4pPr marL="1828800" marR="0" lvl="3" indent="-330200" algn="l" rtl="0">
                  <a:lnSpc>
                    <a:spcPct val="100000"/>
                  </a:lnSpc>
                  <a:spcBef>
                    <a:spcPts val="336"/>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lnSpc>
                    <a:spcPct val="100000"/>
                  </a:lnSpc>
                  <a:spcBef>
                    <a:spcPts val="336"/>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457200" marR="0" lvl="0" indent="-381000" algn="l" defTabSz="914400" rtl="0" eaLnBrk="1" fontAlgn="auto" latinLnBrk="0" hangingPunct="1">
                  <a:lnSpc>
                    <a:spcPct val="100000"/>
                  </a:lnSpc>
                  <a:spcBef>
                    <a:spcPts val="480"/>
                  </a:spcBef>
                  <a:spcAft>
                    <a:spcPts val="0"/>
                  </a:spcAft>
                  <a:buClr>
                    <a:srgbClr val="000000"/>
                  </a:buClr>
                  <a:buSzPts val="2400"/>
                  <a:buFont typeface="Arial"/>
                  <a:buChar char="•"/>
                  <a:tabLst/>
                  <a:defRPr/>
                </a:pPr>
                <a:r>
                  <a:rPr kumimoji="0" lang="en-US" sz="2000" b="1" i="0" u="none" strike="noStrike" kern="0" cap="none" spc="0" normalizeH="0" baseline="0" noProof="0" dirty="0">
                    <a:ln>
                      <a:noFill/>
                    </a:ln>
                    <a:solidFill>
                      <a:srgbClr val="000000"/>
                    </a:solidFill>
                    <a:effectLst/>
                    <a:uLnTx/>
                    <a:uFillTx/>
                    <a:latin typeface="Calibri"/>
                    <a:ea typeface="Calibri"/>
                    <a:cs typeface="Calibri"/>
                    <a:sym typeface="Calibri"/>
                  </a:rPr>
                  <a:t>Span (symbols)</a:t>
                </a:r>
                <a:r>
                  <a:rPr kumimoji="0" lang="en-US" sz="2000" b="0" i="0" u="none" strike="noStrike" kern="0" cap="none" spc="0" normalizeH="0" baseline="0" noProof="0" dirty="0">
                    <a:ln>
                      <a:noFill/>
                    </a:ln>
                    <a:solidFill>
                      <a:srgbClr val="000000"/>
                    </a:solidFill>
                    <a:effectLst/>
                    <a:uLnTx/>
                    <a:uFillTx/>
                    <a:latin typeface="Calibri"/>
                    <a:ea typeface="Calibri"/>
                    <a:cs typeface="Calibri"/>
                    <a:sym typeface="Calibri"/>
                  </a:rPr>
                  <a:t> = how long the Gaussian impulse response lasts in time</a:t>
                </a:r>
              </a:p>
              <a:p>
                <a:pPr marL="76200" marR="0" lvl="0" indent="0" algn="l" defTabSz="914400" rtl="0" eaLnBrk="1" fontAlgn="auto" latinLnBrk="0" hangingPunct="1">
                  <a:lnSpc>
                    <a:spcPct val="100000"/>
                  </a:lnSpc>
                  <a:spcBef>
                    <a:spcPts val="480"/>
                  </a:spcBef>
                  <a:spcAft>
                    <a:spcPts val="0"/>
                  </a:spcAft>
                  <a:buClr>
                    <a:srgbClr val="000000"/>
                  </a:buClr>
                  <a:buSzPts val="2400"/>
                  <a:buFont typeface="Arial"/>
                  <a:buNone/>
                  <a:tabLst/>
                  <a:defRPr/>
                </a:pPr>
                <a:r>
                  <a:rPr kumimoji="0" lang="en-US" sz="2000" b="0" i="0" u="none" strike="noStrike" kern="0" cap="none" spc="0" normalizeH="0" baseline="0" noProof="0" dirty="0">
                    <a:ln>
                      <a:noFill/>
                    </a:ln>
                    <a:solidFill>
                      <a:srgbClr val="000000"/>
                    </a:solidFill>
                    <a:effectLst/>
                    <a:uLnTx/>
                    <a:uFillTx/>
                    <a:latin typeface="Calibri"/>
                    <a:ea typeface="Calibri"/>
                    <a:cs typeface="Calibri"/>
                    <a:sym typeface="Calibri"/>
                  </a:rPr>
                  <a:t>Larger span → captures more Gaussian “tails” → </a:t>
                </a:r>
                <a:r>
                  <a:rPr kumimoji="0" lang="en-US" sz="2000" b="1" i="0" u="none" strike="noStrike" kern="0" cap="none" spc="0" normalizeH="0" baseline="0" noProof="0" dirty="0">
                    <a:ln>
                      <a:noFill/>
                    </a:ln>
                    <a:solidFill>
                      <a:srgbClr val="000000"/>
                    </a:solidFill>
                    <a:effectLst/>
                    <a:uLnTx/>
                    <a:uFillTx/>
                    <a:latin typeface="Calibri"/>
                    <a:ea typeface="Calibri"/>
                    <a:cs typeface="Calibri"/>
                    <a:sym typeface="Calibri"/>
                  </a:rPr>
                  <a:t>less truncation error</a:t>
                </a:r>
                <a:endParaRPr kumimoji="0" lang="en-US" sz="2000" b="0" i="0" u="none" strike="noStrike" kern="0" cap="none" spc="0" normalizeH="0" baseline="0" noProof="0" dirty="0">
                  <a:ln>
                    <a:noFill/>
                  </a:ln>
                  <a:solidFill>
                    <a:srgbClr val="000000"/>
                  </a:solidFill>
                  <a:effectLst/>
                  <a:uLnTx/>
                  <a:uFillTx/>
                  <a:latin typeface="Calibri"/>
                  <a:ea typeface="Calibri"/>
                  <a:cs typeface="Calibri"/>
                  <a:sym typeface="Calibri"/>
                </a:endParaRPr>
              </a:p>
              <a:p>
                <a:pPr marL="76200" marR="0" lvl="0" indent="0" algn="l" defTabSz="914400" rtl="0" eaLnBrk="1" fontAlgn="auto" latinLnBrk="0" hangingPunct="1">
                  <a:lnSpc>
                    <a:spcPct val="100000"/>
                  </a:lnSpc>
                  <a:spcBef>
                    <a:spcPts val="480"/>
                  </a:spcBef>
                  <a:spcAft>
                    <a:spcPts val="0"/>
                  </a:spcAft>
                  <a:buClr>
                    <a:srgbClr val="000000"/>
                  </a:buClr>
                  <a:buSzPts val="2400"/>
                  <a:buFont typeface="Arial"/>
                  <a:buNone/>
                  <a:tabLst/>
                  <a:defRPr/>
                </a:pPr>
                <a:r>
                  <a:rPr kumimoji="0" lang="en-US" sz="2000" b="0" i="0" u="none" strike="noStrike" kern="0" cap="none" spc="0" normalizeH="0" baseline="0" noProof="0" dirty="0">
                    <a:ln>
                      <a:noFill/>
                    </a:ln>
                    <a:solidFill>
                      <a:srgbClr val="000000"/>
                    </a:solidFill>
                    <a:effectLst/>
                    <a:uLnTx/>
                    <a:uFillTx/>
                    <a:latin typeface="Calibri"/>
                    <a:ea typeface="Calibri"/>
                    <a:cs typeface="Calibri"/>
                    <a:sym typeface="Calibri"/>
                  </a:rPr>
                  <a:t>Tradeoff: more taps → more registers/latency/area</a:t>
                </a:r>
              </a:p>
              <a:p>
                <a:pPr marL="76200" marR="0" lvl="0" indent="0" algn="l" defTabSz="914400" rtl="0" eaLnBrk="1" fontAlgn="auto" latinLnBrk="0" hangingPunct="1">
                  <a:lnSpc>
                    <a:spcPct val="100000"/>
                  </a:lnSpc>
                  <a:spcBef>
                    <a:spcPts val="480"/>
                  </a:spcBef>
                  <a:spcAft>
                    <a:spcPts val="0"/>
                  </a:spcAft>
                  <a:buClr>
                    <a:srgbClr val="000000"/>
                  </a:buClr>
                  <a:buSzPts val="2400"/>
                  <a:buFont typeface="Arial"/>
                  <a:buNone/>
                  <a:tabLst/>
                  <a:defRPr/>
                </a:pPr>
                <a:endParaRPr kumimoji="0" lang="en-US" sz="2000" b="1" i="0" u="none" strike="noStrike" kern="0" cap="none" spc="0" normalizeH="0" baseline="0" noProof="0" dirty="0">
                  <a:ln>
                    <a:noFill/>
                  </a:ln>
                  <a:solidFill>
                    <a:srgbClr val="000000"/>
                  </a:solidFill>
                  <a:effectLst/>
                  <a:uLnTx/>
                  <a:uFillTx/>
                  <a:latin typeface="Calibri"/>
                  <a:ea typeface="Calibri"/>
                  <a:cs typeface="Calibri"/>
                  <a:sym typeface="Calibri"/>
                </a:endParaRPr>
              </a:p>
              <a:p>
                <a:pPr marL="457200" marR="0" lvl="0" indent="-381000" algn="l" defTabSz="914400" rtl="0" eaLnBrk="1" fontAlgn="auto" latinLnBrk="0" hangingPunct="1">
                  <a:lnSpc>
                    <a:spcPct val="100000"/>
                  </a:lnSpc>
                  <a:spcBef>
                    <a:spcPts val="480"/>
                  </a:spcBef>
                  <a:spcAft>
                    <a:spcPts val="0"/>
                  </a:spcAft>
                  <a:buClr>
                    <a:srgbClr val="000000"/>
                  </a:buClr>
                  <a:buSzPts val="2400"/>
                  <a:buFont typeface="Arial"/>
                  <a:buChar char="•"/>
                  <a:tabLst/>
                  <a:defRPr/>
                </a:pPr>
                <a:r>
                  <a:rPr kumimoji="0" lang="en-US" sz="2000" b="1" i="0" u="none" strike="noStrike" kern="0" cap="none" spc="0" normalizeH="0" baseline="0" noProof="0" dirty="0">
                    <a:ln>
                      <a:noFill/>
                    </a:ln>
                    <a:solidFill>
                      <a:srgbClr val="000000"/>
                    </a:solidFill>
                    <a:effectLst/>
                    <a:uLnTx/>
                    <a:uFillTx/>
                    <a:latin typeface="Calibri"/>
                    <a:ea typeface="Calibri"/>
                    <a:cs typeface="Calibri"/>
                    <a:sym typeface="Calibri"/>
                  </a:rPr>
                  <a:t>SPS (samples/symbol)</a:t>
                </a:r>
                <a:r>
                  <a:rPr kumimoji="0" lang="en-US" sz="2000" b="0" i="0" u="none" strike="noStrike" kern="0" cap="none" spc="0" normalizeH="0" baseline="0" noProof="0" dirty="0">
                    <a:ln>
                      <a:noFill/>
                    </a:ln>
                    <a:solidFill>
                      <a:srgbClr val="000000"/>
                    </a:solidFill>
                    <a:effectLst/>
                    <a:uLnTx/>
                    <a:uFillTx/>
                    <a:latin typeface="Calibri"/>
                    <a:ea typeface="Calibri"/>
                    <a:cs typeface="Calibri"/>
                    <a:sym typeface="Calibri"/>
                  </a:rPr>
                  <a:t> = time resolution of the discrete-time model</a:t>
                </a:r>
              </a:p>
              <a:p>
                <a:pPr marL="76200" marR="0" lvl="0" indent="0" algn="l" defTabSz="914400" rtl="0" eaLnBrk="1" fontAlgn="auto" latinLnBrk="0" hangingPunct="1">
                  <a:lnSpc>
                    <a:spcPct val="100000"/>
                  </a:lnSpc>
                  <a:spcBef>
                    <a:spcPts val="480"/>
                  </a:spcBef>
                  <a:spcAft>
                    <a:spcPts val="0"/>
                  </a:spcAft>
                  <a:buClr>
                    <a:srgbClr val="000000"/>
                  </a:buClr>
                  <a:buSzPts val="2400"/>
                  <a:buFont typeface="Arial"/>
                  <a:buNone/>
                  <a:tabLst/>
                  <a:defRPr/>
                </a:pPr>
                <a14:m>
                  <m:oMathPara xmlns:m="http://schemas.openxmlformats.org/officeDocument/2006/math">
                    <m:oMathParaPr>
                      <m:jc m:val="centerGroup"/>
                    </m:oMathParaPr>
                    <m:oMath xmlns:m="http://schemas.openxmlformats.org/officeDocument/2006/math">
                      <m:sSub>
                        <m:sSubPr>
                          <m:ctrlPr>
                            <a:rPr kumimoji="0" lang="ar-EG" sz="2000" b="0" i="1" u="none" strike="noStrike" kern="0" cap="none" spc="0" normalizeH="0" baseline="0" noProof="0" smtClean="0">
                              <a:ln>
                                <a:noFill/>
                              </a:ln>
                              <a:solidFill>
                                <a:srgbClr val="000000"/>
                              </a:solidFill>
                              <a:effectLst/>
                              <a:uLnTx/>
                              <a:uFillTx/>
                              <a:latin typeface="Cambria Math" panose="02040503050406030204" pitchFamily="18" charset="0"/>
                              <a:sym typeface="Calibri"/>
                            </a:rPr>
                          </m:ctrlPr>
                        </m:sSubPr>
                        <m:e>
                          <m:r>
                            <a:rPr kumimoji="0" lang="ar-EG" sz="2000" b="0" i="1" u="none" strike="noStrike" kern="0" cap="none" spc="0" normalizeH="0" baseline="0" noProof="0">
                              <a:ln>
                                <a:noFill/>
                              </a:ln>
                              <a:solidFill>
                                <a:srgbClr val="000000"/>
                              </a:solidFill>
                              <a:effectLst/>
                              <a:uLnTx/>
                              <a:uFillTx/>
                              <a:latin typeface="Cambria Math" panose="02040503050406030204" pitchFamily="18" charset="0"/>
                              <a:sym typeface="Calibri"/>
                            </a:rPr>
                            <m:t>𝑓</m:t>
                          </m:r>
                        </m:e>
                        <m:sub>
                          <m:r>
                            <a:rPr kumimoji="0" lang="ar-EG" sz="2000" b="0" i="1" u="none" strike="noStrike" kern="0" cap="none" spc="0" normalizeH="0" baseline="0" noProof="0">
                              <a:ln>
                                <a:noFill/>
                              </a:ln>
                              <a:solidFill>
                                <a:srgbClr val="000000"/>
                              </a:solidFill>
                              <a:effectLst/>
                              <a:uLnTx/>
                              <a:uFillTx/>
                              <a:latin typeface="Cambria Math" panose="02040503050406030204" pitchFamily="18" charset="0"/>
                              <a:sym typeface="Calibri"/>
                            </a:rPr>
                            <m:t>𝑠</m:t>
                          </m:r>
                        </m:sub>
                      </m:sSub>
                      <m:r>
                        <a:rPr kumimoji="0" lang="ar-EG" sz="2000" b="0" i="0" u="none" strike="noStrike" kern="0" cap="none" spc="0" normalizeH="0" baseline="0" noProof="0">
                          <a:ln>
                            <a:noFill/>
                          </a:ln>
                          <a:solidFill>
                            <a:srgbClr val="000000"/>
                          </a:solidFill>
                          <a:effectLst/>
                          <a:uLnTx/>
                          <a:uFillTx/>
                          <a:latin typeface="Cambria Math" panose="02040503050406030204" pitchFamily="18" charset="0"/>
                          <a:sym typeface="Calibri"/>
                        </a:rPr>
                        <m:t>=</m:t>
                      </m:r>
                      <m:r>
                        <m:rPr>
                          <m:nor/>
                        </m:rPr>
                        <a:rPr kumimoji="0" lang="en-US" sz="2000" b="0" i="1" u="none" strike="noStrike" kern="0" cap="none" spc="0" normalizeH="0" baseline="0" noProof="0">
                          <a:ln>
                            <a:noFill/>
                          </a:ln>
                          <a:solidFill>
                            <a:srgbClr val="000000"/>
                          </a:solidFill>
                          <a:effectLst/>
                          <a:uLnTx/>
                          <a:uFillTx/>
                          <a:latin typeface="Calibri"/>
                          <a:ea typeface="Calibri"/>
                          <a:cs typeface="Calibri"/>
                          <a:sym typeface="Calibri"/>
                        </a:rPr>
                        <m:t>SPS</m:t>
                      </m:r>
                      <m:r>
                        <a:rPr kumimoji="0" lang="en-US" sz="2000" b="0" i="0" u="none" strike="noStrike" kern="0" cap="none" spc="0" normalizeH="0" baseline="0" noProof="0">
                          <a:ln>
                            <a:noFill/>
                          </a:ln>
                          <a:solidFill>
                            <a:srgbClr val="000000"/>
                          </a:solidFill>
                          <a:effectLst/>
                          <a:uLnTx/>
                          <a:uFillTx/>
                          <a:latin typeface="Cambria Math" panose="02040503050406030204" pitchFamily="18" charset="0"/>
                          <a:sym typeface="Calibri"/>
                        </a:rPr>
                        <m:t>⋅</m:t>
                      </m:r>
                      <m:sSub>
                        <m:sSubPr>
                          <m:ctrlPr>
                            <a:rPr kumimoji="0" lang="ar-EG" sz="2000" b="0" i="1" u="none" strike="noStrike" kern="0" cap="none" spc="0" normalizeH="0" baseline="0" noProof="0">
                              <a:ln>
                                <a:noFill/>
                              </a:ln>
                              <a:solidFill>
                                <a:srgbClr val="000000"/>
                              </a:solidFill>
                              <a:effectLst/>
                              <a:uLnTx/>
                              <a:uFillTx/>
                              <a:latin typeface="Cambria Math" panose="02040503050406030204" pitchFamily="18" charset="0"/>
                              <a:sym typeface="Calibri"/>
                            </a:rPr>
                          </m:ctrlPr>
                        </m:sSubPr>
                        <m:e>
                          <m:r>
                            <a:rPr kumimoji="0" lang="ar-EG" sz="2000" b="0" i="1" u="none" strike="noStrike" kern="0" cap="none" spc="0" normalizeH="0" baseline="0" noProof="0">
                              <a:ln>
                                <a:noFill/>
                              </a:ln>
                              <a:solidFill>
                                <a:srgbClr val="000000"/>
                              </a:solidFill>
                              <a:effectLst/>
                              <a:uLnTx/>
                              <a:uFillTx/>
                              <a:latin typeface="Cambria Math" panose="02040503050406030204" pitchFamily="18" charset="0"/>
                              <a:sym typeface="Calibri"/>
                            </a:rPr>
                            <m:t>𝑅</m:t>
                          </m:r>
                        </m:e>
                        <m:sub>
                          <m:r>
                            <a:rPr kumimoji="0" lang="ar-EG" sz="2000" b="0" i="1" u="none" strike="noStrike" kern="0" cap="none" spc="0" normalizeH="0" baseline="0" noProof="0">
                              <a:ln>
                                <a:noFill/>
                              </a:ln>
                              <a:solidFill>
                                <a:srgbClr val="000000"/>
                              </a:solidFill>
                              <a:effectLst/>
                              <a:uLnTx/>
                              <a:uFillTx/>
                              <a:latin typeface="Cambria Math" panose="02040503050406030204" pitchFamily="18" charset="0"/>
                              <a:sym typeface="Calibri"/>
                            </a:rPr>
                            <m:t>𝑠</m:t>
                          </m:r>
                        </m:sub>
                      </m:sSub>
                    </m:oMath>
                  </m:oMathPara>
                </a14:m>
                <a:endParaRPr kumimoji="0" lang="ar-EG" sz="2000" b="0" i="0" u="none" strike="noStrike" kern="0" cap="none" spc="0" normalizeH="0" baseline="0" noProof="0" dirty="0">
                  <a:ln>
                    <a:noFill/>
                  </a:ln>
                  <a:solidFill>
                    <a:srgbClr val="000000"/>
                  </a:solidFill>
                  <a:effectLst/>
                  <a:uLnTx/>
                  <a:uFillTx/>
                  <a:latin typeface="Calibri"/>
                  <a:ea typeface="Calibri"/>
                  <a:cs typeface="Calibri"/>
                  <a:sym typeface="Calibri"/>
                </a:endParaRPr>
              </a:p>
              <a:p>
                <a:pPr marL="76200" marR="0" lvl="0" indent="0" algn="l" defTabSz="914400" rtl="0" eaLnBrk="1" fontAlgn="auto" latinLnBrk="0" hangingPunct="1">
                  <a:lnSpc>
                    <a:spcPct val="100000"/>
                  </a:lnSpc>
                  <a:spcBef>
                    <a:spcPts val="480"/>
                  </a:spcBef>
                  <a:spcAft>
                    <a:spcPts val="0"/>
                  </a:spcAft>
                  <a:buClr>
                    <a:srgbClr val="000000"/>
                  </a:buClr>
                  <a:buSzPts val="2400"/>
                  <a:buFont typeface="Arial"/>
                  <a:buNone/>
                  <a:tabLst/>
                  <a:defRPr/>
                </a:pPr>
                <a:r>
                  <a:rPr kumimoji="0" lang="en-US" sz="2000" b="0" i="0" u="none" strike="noStrike" kern="0" cap="none" spc="0" normalizeH="0" baseline="0" noProof="0" dirty="0">
                    <a:ln>
                      <a:noFill/>
                    </a:ln>
                    <a:solidFill>
                      <a:srgbClr val="000000"/>
                    </a:solidFill>
                    <a:effectLst/>
                    <a:uLnTx/>
                    <a:uFillTx/>
                    <a:latin typeface="Calibri"/>
                    <a:ea typeface="Calibri"/>
                    <a:cs typeface="Calibri"/>
                    <a:sym typeface="Calibri"/>
                  </a:rPr>
                  <a:t>Higher SPS → smoother, more accurate pulse shape (less discretization error)</a:t>
                </a:r>
              </a:p>
              <a:p>
                <a:pPr marL="76200" marR="0" lvl="0" indent="0" algn="l" defTabSz="914400" rtl="0" eaLnBrk="1" fontAlgn="auto" latinLnBrk="0" hangingPunct="1">
                  <a:lnSpc>
                    <a:spcPct val="100000"/>
                  </a:lnSpc>
                  <a:spcBef>
                    <a:spcPts val="480"/>
                  </a:spcBef>
                  <a:spcAft>
                    <a:spcPts val="0"/>
                  </a:spcAft>
                  <a:buClr>
                    <a:srgbClr val="000000"/>
                  </a:buClr>
                  <a:buSzPts val="2400"/>
                  <a:buFont typeface="Arial"/>
                  <a:buNone/>
                  <a:tabLst/>
                  <a:defRPr/>
                </a:pPr>
                <a:r>
                  <a:rPr kumimoji="0" lang="en-US" sz="2000" b="0" i="0" u="none" strike="noStrike" kern="0" cap="none" spc="0" normalizeH="0" baseline="0" noProof="0" dirty="0">
                    <a:ln>
                      <a:noFill/>
                    </a:ln>
                    <a:solidFill>
                      <a:srgbClr val="000000"/>
                    </a:solidFill>
                    <a:effectLst/>
                    <a:uLnTx/>
                    <a:uFillTx/>
                    <a:latin typeface="Calibri"/>
                    <a:ea typeface="Calibri"/>
                    <a:cs typeface="Calibri"/>
                    <a:sym typeface="Calibri"/>
                  </a:rPr>
                  <a:t>Tradeoff: more taps → more computations/hardware</a:t>
                </a:r>
              </a:p>
              <a:p>
                <a:pPr marL="457200" marR="0" lvl="0" indent="-381000" algn="l" defTabSz="914400" rtl="0" eaLnBrk="1" fontAlgn="auto" latinLnBrk="0" hangingPunct="1">
                  <a:lnSpc>
                    <a:spcPct val="100000"/>
                  </a:lnSpc>
                  <a:spcBef>
                    <a:spcPts val="480"/>
                  </a:spcBef>
                  <a:spcAft>
                    <a:spcPts val="0"/>
                  </a:spcAft>
                  <a:buClr>
                    <a:srgbClr val="000000"/>
                  </a:buClr>
                  <a:buSzPts val="2400"/>
                  <a:buFont typeface="Arial"/>
                  <a:buChar char="•"/>
                  <a:tabLst/>
                  <a:defRPr/>
                </a:pPr>
                <a:r>
                  <a:rPr kumimoji="0" lang="en-US" sz="2000" b="1" i="0" u="none" strike="noStrike" kern="0" cap="none" spc="0" normalizeH="0" baseline="0" noProof="0" dirty="0">
                    <a:ln>
                      <a:noFill/>
                    </a:ln>
                    <a:solidFill>
                      <a:srgbClr val="000000"/>
                    </a:solidFill>
                    <a:effectLst/>
                    <a:uLnTx/>
                    <a:uFillTx/>
                    <a:latin typeface="Calibri"/>
                    <a:ea typeface="Calibri"/>
                    <a:cs typeface="Calibri"/>
                    <a:sym typeface="Calibri"/>
                  </a:rPr>
                  <a:t>For Even-length (Type II):</a:t>
                </a:r>
                <a:endParaRPr kumimoji="0" lang="en-US" sz="2000" b="0" i="0" u="none" strike="noStrike" kern="0" cap="none" spc="0" normalizeH="0" baseline="0" noProof="0" dirty="0">
                  <a:ln>
                    <a:noFill/>
                  </a:ln>
                  <a:solidFill>
                    <a:srgbClr val="000000"/>
                  </a:solidFill>
                  <a:effectLst/>
                  <a:uLnTx/>
                  <a:uFillTx/>
                  <a:latin typeface="Calibri"/>
                  <a:ea typeface="Calibri"/>
                  <a:cs typeface="Calibri"/>
                  <a:sym typeface="Calibri"/>
                </a:endParaRPr>
              </a:p>
              <a:p>
                <a:pPr marL="76200" marR="0" lvl="0" indent="0" algn="l" defTabSz="914400" rtl="0" eaLnBrk="1" fontAlgn="auto" latinLnBrk="0" hangingPunct="1">
                  <a:lnSpc>
                    <a:spcPct val="100000"/>
                  </a:lnSpc>
                  <a:spcBef>
                    <a:spcPts val="480"/>
                  </a:spcBef>
                  <a:spcAft>
                    <a:spcPts val="0"/>
                  </a:spcAft>
                  <a:buClr>
                    <a:srgbClr val="000000"/>
                  </a:buClr>
                  <a:buSzPts val="2400"/>
                  <a:buFont typeface="Arial"/>
                  <a:buNone/>
                  <a:tabLst/>
                  <a:defRPr/>
                </a:pPr>
                <a14:m>
                  <m:oMathPara xmlns:m="http://schemas.openxmlformats.org/officeDocument/2006/math">
                    <m:oMathParaPr>
                      <m:jc m:val="centerGroup"/>
                    </m:oMathParaPr>
                    <m:oMath xmlns:m="http://schemas.openxmlformats.org/officeDocument/2006/math">
                      <m:r>
                        <a:rPr kumimoji="0" lang="en-US" sz="2000" b="0" i="1" u="none" strike="noStrike" kern="0" cap="none" spc="0" normalizeH="0" baseline="0" noProof="0">
                          <a:ln>
                            <a:noFill/>
                          </a:ln>
                          <a:solidFill>
                            <a:srgbClr val="000000"/>
                          </a:solidFill>
                          <a:effectLst/>
                          <a:uLnTx/>
                          <a:uFillTx/>
                          <a:latin typeface="Cambria Math" panose="02040503050406030204" pitchFamily="18" charset="0"/>
                          <a:sym typeface="Calibri"/>
                        </a:rPr>
                        <m:t>𝑁</m:t>
                      </m:r>
                      <m:r>
                        <a:rPr kumimoji="0" lang="en-US" sz="2000" b="0" i="0" u="none" strike="noStrike" kern="0" cap="none" spc="0" normalizeH="0" baseline="0" noProof="0">
                          <a:ln>
                            <a:noFill/>
                          </a:ln>
                          <a:solidFill>
                            <a:srgbClr val="000000"/>
                          </a:solidFill>
                          <a:effectLst/>
                          <a:uLnTx/>
                          <a:uFillTx/>
                          <a:latin typeface="Cambria Math" panose="02040503050406030204" pitchFamily="18" charset="0"/>
                          <a:sym typeface="Calibri"/>
                        </a:rPr>
                        <m:t>=</m:t>
                      </m:r>
                      <m:r>
                        <m:rPr>
                          <m:nor/>
                        </m:rPr>
                        <a:rPr kumimoji="0" lang="en-US" sz="2000" b="0" i="1" u="none" strike="noStrike" kern="0" cap="none" spc="0" normalizeH="0" baseline="0" noProof="0">
                          <a:ln>
                            <a:noFill/>
                          </a:ln>
                          <a:solidFill>
                            <a:srgbClr val="000000"/>
                          </a:solidFill>
                          <a:effectLst/>
                          <a:uLnTx/>
                          <a:uFillTx/>
                          <a:latin typeface="Calibri"/>
                          <a:ea typeface="Calibri"/>
                          <a:cs typeface="Calibri"/>
                          <a:sym typeface="Calibri"/>
                        </a:rPr>
                        <m:t>span</m:t>
                      </m:r>
                      <m:r>
                        <a:rPr kumimoji="0" lang="en-US" sz="2000" b="0" i="0" u="none" strike="noStrike" kern="0" cap="none" spc="0" normalizeH="0" baseline="0" noProof="0">
                          <a:ln>
                            <a:noFill/>
                          </a:ln>
                          <a:solidFill>
                            <a:srgbClr val="000000"/>
                          </a:solidFill>
                          <a:effectLst/>
                          <a:uLnTx/>
                          <a:uFillTx/>
                          <a:latin typeface="Cambria Math" panose="02040503050406030204" pitchFamily="18" charset="0"/>
                          <a:sym typeface="Calibri"/>
                        </a:rPr>
                        <m:t>⋅</m:t>
                      </m:r>
                      <m:r>
                        <m:rPr>
                          <m:nor/>
                        </m:rPr>
                        <a:rPr kumimoji="0" lang="en-US" sz="2000" b="0" i="1" u="none" strike="noStrike" kern="0" cap="none" spc="0" normalizeH="0" baseline="0" noProof="0">
                          <a:ln>
                            <a:noFill/>
                          </a:ln>
                          <a:solidFill>
                            <a:srgbClr val="000000"/>
                          </a:solidFill>
                          <a:effectLst/>
                          <a:uLnTx/>
                          <a:uFillTx/>
                          <a:latin typeface="Calibri"/>
                          <a:ea typeface="Calibri"/>
                          <a:cs typeface="Calibri"/>
                          <a:sym typeface="Calibri"/>
                        </a:rPr>
                        <m:t>SPS</m:t>
                      </m:r>
                    </m:oMath>
                  </m:oMathPara>
                </a14:m>
                <a:endParaRPr kumimoji="0" lang="en-US" sz="2000" b="0" i="0" u="none" strike="noStrike" kern="0" cap="none" spc="0" normalizeH="0" baseline="0" noProof="0" dirty="0">
                  <a:ln>
                    <a:noFill/>
                  </a:ln>
                  <a:solidFill>
                    <a:srgbClr val="000000"/>
                  </a:solidFill>
                  <a:effectLst/>
                  <a:uLnTx/>
                  <a:uFillTx/>
                  <a:latin typeface="Calibri"/>
                  <a:ea typeface="Calibri"/>
                  <a:cs typeface="Calibri"/>
                  <a:sym typeface="Calibri"/>
                </a:endParaRPr>
              </a:p>
              <a:p>
                <a:pPr marL="457200" marR="0" lvl="0" indent="-381000" algn="l" defTabSz="914400" rtl="0" eaLnBrk="1" fontAlgn="auto" latinLnBrk="0" hangingPunct="1">
                  <a:lnSpc>
                    <a:spcPct val="100000"/>
                  </a:lnSpc>
                  <a:spcBef>
                    <a:spcPts val="480"/>
                  </a:spcBef>
                  <a:spcAft>
                    <a:spcPts val="0"/>
                  </a:spcAft>
                  <a:buClr>
                    <a:srgbClr val="000000"/>
                  </a:buClr>
                  <a:buSzPts val="2400"/>
                  <a:buFont typeface="Arial"/>
                  <a:buChar char="•"/>
                  <a:tabLst/>
                  <a:defRPr/>
                </a:pPr>
                <a:endParaRPr kumimoji="0" lang="en-US" sz="24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mc:Choice>
        <mc:Fallback xmlns="">
          <p:sp>
            <p:nvSpPr>
              <p:cNvPr id="7" name="Text Placeholder 2">
                <a:extLst>
                  <a:ext uri="{FF2B5EF4-FFF2-40B4-BE49-F238E27FC236}">
                    <a16:creationId xmlns:a16="http://schemas.microsoft.com/office/drawing/2014/main" id="{006BD8EA-E058-69E8-D568-871C66F41037}"/>
                  </a:ext>
                </a:extLst>
              </p:cNvPr>
              <p:cNvSpPr txBox="1">
                <a:spLocks noRot="1" noChangeAspect="1" noMove="1" noResize="1" noEditPoints="1" noAdjustHandles="1" noChangeArrowheads="1" noChangeShapeType="1" noTextEdit="1"/>
              </p:cNvSpPr>
              <p:nvPr/>
            </p:nvSpPr>
            <p:spPr>
              <a:xfrm>
                <a:off x="609600" y="1642189"/>
                <a:ext cx="10972800" cy="4310742"/>
              </a:xfrm>
              <a:prstGeom prst="rect">
                <a:avLst/>
              </a:prstGeom>
              <a:blipFill>
                <a:blip r:embed="rId2"/>
                <a:stretch>
                  <a:fillRect l="-56" t="-424"/>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15163633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A2026B4-4FFC-3AC3-A96C-D7C1873A0F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7DD56275-51AE-AA17-89E9-3E71692AA9E8}"/>
              </a:ext>
            </a:extLst>
          </p:cNvPr>
          <p:cNvSpPr>
            <a:spLocks noGrp="1"/>
          </p:cNvSpPr>
          <p:nvPr>
            <p:ph type="title"/>
          </p:nvPr>
        </p:nvSpPr>
        <p:spPr/>
        <p:txBody>
          <a:bodyPr>
            <a:normAutofit/>
          </a:bodyPr>
          <a:lstStyle/>
          <a:p>
            <a:r>
              <a:rPr lang="en-US" sz="3200" dirty="0">
                <a:latin typeface="Times New Roman" panose="02020603050405020304" pitchFamily="18" charset="0"/>
                <a:cs typeface="Times New Roman" panose="02020603050405020304" pitchFamily="18" charset="0"/>
              </a:rPr>
              <a:t>Simulation</a:t>
            </a:r>
            <a:r>
              <a:rPr lang="en-US" dirty="0">
                <a:latin typeface="Times New Roman" panose="02020603050405020304" pitchFamily="18" charset="0"/>
                <a:cs typeface="Times New Roman" panose="02020603050405020304" pitchFamily="18" charset="0"/>
              </a:rPr>
              <a:t> Results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xmlns="" id="{C33DB53A-84E6-7052-C923-C69AF5DD2B1D}"/>
                  </a:ext>
                </a:extLst>
              </p:cNvPr>
              <p:cNvSpPr>
                <a:spLocks noGrp="1"/>
              </p:cNvSpPr>
              <p:nvPr>
                <p:ph type="body" idx="1"/>
              </p:nvPr>
            </p:nvSpPr>
            <p:spPr/>
            <p:txBody>
              <a:bodyPr/>
              <a:lstStyle/>
              <a:p>
                <a:r>
                  <a:rPr lang="en-US" sz="200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Span 4 &gt; Span 3: </a:t>
                </a:r>
                <a:r>
                  <a:rPr lang="en-US" sz="2000" b="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better tail capture in time; cleaner/less truncated shaping</a:t>
                </a:r>
              </a:p>
              <a:p>
                <a:r>
                  <a:rPr lang="en-US" sz="200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SPS 16 &gt; SPS 8: </a:t>
                </a:r>
                <a:r>
                  <a:rPr lang="en-US" sz="2000" b="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finer sampling → smoother impulse response and more faithful discrete-time shaping</a:t>
                </a:r>
              </a:p>
              <a:p>
                <a:r>
                  <a:rPr lang="en-US" sz="200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Selected for primary model: span = 4, SPS = 16</a:t>
                </a:r>
                <a:r>
                  <a:rPr lang="en-US" sz="2000" b="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 , </a:t>
                </a:r>
                <a14:m>
                  <m:oMath xmlns:m="http://schemas.openxmlformats.org/officeDocument/2006/math">
                    <m:r>
                      <a:rPr lang="en-US" sz="2000" b="0" i="1" smtClean="0">
                        <a:solidFill>
                          <a:schemeClr val="tx1">
                            <a:lumMod val="85000"/>
                            <a:lumOff val="15000"/>
                          </a:schemeClr>
                        </a:solidFill>
                        <a:latin typeface="Cambria Math" panose="02040503050406030204" pitchFamily="18" charset="0"/>
                      </a:rPr>
                      <m:t>𝑁</m:t>
                    </m:r>
                    <m:r>
                      <a:rPr lang="en-US" sz="2000" b="0" smtClean="0">
                        <a:solidFill>
                          <a:schemeClr val="tx1">
                            <a:lumMod val="85000"/>
                            <a:lumOff val="15000"/>
                          </a:schemeClr>
                        </a:solidFill>
                        <a:latin typeface="Cambria Math" panose="02040503050406030204" pitchFamily="18" charset="0"/>
                      </a:rPr>
                      <m:t>=</m:t>
                    </m:r>
                    <m:r>
                      <m:rPr>
                        <m:nor/>
                      </m:rPr>
                      <a:rPr lang="en-US" sz="2000" b="0" i="1">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m:t>span</m:t>
                    </m:r>
                    <m:r>
                      <a:rPr lang="en-US" sz="2000" b="0" smtClean="0">
                        <a:solidFill>
                          <a:schemeClr val="tx1">
                            <a:lumMod val="85000"/>
                            <a:lumOff val="15000"/>
                          </a:schemeClr>
                        </a:solidFill>
                        <a:latin typeface="Cambria Math" panose="02040503050406030204" pitchFamily="18" charset="0"/>
                      </a:rPr>
                      <m:t>⋅</m:t>
                    </m:r>
                    <m:r>
                      <m:rPr>
                        <m:nor/>
                      </m:rPr>
                      <a:rPr lang="en-US" sz="2000" b="0" i="1">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m:t>SPS</m:t>
                    </m:r>
                  </m:oMath>
                </a14:m>
                <a:r>
                  <a:rPr lang="en-US" sz="2000" b="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 = 64 taps</a:t>
                </a:r>
              </a:p>
              <a:p>
                <a:endParaRPr lang="en-US" sz="2000" dirty="0"/>
              </a:p>
            </p:txBody>
          </p:sp>
        </mc:Choice>
        <mc:Fallback xmlns="">
          <p:sp>
            <p:nvSpPr>
              <p:cNvPr id="3" name="Text Placeholder 2">
                <a:extLst>
                  <a:ext uri="{FF2B5EF4-FFF2-40B4-BE49-F238E27FC236}">
                    <a16:creationId xmlns:a16="http://schemas.microsoft.com/office/drawing/2014/main" id="{C33DB53A-84E6-7052-C923-C69AF5DD2B1D}"/>
                  </a:ext>
                </a:extLst>
              </p:cNvPr>
              <p:cNvSpPr>
                <a:spLocks noGrp="1" noRot="1" noChangeAspect="1" noMove="1" noResize="1" noEditPoints="1" noAdjustHandles="1" noChangeArrowheads="1" noChangeShapeType="1" noTextEdit="1"/>
              </p:cNvSpPr>
              <p:nvPr>
                <p:ph type="body" idx="1"/>
              </p:nvPr>
            </p:nvSpPr>
            <p:spPr>
              <a:blipFill>
                <a:blip r:embed="rId2"/>
                <a:stretch>
                  <a:fillRect r="-59"/>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xmlns="" id="{CE1F7043-4B1F-705B-E482-67177ACABD11}"/>
              </a:ext>
            </a:extLst>
          </p:cNvPr>
          <p:cNvPicPr>
            <a:picLocks noChangeAspect="1"/>
          </p:cNvPicPr>
          <p:nvPr/>
        </p:nvPicPr>
        <p:blipFill>
          <a:blip r:embed="rId3"/>
          <a:stretch>
            <a:fillRect/>
          </a:stretch>
        </p:blipFill>
        <p:spPr>
          <a:xfrm>
            <a:off x="721568" y="3153747"/>
            <a:ext cx="5268686" cy="2985796"/>
          </a:xfrm>
          <a:prstGeom prst="rect">
            <a:avLst/>
          </a:prstGeom>
        </p:spPr>
      </p:pic>
      <p:pic>
        <p:nvPicPr>
          <p:cNvPr id="5" name="Picture 4">
            <a:extLst>
              <a:ext uri="{FF2B5EF4-FFF2-40B4-BE49-F238E27FC236}">
                <a16:creationId xmlns:a16="http://schemas.microsoft.com/office/drawing/2014/main" xmlns="" id="{1CA2FC1C-8BE9-D5B5-E6D8-880EEC53498D}"/>
              </a:ext>
            </a:extLst>
          </p:cNvPr>
          <p:cNvPicPr>
            <a:picLocks noChangeAspect="1"/>
          </p:cNvPicPr>
          <p:nvPr/>
        </p:nvPicPr>
        <p:blipFill>
          <a:blip r:embed="rId4"/>
          <a:stretch>
            <a:fillRect/>
          </a:stretch>
        </p:blipFill>
        <p:spPr>
          <a:xfrm>
            <a:off x="5990254" y="3153747"/>
            <a:ext cx="5393093" cy="2985796"/>
          </a:xfrm>
          <a:prstGeom prst="rect">
            <a:avLst/>
          </a:prstGeom>
        </p:spPr>
      </p:pic>
    </p:spTree>
    <p:extLst>
      <p:ext uri="{BB962C8B-B14F-4D97-AF65-F5344CB8AC3E}">
        <p14:creationId xmlns:p14="http://schemas.microsoft.com/office/powerpoint/2010/main" val="39712471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7FD7FEA-42B5-E6EB-C6FF-322FC25DF6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A0E104B1-7C86-0AC7-5E0B-8C226DB62F4A}"/>
              </a:ext>
            </a:extLst>
          </p:cNvPr>
          <p:cNvSpPr>
            <a:spLocks noGrp="1"/>
          </p:cNvSpPr>
          <p:nvPr>
            <p:ph type="title"/>
          </p:nvPr>
        </p:nvSpPr>
        <p:spPr/>
        <p:txBody>
          <a:bodyPr>
            <a:normAutofit/>
          </a:bodyPr>
          <a:lstStyle/>
          <a:p>
            <a:r>
              <a:rPr lang="en-US" sz="3200" dirty="0">
                <a:latin typeface="Times New Roman" panose="02020603050405020304" pitchFamily="18" charset="0"/>
                <a:cs typeface="Times New Roman" panose="02020603050405020304" pitchFamily="18" charset="0"/>
              </a:rPr>
              <a:t>Direct VS Transposed Form</a:t>
            </a:r>
          </a:p>
        </p:txBody>
      </p:sp>
      <p:sp>
        <p:nvSpPr>
          <p:cNvPr id="9" name="Text Placeholder 2">
            <a:extLst>
              <a:ext uri="{FF2B5EF4-FFF2-40B4-BE49-F238E27FC236}">
                <a16:creationId xmlns:a16="http://schemas.microsoft.com/office/drawing/2014/main" xmlns="" id="{E851364A-A28B-4001-7336-2F6262790F06}"/>
              </a:ext>
            </a:extLst>
          </p:cNvPr>
          <p:cNvSpPr txBox="1">
            <a:spLocks/>
          </p:cNvSpPr>
          <p:nvPr/>
        </p:nvSpPr>
        <p:spPr>
          <a:xfrm>
            <a:off x="609600" y="3023118"/>
            <a:ext cx="10972800" cy="337768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342900" algn="l" rtl="0">
              <a:lnSpc>
                <a:spcPct val="100000"/>
              </a:lnSpc>
              <a:spcBef>
                <a:spcPts val="400"/>
              </a:spcBef>
              <a:spcAft>
                <a:spcPts val="0"/>
              </a:spcAft>
              <a:buClr>
                <a:schemeClr val="dk1"/>
              </a:buClr>
              <a:buSzPts val="1800"/>
              <a:buFont typeface="Calibri"/>
              <a:buChar char="–"/>
              <a:defRPr sz="20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dk1"/>
              </a:buClr>
              <a:buSzPts val="1800"/>
              <a:buFont typeface="Calibri"/>
              <a:buChar char="–"/>
              <a:defRPr sz="1800" b="0" i="0" u="none" strike="noStrike" cap="none">
                <a:solidFill>
                  <a:schemeClr val="dk1"/>
                </a:solidFill>
                <a:latin typeface="Calibri"/>
                <a:ea typeface="Calibri"/>
                <a:cs typeface="Calibri"/>
                <a:sym typeface="Calibri"/>
              </a:defRPr>
            </a:lvl3pPr>
            <a:lvl4pPr marL="1828800" marR="0" lvl="3" indent="-330200" algn="l" rtl="0">
              <a:lnSpc>
                <a:spcPct val="100000"/>
              </a:lnSpc>
              <a:spcBef>
                <a:spcPts val="336"/>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lnSpc>
                <a:spcPct val="100000"/>
              </a:lnSpc>
              <a:spcBef>
                <a:spcPts val="336"/>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457200" marR="0" lvl="0" indent="-381000" algn="l" defTabSz="914400" rtl="0" eaLnBrk="1" fontAlgn="auto" latinLnBrk="0" hangingPunct="1">
              <a:lnSpc>
                <a:spcPct val="100000"/>
              </a:lnSpc>
              <a:spcBef>
                <a:spcPts val="480"/>
              </a:spcBef>
              <a:spcAft>
                <a:spcPts val="0"/>
              </a:spcAft>
              <a:buClr>
                <a:srgbClr val="000000"/>
              </a:buClr>
              <a:buSzPts val="2400"/>
              <a:buFont typeface="Arial"/>
              <a:buChar char="•"/>
              <a:tabLst/>
              <a:defRPr/>
            </a:pPr>
            <a:r>
              <a:rPr kumimoji="0" lang="en-US" sz="1800" b="1" i="0" u="none" strike="noStrike" kern="0" cap="none" spc="0" normalizeH="0" baseline="0" noProof="0" dirty="0">
                <a:ln>
                  <a:noFill/>
                </a:ln>
                <a:solidFill>
                  <a:srgbClr val="000000"/>
                </a:solidFill>
                <a:effectLst/>
                <a:uLnTx/>
                <a:uFillTx/>
                <a:latin typeface="Calibri"/>
                <a:ea typeface="Calibri"/>
                <a:cs typeface="Calibri"/>
                <a:sym typeface="Calibri"/>
              </a:rPr>
              <a:t>Goal in BLE TX:</a:t>
            </a:r>
            <a:r>
              <a:rPr kumimoji="0" lang="en-US" sz="1800" b="0" i="0" u="none" strike="noStrike" kern="0" cap="none" spc="0" normalizeH="0" baseline="0" noProof="0" dirty="0">
                <a:ln>
                  <a:noFill/>
                </a:ln>
                <a:solidFill>
                  <a:srgbClr val="000000"/>
                </a:solidFill>
                <a:effectLst/>
                <a:uLnTx/>
                <a:uFillTx/>
                <a:latin typeface="Calibri"/>
                <a:ea typeface="Calibri"/>
                <a:cs typeface="Calibri"/>
                <a:sym typeface="Calibri"/>
              </a:rPr>
              <a:t> minimize </a:t>
            </a:r>
            <a:r>
              <a:rPr kumimoji="0" lang="en-US" sz="1800" b="1" i="0" u="none" strike="noStrike" kern="0" cap="none" spc="0" normalizeH="0" baseline="0" noProof="0" dirty="0">
                <a:ln>
                  <a:noFill/>
                </a:ln>
                <a:solidFill>
                  <a:srgbClr val="000000"/>
                </a:solidFill>
                <a:effectLst/>
                <a:uLnTx/>
                <a:uFillTx/>
                <a:latin typeface="Calibri"/>
                <a:ea typeface="Calibri"/>
                <a:cs typeface="Calibri"/>
                <a:sym typeface="Calibri"/>
              </a:rPr>
              <a:t>power</a:t>
            </a:r>
            <a:r>
              <a:rPr kumimoji="0" lang="en-US" sz="1800" b="0" i="0" u="none" strike="noStrike" kern="0" cap="none" spc="0" normalizeH="0" baseline="0" noProof="0" dirty="0">
                <a:ln>
                  <a:noFill/>
                </a:ln>
                <a:solidFill>
                  <a:srgbClr val="000000"/>
                </a:solidFill>
                <a:effectLst/>
                <a:uLnTx/>
                <a:uFillTx/>
                <a:latin typeface="Calibri"/>
                <a:ea typeface="Calibri"/>
                <a:cs typeface="Calibri"/>
                <a:sym typeface="Calibri"/>
              </a:rPr>
              <a:t> (not maximum throughput)</a:t>
            </a:r>
          </a:p>
          <a:p>
            <a:pPr marL="457200" marR="0" lvl="0" indent="-381000" algn="l" defTabSz="914400" rtl="0" eaLnBrk="1" fontAlgn="auto" latinLnBrk="0" hangingPunct="1">
              <a:lnSpc>
                <a:spcPct val="100000"/>
              </a:lnSpc>
              <a:spcBef>
                <a:spcPts val="480"/>
              </a:spcBef>
              <a:spcAft>
                <a:spcPts val="0"/>
              </a:spcAft>
              <a:buClr>
                <a:srgbClr val="000000"/>
              </a:buClr>
              <a:buSzPts val="2400"/>
              <a:buFont typeface="Arial"/>
              <a:buChar char="•"/>
              <a:tabLst/>
              <a:defRPr/>
            </a:pPr>
            <a:r>
              <a:rPr kumimoji="0" lang="en-US" sz="1800" b="1" i="0" u="none" strike="noStrike" kern="0" cap="none" spc="0" normalizeH="0" baseline="0" noProof="0" dirty="0">
                <a:ln>
                  <a:noFill/>
                </a:ln>
                <a:solidFill>
                  <a:srgbClr val="000000"/>
                </a:solidFill>
                <a:effectLst/>
                <a:uLnTx/>
                <a:uFillTx/>
                <a:latin typeface="Calibri"/>
                <a:ea typeface="Calibri"/>
                <a:cs typeface="Calibri"/>
                <a:sym typeface="Calibri"/>
              </a:rPr>
              <a:t>Direct Form</a:t>
            </a:r>
            <a:endParaRPr kumimoji="0" lang="en-US" sz="1800" b="0" i="0" u="none" strike="noStrike" kern="0" cap="none" spc="0" normalizeH="0" baseline="0" noProof="0" dirty="0">
              <a:ln>
                <a:noFill/>
              </a:ln>
              <a:solidFill>
                <a:srgbClr val="000000"/>
              </a:solidFill>
              <a:effectLst/>
              <a:uLnTx/>
              <a:uFillTx/>
              <a:latin typeface="Calibri"/>
              <a:ea typeface="Calibri"/>
              <a:cs typeface="Calibri"/>
              <a:sym typeface="Calibri"/>
            </a:endParaRPr>
          </a:p>
          <a:p>
            <a:pPr marL="76200" marR="0" lvl="0" indent="0" algn="l" defTabSz="914400" rtl="0" eaLnBrk="1" fontAlgn="auto" latinLnBrk="0" hangingPunct="1">
              <a:lnSpc>
                <a:spcPct val="100000"/>
              </a:lnSpc>
              <a:spcBef>
                <a:spcPts val="480"/>
              </a:spcBef>
              <a:spcAft>
                <a:spcPts val="0"/>
              </a:spcAft>
              <a:buClr>
                <a:srgbClr val="000000"/>
              </a:buClr>
              <a:buSzPts val="2400"/>
              <a:buFont typeface="Arial"/>
              <a:buNone/>
              <a:tabLst/>
              <a:defRPr/>
            </a:pPr>
            <a:r>
              <a:rPr kumimoji="0" lang="en-US" sz="1800" b="0" i="0" u="none" strike="noStrike" kern="0" cap="none" spc="0" normalizeH="0" baseline="0" noProof="0" dirty="0">
                <a:ln>
                  <a:noFill/>
                </a:ln>
                <a:solidFill>
                  <a:srgbClr val="000000"/>
                </a:solidFill>
                <a:effectLst/>
                <a:uLnTx/>
                <a:uFillTx/>
                <a:latin typeface="Calibri"/>
                <a:ea typeface="Calibri"/>
                <a:cs typeface="Calibri"/>
                <a:sym typeface="Calibri"/>
              </a:rPr>
              <a:t>Local dataflow (delay line → MAC) → </a:t>
            </a:r>
            <a:r>
              <a:rPr kumimoji="0" lang="en-US" sz="1800" b="1" i="0" u="none" strike="noStrike" kern="0" cap="none" spc="0" normalizeH="0" baseline="0" noProof="0" dirty="0">
                <a:ln>
                  <a:noFill/>
                </a:ln>
                <a:solidFill>
                  <a:srgbClr val="000000"/>
                </a:solidFill>
                <a:effectLst/>
                <a:uLnTx/>
                <a:uFillTx/>
                <a:latin typeface="Calibri"/>
                <a:ea typeface="Calibri"/>
                <a:cs typeface="Calibri"/>
                <a:sym typeface="Calibri"/>
              </a:rPr>
              <a:t>less switching / simpler routing</a:t>
            </a:r>
            <a:endParaRPr kumimoji="0" lang="en-US" sz="1800" b="0" i="0" u="none" strike="noStrike" kern="0" cap="none" spc="0" normalizeH="0" baseline="0" noProof="0" dirty="0">
              <a:ln>
                <a:noFill/>
              </a:ln>
              <a:solidFill>
                <a:srgbClr val="000000"/>
              </a:solidFill>
              <a:effectLst/>
              <a:uLnTx/>
              <a:uFillTx/>
              <a:latin typeface="Calibri"/>
              <a:ea typeface="Calibri"/>
              <a:cs typeface="Calibri"/>
              <a:sym typeface="Calibri"/>
            </a:endParaRPr>
          </a:p>
          <a:p>
            <a:pPr marL="76200" marR="0" lvl="0" indent="0" algn="l" defTabSz="914400" rtl="0" eaLnBrk="1" fontAlgn="auto" latinLnBrk="0" hangingPunct="1">
              <a:lnSpc>
                <a:spcPct val="100000"/>
              </a:lnSpc>
              <a:spcBef>
                <a:spcPts val="480"/>
              </a:spcBef>
              <a:spcAft>
                <a:spcPts val="0"/>
              </a:spcAft>
              <a:buClr>
                <a:srgbClr val="000000"/>
              </a:buClr>
              <a:buSzPts val="2400"/>
              <a:buFont typeface="Arial"/>
              <a:buNone/>
              <a:tabLst/>
              <a:defRPr/>
            </a:pPr>
            <a:r>
              <a:rPr kumimoji="0" lang="en-US" sz="1800" b="0" i="0" u="none" strike="noStrike" kern="0" cap="none" spc="0" normalizeH="0" baseline="0" noProof="0" dirty="0">
                <a:ln>
                  <a:noFill/>
                </a:ln>
                <a:solidFill>
                  <a:srgbClr val="000000"/>
                </a:solidFill>
                <a:effectLst/>
                <a:uLnTx/>
                <a:uFillTx/>
                <a:latin typeface="Calibri"/>
                <a:ea typeface="Calibri"/>
                <a:cs typeface="Calibri"/>
                <a:sym typeface="Calibri"/>
              </a:rPr>
              <a:t>No input broadcast → </a:t>
            </a:r>
            <a:r>
              <a:rPr kumimoji="0" lang="en-US" sz="1800" b="1" i="0" u="none" strike="noStrike" kern="0" cap="none" spc="0" normalizeH="0" baseline="0" noProof="0" dirty="0">
                <a:ln>
                  <a:noFill/>
                </a:ln>
                <a:solidFill>
                  <a:srgbClr val="000000"/>
                </a:solidFill>
                <a:effectLst/>
                <a:uLnTx/>
                <a:uFillTx/>
                <a:latin typeface="Calibri"/>
                <a:ea typeface="Calibri"/>
                <a:cs typeface="Calibri"/>
                <a:sym typeface="Calibri"/>
              </a:rPr>
              <a:t>lower fanout</a:t>
            </a:r>
            <a:endParaRPr kumimoji="0" lang="en-US" sz="1800" b="0" i="0" u="none" strike="noStrike" kern="0" cap="none" spc="0" normalizeH="0" baseline="0" noProof="0" dirty="0">
              <a:ln>
                <a:noFill/>
              </a:ln>
              <a:solidFill>
                <a:srgbClr val="000000"/>
              </a:solidFill>
              <a:effectLst/>
              <a:uLnTx/>
              <a:uFillTx/>
              <a:latin typeface="Calibri"/>
              <a:ea typeface="Calibri"/>
              <a:cs typeface="Calibri"/>
              <a:sym typeface="Calibri"/>
            </a:endParaRPr>
          </a:p>
          <a:p>
            <a:pPr marL="76200" marR="0" lvl="0" indent="0" algn="l" defTabSz="914400" rtl="0" eaLnBrk="1" fontAlgn="auto" latinLnBrk="0" hangingPunct="1">
              <a:lnSpc>
                <a:spcPct val="100000"/>
              </a:lnSpc>
              <a:spcBef>
                <a:spcPts val="480"/>
              </a:spcBef>
              <a:spcAft>
                <a:spcPts val="0"/>
              </a:spcAft>
              <a:buClr>
                <a:srgbClr val="000000"/>
              </a:buClr>
              <a:buSzPts val="2400"/>
              <a:buFont typeface="Arial"/>
              <a:buNone/>
              <a:tabLst/>
              <a:defRPr/>
            </a:pPr>
            <a:r>
              <a:rPr kumimoji="0" lang="en-US" sz="1800" b="0" i="0" u="none" strike="noStrike" kern="0" cap="none" spc="0" normalizeH="0" baseline="0" noProof="0" dirty="0">
                <a:ln>
                  <a:noFill/>
                </a:ln>
                <a:solidFill>
                  <a:srgbClr val="000000"/>
                </a:solidFill>
                <a:effectLst/>
                <a:uLnTx/>
                <a:uFillTx/>
                <a:latin typeface="Calibri"/>
                <a:ea typeface="Calibri"/>
                <a:cs typeface="Calibri"/>
                <a:sym typeface="Calibri"/>
              </a:rPr>
              <a:t>We implement </a:t>
            </a:r>
            <a:r>
              <a:rPr kumimoji="0" lang="en-US" sz="1800" b="1" i="0" u="none" strike="noStrike" kern="0" cap="none" spc="0" normalizeH="0" baseline="0" noProof="0" dirty="0">
                <a:ln>
                  <a:noFill/>
                </a:ln>
                <a:solidFill>
                  <a:srgbClr val="000000"/>
                </a:solidFill>
                <a:effectLst/>
                <a:uLnTx/>
                <a:uFillTx/>
                <a:latin typeface="Calibri"/>
                <a:ea typeface="Calibri"/>
                <a:cs typeface="Calibri"/>
                <a:sym typeface="Calibri"/>
              </a:rPr>
              <a:t>symmetric direct form</a:t>
            </a:r>
            <a:r>
              <a:rPr kumimoji="0" lang="en-US" sz="1800" b="0" i="0" u="none" strike="noStrike" kern="0" cap="none" spc="0" normalizeH="0" baseline="0" noProof="0" dirty="0">
                <a:ln>
                  <a:noFill/>
                </a:ln>
                <a:solidFill>
                  <a:srgbClr val="000000"/>
                </a:solidFill>
                <a:effectLst/>
                <a:uLnTx/>
                <a:uFillTx/>
                <a:latin typeface="Calibri"/>
                <a:ea typeface="Calibri"/>
                <a:cs typeface="Calibri"/>
                <a:sym typeface="Calibri"/>
              </a:rPr>
              <a:t> (folding) to cut hardware</a:t>
            </a:r>
          </a:p>
          <a:p>
            <a:pPr marL="457200" marR="0" lvl="0" indent="-381000" algn="l" defTabSz="914400" rtl="0" eaLnBrk="1" fontAlgn="auto" latinLnBrk="0" hangingPunct="1">
              <a:lnSpc>
                <a:spcPct val="100000"/>
              </a:lnSpc>
              <a:spcBef>
                <a:spcPts val="480"/>
              </a:spcBef>
              <a:spcAft>
                <a:spcPts val="0"/>
              </a:spcAft>
              <a:buClr>
                <a:srgbClr val="000000"/>
              </a:buClr>
              <a:buSzPts val="2400"/>
              <a:buFont typeface="Arial"/>
              <a:buChar char="•"/>
              <a:tabLst/>
              <a:defRPr/>
            </a:pPr>
            <a:r>
              <a:rPr kumimoji="0" lang="en-US" sz="1800" b="1" i="0" u="none" strike="noStrike" kern="0" cap="none" spc="0" normalizeH="0" baseline="0" noProof="0" dirty="0">
                <a:ln>
                  <a:noFill/>
                </a:ln>
                <a:solidFill>
                  <a:srgbClr val="000000"/>
                </a:solidFill>
                <a:effectLst/>
                <a:uLnTx/>
                <a:uFillTx/>
                <a:latin typeface="Calibri"/>
                <a:ea typeface="Calibri"/>
                <a:cs typeface="Calibri"/>
                <a:sym typeface="Calibri"/>
              </a:rPr>
              <a:t>Transposed Form </a:t>
            </a:r>
            <a:endParaRPr kumimoji="0" lang="en-US" sz="1800" b="0" i="0" u="none" strike="noStrike" kern="0" cap="none" spc="0" normalizeH="0" baseline="0" noProof="0" dirty="0">
              <a:ln>
                <a:noFill/>
              </a:ln>
              <a:solidFill>
                <a:srgbClr val="000000"/>
              </a:solidFill>
              <a:effectLst/>
              <a:uLnTx/>
              <a:uFillTx/>
              <a:latin typeface="Calibri"/>
              <a:ea typeface="Calibri"/>
              <a:cs typeface="Calibri"/>
              <a:sym typeface="Calibri"/>
            </a:endParaRPr>
          </a:p>
          <a:p>
            <a:pPr marL="76200" marR="0" lvl="0" indent="0" algn="l" defTabSz="914400" rtl="0" eaLnBrk="1" fontAlgn="auto" latinLnBrk="0" hangingPunct="1">
              <a:lnSpc>
                <a:spcPct val="100000"/>
              </a:lnSpc>
              <a:spcBef>
                <a:spcPts val="480"/>
              </a:spcBef>
              <a:spcAft>
                <a:spcPts val="0"/>
              </a:spcAft>
              <a:buClr>
                <a:srgbClr val="000000"/>
              </a:buClr>
              <a:buSzPts val="2400"/>
              <a:buFont typeface="Arial"/>
              <a:buNone/>
              <a:tabLst/>
              <a:defRPr/>
            </a:pPr>
            <a:r>
              <a:rPr kumimoji="0" lang="en-US" sz="1800" b="0" i="0" u="none" strike="noStrike" kern="0" cap="none" spc="0" normalizeH="0" baseline="0" noProof="0" dirty="0">
                <a:ln>
                  <a:noFill/>
                </a:ln>
                <a:solidFill>
                  <a:srgbClr val="000000"/>
                </a:solidFill>
                <a:effectLst/>
                <a:uLnTx/>
                <a:uFillTx/>
                <a:latin typeface="Calibri"/>
                <a:ea typeface="Calibri"/>
                <a:cs typeface="Calibri"/>
                <a:sym typeface="Calibri"/>
              </a:rPr>
              <a:t>High throughput (“self-pipelined”)</a:t>
            </a:r>
          </a:p>
          <a:p>
            <a:pPr marL="76200" marR="0" lvl="0" indent="0" algn="l" defTabSz="914400" rtl="0" eaLnBrk="1" fontAlgn="auto" latinLnBrk="0" hangingPunct="1">
              <a:lnSpc>
                <a:spcPct val="100000"/>
              </a:lnSpc>
              <a:spcBef>
                <a:spcPts val="480"/>
              </a:spcBef>
              <a:spcAft>
                <a:spcPts val="0"/>
              </a:spcAft>
              <a:buClr>
                <a:srgbClr val="000000"/>
              </a:buClr>
              <a:buSzPts val="2400"/>
              <a:buFont typeface="Arial"/>
              <a:buNone/>
              <a:tabLst/>
              <a:defRPr/>
            </a:pPr>
            <a:r>
              <a:rPr kumimoji="0" lang="en-US" sz="1800" b="0" i="0" u="none" strike="noStrike" kern="0" cap="none" spc="0" normalizeH="0" baseline="0" noProof="0" dirty="0">
                <a:ln>
                  <a:noFill/>
                </a:ln>
                <a:solidFill>
                  <a:srgbClr val="000000"/>
                </a:solidFill>
                <a:effectLst/>
                <a:uLnTx/>
                <a:uFillTx/>
                <a:latin typeface="Calibri"/>
                <a:ea typeface="Calibri"/>
                <a:cs typeface="Calibri"/>
                <a:sym typeface="Calibri"/>
              </a:rPr>
              <a:t>But input is </a:t>
            </a:r>
            <a:r>
              <a:rPr kumimoji="0" lang="en-US" sz="1800" b="1" i="0" u="none" strike="noStrike" kern="0" cap="none" spc="0" normalizeH="0" baseline="0" noProof="0" dirty="0">
                <a:ln>
                  <a:noFill/>
                </a:ln>
                <a:solidFill>
                  <a:srgbClr val="000000"/>
                </a:solidFill>
                <a:effectLst/>
                <a:uLnTx/>
                <a:uFillTx/>
                <a:latin typeface="Calibri"/>
                <a:ea typeface="Calibri"/>
                <a:cs typeface="Calibri"/>
                <a:sym typeface="Calibri"/>
              </a:rPr>
              <a:t>broadcast to all multipliers</a:t>
            </a:r>
            <a:r>
              <a:rPr kumimoji="0" lang="en-US" sz="1800" b="0" i="0" u="none" strike="noStrike" kern="0" cap="none" spc="0" normalizeH="0" baseline="0" noProof="0" dirty="0">
                <a:ln>
                  <a:noFill/>
                </a:ln>
                <a:solidFill>
                  <a:srgbClr val="000000"/>
                </a:solidFill>
                <a:effectLst/>
                <a:uLnTx/>
                <a:uFillTx/>
                <a:latin typeface="Calibri"/>
                <a:ea typeface="Calibri"/>
                <a:cs typeface="Calibri"/>
                <a:sym typeface="Calibri"/>
              </a:rPr>
              <a:t> → high fanout + more switching → </a:t>
            </a:r>
            <a:r>
              <a:rPr kumimoji="0" lang="en-US" sz="1800" b="1" i="0" u="none" strike="noStrike" kern="0" cap="none" spc="0" normalizeH="0" baseline="0" noProof="0" dirty="0">
                <a:ln>
                  <a:noFill/>
                </a:ln>
                <a:solidFill>
                  <a:srgbClr val="000000"/>
                </a:solidFill>
                <a:effectLst/>
                <a:uLnTx/>
                <a:uFillTx/>
                <a:latin typeface="Calibri"/>
                <a:ea typeface="Calibri"/>
                <a:cs typeface="Calibri"/>
                <a:sym typeface="Calibri"/>
              </a:rPr>
              <a:t>higher power risk</a:t>
            </a:r>
            <a:endParaRPr kumimoji="0" lang="en-US" sz="1800" b="0" i="0" u="none" strike="noStrike" kern="0" cap="none" spc="0" normalizeH="0" baseline="0" noProof="0" dirty="0">
              <a:ln>
                <a:noFill/>
              </a:ln>
              <a:solidFill>
                <a:srgbClr val="000000"/>
              </a:solidFill>
              <a:effectLst/>
              <a:uLnTx/>
              <a:uFillTx/>
              <a:latin typeface="Calibri"/>
              <a:ea typeface="Calibri"/>
              <a:cs typeface="Calibri"/>
              <a:sym typeface="Calibri"/>
            </a:endParaRPr>
          </a:p>
          <a:p>
            <a:pPr marL="457200" marR="0" lvl="0" indent="-381000" algn="l" defTabSz="914400" rtl="0" eaLnBrk="1" fontAlgn="auto" latinLnBrk="0" hangingPunct="1">
              <a:lnSpc>
                <a:spcPct val="100000"/>
              </a:lnSpc>
              <a:spcBef>
                <a:spcPts val="480"/>
              </a:spcBef>
              <a:spcAft>
                <a:spcPts val="0"/>
              </a:spcAft>
              <a:buClr>
                <a:srgbClr val="000000"/>
              </a:buClr>
              <a:buSzPts val="2400"/>
              <a:buFont typeface="Arial"/>
              <a:buChar char="•"/>
              <a:tabLst/>
              <a:defRPr/>
            </a:pPr>
            <a:r>
              <a:rPr kumimoji="0" lang="en-US" sz="1800" b="1" i="0" u="none" strike="noStrike" kern="0" cap="none" spc="0" normalizeH="0" baseline="0" noProof="0" dirty="0">
                <a:ln>
                  <a:noFill/>
                </a:ln>
                <a:solidFill>
                  <a:srgbClr val="000000"/>
                </a:solidFill>
                <a:effectLst/>
                <a:uLnTx/>
                <a:uFillTx/>
                <a:latin typeface="Calibri"/>
                <a:ea typeface="Calibri"/>
                <a:cs typeface="Calibri"/>
                <a:sym typeface="Calibri"/>
              </a:rPr>
              <a:t>Symmetric Direct-Form FIR</a:t>
            </a:r>
            <a:r>
              <a:rPr kumimoji="0" lang="en-US" sz="1800" b="0" i="0" u="none" strike="noStrike" kern="0" cap="none" spc="0" normalizeH="0" baseline="0" noProof="0" dirty="0">
                <a:ln>
                  <a:noFill/>
                </a:ln>
                <a:solidFill>
                  <a:srgbClr val="000000"/>
                </a:solidFill>
                <a:effectLst/>
                <a:uLnTx/>
                <a:uFillTx/>
                <a:latin typeface="Calibri"/>
                <a:ea typeface="Calibri"/>
                <a:cs typeface="Calibri"/>
                <a:sym typeface="Calibri"/>
              </a:rPr>
              <a:t> used in our implementation (enables multiplier reduction + our multiplier-free logic).</a:t>
            </a:r>
          </a:p>
          <a:p>
            <a:pPr marL="457200" marR="0" lvl="0" indent="-381000" algn="l" defTabSz="914400" rtl="0" eaLnBrk="1" fontAlgn="auto" latinLnBrk="0" hangingPunct="1">
              <a:lnSpc>
                <a:spcPct val="100000"/>
              </a:lnSpc>
              <a:spcBef>
                <a:spcPts val="480"/>
              </a:spcBef>
              <a:spcAft>
                <a:spcPts val="0"/>
              </a:spcAft>
              <a:buClr>
                <a:srgbClr val="000000"/>
              </a:buClr>
              <a:buSzPts val="2400"/>
              <a:buFont typeface="Arial"/>
              <a:buChar char="•"/>
              <a:tabLst/>
              <a:defRPr/>
            </a:pPr>
            <a:endParaRPr kumimoji="0" lang="en-US" sz="24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pic>
        <p:nvPicPr>
          <p:cNvPr id="11" name="Picture 10">
            <a:extLst>
              <a:ext uri="{FF2B5EF4-FFF2-40B4-BE49-F238E27FC236}">
                <a16:creationId xmlns:a16="http://schemas.microsoft.com/office/drawing/2014/main" xmlns="" id="{87031533-08A7-686C-0CA4-ECCFB11F7079}"/>
              </a:ext>
            </a:extLst>
          </p:cNvPr>
          <p:cNvPicPr>
            <a:picLocks noChangeAspect="1"/>
          </p:cNvPicPr>
          <p:nvPr/>
        </p:nvPicPr>
        <p:blipFill>
          <a:blip r:embed="rId2"/>
          <a:stretch>
            <a:fillRect/>
          </a:stretch>
        </p:blipFill>
        <p:spPr>
          <a:xfrm>
            <a:off x="1276317" y="1308964"/>
            <a:ext cx="4415355" cy="1807460"/>
          </a:xfrm>
          <a:prstGeom prst="rect">
            <a:avLst/>
          </a:prstGeom>
        </p:spPr>
      </p:pic>
      <p:pic>
        <p:nvPicPr>
          <p:cNvPr id="13" name="Picture 12">
            <a:extLst>
              <a:ext uri="{FF2B5EF4-FFF2-40B4-BE49-F238E27FC236}">
                <a16:creationId xmlns:a16="http://schemas.microsoft.com/office/drawing/2014/main" xmlns="" id="{FC4F4ACE-8800-4B36-7696-B1982C5FAEB6}"/>
              </a:ext>
            </a:extLst>
          </p:cNvPr>
          <p:cNvPicPr>
            <a:picLocks noChangeAspect="1"/>
          </p:cNvPicPr>
          <p:nvPr/>
        </p:nvPicPr>
        <p:blipFill>
          <a:blip r:embed="rId3"/>
          <a:stretch>
            <a:fillRect/>
          </a:stretch>
        </p:blipFill>
        <p:spPr>
          <a:xfrm>
            <a:off x="6263951" y="1240971"/>
            <a:ext cx="4651732" cy="1875452"/>
          </a:xfrm>
          <a:prstGeom prst="rect">
            <a:avLst/>
          </a:prstGeom>
        </p:spPr>
      </p:pic>
    </p:spTree>
    <p:extLst>
      <p:ext uri="{BB962C8B-B14F-4D97-AF65-F5344CB8AC3E}">
        <p14:creationId xmlns:p14="http://schemas.microsoft.com/office/powerpoint/2010/main" val="3492968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DD5CE2E-6D1A-58C1-72DC-C29B85FBE1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0DC294FE-EBA1-4C74-3400-1031082978DC}"/>
              </a:ext>
            </a:extLst>
          </p:cNvPr>
          <p:cNvSpPr>
            <a:spLocks noGrp="1"/>
          </p:cNvSpPr>
          <p:nvPr>
            <p:ph type="title"/>
          </p:nvPr>
        </p:nvSpPr>
        <p:spPr/>
        <p:txBody>
          <a:bodyPr>
            <a:normAutofit/>
          </a:bodyPr>
          <a:lstStyle/>
          <a:p>
            <a:r>
              <a:rPr lang="en-US" sz="3200" dirty="0">
                <a:latin typeface="Times New Roman" panose="02020603050405020304" pitchFamily="18" charset="0"/>
                <a:cs typeface="Times New Roman" panose="02020603050405020304" pitchFamily="18" charset="0"/>
              </a:rPr>
              <a:t>MATLAB: Symmetry Realization for Direct Form</a:t>
            </a:r>
          </a:p>
        </p:txBody>
      </p:sp>
      <p:pic>
        <p:nvPicPr>
          <p:cNvPr id="5" name="Picture 4" descr="A diagram of a flowchart&#10;&#10;AI-generated content may be incorrect.">
            <a:extLst>
              <a:ext uri="{FF2B5EF4-FFF2-40B4-BE49-F238E27FC236}">
                <a16:creationId xmlns:a16="http://schemas.microsoft.com/office/drawing/2014/main" xmlns="" id="{8FDA903A-0B4B-6969-18BB-45C4B0694CC4}"/>
              </a:ext>
            </a:extLst>
          </p:cNvPr>
          <p:cNvPicPr>
            <a:picLocks noChangeAspect="1"/>
          </p:cNvPicPr>
          <p:nvPr/>
        </p:nvPicPr>
        <p:blipFill>
          <a:blip r:embed="rId2"/>
          <a:stretch>
            <a:fillRect/>
          </a:stretch>
        </p:blipFill>
        <p:spPr>
          <a:xfrm>
            <a:off x="5609563" y="3808184"/>
            <a:ext cx="6338596" cy="2938927"/>
          </a:xfrm>
          <a:prstGeom prst="rect">
            <a:avLst/>
          </a:prstGeom>
        </p:spPr>
      </p:pic>
      <mc:AlternateContent xmlns:mc="http://schemas.openxmlformats.org/markup-compatibility/2006" xmlns:a14="http://schemas.microsoft.com/office/drawing/2010/main">
        <mc:Choice Requires="a14">
          <p:sp>
            <p:nvSpPr>
              <p:cNvPr id="10" name="Text Placeholder 2">
                <a:extLst>
                  <a:ext uri="{FF2B5EF4-FFF2-40B4-BE49-F238E27FC236}">
                    <a16:creationId xmlns:a16="http://schemas.microsoft.com/office/drawing/2014/main" xmlns="" id="{E9C9C4F5-6294-1A6D-B7B6-9993B67DA602}"/>
                  </a:ext>
                </a:extLst>
              </p:cNvPr>
              <p:cNvSpPr>
                <a:spLocks noGrp="1"/>
              </p:cNvSpPr>
              <p:nvPr>
                <p:ph type="body" idx="1"/>
              </p:nvPr>
            </p:nvSpPr>
            <p:spPr>
              <a:xfrm>
                <a:off x="609600" y="1502229"/>
                <a:ext cx="10972800" cy="2305955"/>
              </a:xfrm>
            </p:spPr>
            <p:txBody>
              <a:bodyPr/>
              <a:lstStyle/>
              <a:p>
                <a:r>
                  <a:rPr lang="en-US" sz="180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Gaussian FIR coefficients are </a:t>
                </a:r>
                <a:r>
                  <a:rPr lang="en-US" sz="1800" b="1"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even-symmetric</a:t>
                </a:r>
                <a:r>
                  <a:rPr lang="en-US" sz="180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 (linear-phase): which enables efficient hardware optimization (folding/symmetry).</a:t>
                </a:r>
              </a:p>
              <a:p>
                <a:pPr marL="76200" indent="0">
                  <a:buNone/>
                </a:pPr>
                <a14:m>
                  <m:oMathPara xmlns:m="http://schemas.openxmlformats.org/officeDocument/2006/math">
                    <m:oMathParaPr>
                      <m:jc m:val="centerGroup"/>
                    </m:oMathParaPr>
                    <m:oMath xmlns:m="http://schemas.openxmlformats.org/officeDocument/2006/math">
                      <m:r>
                        <a:rPr lang="en-US" sz="1800" i="1">
                          <a:solidFill>
                            <a:schemeClr val="tx1">
                              <a:lumMod val="85000"/>
                              <a:lumOff val="15000"/>
                            </a:schemeClr>
                          </a:solidFill>
                          <a:latin typeface="Cambria Math" panose="02040503050406030204" pitchFamily="18" charset="0"/>
                        </a:rPr>
                        <m:t>h</m:t>
                      </m:r>
                      <m:d>
                        <m:dPr>
                          <m:begChr m:val="["/>
                          <m:endChr m:val="]"/>
                          <m:ctrlPr>
                            <a:rPr lang="ar-EG" sz="1800" i="1">
                              <a:solidFill>
                                <a:schemeClr val="tx1">
                                  <a:lumMod val="85000"/>
                                  <a:lumOff val="15000"/>
                                </a:schemeClr>
                              </a:solidFill>
                              <a:latin typeface="Cambria Math" panose="02040503050406030204" pitchFamily="18" charset="0"/>
                            </a:rPr>
                          </m:ctrlPr>
                        </m:dPr>
                        <m:e>
                          <m:r>
                            <a:rPr lang="ar-EG" sz="1800" i="1">
                              <a:solidFill>
                                <a:schemeClr val="tx1">
                                  <a:lumMod val="85000"/>
                                  <a:lumOff val="15000"/>
                                </a:schemeClr>
                              </a:solidFill>
                              <a:latin typeface="Cambria Math" panose="02040503050406030204" pitchFamily="18" charset="0"/>
                            </a:rPr>
                            <m:t>𝑘</m:t>
                          </m:r>
                        </m:e>
                      </m:d>
                      <m:r>
                        <a:rPr lang="ar-EG" sz="1800">
                          <a:solidFill>
                            <a:schemeClr val="tx1">
                              <a:lumMod val="85000"/>
                              <a:lumOff val="15000"/>
                            </a:schemeClr>
                          </a:solidFill>
                          <a:latin typeface="Cambria Math" panose="02040503050406030204" pitchFamily="18" charset="0"/>
                        </a:rPr>
                        <m:t>=</m:t>
                      </m:r>
                      <m:r>
                        <a:rPr lang="ar-EG" sz="1800" i="1">
                          <a:solidFill>
                            <a:schemeClr val="tx1">
                              <a:lumMod val="85000"/>
                              <a:lumOff val="15000"/>
                            </a:schemeClr>
                          </a:solidFill>
                          <a:latin typeface="Cambria Math" panose="02040503050406030204" pitchFamily="18" charset="0"/>
                        </a:rPr>
                        <m:t>h</m:t>
                      </m:r>
                      <m:d>
                        <m:dPr>
                          <m:begChr m:val="["/>
                          <m:endChr m:val="]"/>
                          <m:ctrlPr>
                            <a:rPr lang="ar-EG" sz="1800" i="1">
                              <a:solidFill>
                                <a:schemeClr val="tx1">
                                  <a:lumMod val="85000"/>
                                  <a:lumOff val="15000"/>
                                </a:schemeClr>
                              </a:solidFill>
                              <a:latin typeface="Cambria Math" panose="02040503050406030204" pitchFamily="18" charset="0"/>
                            </a:rPr>
                          </m:ctrlPr>
                        </m:dPr>
                        <m:e>
                          <m:r>
                            <a:rPr lang="ar-EG" sz="1800" i="1">
                              <a:solidFill>
                                <a:schemeClr val="tx1">
                                  <a:lumMod val="85000"/>
                                  <a:lumOff val="15000"/>
                                </a:schemeClr>
                              </a:solidFill>
                              <a:latin typeface="Cambria Math" panose="02040503050406030204" pitchFamily="18" charset="0"/>
                            </a:rPr>
                            <m:t>𝑁</m:t>
                          </m:r>
                          <m:r>
                            <a:rPr lang="ar-EG" sz="1800">
                              <a:solidFill>
                                <a:schemeClr val="tx1">
                                  <a:lumMod val="85000"/>
                                  <a:lumOff val="15000"/>
                                </a:schemeClr>
                              </a:solidFill>
                              <a:latin typeface="Cambria Math" panose="02040503050406030204" pitchFamily="18" charset="0"/>
                            </a:rPr>
                            <m:t>−</m:t>
                          </m:r>
                          <m:r>
                            <a:rPr lang="ar-EG" sz="1800">
                              <a:solidFill>
                                <a:schemeClr val="tx1">
                                  <a:lumMod val="85000"/>
                                  <a:lumOff val="15000"/>
                                </a:schemeClr>
                              </a:solidFill>
                              <a:latin typeface="Cambria Math" panose="02040503050406030204" pitchFamily="18" charset="0"/>
                            </a:rPr>
                            <m:t>1</m:t>
                          </m:r>
                          <m:r>
                            <a:rPr lang="ar-EG" sz="1800">
                              <a:solidFill>
                                <a:schemeClr val="tx1">
                                  <a:lumMod val="85000"/>
                                  <a:lumOff val="15000"/>
                                </a:schemeClr>
                              </a:solidFill>
                              <a:latin typeface="Cambria Math" panose="02040503050406030204" pitchFamily="18" charset="0"/>
                            </a:rPr>
                            <m:t>−</m:t>
                          </m:r>
                          <m:r>
                            <a:rPr lang="ar-EG" sz="1800" i="1">
                              <a:solidFill>
                                <a:schemeClr val="tx1">
                                  <a:lumMod val="85000"/>
                                  <a:lumOff val="15000"/>
                                </a:schemeClr>
                              </a:solidFill>
                              <a:latin typeface="Cambria Math" panose="02040503050406030204" pitchFamily="18" charset="0"/>
                            </a:rPr>
                            <m:t>𝑘</m:t>
                          </m:r>
                        </m:e>
                      </m:d>
                    </m:oMath>
                  </m:oMathPara>
                </a14:m>
                <a:endParaRPr lang="ar-EG" sz="180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endParaRPr>
              </a:p>
              <a:p>
                <a:r>
                  <a:rPr lang="en-US" sz="180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Instead of multiplying both taps separately, we </a:t>
                </a:r>
                <a:r>
                  <a:rPr lang="en-US" sz="1800" b="1"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pair symmetric samples</a:t>
                </a:r>
                <a:r>
                  <a:rPr lang="en-US" sz="180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 and use one coefficient per pair:</a:t>
                </a:r>
              </a:p>
              <a:p>
                <a:pPr marL="76200" indent="0">
                  <a:buNone/>
                </a:pPr>
                <a14:m>
                  <m:oMathPara xmlns:m="http://schemas.openxmlformats.org/officeDocument/2006/math">
                    <m:oMathParaPr>
                      <m:jc m:val="centerGroup"/>
                    </m:oMathParaPr>
                    <m:oMath xmlns:m="http://schemas.openxmlformats.org/officeDocument/2006/math">
                      <m:r>
                        <a:rPr lang="en-US" sz="1800" i="1">
                          <a:solidFill>
                            <a:schemeClr val="tx1">
                              <a:lumMod val="85000"/>
                              <a:lumOff val="15000"/>
                            </a:schemeClr>
                          </a:solidFill>
                          <a:latin typeface="Cambria Math" panose="02040503050406030204" pitchFamily="18" charset="0"/>
                        </a:rPr>
                        <m:t>𝑦</m:t>
                      </m:r>
                      <m:d>
                        <m:dPr>
                          <m:begChr m:val="["/>
                          <m:endChr m:val="]"/>
                          <m:ctrlPr>
                            <a:rPr lang="ar-EG" sz="1800" i="1">
                              <a:solidFill>
                                <a:schemeClr val="tx1">
                                  <a:lumMod val="85000"/>
                                  <a:lumOff val="15000"/>
                                </a:schemeClr>
                              </a:solidFill>
                              <a:latin typeface="Cambria Math" panose="02040503050406030204" pitchFamily="18" charset="0"/>
                            </a:rPr>
                          </m:ctrlPr>
                        </m:dPr>
                        <m:e>
                          <m:r>
                            <a:rPr lang="ar-EG" sz="1800" i="1">
                              <a:solidFill>
                                <a:schemeClr val="tx1">
                                  <a:lumMod val="85000"/>
                                  <a:lumOff val="15000"/>
                                </a:schemeClr>
                              </a:solidFill>
                              <a:latin typeface="Cambria Math" panose="02040503050406030204" pitchFamily="18" charset="0"/>
                            </a:rPr>
                            <m:t>𝑛</m:t>
                          </m:r>
                        </m:e>
                      </m:d>
                      <m:r>
                        <a:rPr lang="ar-EG" sz="1800">
                          <a:solidFill>
                            <a:schemeClr val="tx1">
                              <a:lumMod val="85000"/>
                              <a:lumOff val="15000"/>
                            </a:schemeClr>
                          </a:solidFill>
                          <a:latin typeface="Cambria Math" panose="02040503050406030204" pitchFamily="18" charset="0"/>
                        </a:rPr>
                        <m:t>=</m:t>
                      </m:r>
                      <m:nary>
                        <m:naryPr>
                          <m:chr m:val="∑"/>
                          <m:grow m:val="on"/>
                          <m:ctrlPr>
                            <a:rPr lang="ar-EG" sz="1800" i="1">
                              <a:solidFill>
                                <a:schemeClr val="tx1">
                                  <a:lumMod val="85000"/>
                                  <a:lumOff val="15000"/>
                                </a:schemeClr>
                              </a:solidFill>
                              <a:latin typeface="Cambria Math" panose="02040503050406030204" pitchFamily="18" charset="0"/>
                            </a:rPr>
                          </m:ctrlPr>
                        </m:naryPr>
                        <m:sub>
                          <m:r>
                            <a:rPr lang="ar-EG" sz="1800" i="1">
                              <a:solidFill>
                                <a:schemeClr val="tx1">
                                  <a:lumMod val="85000"/>
                                  <a:lumOff val="15000"/>
                                </a:schemeClr>
                              </a:solidFill>
                              <a:latin typeface="Cambria Math" panose="02040503050406030204" pitchFamily="18" charset="0"/>
                            </a:rPr>
                            <m:t>𝑘</m:t>
                          </m:r>
                          <m:r>
                            <a:rPr lang="ar-EG" sz="1800">
                              <a:solidFill>
                                <a:schemeClr val="tx1">
                                  <a:lumMod val="85000"/>
                                  <a:lumOff val="15000"/>
                                </a:schemeClr>
                              </a:solidFill>
                              <a:latin typeface="Cambria Math" panose="02040503050406030204" pitchFamily="18" charset="0"/>
                            </a:rPr>
                            <m:t>=</m:t>
                          </m:r>
                          <m:r>
                            <a:rPr lang="ar-EG" sz="1800">
                              <a:solidFill>
                                <a:schemeClr val="tx1">
                                  <a:lumMod val="85000"/>
                                  <a:lumOff val="15000"/>
                                </a:schemeClr>
                              </a:solidFill>
                              <a:latin typeface="Cambria Math" panose="02040503050406030204" pitchFamily="18" charset="0"/>
                            </a:rPr>
                            <m:t>0</m:t>
                          </m:r>
                        </m:sub>
                        <m:sup>
                          <m:f>
                            <m:fPr>
                              <m:ctrlPr>
                                <a:rPr lang="ar-EG" sz="1800" i="1">
                                  <a:solidFill>
                                    <a:schemeClr val="tx1">
                                      <a:lumMod val="85000"/>
                                      <a:lumOff val="15000"/>
                                    </a:schemeClr>
                                  </a:solidFill>
                                  <a:latin typeface="Cambria Math" panose="02040503050406030204" pitchFamily="18" charset="0"/>
                                </a:rPr>
                              </m:ctrlPr>
                            </m:fPr>
                            <m:num>
                              <m:r>
                                <a:rPr lang="ar-EG" sz="1800" i="1">
                                  <a:solidFill>
                                    <a:schemeClr val="tx1">
                                      <a:lumMod val="85000"/>
                                      <a:lumOff val="15000"/>
                                    </a:schemeClr>
                                  </a:solidFill>
                                  <a:latin typeface="Cambria Math" panose="02040503050406030204" pitchFamily="18" charset="0"/>
                                </a:rPr>
                                <m:t>𝑁</m:t>
                              </m:r>
                            </m:num>
                            <m:den>
                              <m:r>
                                <a:rPr lang="ar-EG" sz="1800">
                                  <a:solidFill>
                                    <a:schemeClr val="tx1">
                                      <a:lumMod val="85000"/>
                                      <a:lumOff val="15000"/>
                                    </a:schemeClr>
                                  </a:solidFill>
                                  <a:latin typeface="Cambria Math" panose="02040503050406030204" pitchFamily="18" charset="0"/>
                                </a:rPr>
                                <m:t>2</m:t>
                              </m:r>
                            </m:den>
                          </m:f>
                          <m:r>
                            <a:rPr lang="ar-EG" sz="1800">
                              <a:solidFill>
                                <a:schemeClr val="tx1">
                                  <a:lumMod val="85000"/>
                                  <a:lumOff val="15000"/>
                                </a:schemeClr>
                              </a:solidFill>
                              <a:latin typeface="Cambria Math" panose="02040503050406030204" pitchFamily="18" charset="0"/>
                            </a:rPr>
                            <m:t>−</m:t>
                          </m:r>
                          <m:r>
                            <a:rPr lang="ar-EG" sz="1800">
                              <a:solidFill>
                                <a:schemeClr val="tx1">
                                  <a:lumMod val="85000"/>
                                  <a:lumOff val="15000"/>
                                </a:schemeClr>
                              </a:solidFill>
                              <a:latin typeface="Cambria Math" panose="02040503050406030204" pitchFamily="18" charset="0"/>
                            </a:rPr>
                            <m:t>1</m:t>
                          </m:r>
                        </m:sup>
                        <m:e>
                          <m:r>
                            <a:rPr lang="ar-EG" sz="1800" i="1">
                              <a:solidFill>
                                <a:schemeClr val="tx1">
                                  <a:lumMod val="85000"/>
                                  <a:lumOff val="15000"/>
                                </a:schemeClr>
                              </a:solidFill>
                              <a:latin typeface="Cambria Math" panose="02040503050406030204" pitchFamily="18" charset="0"/>
                            </a:rPr>
                            <m:t>h</m:t>
                          </m:r>
                        </m:e>
                      </m:nary>
                      <m:d>
                        <m:dPr>
                          <m:begChr m:val="["/>
                          <m:endChr m:val="]"/>
                          <m:ctrlPr>
                            <a:rPr lang="ar-EG" sz="1800" i="1">
                              <a:solidFill>
                                <a:schemeClr val="tx1">
                                  <a:lumMod val="85000"/>
                                  <a:lumOff val="15000"/>
                                </a:schemeClr>
                              </a:solidFill>
                              <a:latin typeface="Cambria Math" panose="02040503050406030204" pitchFamily="18" charset="0"/>
                            </a:rPr>
                          </m:ctrlPr>
                        </m:dPr>
                        <m:e>
                          <m:r>
                            <a:rPr lang="ar-EG" sz="1800" i="1">
                              <a:solidFill>
                                <a:schemeClr val="tx1">
                                  <a:lumMod val="85000"/>
                                  <a:lumOff val="15000"/>
                                </a:schemeClr>
                              </a:solidFill>
                              <a:latin typeface="Cambria Math" panose="02040503050406030204" pitchFamily="18" charset="0"/>
                            </a:rPr>
                            <m:t>𝑘</m:t>
                          </m:r>
                        </m:e>
                      </m:d>
                      <m:r>
                        <a:rPr lang="ar-EG" sz="1800">
                          <a:solidFill>
                            <a:schemeClr val="tx1">
                              <a:lumMod val="85000"/>
                              <a:lumOff val="15000"/>
                            </a:schemeClr>
                          </a:solidFill>
                          <a:latin typeface="Cambria Math" panose="02040503050406030204" pitchFamily="18" charset="0"/>
                        </a:rPr>
                        <m:t>(</m:t>
                      </m:r>
                      <m:r>
                        <a:rPr lang="ar-EG" sz="1800" i="1">
                          <a:solidFill>
                            <a:schemeClr val="tx1">
                              <a:lumMod val="85000"/>
                              <a:lumOff val="15000"/>
                            </a:schemeClr>
                          </a:solidFill>
                          <a:latin typeface="Cambria Math" panose="02040503050406030204" pitchFamily="18" charset="0"/>
                        </a:rPr>
                        <m:t>𝑥</m:t>
                      </m:r>
                      <m:d>
                        <m:dPr>
                          <m:begChr m:val="["/>
                          <m:endChr m:val="]"/>
                          <m:ctrlPr>
                            <a:rPr lang="ar-EG" sz="1800" i="1">
                              <a:solidFill>
                                <a:schemeClr val="tx1">
                                  <a:lumMod val="85000"/>
                                  <a:lumOff val="15000"/>
                                </a:schemeClr>
                              </a:solidFill>
                              <a:latin typeface="Cambria Math" panose="02040503050406030204" pitchFamily="18" charset="0"/>
                            </a:rPr>
                          </m:ctrlPr>
                        </m:dPr>
                        <m:e>
                          <m:r>
                            <a:rPr lang="ar-EG" sz="1800" i="1">
                              <a:solidFill>
                                <a:schemeClr val="tx1">
                                  <a:lumMod val="85000"/>
                                  <a:lumOff val="15000"/>
                                </a:schemeClr>
                              </a:solidFill>
                              <a:latin typeface="Cambria Math" panose="02040503050406030204" pitchFamily="18" charset="0"/>
                            </a:rPr>
                            <m:t>𝑛</m:t>
                          </m:r>
                          <m:r>
                            <a:rPr lang="ar-EG" sz="1800">
                              <a:solidFill>
                                <a:schemeClr val="tx1">
                                  <a:lumMod val="85000"/>
                                  <a:lumOff val="15000"/>
                                </a:schemeClr>
                              </a:solidFill>
                              <a:latin typeface="Cambria Math" panose="02040503050406030204" pitchFamily="18" charset="0"/>
                            </a:rPr>
                            <m:t>−</m:t>
                          </m:r>
                          <m:r>
                            <a:rPr lang="ar-EG" sz="1800" i="1">
                              <a:solidFill>
                                <a:schemeClr val="tx1">
                                  <a:lumMod val="85000"/>
                                  <a:lumOff val="15000"/>
                                </a:schemeClr>
                              </a:solidFill>
                              <a:latin typeface="Cambria Math" panose="02040503050406030204" pitchFamily="18" charset="0"/>
                            </a:rPr>
                            <m:t>𝑘</m:t>
                          </m:r>
                        </m:e>
                      </m:d>
                      <m:r>
                        <a:rPr lang="ar-EG" sz="1800">
                          <a:solidFill>
                            <a:schemeClr val="tx1">
                              <a:lumMod val="85000"/>
                              <a:lumOff val="15000"/>
                            </a:schemeClr>
                          </a:solidFill>
                          <a:latin typeface="Cambria Math" panose="02040503050406030204" pitchFamily="18" charset="0"/>
                        </a:rPr>
                        <m:t>+</m:t>
                      </m:r>
                      <m:r>
                        <a:rPr lang="ar-EG" sz="1800" i="1">
                          <a:solidFill>
                            <a:schemeClr val="tx1">
                              <a:lumMod val="85000"/>
                              <a:lumOff val="15000"/>
                            </a:schemeClr>
                          </a:solidFill>
                          <a:latin typeface="Cambria Math" panose="02040503050406030204" pitchFamily="18" charset="0"/>
                        </a:rPr>
                        <m:t>𝑥</m:t>
                      </m:r>
                      <m:d>
                        <m:dPr>
                          <m:begChr m:val="["/>
                          <m:endChr m:val="]"/>
                          <m:ctrlPr>
                            <a:rPr lang="ar-EG" sz="1800" i="1">
                              <a:solidFill>
                                <a:schemeClr val="tx1">
                                  <a:lumMod val="85000"/>
                                  <a:lumOff val="15000"/>
                                </a:schemeClr>
                              </a:solidFill>
                              <a:latin typeface="Cambria Math" panose="02040503050406030204" pitchFamily="18" charset="0"/>
                            </a:rPr>
                          </m:ctrlPr>
                        </m:dPr>
                        <m:e>
                          <m:r>
                            <a:rPr lang="ar-EG" sz="1800" i="1">
                              <a:solidFill>
                                <a:schemeClr val="tx1">
                                  <a:lumMod val="85000"/>
                                  <a:lumOff val="15000"/>
                                </a:schemeClr>
                              </a:solidFill>
                              <a:latin typeface="Cambria Math" panose="02040503050406030204" pitchFamily="18" charset="0"/>
                            </a:rPr>
                            <m:t>𝑛</m:t>
                          </m:r>
                          <m:r>
                            <a:rPr lang="ar-EG" sz="1800">
                              <a:solidFill>
                                <a:schemeClr val="tx1">
                                  <a:lumMod val="85000"/>
                                  <a:lumOff val="15000"/>
                                </a:schemeClr>
                              </a:solidFill>
                              <a:latin typeface="Cambria Math" panose="02040503050406030204" pitchFamily="18" charset="0"/>
                            </a:rPr>
                            <m:t>−</m:t>
                          </m:r>
                          <m:d>
                            <m:dPr>
                              <m:ctrlPr>
                                <a:rPr lang="ar-EG" sz="1800" i="1">
                                  <a:solidFill>
                                    <a:schemeClr val="tx1">
                                      <a:lumMod val="85000"/>
                                      <a:lumOff val="15000"/>
                                    </a:schemeClr>
                                  </a:solidFill>
                                  <a:latin typeface="Cambria Math" panose="02040503050406030204" pitchFamily="18" charset="0"/>
                                </a:rPr>
                              </m:ctrlPr>
                            </m:dPr>
                            <m:e>
                              <m:r>
                                <a:rPr lang="ar-EG" sz="1800" i="1">
                                  <a:solidFill>
                                    <a:schemeClr val="tx1">
                                      <a:lumMod val="85000"/>
                                      <a:lumOff val="15000"/>
                                    </a:schemeClr>
                                  </a:solidFill>
                                  <a:latin typeface="Cambria Math" panose="02040503050406030204" pitchFamily="18" charset="0"/>
                                </a:rPr>
                                <m:t>𝑁</m:t>
                              </m:r>
                              <m:r>
                                <a:rPr lang="ar-EG" sz="1800">
                                  <a:solidFill>
                                    <a:schemeClr val="tx1">
                                      <a:lumMod val="85000"/>
                                      <a:lumOff val="15000"/>
                                    </a:schemeClr>
                                  </a:solidFill>
                                  <a:latin typeface="Cambria Math" panose="02040503050406030204" pitchFamily="18" charset="0"/>
                                </a:rPr>
                                <m:t>−</m:t>
                              </m:r>
                              <m:r>
                                <a:rPr lang="ar-EG" sz="1800">
                                  <a:solidFill>
                                    <a:schemeClr val="tx1">
                                      <a:lumMod val="85000"/>
                                      <a:lumOff val="15000"/>
                                    </a:schemeClr>
                                  </a:solidFill>
                                  <a:latin typeface="Cambria Math" panose="02040503050406030204" pitchFamily="18" charset="0"/>
                                </a:rPr>
                                <m:t>1</m:t>
                              </m:r>
                              <m:r>
                                <a:rPr lang="ar-EG" sz="1800">
                                  <a:solidFill>
                                    <a:schemeClr val="tx1">
                                      <a:lumMod val="85000"/>
                                      <a:lumOff val="15000"/>
                                    </a:schemeClr>
                                  </a:solidFill>
                                  <a:latin typeface="Cambria Math" panose="02040503050406030204" pitchFamily="18" charset="0"/>
                                </a:rPr>
                                <m:t>−</m:t>
                              </m:r>
                              <m:r>
                                <a:rPr lang="ar-EG" sz="1800" i="1">
                                  <a:solidFill>
                                    <a:schemeClr val="tx1">
                                      <a:lumMod val="85000"/>
                                      <a:lumOff val="15000"/>
                                    </a:schemeClr>
                                  </a:solidFill>
                                  <a:latin typeface="Cambria Math" panose="02040503050406030204" pitchFamily="18" charset="0"/>
                                </a:rPr>
                                <m:t>𝑘</m:t>
                              </m:r>
                            </m:e>
                          </m:d>
                        </m:e>
                      </m:d>
                      <m:r>
                        <a:rPr lang="ar-EG" sz="1800">
                          <a:solidFill>
                            <a:schemeClr val="tx1">
                              <a:lumMod val="85000"/>
                              <a:lumOff val="15000"/>
                            </a:schemeClr>
                          </a:solidFill>
                          <a:latin typeface="Cambria Math" panose="02040503050406030204" pitchFamily="18" charset="0"/>
                        </a:rPr>
                        <m:t>)</m:t>
                      </m:r>
                    </m:oMath>
                  </m:oMathPara>
                </a14:m>
                <a:endParaRPr lang="ar-EG" sz="180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endParaRPr>
              </a:p>
              <a:p>
                <a:endParaRPr lang="en-US" dirty="0">
                  <a:solidFill>
                    <a:schemeClr val="tx1">
                      <a:lumMod val="85000"/>
                      <a:lumOff val="15000"/>
                    </a:schemeClr>
                  </a:solidFill>
                </a:endParaRPr>
              </a:p>
            </p:txBody>
          </p:sp>
        </mc:Choice>
        <mc:Fallback xmlns="">
          <p:sp>
            <p:nvSpPr>
              <p:cNvPr id="10" name="Text Placeholder 2">
                <a:extLst>
                  <a:ext uri="{FF2B5EF4-FFF2-40B4-BE49-F238E27FC236}">
                    <a16:creationId xmlns:a16="http://schemas.microsoft.com/office/drawing/2014/main" id="{E9C9C4F5-6294-1A6D-B7B6-9993B67DA602}"/>
                  </a:ext>
                </a:extLst>
              </p:cNvPr>
              <p:cNvSpPr>
                <a:spLocks noGrp="1" noRot="1" noChangeAspect="1" noMove="1" noResize="1" noEditPoints="1" noAdjustHandles="1" noChangeArrowheads="1" noChangeShapeType="1" noTextEdit="1"/>
              </p:cNvSpPr>
              <p:nvPr>
                <p:ph type="body" idx="1"/>
              </p:nvPr>
            </p:nvSpPr>
            <p:spPr>
              <a:xfrm>
                <a:off x="609600" y="1502229"/>
                <a:ext cx="10972800" cy="2305955"/>
              </a:xfr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xmlns="" id="{A9D2A18A-ED2D-FE15-5D09-3598D3DF9756}"/>
                  </a:ext>
                </a:extLst>
              </p:cNvPr>
              <p:cNvSpPr txBox="1"/>
              <p:nvPr/>
            </p:nvSpPr>
            <p:spPr>
              <a:xfrm>
                <a:off x="426721" y="4076095"/>
                <a:ext cx="5365722" cy="1874809"/>
              </a:xfrm>
              <a:prstGeom prst="rect">
                <a:avLst/>
              </a:prstGeom>
              <a:noFill/>
            </p:spPr>
            <p:txBody>
              <a:bodyPr wrap="square" rtlCol="0">
                <a:spAutoFit/>
              </a:bodyPr>
              <a:lstStyle/>
              <a:p>
                <a:r>
                  <a:rPr lang="en-US" sz="1800" b="1" dirty="0">
                    <a:latin typeface="Calibri" panose="020F0502020204030204" pitchFamily="34" charset="0"/>
                    <a:ea typeface="Calibri" panose="020F0502020204030204" pitchFamily="34" charset="0"/>
                    <a:cs typeface="Calibri" panose="020F0502020204030204" pitchFamily="34" charset="0"/>
                  </a:rPr>
                  <a:t>Hardware meaning (Direct-form “folding”)</a:t>
                </a:r>
              </a:p>
              <a:p>
                <a:r>
                  <a:rPr lang="en-US" sz="1800" b="1" dirty="0">
                    <a:latin typeface="Calibri" panose="020F0502020204030204" pitchFamily="34" charset="0"/>
                    <a:ea typeface="Calibri" panose="020F0502020204030204" pitchFamily="34" charset="0"/>
                    <a:cs typeface="Calibri" panose="020F0502020204030204" pitchFamily="34" charset="0"/>
                  </a:rPr>
                  <a:t>Delay line</a:t>
                </a:r>
                <a:r>
                  <a:rPr lang="en-US" sz="1800" dirty="0">
                    <a:latin typeface="Calibri" panose="020F0502020204030204" pitchFamily="34" charset="0"/>
                    <a:ea typeface="Calibri" panose="020F0502020204030204" pitchFamily="34" charset="0"/>
                    <a:cs typeface="Calibri" panose="020F0502020204030204" pitchFamily="34" charset="0"/>
                  </a:rPr>
                  <a:t> provides </a:t>
                </a:r>
                <a14:m>
                  <m:oMath xmlns:m="http://schemas.openxmlformats.org/officeDocument/2006/math">
                    <m:r>
                      <a:rPr lang="en-US" sz="1800" i="1">
                        <a:latin typeface="Cambria Math" panose="02040503050406030204" pitchFamily="18" charset="0"/>
                      </a:rPr>
                      <m:t>𝑥</m:t>
                    </m:r>
                    <m:d>
                      <m:dPr>
                        <m:begChr m:val="["/>
                        <m:endChr m:val="]"/>
                        <m:ctrlPr>
                          <a:rPr lang="ar-EG" sz="1800" i="1">
                            <a:latin typeface="Cambria Math" panose="02040503050406030204" pitchFamily="18" charset="0"/>
                          </a:rPr>
                        </m:ctrlPr>
                      </m:dPr>
                      <m:e>
                        <m:r>
                          <a:rPr lang="ar-EG" sz="1800" i="1">
                            <a:latin typeface="Cambria Math" panose="02040503050406030204" pitchFamily="18" charset="0"/>
                          </a:rPr>
                          <m:t>𝑛</m:t>
                        </m:r>
                      </m:e>
                    </m:d>
                    <m:r>
                      <a:rPr lang="ar-EG" sz="1800">
                        <a:latin typeface="Cambria Math" panose="02040503050406030204" pitchFamily="18" charset="0"/>
                      </a:rPr>
                      <m:t>,</m:t>
                    </m:r>
                    <m:r>
                      <a:rPr lang="ar-EG" sz="1800" i="1">
                        <a:latin typeface="Cambria Math" panose="02040503050406030204" pitchFamily="18" charset="0"/>
                      </a:rPr>
                      <m:t>𝑥</m:t>
                    </m:r>
                    <m:d>
                      <m:dPr>
                        <m:begChr m:val="["/>
                        <m:endChr m:val="]"/>
                        <m:ctrlPr>
                          <a:rPr lang="ar-EG" sz="1800" i="1">
                            <a:latin typeface="Cambria Math" panose="02040503050406030204" pitchFamily="18" charset="0"/>
                          </a:rPr>
                        </m:ctrlPr>
                      </m:dPr>
                      <m:e>
                        <m:r>
                          <a:rPr lang="ar-EG" sz="1800" i="1">
                            <a:latin typeface="Cambria Math" panose="02040503050406030204" pitchFamily="18" charset="0"/>
                          </a:rPr>
                          <m:t>𝑛</m:t>
                        </m:r>
                        <m:r>
                          <a:rPr lang="ar-EG" sz="1800">
                            <a:latin typeface="Cambria Math" panose="02040503050406030204" pitchFamily="18" charset="0"/>
                          </a:rPr>
                          <m:t>−</m:t>
                        </m:r>
                        <m:r>
                          <a:rPr lang="ar-EG" sz="1800">
                            <a:latin typeface="Cambria Math" panose="02040503050406030204" pitchFamily="18" charset="0"/>
                          </a:rPr>
                          <m:t>1</m:t>
                        </m:r>
                      </m:e>
                    </m:d>
                    <m:r>
                      <a:rPr lang="ar-EG" sz="1800">
                        <a:latin typeface="Cambria Math" panose="02040503050406030204" pitchFamily="18" charset="0"/>
                      </a:rPr>
                      <m:t>,...,</m:t>
                    </m:r>
                    <m:r>
                      <a:rPr lang="ar-EG" sz="1800" i="1">
                        <a:latin typeface="Cambria Math" panose="02040503050406030204" pitchFamily="18" charset="0"/>
                      </a:rPr>
                      <m:t>𝑥</m:t>
                    </m:r>
                    <m:d>
                      <m:dPr>
                        <m:begChr m:val="["/>
                        <m:endChr m:val="]"/>
                        <m:ctrlPr>
                          <a:rPr lang="ar-EG" sz="1800" i="1">
                            <a:latin typeface="Cambria Math" panose="02040503050406030204" pitchFamily="18" charset="0"/>
                          </a:rPr>
                        </m:ctrlPr>
                      </m:dPr>
                      <m:e>
                        <m:r>
                          <a:rPr lang="ar-EG" sz="1800" i="1">
                            <a:latin typeface="Cambria Math" panose="02040503050406030204" pitchFamily="18" charset="0"/>
                          </a:rPr>
                          <m:t>𝑛</m:t>
                        </m:r>
                        <m:r>
                          <a:rPr lang="ar-EG" sz="1800">
                            <a:latin typeface="Cambria Math" panose="02040503050406030204" pitchFamily="18" charset="0"/>
                          </a:rPr>
                          <m:t>−</m:t>
                        </m:r>
                        <m:d>
                          <m:dPr>
                            <m:ctrlPr>
                              <a:rPr lang="ar-EG" sz="1800" i="1">
                                <a:latin typeface="Cambria Math" panose="02040503050406030204" pitchFamily="18" charset="0"/>
                              </a:rPr>
                            </m:ctrlPr>
                          </m:dPr>
                          <m:e>
                            <m:r>
                              <a:rPr lang="ar-EG" sz="1800" i="1">
                                <a:latin typeface="Cambria Math" panose="02040503050406030204" pitchFamily="18" charset="0"/>
                              </a:rPr>
                              <m:t>𝑁</m:t>
                            </m:r>
                            <m:r>
                              <a:rPr lang="ar-EG" sz="1800">
                                <a:latin typeface="Cambria Math" panose="02040503050406030204" pitchFamily="18" charset="0"/>
                              </a:rPr>
                              <m:t>−</m:t>
                            </m:r>
                            <m:r>
                              <a:rPr lang="ar-EG" sz="1800">
                                <a:latin typeface="Cambria Math" panose="02040503050406030204" pitchFamily="18" charset="0"/>
                              </a:rPr>
                              <m:t>1</m:t>
                            </m:r>
                          </m:e>
                        </m:d>
                      </m:e>
                    </m:d>
                  </m:oMath>
                </a14:m>
                <a:endParaRPr lang="ar-EG" sz="1800" dirty="0">
                  <a:latin typeface="Calibri" panose="020F0502020204030204" pitchFamily="34" charset="0"/>
                  <a:ea typeface="Calibri" panose="020F0502020204030204" pitchFamily="34" charset="0"/>
                  <a:cs typeface="Calibri" panose="020F0502020204030204" pitchFamily="34" charset="0"/>
                </a:endParaRPr>
              </a:p>
              <a:p>
                <a:r>
                  <a:rPr lang="en-US" sz="1800" dirty="0">
                    <a:latin typeface="Calibri" panose="020F0502020204030204" pitchFamily="34" charset="0"/>
                    <a:ea typeface="Calibri" panose="020F0502020204030204" pitchFamily="34" charset="0"/>
                    <a:cs typeface="Calibri" panose="020F0502020204030204" pitchFamily="34" charset="0"/>
                  </a:rPr>
                  <a:t>For each symmetric pair:</a:t>
                </a:r>
              </a:p>
              <a:p>
                <a:pPr lvl="1"/>
                <a:r>
                  <a:rPr lang="en-US" sz="1800" b="1" dirty="0">
                    <a:latin typeface="Calibri" panose="020F0502020204030204" pitchFamily="34" charset="0"/>
                    <a:ea typeface="Calibri" panose="020F0502020204030204" pitchFamily="34" charset="0"/>
                    <a:cs typeface="Calibri" panose="020F0502020204030204" pitchFamily="34" charset="0"/>
                  </a:rPr>
                  <a:t>Pre-adder:</a:t>
                </a:r>
                <a:r>
                  <a:rPr lang="en-US" sz="18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sSub>
                      <m:sSubPr>
                        <m:ctrlPr>
                          <a:rPr lang="ar-EG" sz="1800" i="1">
                            <a:latin typeface="Cambria Math" panose="02040503050406030204" pitchFamily="18" charset="0"/>
                          </a:rPr>
                        </m:ctrlPr>
                      </m:sSubPr>
                      <m:e>
                        <m:r>
                          <a:rPr lang="ar-EG" sz="1800" i="1">
                            <a:latin typeface="Cambria Math" panose="02040503050406030204" pitchFamily="18" charset="0"/>
                          </a:rPr>
                          <m:t>𝑠</m:t>
                        </m:r>
                      </m:e>
                      <m:sub>
                        <m:r>
                          <a:rPr lang="ar-EG" sz="1800" i="1">
                            <a:latin typeface="Cambria Math" panose="02040503050406030204" pitchFamily="18" charset="0"/>
                          </a:rPr>
                          <m:t>𝑘</m:t>
                        </m:r>
                      </m:sub>
                    </m:sSub>
                    <m:r>
                      <a:rPr lang="ar-EG" sz="1800">
                        <a:latin typeface="Cambria Math" panose="02040503050406030204" pitchFamily="18" charset="0"/>
                      </a:rPr>
                      <m:t>=</m:t>
                    </m:r>
                    <m:sSub>
                      <m:sSubPr>
                        <m:ctrlPr>
                          <a:rPr lang="ar-EG" sz="1800" i="1">
                            <a:latin typeface="Cambria Math" panose="02040503050406030204" pitchFamily="18" charset="0"/>
                          </a:rPr>
                        </m:ctrlPr>
                      </m:sSubPr>
                      <m:e>
                        <m:r>
                          <a:rPr lang="ar-EG" sz="1800" i="1">
                            <a:latin typeface="Cambria Math" panose="02040503050406030204" pitchFamily="18" charset="0"/>
                          </a:rPr>
                          <m:t>𝑥</m:t>
                        </m:r>
                      </m:e>
                      <m:sub>
                        <m:r>
                          <a:rPr lang="ar-EG" sz="1800">
                            <a:latin typeface="Cambria Math" panose="02040503050406030204" pitchFamily="18" charset="0"/>
                          </a:rPr>
                          <m:t>1</m:t>
                        </m:r>
                      </m:sub>
                    </m:sSub>
                    <m:r>
                      <a:rPr lang="ar-EG" sz="1800">
                        <a:latin typeface="Cambria Math" panose="02040503050406030204" pitchFamily="18" charset="0"/>
                      </a:rPr>
                      <m:t>+</m:t>
                    </m:r>
                    <m:sSub>
                      <m:sSubPr>
                        <m:ctrlPr>
                          <a:rPr lang="ar-EG" sz="1800" i="1">
                            <a:latin typeface="Cambria Math" panose="02040503050406030204" pitchFamily="18" charset="0"/>
                          </a:rPr>
                        </m:ctrlPr>
                      </m:sSubPr>
                      <m:e>
                        <m:r>
                          <a:rPr lang="ar-EG" sz="1800" i="1">
                            <a:latin typeface="Cambria Math" panose="02040503050406030204" pitchFamily="18" charset="0"/>
                          </a:rPr>
                          <m:t>𝑥</m:t>
                        </m:r>
                      </m:e>
                      <m:sub>
                        <m:r>
                          <a:rPr lang="ar-EG" sz="1800">
                            <a:latin typeface="Cambria Math" panose="02040503050406030204" pitchFamily="18" charset="0"/>
                          </a:rPr>
                          <m:t>2</m:t>
                        </m:r>
                      </m:sub>
                    </m:sSub>
                  </m:oMath>
                </a14:m>
                <a:endParaRPr lang="ar-EG" sz="1800" dirty="0">
                  <a:latin typeface="Calibri" panose="020F0502020204030204" pitchFamily="34" charset="0"/>
                  <a:ea typeface="Calibri" panose="020F0502020204030204" pitchFamily="34" charset="0"/>
                  <a:cs typeface="Calibri" panose="020F0502020204030204" pitchFamily="34" charset="0"/>
                </a:endParaRPr>
              </a:p>
              <a:p>
                <a:pPr lvl="1"/>
                <a:r>
                  <a:rPr lang="en-US" sz="1800" b="1" dirty="0">
                    <a:latin typeface="Calibri" panose="020F0502020204030204" pitchFamily="34" charset="0"/>
                    <a:ea typeface="Calibri" panose="020F0502020204030204" pitchFamily="34" charset="0"/>
                    <a:cs typeface="Calibri" panose="020F0502020204030204" pitchFamily="34" charset="0"/>
                  </a:rPr>
                  <a:t>Single coefficient path:</a:t>
                </a:r>
                <a:r>
                  <a:rPr lang="en-US" sz="1800" dirty="0">
                    <a:latin typeface="Calibri" panose="020F0502020204030204" pitchFamily="34" charset="0"/>
                    <a:ea typeface="Calibri" panose="020F0502020204030204" pitchFamily="34" charset="0"/>
                    <a:cs typeface="Calibri" panose="020F0502020204030204" pitchFamily="34" charset="0"/>
                  </a:rPr>
                  <a:t> multiply once by </a:t>
                </a:r>
                <a14:m>
                  <m:oMath xmlns:m="http://schemas.openxmlformats.org/officeDocument/2006/math">
                    <m:r>
                      <a:rPr lang="en-US" sz="1800" i="1">
                        <a:latin typeface="Cambria Math" panose="02040503050406030204" pitchFamily="18" charset="0"/>
                      </a:rPr>
                      <m:t>h</m:t>
                    </m:r>
                    <m:d>
                      <m:dPr>
                        <m:begChr m:val="["/>
                        <m:endChr m:val="]"/>
                        <m:ctrlPr>
                          <a:rPr lang="ar-EG" sz="1800" i="1">
                            <a:latin typeface="Cambria Math" panose="02040503050406030204" pitchFamily="18" charset="0"/>
                          </a:rPr>
                        </m:ctrlPr>
                      </m:dPr>
                      <m:e>
                        <m:r>
                          <a:rPr lang="ar-EG" sz="1800" i="1">
                            <a:latin typeface="Cambria Math" panose="02040503050406030204" pitchFamily="18" charset="0"/>
                          </a:rPr>
                          <m:t>𝑘</m:t>
                        </m:r>
                      </m:e>
                    </m:d>
                  </m:oMath>
                </a14:m>
                <a:endParaRPr lang="ar-EG" sz="1800" dirty="0">
                  <a:latin typeface="Calibri" panose="020F0502020204030204" pitchFamily="34" charset="0"/>
                  <a:ea typeface="Calibri" panose="020F0502020204030204" pitchFamily="34" charset="0"/>
                  <a:cs typeface="Calibri" panose="020F0502020204030204" pitchFamily="34" charset="0"/>
                </a:endParaRPr>
              </a:p>
              <a:p>
                <a:r>
                  <a:rPr lang="en-US" sz="1800" dirty="0">
                    <a:latin typeface="Calibri" panose="020F0502020204030204" pitchFamily="34" charset="0"/>
                    <a:ea typeface="Calibri" panose="020F0502020204030204" pitchFamily="34" charset="0"/>
                    <a:cs typeface="Calibri" panose="020F0502020204030204" pitchFamily="34" charset="0"/>
                  </a:rPr>
                  <a:t>Result: multipliers reduce from </a:t>
                </a:r>
                <a14:m>
                  <m:oMath xmlns:m="http://schemas.openxmlformats.org/officeDocument/2006/math">
                    <m:r>
                      <a:rPr lang="en-US" sz="1800" i="1">
                        <a:latin typeface="Cambria Math" panose="02040503050406030204" pitchFamily="18" charset="0"/>
                      </a:rPr>
                      <m:t>𝑁</m:t>
                    </m:r>
                  </m:oMath>
                </a14:m>
                <a:r>
                  <a:rPr lang="en-US" sz="1800" dirty="0">
                    <a:latin typeface="Calibri" panose="020F0502020204030204" pitchFamily="34" charset="0"/>
                    <a:ea typeface="Calibri" panose="020F0502020204030204" pitchFamily="34" charset="0"/>
                    <a:cs typeface="Calibri" panose="020F0502020204030204" pitchFamily="34" charset="0"/>
                  </a:rPr>
                  <a:t> to about </a:t>
                </a:r>
                <a14:m>
                  <m:oMath xmlns:m="http://schemas.openxmlformats.org/officeDocument/2006/math">
                    <m:f>
                      <m:fPr>
                        <m:ctrlPr>
                          <a:rPr lang="en-US" sz="1800" b="0" i="1">
                            <a:latin typeface="Cambria Math" panose="02040503050406030204" pitchFamily="18" charset="0"/>
                          </a:rPr>
                        </m:ctrlPr>
                      </m:fPr>
                      <m:num>
                        <m:r>
                          <m:rPr>
                            <m:sty m:val="p"/>
                          </m:rPr>
                          <a:rPr lang="en-US" sz="1800" b="0" i="0" smtClean="0">
                            <a:latin typeface="Cambria Math" panose="02040503050406030204" pitchFamily="18" charset="0"/>
                          </a:rPr>
                          <m:t>N</m:t>
                        </m:r>
                      </m:num>
                      <m:den>
                        <m:r>
                          <a:rPr lang="en-US" sz="1800">
                            <a:latin typeface="Cambria Math" panose="02040503050406030204" pitchFamily="18" charset="0"/>
                          </a:rPr>
                          <m:t>2</m:t>
                        </m:r>
                      </m:den>
                    </m:f>
                  </m:oMath>
                </a14:m>
                <a:endParaRPr lang="en-US" sz="18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1" name="TextBox 10">
                <a:extLst>
                  <a:ext uri="{FF2B5EF4-FFF2-40B4-BE49-F238E27FC236}">
                    <a16:creationId xmlns:a16="http://schemas.microsoft.com/office/drawing/2014/main" id="{A9D2A18A-ED2D-FE15-5D09-3598D3DF9756}"/>
                  </a:ext>
                </a:extLst>
              </p:cNvPr>
              <p:cNvSpPr txBox="1">
                <a:spLocks noRot="1" noChangeAspect="1" noMove="1" noResize="1" noEditPoints="1" noAdjustHandles="1" noChangeArrowheads="1" noChangeShapeType="1" noTextEdit="1"/>
              </p:cNvSpPr>
              <p:nvPr/>
            </p:nvSpPr>
            <p:spPr>
              <a:xfrm>
                <a:off x="426721" y="4076095"/>
                <a:ext cx="5365722" cy="1874809"/>
              </a:xfrm>
              <a:prstGeom prst="rect">
                <a:avLst/>
              </a:prstGeom>
              <a:blipFill>
                <a:blip r:embed="rId4"/>
                <a:stretch>
                  <a:fillRect l="-909" t="-1954" b="-1629"/>
                </a:stretch>
              </a:blipFill>
            </p:spPr>
            <p:txBody>
              <a:bodyPr/>
              <a:lstStyle/>
              <a:p>
                <a:r>
                  <a:rPr lang="en-US">
                    <a:noFill/>
                  </a:rPr>
                  <a:t> </a:t>
                </a:r>
              </a:p>
            </p:txBody>
          </p:sp>
        </mc:Fallback>
      </mc:AlternateContent>
    </p:spTree>
    <p:extLst>
      <p:ext uri="{BB962C8B-B14F-4D97-AF65-F5344CB8AC3E}">
        <p14:creationId xmlns:p14="http://schemas.microsoft.com/office/powerpoint/2010/main" val="14742823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2B493BC-C498-CF6F-42DF-7FC18387FF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78DE2263-BC9E-47FD-9F36-6A8EEAD4B988}"/>
              </a:ext>
            </a:extLst>
          </p:cNvPr>
          <p:cNvSpPr>
            <a:spLocks noGrp="1"/>
          </p:cNvSpPr>
          <p:nvPr>
            <p:ph type="title"/>
          </p:nvPr>
        </p:nvSpPr>
        <p:spPr/>
        <p:txBody>
          <a:bodyPr/>
          <a:lstStyle/>
          <a:p>
            <a:r>
              <a:rPr lang="en-US" dirty="0">
                <a:latin typeface="+mj-lt"/>
              </a:rPr>
              <a:t>MATLAB Simulation</a:t>
            </a:r>
            <a:r>
              <a:rPr lang="en-US" sz="3200" dirty="0">
                <a:latin typeface="Times New Roman" panose="02020603050405020304" pitchFamily="18" charset="0"/>
                <a:cs typeface="Times New Roman" panose="02020603050405020304" pitchFamily="18" charset="0"/>
              </a:rPr>
              <a:t> Results</a:t>
            </a:r>
          </a:p>
        </p:txBody>
      </p:sp>
      <p:pic>
        <p:nvPicPr>
          <p:cNvPr id="4" name="Picture 3">
            <a:extLst>
              <a:ext uri="{FF2B5EF4-FFF2-40B4-BE49-F238E27FC236}">
                <a16:creationId xmlns:a16="http://schemas.microsoft.com/office/drawing/2014/main" xmlns="" id="{8D13F8D6-28F6-F31C-F7A1-A3519394B7F2}"/>
              </a:ext>
            </a:extLst>
          </p:cNvPr>
          <p:cNvPicPr>
            <a:picLocks noChangeAspect="1"/>
          </p:cNvPicPr>
          <p:nvPr/>
        </p:nvPicPr>
        <p:blipFill>
          <a:blip r:embed="rId2"/>
          <a:stretch>
            <a:fillRect/>
          </a:stretch>
        </p:blipFill>
        <p:spPr>
          <a:xfrm>
            <a:off x="946151" y="1629008"/>
            <a:ext cx="5278016" cy="3904044"/>
          </a:xfrm>
          <a:prstGeom prst="rect">
            <a:avLst/>
          </a:prstGeom>
        </p:spPr>
      </p:pic>
      <p:pic>
        <p:nvPicPr>
          <p:cNvPr id="5" name="Picture 4">
            <a:extLst>
              <a:ext uri="{FF2B5EF4-FFF2-40B4-BE49-F238E27FC236}">
                <a16:creationId xmlns:a16="http://schemas.microsoft.com/office/drawing/2014/main" xmlns="" id="{50C67A8B-CB58-05E7-7739-26CB545286E4}"/>
              </a:ext>
            </a:extLst>
          </p:cNvPr>
          <p:cNvPicPr>
            <a:picLocks noChangeAspect="1"/>
          </p:cNvPicPr>
          <p:nvPr/>
        </p:nvPicPr>
        <p:blipFill>
          <a:blip r:embed="rId3"/>
          <a:stretch>
            <a:fillRect/>
          </a:stretch>
        </p:blipFill>
        <p:spPr>
          <a:xfrm>
            <a:off x="6419461" y="1629008"/>
            <a:ext cx="4963885" cy="3904044"/>
          </a:xfrm>
          <a:prstGeom prst="rect">
            <a:avLst/>
          </a:prstGeom>
        </p:spPr>
      </p:pic>
    </p:spTree>
    <p:extLst>
      <p:ext uri="{BB962C8B-B14F-4D97-AF65-F5344CB8AC3E}">
        <p14:creationId xmlns:p14="http://schemas.microsoft.com/office/powerpoint/2010/main" val="33180868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468311E-38E5-B275-2588-1EA2A544B0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4AAE45F6-81AC-8C41-0A0E-8D2B1F1CB9F2}"/>
              </a:ext>
            </a:extLst>
          </p:cNvPr>
          <p:cNvSpPr>
            <a:spLocks noGrp="1"/>
          </p:cNvSpPr>
          <p:nvPr>
            <p:ph type="title"/>
          </p:nvPr>
        </p:nvSpPr>
        <p:spPr/>
        <p:txBody>
          <a:bodyPr>
            <a:normAutofit/>
          </a:bodyPr>
          <a:lstStyle/>
          <a:p>
            <a:r>
              <a:rPr lang="en-US" sz="3200" dirty="0">
                <a:latin typeface="Times New Roman" panose="02020603050405020304" pitchFamily="18" charset="0"/>
                <a:cs typeface="Times New Roman" panose="02020603050405020304" pitchFamily="18" charset="0"/>
              </a:rPr>
              <a:t>RTL Implementation/Optimization</a:t>
            </a:r>
          </a:p>
        </p:txBody>
      </p:sp>
      <p:sp>
        <p:nvSpPr>
          <p:cNvPr id="9" name="Text Placeholder 2">
            <a:extLst>
              <a:ext uri="{FF2B5EF4-FFF2-40B4-BE49-F238E27FC236}">
                <a16:creationId xmlns:a16="http://schemas.microsoft.com/office/drawing/2014/main" xmlns="" id="{592AEA4F-FCE5-482B-4B67-7794735D04B0}"/>
              </a:ext>
            </a:extLst>
          </p:cNvPr>
          <p:cNvSpPr txBox="1">
            <a:spLocks/>
          </p:cNvSpPr>
          <p:nvPr/>
        </p:nvSpPr>
        <p:spPr>
          <a:xfrm>
            <a:off x="510209" y="4882121"/>
            <a:ext cx="10972800" cy="139767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342900" algn="l" rtl="0">
              <a:lnSpc>
                <a:spcPct val="100000"/>
              </a:lnSpc>
              <a:spcBef>
                <a:spcPts val="400"/>
              </a:spcBef>
              <a:spcAft>
                <a:spcPts val="0"/>
              </a:spcAft>
              <a:buClr>
                <a:schemeClr val="dk1"/>
              </a:buClr>
              <a:buSzPts val="1800"/>
              <a:buFont typeface="Calibri"/>
              <a:buChar char="–"/>
              <a:defRPr sz="20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dk1"/>
              </a:buClr>
              <a:buSzPts val="1800"/>
              <a:buFont typeface="Calibri"/>
              <a:buChar char="–"/>
              <a:defRPr sz="1800" b="0" i="0" u="none" strike="noStrike" cap="none">
                <a:solidFill>
                  <a:schemeClr val="dk1"/>
                </a:solidFill>
                <a:latin typeface="Calibri"/>
                <a:ea typeface="Calibri"/>
                <a:cs typeface="Calibri"/>
                <a:sym typeface="Calibri"/>
              </a:defRPr>
            </a:lvl3pPr>
            <a:lvl4pPr marL="1828800" marR="0" lvl="3" indent="-330200" algn="l" rtl="0">
              <a:lnSpc>
                <a:spcPct val="100000"/>
              </a:lnSpc>
              <a:spcBef>
                <a:spcPts val="336"/>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lnSpc>
                <a:spcPct val="100000"/>
              </a:lnSpc>
              <a:spcBef>
                <a:spcPts val="336"/>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76200" lvl="0" indent="0">
              <a:buClr>
                <a:srgbClr val="000000"/>
              </a:buClr>
              <a:buNone/>
              <a:defRPr/>
            </a:pPr>
            <a:r>
              <a:rPr lang="en-US" sz="1800" dirty="0"/>
              <a:t>• Multiplier-free optimization: Since </a:t>
            </a:r>
            <a:r>
              <a:rPr lang="en-US" sz="1800" dirty="0" err="1"/>
              <a:t>s_pair</a:t>
            </a:r>
            <a:r>
              <a:rPr lang="en-US" sz="1800" dirty="0"/>
              <a:t> ∈ {−2, −1, 0, +1, +2}, each tap contribution is selected using a small decoder and MUX instead of a full multiplier.</a:t>
            </a:r>
            <a:br>
              <a:rPr lang="en-US" sz="1800" dirty="0"/>
            </a:br>
            <a:r>
              <a:rPr lang="en-US" sz="1800" dirty="0"/>
              <a:t>• The MUX selects: +2h[k], +h[k], 0, −h[k], or −2h[k].</a:t>
            </a:r>
            <a:br>
              <a:rPr lang="en-US" sz="1800" dirty="0"/>
            </a:br>
            <a:r>
              <a:rPr lang="en-US" sz="1800" dirty="0"/>
              <a:t>• ±2h[k] is generated by a left shift by 1, and negative terms are generated using two’s-complement sign inversion.</a:t>
            </a:r>
            <a:endParaRPr lang="ar-EG" dirty="0">
              <a:solidFill>
                <a:srgbClr val="000000"/>
              </a:solidFill>
            </a:endParaRPr>
          </a:p>
          <a:p>
            <a:pPr marL="457200" marR="0" lvl="0" indent="-381000" algn="l" defTabSz="914400" rtl="0" eaLnBrk="1" fontAlgn="auto" latinLnBrk="0" hangingPunct="1">
              <a:lnSpc>
                <a:spcPct val="100000"/>
              </a:lnSpc>
              <a:spcBef>
                <a:spcPts val="480"/>
              </a:spcBef>
              <a:spcAft>
                <a:spcPts val="0"/>
              </a:spcAft>
              <a:buClr>
                <a:srgbClr val="000000"/>
              </a:buClr>
              <a:buSzPts val="2400"/>
              <a:buFont typeface="Arial"/>
              <a:buChar char="•"/>
              <a:tabLst/>
              <a:defRPr/>
            </a:pPr>
            <a:endParaRPr kumimoji="0" lang="en-US" sz="24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pic>
        <p:nvPicPr>
          <p:cNvPr id="8" name="Picture 7">
            <a:extLst>
              <a:ext uri="{FF2B5EF4-FFF2-40B4-BE49-F238E27FC236}">
                <a16:creationId xmlns:a16="http://schemas.microsoft.com/office/drawing/2014/main" xmlns="" id="{FA5CB8AD-FD7E-D9FF-8786-C3E2269180AF}"/>
              </a:ext>
            </a:extLst>
          </p:cNvPr>
          <p:cNvPicPr>
            <a:picLocks noChangeAspect="1"/>
          </p:cNvPicPr>
          <p:nvPr/>
        </p:nvPicPr>
        <p:blipFill>
          <a:blip r:embed="rId2"/>
          <a:stretch>
            <a:fillRect/>
          </a:stretch>
        </p:blipFill>
        <p:spPr>
          <a:xfrm>
            <a:off x="1446685" y="1610168"/>
            <a:ext cx="6033051" cy="3118230"/>
          </a:xfrm>
          <a:prstGeom prst="rect">
            <a:avLst/>
          </a:prstGeom>
        </p:spPr>
      </p:pic>
      <p:graphicFrame>
        <p:nvGraphicFramePr>
          <p:cNvPr id="3" name="Table 2">
            <a:extLst>
              <a:ext uri="{FF2B5EF4-FFF2-40B4-BE49-F238E27FC236}">
                <a16:creationId xmlns:a16="http://schemas.microsoft.com/office/drawing/2014/main" xmlns="" id="{EDA35EF2-8F92-802A-EF81-44A3FD75D6A4}"/>
              </a:ext>
            </a:extLst>
          </p:cNvPr>
          <p:cNvGraphicFramePr>
            <a:graphicFrameLocks noGrp="1"/>
          </p:cNvGraphicFramePr>
          <p:nvPr>
            <p:extLst>
              <p:ext uri="{D42A27DB-BD31-4B8C-83A1-F6EECF244321}">
                <p14:modId xmlns:p14="http://schemas.microsoft.com/office/powerpoint/2010/main" val="2079499397"/>
              </p:ext>
            </p:extLst>
          </p:nvPr>
        </p:nvGraphicFramePr>
        <p:xfrm>
          <a:off x="7707086" y="1402037"/>
          <a:ext cx="3538764" cy="3387010"/>
        </p:xfrm>
        <a:graphic>
          <a:graphicData uri="http://schemas.openxmlformats.org/drawingml/2006/table">
            <a:tbl>
              <a:tblPr>
                <a:tableStyleId>{00A15C55-8517-42AA-B614-E9B94910E393}</a:tableStyleId>
              </a:tblPr>
              <a:tblGrid>
                <a:gridCol w="1179588">
                  <a:extLst>
                    <a:ext uri="{9D8B030D-6E8A-4147-A177-3AD203B41FA5}">
                      <a16:colId xmlns:a16="http://schemas.microsoft.com/office/drawing/2014/main" xmlns="" val="2462324192"/>
                    </a:ext>
                  </a:extLst>
                </a:gridCol>
                <a:gridCol w="1179588">
                  <a:extLst>
                    <a:ext uri="{9D8B030D-6E8A-4147-A177-3AD203B41FA5}">
                      <a16:colId xmlns:a16="http://schemas.microsoft.com/office/drawing/2014/main" xmlns="" val="3539900129"/>
                    </a:ext>
                  </a:extLst>
                </a:gridCol>
                <a:gridCol w="1179588">
                  <a:extLst>
                    <a:ext uri="{9D8B030D-6E8A-4147-A177-3AD203B41FA5}">
                      <a16:colId xmlns:a16="http://schemas.microsoft.com/office/drawing/2014/main" xmlns="" val="551982470"/>
                    </a:ext>
                  </a:extLst>
                </a:gridCol>
              </a:tblGrid>
              <a:tr h="789454">
                <a:tc>
                  <a:txBody>
                    <a:bodyPr/>
                    <a:lstStyle/>
                    <a:p>
                      <a:pPr>
                        <a:buNone/>
                      </a:pPr>
                      <a:r>
                        <a:rPr lang="en-US" dirty="0"/>
                        <a:t>Symmetric sample pair</a:t>
                      </a:r>
                    </a:p>
                  </a:txBody>
                  <a:tcPr anchor="ctr"/>
                </a:tc>
                <a:tc>
                  <a:txBody>
                    <a:bodyPr/>
                    <a:lstStyle/>
                    <a:p>
                      <a:pPr algn="r">
                        <a:buNone/>
                      </a:pPr>
                      <a:r>
                        <a:rPr lang="en-US"/>
                        <a:t>s_pair</a:t>
                      </a:r>
                    </a:p>
                  </a:txBody>
                  <a:tcPr anchor="ctr"/>
                </a:tc>
                <a:tc>
                  <a:txBody>
                    <a:bodyPr/>
                    <a:lstStyle/>
                    <a:p>
                      <a:pPr>
                        <a:buNone/>
                      </a:pPr>
                      <a:r>
                        <a:rPr lang="en-US"/>
                        <a:t>MUX selected output</a:t>
                      </a:r>
                    </a:p>
                  </a:txBody>
                  <a:tcPr anchor="ctr"/>
                </a:tc>
                <a:extLst>
                  <a:ext uri="{0D108BD9-81ED-4DB2-BD59-A6C34878D82A}">
                    <a16:rowId xmlns:a16="http://schemas.microsoft.com/office/drawing/2014/main" xmlns="" val="3951572606"/>
                  </a:ext>
                </a:extLst>
              </a:tr>
              <a:tr h="432926">
                <a:tc>
                  <a:txBody>
                    <a:bodyPr/>
                    <a:lstStyle/>
                    <a:p>
                      <a:pPr>
                        <a:buNone/>
                      </a:pPr>
                      <a:r>
                        <a:rPr lang="en-US"/>
                        <a:t>+1 + +1</a:t>
                      </a:r>
                    </a:p>
                  </a:txBody>
                  <a:tcPr anchor="ctr"/>
                </a:tc>
                <a:tc>
                  <a:txBody>
                    <a:bodyPr/>
                    <a:lstStyle/>
                    <a:p>
                      <a:pPr algn="r">
                        <a:buNone/>
                      </a:pPr>
                      <a:r>
                        <a:rPr lang="en-US" dirty="0"/>
                        <a:t>+2</a:t>
                      </a:r>
                    </a:p>
                  </a:txBody>
                  <a:tcPr anchor="ctr"/>
                </a:tc>
                <a:tc>
                  <a:txBody>
                    <a:bodyPr/>
                    <a:lstStyle/>
                    <a:p>
                      <a:pPr>
                        <a:buNone/>
                      </a:pPr>
                      <a:r>
                        <a:rPr lang="en-US" dirty="0"/>
                        <a:t>+2h[k]</a:t>
                      </a:r>
                    </a:p>
                  </a:txBody>
                  <a:tcPr anchor="ctr"/>
                </a:tc>
                <a:extLst>
                  <a:ext uri="{0D108BD9-81ED-4DB2-BD59-A6C34878D82A}">
                    <a16:rowId xmlns:a16="http://schemas.microsoft.com/office/drawing/2014/main" xmlns="" val="2289157138"/>
                  </a:ext>
                </a:extLst>
              </a:tr>
              <a:tr h="432926">
                <a:tc>
                  <a:txBody>
                    <a:bodyPr/>
                    <a:lstStyle/>
                    <a:p>
                      <a:pPr>
                        <a:buNone/>
                      </a:pPr>
                      <a:r>
                        <a:rPr lang="en-US"/>
                        <a:t>+1 + −1</a:t>
                      </a:r>
                    </a:p>
                  </a:txBody>
                  <a:tcPr anchor="ctr"/>
                </a:tc>
                <a:tc>
                  <a:txBody>
                    <a:bodyPr/>
                    <a:lstStyle/>
                    <a:p>
                      <a:pPr algn="r">
                        <a:buNone/>
                      </a:pPr>
                      <a:r>
                        <a:rPr lang="en-US"/>
                        <a:t>0</a:t>
                      </a:r>
                    </a:p>
                  </a:txBody>
                  <a:tcPr anchor="ctr"/>
                </a:tc>
                <a:tc>
                  <a:txBody>
                    <a:bodyPr/>
                    <a:lstStyle/>
                    <a:p>
                      <a:pPr>
                        <a:buNone/>
                      </a:pPr>
                      <a:r>
                        <a:rPr lang="en-US"/>
                        <a:t>0</a:t>
                      </a:r>
                    </a:p>
                  </a:txBody>
                  <a:tcPr anchor="ctr"/>
                </a:tc>
                <a:extLst>
                  <a:ext uri="{0D108BD9-81ED-4DB2-BD59-A6C34878D82A}">
                    <a16:rowId xmlns:a16="http://schemas.microsoft.com/office/drawing/2014/main" xmlns="" val="4268100745"/>
                  </a:ext>
                </a:extLst>
              </a:tr>
              <a:tr h="432926">
                <a:tc>
                  <a:txBody>
                    <a:bodyPr/>
                    <a:lstStyle/>
                    <a:p>
                      <a:pPr>
                        <a:buNone/>
                      </a:pPr>
                      <a:r>
                        <a:rPr lang="en-US"/>
                        <a:t>−1 + +1</a:t>
                      </a:r>
                    </a:p>
                  </a:txBody>
                  <a:tcPr anchor="ctr"/>
                </a:tc>
                <a:tc>
                  <a:txBody>
                    <a:bodyPr/>
                    <a:lstStyle/>
                    <a:p>
                      <a:pPr algn="r">
                        <a:buNone/>
                      </a:pPr>
                      <a:r>
                        <a:rPr lang="en-US"/>
                        <a:t>0</a:t>
                      </a:r>
                    </a:p>
                  </a:txBody>
                  <a:tcPr anchor="ctr"/>
                </a:tc>
                <a:tc>
                  <a:txBody>
                    <a:bodyPr/>
                    <a:lstStyle/>
                    <a:p>
                      <a:pPr>
                        <a:buNone/>
                      </a:pPr>
                      <a:r>
                        <a:rPr lang="en-US"/>
                        <a:t>0</a:t>
                      </a:r>
                    </a:p>
                  </a:txBody>
                  <a:tcPr anchor="ctr"/>
                </a:tc>
                <a:extLst>
                  <a:ext uri="{0D108BD9-81ED-4DB2-BD59-A6C34878D82A}">
                    <a16:rowId xmlns:a16="http://schemas.microsoft.com/office/drawing/2014/main" xmlns="" val="1689227207"/>
                  </a:ext>
                </a:extLst>
              </a:tr>
              <a:tr h="432926">
                <a:tc>
                  <a:txBody>
                    <a:bodyPr/>
                    <a:lstStyle/>
                    <a:p>
                      <a:pPr>
                        <a:buNone/>
                      </a:pPr>
                      <a:r>
                        <a:rPr lang="en-US"/>
                        <a:t>−1 + −1</a:t>
                      </a:r>
                    </a:p>
                  </a:txBody>
                  <a:tcPr anchor="ctr"/>
                </a:tc>
                <a:tc>
                  <a:txBody>
                    <a:bodyPr/>
                    <a:lstStyle/>
                    <a:p>
                      <a:pPr algn="r">
                        <a:buNone/>
                      </a:pPr>
                      <a:r>
                        <a:rPr lang="en-US"/>
                        <a:t>−2</a:t>
                      </a:r>
                    </a:p>
                  </a:txBody>
                  <a:tcPr anchor="ctr"/>
                </a:tc>
                <a:tc>
                  <a:txBody>
                    <a:bodyPr/>
                    <a:lstStyle/>
                    <a:p>
                      <a:pPr>
                        <a:buNone/>
                      </a:pPr>
                      <a:r>
                        <a:rPr lang="en-US"/>
                        <a:t>−2h[k]</a:t>
                      </a:r>
                    </a:p>
                  </a:txBody>
                  <a:tcPr anchor="ctr"/>
                </a:tc>
                <a:extLst>
                  <a:ext uri="{0D108BD9-81ED-4DB2-BD59-A6C34878D82A}">
                    <a16:rowId xmlns:a16="http://schemas.microsoft.com/office/drawing/2014/main" xmlns="" val="2014999705"/>
                  </a:ext>
                </a:extLst>
              </a:tr>
              <a:tr h="432926">
                <a:tc>
                  <a:txBody>
                    <a:bodyPr/>
                    <a:lstStyle/>
                    <a:p>
                      <a:pPr>
                        <a:buNone/>
                      </a:pPr>
                      <a:r>
                        <a:rPr lang="en-US"/>
                        <a:t>+1 + 0</a:t>
                      </a:r>
                    </a:p>
                  </a:txBody>
                  <a:tcPr anchor="ctr"/>
                </a:tc>
                <a:tc>
                  <a:txBody>
                    <a:bodyPr/>
                    <a:lstStyle/>
                    <a:p>
                      <a:pPr algn="r">
                        <a:buNone/>
                      </a:pPr>
                      <a:r>
                        <a:rPr lang="en-US"/>
                        <a:t>+1</a:t>
                      </a:r>
                    </a:p>
                  </a:txBody>
                  <a:tcPr anchor="ctr"/>
                </a:tc>
                <a:tc>
                  <a:txBody>
                    <a:bodyPr/>
                    <a:lstStyle/>
                    <a:p>
                      <a:pPr>
                        <a:buNone/>
                      </a:pPr>
                      <a:r>
                        <a:rPr lang="en-US"/>
                        <a:t>+h[k]</a:t>
                      </a:r>
                    </a:p>
                  </a:txBody>
                  <a:tcPr anchor="ctr"/>
                </a:tc>
                <a:extLst>
                  <a:ext uri="{0D108BD9-81ED-4DB2-BD59-A6C34878D82A}">
                    <a16:rowId xmlns:a16="http://schemas.microsoft.com/office/drawing/2014/main" xmlns="" val="1702847519"/>
                  </a:ext>
                </a:extLst>
              </a:tr>
              <a:tr h="432926">
                <a:tc>
                  <a:txBody>
                    <a:bodyPr/>
                    <a:lstStyle/>
                    <a:p>
                      <a:pPr>
                        <a:buNone/>
                      </a:pPr>
                      <a:r>
                        <a:rPr lang="en-US"/>
                        <a:t>−1 + 0</a:t>
                      </a:r>
                    </a:p>
                  </a:txBody>
                  <a:tcPr anchor="ctr"/>
                </a:tc>
                <a:tc>
                  <a:txBody>
                    <a:bodyPr/>
                    <a:lstStyle/>
                    <a:p>
                      <a:pPr algn="r">
                        <a:buNone/>
                      </a:pPr>
                      <a:r>
                        <a:rPr lang="en-US"/>
                        <a:t>−1</a:t>
                      </a:r>
                    </a:p>
                  </a:txBody>
                  <a:tcPr anchor="ctr"/>
                </a:tc>
                <a:tc>
                  <a:txBody>
                    <a:bodyPr/>
                    <a:lstStyle/>
                    <a:p>
                      <a:pPr>
                        <a:buNone/>
                      </a:pPr>
                      <a:r>
                        <a:rPr lang="en-US" dirty="0"/>
                        <a:t>−h[k]</a:t>
                      </a:r>
                    </a:p>
                  </a:txBody>
                  <a:tcPr anchor="ctr"/>
                </a:tc>
                <a:extLst>
                  <a:ext uri="{0D108BD9-81ED-4DB2-BD59-A6C34878D82A}">
                    <a16:rowId xmlns:a16="http://schemas.microsoft.com/office/drawing/2014/main" xmlns="" val="2429112319"/>
                  </a:ext>
                </a:extLst>
              </a:tr>
            </a:tbl>
          </a:graphicData>
        </a:graphic>
      </p:graphicFrame>
    </p:spTree>
    <p:extLst>
      <p:ext uri="{BB962C8B-B14F-4D97-AF65-F5344CB8AC3E}">
        <p14:creationId xmlns:p14="http://schemas.microsoft.com/office/powerpoint/2010/main" val="29101542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5D945A9-040A-8E50-133E-582B29F4C9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3FF97CC2-2EEA-BD47-60AF-78D76426DC9A}"/>
              </a:ext>
            </a:extLst>
          </p:cNvPr>
          <p:cNvSpPr>
            <a:spLocks noGrp="1"/>
          </p:cNvSpPr>
          <p:nvPr>
            <p:ph type="title"/>
          </p:nvPr>
        </p:nvSpPr>
        <p:spPr/>
        <p:txBody>
          <a:bodyPr>
            <a:normAutofit/>
          </a:bodyPr>
          <a:lstStyle/>
          <a:p>
            <a:r>
              <a:rPr lang="en-US" sz="3200" dirty="0">
                <a:latin typeface="Times New Roman" panose="02020603050405020304" pitchFamily="18" charset="0"/>
                <a:cs typeface="Times New Roman" panose="02020603050405020304" pitchFamily="18" charset="0"/>
              </a:rPr>
              <a:t>RTL Implementation</a:t>
            </a:r>
          </a:p>
        </p:txBody>
      </p:sp>
      <p:sp>
        <p:nvSpPr>
          <p:cNvPr id="9" name="Text Placeholder 2">
            <a:extLst>
              <a:ext uri="{FF2B5EF4-FFF2-40B4-BE49-F238E27FC236}">
                <a16:creationId xmlns:a16="http://schemas.microsoft.com/office/drawing/2014/main" xmlns="" id="{1AC315B1-6914-257A-4E62-566555F88FC3}"/>
              </a:ext>
            </a:extLst>
          </p:cNvPr>
          <p:cNvSpPr txBox="1">
            <a:spLocks/>
          </p:cNvSpPr>
          <p:nvPr/>
        </p:nvSpPr>
        <p:spPr>
          <a:xfrm>
            <a:off x="410817" y="5161647"/>
            <a:ext cx="10972800" cy="193813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342900" algn="l" rtl="0">
              <a:lnSpc>
                <a:spcPct val="100000"/>
              </a:lnSpc>
              <a:spcBef>
                <a:spcPts val="400"/>
              </a:spcBef>
              <a:spcAft>
                <a:spcPts val="0"/>
              </a:spcAft>
              <a:buClr>
                <a:schemeClr val="dk1"/>
              </a:buClr>
              <a:buSzPts val="1800"/>
              <a:buFont typeface="Calibri"/>
              <a:buChar char="–"/>
              <a:defRPr sz="20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dk1"/>
              </a:buClr>
              <a:buSzPts val="1800"/>
              <a:buFont typeface="Calibri"/>
              <a:buChar char="–"/>
              <a:defRPr sz="1800" b="0" i="0" u="none" strike="noStrike" cap="none">
                <a:solidFill>
                  <a:schemeClr val="dk1"/>
                </a:solidFill>
                <a:latin typeface="Calibri"/>
                <a:ea typeface="Calibri"/>
                <a:cs typeface="Calibri"/>
                <a:sym typeface="Calibri"/>
              </a:defRPr>
            </a:lvl3pPr>
            <a:lvl4pPr marL="1828800" marR="0" lvl="3" indent="-330200" algn="l" rtl="0">
              <a:lnSpc>
                <a:spcPct val="100000"/>
              </a:lnSpc>
              <a:spcBef>
                <a:spcPts val="336"/>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lnSpc>
                <a:spcPct val="100000"/>
              </a:lnSpc>
              <a:spcBef>
                <a:spcPts val="336"/>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76200" lvl="0" indent="0">
              <a:buClr>
                <a:srgbClr val="000000"/>
              </a:buClr>
              <a:buNone/>
              <a:defRPr/>
            </a:pPr>
            <a:r>
              <a:rPr lang="en-US" sz="1800" dirty="0"/>
              <a:t>• MATLAB model:                                                    y[n] = Σ h[k] × x[n-k]</a:t>
            </a:r>
            <a:br>
              <a:rPr lang="en-US" sz="1800" dirty="0"/>
            </a:br>
            <a:r>
              <a:rPr lang="en-US" sz="1800" dirty="0"/>
              <a:t>• RTL maps:</a:t>
            </a:r>
          </a:p>
          <a:p>
            <a:pPr marL="76200" lvl="0" indent="0" algn="ctr">
              <a:buClr>
                <a:srgbClr val="000000"/>
              </a:buClr>
              <a:buNone/>
              <a:defRPr/>
            </a:pPr>
            <a:r>
              <a:rPr lang="en-US" sz="1800" dirty="0"/>
              <a:t>h[k] → </a:t>
            </a:r>
            <a:r>
              <a:rPr lang="en-US" sz="1800" dirty="0" err="1"/>
              <a:t>tap_mem</a:t>
            </a:r>
            <a:r>
              <a:rPr lang="en-US" sz="1800" dirty="0"/>
              <a:t>[k]</a:t>
            </a:r>
            <a:br>
              <a:rPr lang="en-US" sz="1800" dirty="0"/>
            </a:br>
            <a:r>
              <a:rPr lang="en-US" sz="1800" dirty="0"/>
              <a:t>x[n-k] → </a:t>
            </a:r>
            <a:r>
              <a:rPr lang="en-US" sz="1800" dirty="0" err="1"/>
              <a:t>delay_line</a:t>
            </a:r>
            <a:r>
              <a:rPr lang="en-US" sz="1800" dirty="0"/>
              <a:t> registers</a:t>
            </a:r>
          </a:p>
        </p:txBody>
      </p:sp>
      <p:pic>
        <p:nvPicPr>
          <p:cNvPr id="3" name="Picture 2">
            <a:extLst>
              <a:ext uri="{FF2B5EF4-FFF2-40B4-BE49-F238E27FC236}">
                <a16:creationId xmlns:a16="http://schemas.microsoft.com/office/drawing/2014/main" xmlns="" id="{D83D2C95-C19A-A276-1FDA-04AA088C0A1C}"/>
              </a:ext>
            </a:extLst>
          </p:cNvPr>
          <p:cNvPicPr>
            <a:picLocks noChangeAspect="1"/>
          </p:cNvPicPr>
          <p:nvPr/>
        </p:nvPicPr>
        <p:blipFill>
          <a:blip r:embed="rId2"/>
          <a:stretch>
            <a:fillRect/>
          </a:stretch>
        </p:blipFill>
        <p:spPr>
          <a:xfrm>
            <a:off x="808383" y="1116421"/>
            <a:ext cx="10437467" cy="4084983"/>
          </a:xfrm>
          <a:prstGeom prst="rect">
            <a:avLst/>
          </a:prstGeom>
        </p:spPr>
      </p:pic>
    </p:spTree>
    <p:extLst>
      <p:ext uri="{BB962C8B-B14F-4D97-AF65-F5344CB8AC3E}">
        <p14:creationId xmlns:p14="http://schemas.microsoft.com/office/powerpoint/2010/main" val="16990485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5323E04-2BD5-C8E7-D65C-AB2AFCD2F1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D049165A-1FF7-1139-9832-7AFDEDA430B3}"/>
              </a:ext>
            </a:extLst>
          </p:cNvPr>
          <p:cNvSpPr>
            <a:spLocks noGrp="1"/>
          </p:cNvSpPr>
          <p:nvPr>
            <p:ph type="title"/>
          </p:nvPr>
        </p:nvSpPr>
        <p:spPr/>
        <p:txBody>
          <a:bodyPr>
            <a:normAutofit/>
          </a:bodyPr>
          <a:lstStyle/>
          <a:p>
            <a:r>
              <a:rPr lang="en-US" sz="3200" dirty="0">
                <a:latin typeface="Times New Roman" panose="02020603050405020304" pitchFamily="18" charset="0"/>
                <a:cs typeface="Times New Roman" panose="02020603050405020304" pitchFamily="18" charset="0"/>
              </a:rPr>
              <a:t>RTL/MATLAB Simulation Result</a:t>
            </a:r>
          </a:p>
        </p:txBody>
      </p:sp>
      <p:pic>
        <p:nvPicPr>
          <p:cNvPr id="3" name="Picture 2">
            <a:extLst>
              <a:ext uri="{FF2B5EF4-FFF2-40B4-BE49-F238E27FC236}">
                <a16:creationId xmlns:a16="http://schemas.microsoft.com/office/drawing/2014/main" xmlns="" id="{B76AFB9E-F43B-549A-910A-978EDF605BA7}"/>
              </a:ext>
            </a:extLst>
          </p:cNvPr>
          <p:cNvPicPr>
            <a:picLocks noChangeAspect="1"/>
          </p:cNvPicPr>
          <p:nvPr/>
        </p:nvPicPr>
        <p:blipFill>
          <a:blip r:embed="rId2"/>
          <a:stretch>
            <a:fillRect/>
          </a:stretch>
        </p:blipFill>
        <p:spPr>
          <a:xfrm>
            <a:off x="2633870" y="1659834"/>
            <a:ext cx="6708913" cy="4055165"/>
          </a:xfrm>
          <a:prstGeom prst="rect">
            <a:avLst/>
          </a:prstGeom>
        </p:spPr>
      </p:pic>
    </p:spTree>
    <p:extLst>
      <p:ext uri="{BB962C8B-B14F-4D97-AF65-F5344CB8AC3E}">
        <p14:creationId xmlns:p14="http://schemas.microsoft.com/office/powerpoint/2010/main" val="23348975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xmlns="" id="{00BC0309-8338-1D55-A8B4-3926595D717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xmlns="" id="{019A1742-DAC3-752D-9E44-3570CD6E77E1}"/>
              </a:ext>
            </a:extLst>
          </p:cNvPr>
          <p:cNvSpPr>
            <a:spLocks noGrp="1"/>
          </p:cNvSpPr>
          <p:nvPr>
            <p:ph type="title"/>
          </p:nvPr>
        </p:nvSpPr>
        <p:spPr/>
        <p:txBody>
          <a:bodyPr/>
          <a:lstStyle/>
          <a:p>
            <a:r>
              <a:rPr lang="en-US" dirty="0">
                <a:latin typeface="Times New Roman" panose="02020603050405020304" pitchFamily="18" charset="0"/>
              </a:rPr>
              <a:t>System Block Diagram</a:t>
            </a:r>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xmlns="" id="{8B3E2FD9-3AB1-98CC-86A5-66FAABEBA7BE}"/>
              </a:ext>
            </a:extLst>
          </p:cNvPr>
          <p:cNvPicPr>
            <a:picLocks noChangeAspect="1"/>
          </p:cNvPicPr>
          <p:nvPr/>
        </p:nvPicPr>
        <p:blipFill>
          <a:blip r:embed="rId3"/>
          <a:stretch>
            <a:fillRect/>
          </a:stretch>
        </p:blipFill>
        <p:spPr>
          <a:xfrm>
            <a:off x="1189703" y="1308963"/>
            <a:ext cx="10056146" cy="5330376"/>
          </a:xfrm>
          <a:prstGeom prst="rect">
            <a:avLst/>
          </a:prstGeom>
        </p:spPr>
      </p:pic>
      <p:sp>
        <p:nvSpPr>
          <p:cNvPr id="2" name="Oval 1">
            <a:extLst>
              <a:ext uri="{FF2B5EF4-FFF2-40B4-BE49-F238E27FC236}">
                <a16:creationId xmlns:a16="http://schemas.microsoft.com/office/drawing/2014/main" xmlns="" id="{8D58E5C3-A748-A1FB-EAB2-4C4C5E87D9F1}"/>
              </a:ext>
            </a:extLst>
          </p:cNvPr>
          <p:cNvSpPr/>
          <p:nvPr/>
        </p:nvSpPr>
        <p:spPr>
          <a:xfrm>
            <a:off x="8794711" y="5376460"/>
            <a:ext cx="1371600" cy="785191"/>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9832132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9DD0C4C-B3B0-F112-92FD-7773B7BE1D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759386F4-B4F9-B9F4-4956-CAE372BF2F58}"/>
              </a:ext>
            </a:extLst>
          </p:cNvPr>
          <p:cNvSpPr>
            <a:spLocks noGrp="1"/>
          </p:cNvSpPr>
          <p:nvPr>
            <p:ph type="title"/>
          </p:nvPr>
        </p:nvSpPr>
        <p:spPr/>
        <p:txBody>
          <a:bodyPr>
            <a:normAutofit/>
          </a:bodyPr>
          <a:lstStyle/>
          <a:p>
            <a:r>
              <a:rPr lang="en-US" dirty="0">
                <a:latin typeface="Times New Roman" panose="02020603050405020304" pitchFamily="18" charset="0"/>
              </a:rPr>
              <a:t>Comparison between </a:t>
            </a:r>
            <a:r>
              <a:rPr lang="en-US" sz="3200" dirty="0">
                <a:latin typeface="Times New Roman" panose="02020603050405020304" pitchFamily="18" charset="0"/>
                <a:cs typeface="Times New Roman" panose="02020603050405020304" pitchFamily="18" charset="0"/>
              </a:rPr>
              <a:t>Multipliers</a:t>
            </a:r>
          </a:p>
        </p:txBody>
      </p:sp>
      <p:pic>
        <p:nvPicPr>
          <p:cNvPr id="3" name="Picture 2">
            <a:extLst>
              <a:ext uri="{FF2B5EF4-FFF2-40B4-BE49-F238E27FC236}">
                <a16:creationId xmlns:a16="http://schemas.microsoft.com/office/drawing/2014/main" xmlns="" id="{2C4060F5-6639-8C4F-970A-829117AF5C6D}"/>
              </a:ext>
            </a:extLst>
          </p:cNvPr>
          <p:cNvPicPr>
            <a:picLocks noChangeAspect="1"/>
          </p:cNvPicPr>
          <p:nvPr/>
        </p:nvPicPr>
        <p:blipFill>
          <a:blip r:embed="rId2"/>
          <a:stretch>
            <a:fillRect/>
          </a:stretch>
        </p:blipFill>
        <p:spPr>
          <a:xfrm>
            <a:off x="1671708" y="1539039"/>
            <a:ext cx="3360420" cy="2120037"/>
          </a:xfrm>
          <a:prstGeom prst="rect">
            <a:avLst/>
          </a:prstGeom>
        </p:spPr>
      </p:pic>
      <p:pic>
        <p:nvPicPr>
          <p:cNvPr id="5" name="Picture 4">
            <a:extLst>
              <a:ext uri="{FF2B5EF4-FFF2-40B4-BE49-F238E27FC236}">
                <a16:creationId xmlns:a16="http://schemas.microsoft.com/office/drawing/2014/main" xmlns="" id="{D94CD4A4-0497-2309-AB40-79789101E69D}"/>
              </a:ext>
            </a:extLst>
          </p:cNvPr>
          <p:cNvPicPr>
            <a:picLocks noChangeAspect="1"/>
          </p:cNvPicPr>
          <p:nvPr/>
        </p:nvPicPr>
        <p:blipFill>
          <a:blip r:embed="rId3"/>
          <a:stretch>
            <a:fillRect/>
          </a:stretch>
        </p:blipFill>
        <p:spPr>
          <a:xfrm>
            <a:off x="7384773" y="1539040"/>
            <a:ext cx="2582159" cy="2120037"/>
          </a:xfrm>
          <a:prstGeom prst="rect">
            <a:avLst/>
          </a:prstGeom>
        </p:spPr>
      </p:pic>
      <p:sp>
        <p:nvSpPr>
          <p:cNvPr id="6" name="Title 1">
            <a:extLst>
              <a:ext uri="{FF2B5EF4-FFF2-40B4-BE49-F238E27FC236}">
                <a16:creationId xmlns:a16="http://schemas.microsoft.com/office/drawing/2014/main" xmlns="" id="{DF95167C-2F5B-5304-CF19-D64FF3BDD80A}"/>
              </a:ext>
            </a:extLst>
          </p:cNvPr>
          <p:cNvSpPr txBox="1">
            <a:spLocks/>
          </p:cNvSpPr>
          <p:nvPr/>
        </p:nvSpPr>
        <p:spPr>
          <a:xfrm>
            <a:off x="671168" y="3746605"/>
            <a:ext cx="10299700" cy="2533194"/>
          </a:xfrm>
          <a:prstGeom prst="rect">
            <a:avLst/>
          </a:prstGeom>
          <a:noFill/>
          <a:ln>
            <a:noFill/>
          </a:ln>
        </p:spPr>
        <p:txBody>
          <a:bodyPr spcFirstLastPara="1" wrap="square" lIns="91425" tIns="45700" rIns="91425" bIns="45700" anchor="ctr" anchorCtr="0">
            <a:normAutofit fontScale="77500" lnSpcReduction="20000"/>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3200" b="1" i="1" u="none" strike="noStrike" cap="none">
                <a:solidFill>
                  <a:schemeClr val="dk1"/>
                </a:solidFill>
                <a:latin typeface="Times New Roman (Headings)"/>
                <a:ea typeface="Calibri"/>
                <a:cs typeface="Times New Roman" panose="02020603050405020304" pitchFamily="18" charset="0"/>
                <a:sym typeface="Calibri"/>
              </a:defRPr>
            </a:lvl1pPr>
            <a:lvl2pPr marR="0" lvl="1" algn="ctr" rtl="0">
              <a:lnSpc>
                <a:spcPct val="100000"/>
              </a:lnSpc>
              <a:spcBef>
                <a:spcPts val="0"/>
              </a:spcBef>
              <a:spcAft>
                <a:spcPts val="0"/>
              </a:spcAft>
              <a:buClr>
                <a:srgbClr val="000000"/>
              </a:buClr>
              <a:buSzPts val="1400"/>
              <a:buFont typeface="Arial"/>
              <a:buNone/>
              <a:defRPr sz="2800" b="1" i="1" u="none" strike="noStrike" cap="none">
                <a:solidFill>
                  <a:schemeClr val="dk2"/>
                </a:solidFill>
                <a:latin typeface="Times New Roman"/>
                <a:ea typeface="Times New Roman"/>
                <a:cs typeface="Times New Roman"/>
                <a:sym typeface="Times New Roman"/>
              </a:defRPr>
            </a:lvl2pPr>
            <a:lvl3pPr marR="0" lvl="2" algn="ctr" rtl="0">
              <a:lnSpc>
                <a:spcPct val="100000"/>
              </a:lnSpc>
              <a:spcBef>
                <a:spcPts val="0"/>
              </a:spcBef>
              <a:spcAft>
                <a:spcPts val="0"/>
              </a:spcAft>
              <a:buClr>
                <a:srgbClr val="000000"/>
              </a:buClr>
              <a:buSzPts val="1400"/>
              <a:buFont typeface="Arial"/>
              <a:buNone/>
              <a:defRPr sz="2800" b="1" i="1" u="none" strike="noStrike" cap="none">
                <a:solidFill>
                  <a:schemeClr val="dk2"/>
                </a:solidFill>
                <a:latin typeface="Times New Roman"/>
                <a:ea typeface="Times New Roman"/>
                <a:cs typeface="Times New Roman"/>
                <a:sym typeface="Times New Roman"/>
              </a:defRPr>
            </a:lvl3pPr>
            <a:lvl4pPr marR="0" lvl="3" algn="ctr" rtl="0">
              <a:lnSpc>
                <a:spcPct val="100000"/>
              </a:lnSpc>
              <a:spcBef>
                <a:spcPts val="0"/>
              </a:spcBef>
              <a:spcAft>
                <a:spcPts val="0"/>
              </a:spcAft>
              <a:buClr>
                <a:srgbClr val="000000"/>
              </a:buClr>
              <a:buSzPts val="1400"/>
              <a:buFont typeface="Arial"/>
              <a:buNone/>
              <a:defRPr sz="2800" b="1" i="1" u="none" strike="noStrike" cap="none">
                <a:solidFill>
                  <a:schemeClr val="dk2"/>
                </a:solidFill>
                <a:latin typeface="Times New Roman"/>
                <a:ea typeface="Times New Roman"/>
                <a:cs typeface="Times New Roman"/>
                <a:sym typeface="Times New Roman"/>
              </a:defRPr>
            </a:lvl4pPr>
            <a:lvl5pPr marR="0" lvl="4" algn="ctr" rtl="0">
              <a:lnSpc>
                <a:spcPct val="100000"/>
              </a:lnSpc>
              <a:spcBef>
                <a:spcPts val="0"/>
              </a:spcBef>
              <a:spcAft>
                <a:spcPts val="0"/>
              </a:spcAft>
              <a:buClr>
                <a:srgbClr val="000000"/>
              </a:buClr>
              <a:buSzPts val="1400"/>
              <a:buFont typeface="Arial"/>
              <a:buNone/>
              <a:defRPr sz="2800" b="1" i="1" u="none" strike="noStrike" cap="none">
                <a:solidFill>
                  <a:schemeClr val="dk2"/>
                </a:solidFill>
                <a:latin typeface="Times New Roman"/>
                <a:ea typeface="Times New Roman"/>
                <a:cs typeface="Times New Roman"/>
                <a:sym typeface="Times New Roman"/>
              </a:defRPr>
            </a:lvl5pPr>
            <a:lvl6pPr marR="0" lvl="5" algn="ctr" rtl="0">
              <a:lnSpc>
                <a:spcPct val="100000"/>
              </a:lnSpc>
              <a:spcBef>
                <a:spcPts val="0"/>
              </a:spcBef>
              <a:spcAft>
                <a:spcPts val="0"/>
              </a:spcAft>
              <a:buClr>
                <a:srgbClr val="000000"/>
              </a:buClr>
              <a:buSzPts val="1400"/>
              <a:buFont typeface="Arial"/>
              <a:buNone/>
              <a:defRPr sz="2800" b="1" i="1" u="none" strike="noStrike" cap="none">
                <a:solidFill>
                  <a:schemeClr val="dk2"/>
                </a:solidFill>
                <a:latin typeface="Times New Roman"/>
                <a:ea typeface="Times New Roman"/>
                <a:cs typeface="Times New Roman"/>
                <a:sym typeface="Times New Roman"/>
              </a:defRPr>
            </a:lvl6pPr>
            <a:lvl7pPr marR="0" lvl="6" algn="ctr" rtl="0">
              <a:lnSpc>
                <a:spcPct val="100000"/>
              </a:lnSpc>
              <a:spcBef>
                <a:spcPts val="0"/>
              </a:spcBef>
              <a:spcAft>
                <a:spcPts val="0"/>
              </a:spcAft>
              <a:buClr>
                <a:srgbClr val="000000"/>
              </a:buClr>
              <a:buSzPts val="1400"/>
              <a:buFont typeface="Arial"/>
              <a:buNone/>
              <a:defRPr sz="2800" b="1" i="1" u="none" strike="noStrike" cap="none">
                <a:solidFill>
                  <a:schemeClr val="dk2"/>
                </a:solidFill>
                <a:latin typeface="Times New Roman"/>
                <a:ea typeface="Times New Roman"/>
                <a:cs typeface="Times New Roman"/>
                <a:sym typeface="Times New Roman"/>
              </a:defRPr>
            </a:lvl7pPr>
            <a:lvl8pPr marR="0" lvl="7" algn="ctr" rtl="0">
              <a:lnSpc>
                <a:spcPct val="100000"/>
              </a:lnSpc>
              <a:spcBef>
                <a:spcPts val="0"/>
              </a:spcBef>
              <a:spcAft>
                <a:spcPts val="0"/>
              </a:spcAft>
              <a:buClr>
                <a:srgbClr val="000000"/>
              </a:buClr>
              <a:buSzPts val="1400"/>
              <a:buFont typeface="Arial"/>
              <a:buNone/>
              <a:defRPr sz="2800" b="1" i="1" u="none" strike="noStrike" cap="none">
                <a:solidFill>
                  <a:schemeClr val="dk2"/>
                </a:solidFill>
                <a:latin typeface="Times New Roman"/>
                <a:ea typeface="Times New Roman"/>
                <a:cs typeface="Times New Roman"/>
                <a:sym typeface="Times New Roman"/>
              </a:defRPr>
            </a:lvl8pPr>
            <a:lvl9pPr marR="0" lvl="8" algn="ctr" rtl="0">
              <a:lnSpc>
                <a:spcPct val="100000"/>
              </a:lnSpc>
              <a:spcBef>
                <a:spcPts val="0"/>
              </a:spcBef>
              <a:spcAft>
                <a:spcPts val="0"/>
              </a:spcAft>
              <a:buClr>
                <a:srgbClr val="000000"/>
              </a:buClr>
              <a:buSzPts val="1400"/>
              <a:buFont typeface="Arial"/>
              <a:buNone/>
              <a:defRPr sz="2800" b="1" i="1" u="none" strike="noStrike" cap="none">
                <a:solidFill>
                  <a:schemeClr val="dk2"/>
                </a:solidFill>
                <a:latin typeface="Times New Roman"/>
                <a:ea typeface="Times New Roman"/>
                <a:cs typeface="Times New Roman"/>
                <a:sym typeface="Times New Roman"/>
              </a:defRPr>
            </a:lvl9pPr>
          </a:lstStyle>
          <a:p>
            <a:pPr algn="l"/>
            <a:r>
              <a:rPr lang="en-US" sz="2800" b="0" i="0" dirty="0">
                <a:solidFill>
                  <a:schemeClr val="tx1">
                    <a:lumMod val="85000"/>
                    <a:lumOff val="15000"/>
                  </a:schemeClr>
                </a:solidFill>
                <a:latin typeface="Calibri"/>
                <a:cs typeface="Calibri"/>
                <a:sym typeface="Arial"/>
              </a:rPr>
              <a:t>•</a:t>
            </a:r>
            <a:r>
              <a:rPr lang="en-US" sz="2800" b="0" dirty="0"/>
              <a:t> </a:t>
            </a:r>
            <a:r>
              <a:rPr lang="en-US" sz="2900" b="0" i="0" dirty="0">
                <a:solidFill>
                  <a:schemeClr val="tx1">
                    <a:lumMod val="85000"/>
                    <a:lumOff val="15000"/>
                  </a:schemeClr>
                </a:solidFill>
                <a:latin typeface="Calibri"/>
                <a:cs typeface="Calibri"/>
                <a:sym typeface="Arial"/>
              </a:rPr>
              <a:t>Ordinary binary multiplication generates about one partial product per multiplier bit.</a:t>
            </a:r>
            <a:br>
              <a:rPr lang="en-US" sz="2900" b="0" i="0" dirty="0">
                <a:solidFill>
                  <a:schemeClr val="tx1">
                    <a:lumMod val="85000"/>
                    <a:lumOff val="15000"/>
                  </a:schemeClr>
                </a:solidFill>
                <a:latin typeface="Calibri"/>
                <a:cs typeface="Calibri"/>
                <a:sym typeface="Arial"/>
              </a:rPr>
            </a:br>
            <a:r>
              <a:rPr lang="en-US" sz="2900" b="0" i="0" dirty="0">
                <a:solidFill>
                  <a:schemeClr val="tx1">
                    <a:lumMod val="85000"/>
                    <a:lumOff val="15000"/>
                  </a:schemeClr>
                </a:solidFill>
                <a:latin typeface="Calibri"/>
                <a:cs typeface="Calibri"/>
                <a:sym typeface="Arial"/>
              </a:rPr>
              <a:t>• Radix-4 Booth recoding processes 2 multiplier bits per group.</a:t>
            </a:r>
            <a:br>
              <a:rPr lang="en-US" sz="2900" b="0" i="0" dirty="0">
                <a:solidFill>
                  <a:schemeClr val="tx1">
                    <a:lumMod val="85000"/>
                    <a:lumOff val="15000"/>
                  </a:schemeClr>
                </a:solidFill>
                <a:latin typeface="Calibri"/>
                <a:cs typeface="Calibri"/>
                <a:sym typeface="Arial"/>
              </a:rPr>
            </a:br>
            <a:r>
              <a:rPr lang="en-US" sz="2900" b="0" i="0" dirty="0">
                <a:solidFill>
                  <a:schemeClr val="tx1">
                    <a:lumMod val="85000"/>
                    <a:lumOff val="15000"/>
                  </a:schemeClr>
                </a:solidFill>
                <a:latin typeface="Calibri"/>
                <a:cs typeface="Calibri"/>
                <a:sym typeface="Arial"/>
              </a:rPr>
              <a:t>• Partial products reduce from about B_W to about B_W / 2.</a:t>
            </a:r>
            <a:br>
              <a:rPr lang="en-US" sz="2900" b="0" i="0" dirty="0">
                <a:solidFill>
                  <a:schemeClr val="tx1">
                    <a:lumMod val="85000"/>
                    <a:lumOff val="15000"/>
                  </a:schemeClr>
                </a:solidFill>
                <a:latin typeface="Calibri"/>
                <a:cs typeface="Calibri"/>
                <a:sym typeface="Arial"/>
              </a:rPr>
            </a:br>
            <a:r>
              <a:rPr lang="en-US" sz="2900" b="0" i="0" dirty="0">
                <a:solidFill>
                  <a:schemeClr val="tx1">
                    <a:lumMod val="85000"/>
                    <a:lumOff val="15000"/>
                  </a:schemeClr>
                </a:solidFill>
                <a:latin typeface="Calibri"/>
                <a:cs typeface="Calibri"/>
                <a:sym typeface="Arial"/>
              </a:rPr>
              <a:t>• For B_W = 12:</a:t>
            </a:r>
            <a:br>
              <a:rPr lang="en-US" sz="2900" b="0" i="0" dirty="0">
                <a:solidFill>
                  <a:schemeClr val="tx1">
                    <a:lumMod val="85000"/>
                    <a:lumOff val="15000"/>
                  </a:schemeClr>
                </a:solidFill>
                <a:latin typeface="Calibri"/>
                <a:cs typeface="Calibri"/>
                <a:sym typeface="Arial"/>
              </a:rPr>
            </a:br>
            <a:r>
              <a:rPr lang="en-US" sz="2900" b="0" i="0" dirty="0">
                <a:solidFill>
                  <a:schemeClr val="tx1">
                    <a:lumMod val="85000"/>
                    <a:lumOff val="15000"/>
                  </a:schemeClr>
                </a:solidFill>
                <a:latin typeface="Calibri"/>
                <a:cs typeface="Calibri"/>
                <a:sym typeface="Arial"/>
              </a:rPr>
              <a:t>                                   Number of Booth groups = (B_W + 1) / 2 = 6</a:t>
            </a:r>
          </a:p>
          <a:p>
            <a:pPr algn="l"/>
            <a:r>
              <a:rPr lang="en-US" sz="2900" b="0" i="0" dirty="0">
                <a:solidFill>
                  <a:schemeClr val="tx1">
                    <a:lumMod val="85000"/>
                    <a:lumOff val="15000"/>
                  </a:schemeClr>
                </a:solidFill>
                <a:latin typeface="Calibri"/>
                <a:cs typeface="Calibri"/>
                <a:sym typeface="Arial"/>
              </a:rPr>
              <a:t>• Radix-4 Booth recoding equation:</a:t>
            </a:r>
            <a:br>
              <a:rPr lang="en-US" sz="2900" b="0" i="0" dirty="0">
                <a:solidFill>
                  <a:schemeClr val="tx1">
                    <a:lumMod val="85000"/>
                    <a:lumOff val="15000"/>
                  </a:schemeClr>
                </a:solidFill>
                <a:latin typeface="Calibri"/>
                <a:cs typeface="Calibri"/>
                <a:sym typeface="Arial"/>
              </a:rPr>
            </a:br>
            <a:r>
              <a:rPr lang="en-US" sz="2900" b="0" i="0" dirty="0">
                <a:solidFill>
                  <a:schemeClr val="tx1">
                    <a:lumMod val="85000"/>
                    <a:lumOff val="15000"/>
                  </a:schemeClr>
                </a:solidFill>
                <a:latin typeface="Calibri"/>
                <a:cs typeface="Calibri"/>
                <a:sym typeface="Arial"/>
              </a:rPr>
              <a:t>                                        </a:t>
            </a:r>
            <a:r>
              <a:rPr lang="en-US" sz="2900" b="0" i="0" dirty="0" err="1">
                <a:solidFill>
                  <a:schemeClr val="tx1">
                    <a:lumMod val="85000"/>
                    <a:lumOff val="15000"/>
                  </a:schemeClr>
                </a:solidFill>
                <a:latin typeface="Calibri"/>
                <a:cs typeface="Calibri"/>
                <a:sym typeface="Arial"/>
              </a:rPr>
              <a:t>z_i</a:t>
            </a:r>
            <a:r>
              <a:rPr lang="en-US" sz="2900" b="0" i="0" dirty="0">
                <a:solidFill>
                  <a:schemeClr val="tx1">
                    <a:lumMod val="85000"/>
                    <a:lumOff val="15000"/>
                  </a:schemeClr>
                </a:solidFill>
                <a:latin typeface="Calibri"/>
                <a:cs typeface="Calibri"/>
                <a:sym typeface="Arial"/>
              </a:rPr>
              <a:t> = -2x_{2i+1} + x_{2i} + x_{2i-1}</a:t>
            </a:r>
            <a:br>
              <a:rPr lang="en-US" sz="2900" b="0" i="0" dirty="0">
                <a:solidFill>
                  <a:schemeClr val="tx1">
                    <a:lumMod val="85000"/>
                    <a:lumOff val="15000"/>
                  </a:schemeClr>
                </a:solidFill>
                <a:latin typeface="Calibri"/>
                <a:cs typeface="Calibri"/>
                <a:sym typeface="Arial"/>
              </a:rPr>
            </a:br>
            <a:r>
              <a:rPr lang="en-US" sz="2900" b="0" i="0" dirty="0">
                <a:solidFill>
                  <a:schemeClr val="tx1">
                    <a:lumMod val="85000"/>
                    <a:lumOff val="15000"/>
                  </a:schemeClr>
                </a:solidFill>
                <a:latin typeface="Calibri"/>
                <a:cs typeface="Calibri"/>
                <a:sym typeface="Arial"/>
              </a:rPr>
              <a:t>• Final product:</a:t>
            </a:r>
            <a:br>
              <a:rPr lang="en-US" sz="2900" b="0" i="0" dirty="0">
                <a:solidFill>
                  <a:schemeClr val="tx1">
                    <a:lumMod val="85000"/>
                    <a:lumOff val="15000"/>
                  </a:schemeClr>
                </a:solidFill>
                <a:latin typeface="Calibri"/>
                <a:cs typeface="Calibri"/>
                <a:sym typeface="Arial"/>
              </a:rPr>
            </a:br>
            <a:r>
              <a:rPr lang="en-US" sz="2900" b="0" i="0" dirty="0">
                <a:solidFill>
                  <a:schemeClr val="tx1">
                    <a:lumMod val="85000"/>
                    <a:lumOff val="15000"/>
                  </a:schemeClr>
                </a:solidFill>
                <a:latin typeface="Calibri"/>
                <a:cs typeface="Calibri"/>
                <a:sym typeface="Arial"/>
              </a:rPr>
              <a:t>                                             Product = Σ (</a:t>
            </a:r>
            <a:r>
              <a:rPr lang="en-US" sz="2900" b="0" i="0" dirty="0" err="1">
                <a:solidFill>
                  <a:schemeClr val="tx1">
                    <a:lumMod val="85000"/>
                    <a:lumOff val="15000"/>
                  </a:schemeClr>
                </a:solidFill>
                <a:latin typeface="Calibri"/>
                <a:cs typeface="Calibri"/>
                <a:sym typeface="Arial"/>
              </a:rPr>
              <a:t>z_i</a:t>
            </a:r>
            <a:r>
              <a:rPr lang="en-US" sz="2900" b="0" i="0" dirty="0">
                <a:solidFill>
                  <a:schemeClr val="tx1">
                    <a:lumMod val="85000"/>
                    <a:lumOff val="15000"/>
                  </a:schemeClr>
                </a:solidFill>
                <a:latin typeface="Calibri"/>
                <a:cs typeface="Calibri"/>
                <a:sym typeface="Arial"/>
              </a:rPr>
              <a:t> × A × 2^{2i})</a:t>
            </a:r>
          </a:p>
        </p:txBody>
      </p:sp>
      <p:pic>
        <p:nvPicPr>
          <p:cNvPr id="8" name="Picture 7">
            <a:extLst>
              <a:ext uri="{FF2B5EF4-FFF2-40B4-BE49-F238E27FC236}">
                <a16:creationId xmlns:a16="http://schemas.microsoft.com/office/drawing/2014/main" xmlns="" id="{CE866340-FDAB-1C14-FA2D-AA7C198479B0}"/>
              </a:ext>
            </a:extLst>
          </p:cNvPr>
          <p:cNvPicPr>
            <a:picLocks noChangeAspect="1"/>
          </p:cNvPicPr>
          <p:nvPr/>
        </p:nvPicPr>
        <p:blipFill>
          <a:blip r:embed="rId4"/>
          <a:stretch>
            <a:fillRect/>
          </a:stretch>
        </p:blipFill>
        <p:spPr>
          <a:xfrm>
            <a:off x="8090452" y="4224130"/>
            <a:ext cx="3588026" cy="2143197"/>
          </a:xfrm>
          <a:prstGeom prst="rect">
            <a:avLst/>
          </a:prstGeom>
        </p:spPr>
      </p:pic>
    </p:spTree>
    <p:extLst>
      <p:ext uri="{BB962C8B-B14F-4D97-AF65-F5344CB8AC3E}">
        <p14:creationId xmlns:p14="http://schemas.microsoft.com/office/powerpoint/2010/main" val="11131777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B4DA0FC-397C-2467-B0A1-D1C43CB22C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1C339808-EBF4-FFF9-3C4F-C6307A877314}"/>
              </a:ext>
            </a:extLst>
          </p:cNvPr>
          <p:cNvSpPr>
            <a:spLocks noGrp="1"/>
          </p:cNvSpPr>
          <p:nvPr>
            <p:ph type="title"/>
          </p:nvPr>
        </p:nvSpPr>
        <p:spPr/>
        <p:txBody>
          <a:bodyPr>
            <a:normAutofit/>
          </a:bodyPr>
          <a:lstStyle/>
          <a:p>
            <a:r>
              <a:rPr lang="en-US" sz="3200" dirty="0" err="1">
                <a:latin typeface="Times New Roman" panose="02020603050405020304" pitchFamily="18" charset="0"/>
                <a:cs typeface="Times New Roman" panose="02020603050405020304" pitchFamily="18" charset="0"/>
              </a:rPr>
              <a:t>RTL:Radix</a:t>
            </a:r>
            <a:r>
              <a:rPr lang="en-US" sz="3200" dirty="0">
                <a:latin typeface="Times New Roman" panose="02020603050405020304" pitchFamily="18" charset="0"/>
                <a:cs typeface="Times New Roman" panose="02020603050405020304" pitchFamily="18" charset="0"/>
              </a:rPr>
              <a:t> 4 Booth Recoding Multiplier</a:t>
            </a:r>
          </a:p>
        </p:txBody>
      </p:sp>
      <p:pic>
        <p:nvPicPr>
          <p:cNvPr id="4" name="Picture 3">
            <a:extLst>
              <a:ext uri="{FF2B5EF4-FFF2-40B4-BE49-F238E27FC236}">
                <a16:creationId xmlns:a16="http://schemas.microsoft.com/office/drawing/2014/main" xmlns="" id="{9E4553CF-0A90-0804-909D-88A0DAFB5073}"/>
              </a:ext>
            </a:extLst>
          </p:cNvPr>
          <p:cNvPicPr>
            <a:picLocks noChangeAspect="1"/>
          </p:cNvPicPr>
          <p:nvPr/>
        </p:nvPicPr>
        <p:blipFill>
          <a:blip r:embed="rId2"/>
          <a:stretch>
            <a:fillRect/>
          </a:stretch>
        </p:blipFill>
        <p:spPr>
          <a:xfrm>
            <a:off x="4174435" y="1555764"/>
            <a:ext cx="7394713" cy="4724035"/>
          </a:xfrm>
          <a:prstGeom prst="rect">
            <a:avLst/>
          </a:prstGeom>
        </p:spPr>
      </p:pic>
      <p:sp>
        <p:nvSpPr>
          <p:cNvPr id="3" name="TextBox 2">
            <a:extLst>
              <a:ext uri="{FF2B5EF4-FFF2-40B4-BE49-F238E27FC236}">
                <a16:creationId xmlns:a16="http://schemas.microsoft.com/office/drawing/2014/main" xmlns="" id="{6442C369-3D86-FCD4-1A09-4CADC9A660BB}"/>
              </a:ext>
            </a:extLst>
          </p:cNvPr>
          <p:cNvSpPr txBox="1"/>
          <p:nvPr/>
        </p:nvSpPr>
        <p:spPr>
          <a:xfrm>
            <a:off x="467140" y="1451113"/>
            <a:ext cx="3806686" cy="5016758"/>
          </a:xfrm>
          <a:prstGeom prst="rect">
            <a:avLst/>
          </a:prstGeom>
          <a:noFill/>
        </p:spPr>
        <p:txBody>
          <a:bodyPr wrap="square" rtlCol="0">
            <a:spAutoFit/>
          </a:bodyPr>
          <a:lstStyle/>
          <a:p>
            <a:r>
              <a:rPr lang="en-US" sz="2000" dirty="0">
                <a:solidFill>
                  <a:schemeClr val="tx1">
                    <a:lumMod val="85000"/>
                    <a:lumOff val="15000"/>
                  </a:schemeClr>
                </a:solidFill>
                <a:latin typeface="Calibri"/>
                <a:ea typeface="Calibri"/>
                <a:cs typeface="Calibri"/>
                <a:sym typeface="Calibri"/>
              </a:rPr>
              <a:t>• </a:t>
            </a:r>
            <a:r>
              <a:rPr lang="en-US" sz="2000" dirty="0" err="1">
                <a:solidFill>
                  <a:schemeClr val="tx1">
                    <a:lumMod val="85000"/>
                    <a:lumOff val="15000"/>
                  </a:schemeClr>
                </a:solidFill>
                <a:latin typeface="Calibri"/>
                <a:ea typeface="Calibri"/>
                <a:cs typeface="Calibri"/>
                <a:sym typeface="Calibri"/>
              </a:rPr>
              <a:t>i_a</a:t>
            </a:r>
            <a:r>
              <a:rPr lang="en-US" sz="2000" dirty="0">
                <a:solidFill>
                  <a:schemeClr val="tx1">
                    <a:lumMod val="85000"/>
                    <a:lumOff val="15000"/>
                  </a:schemeClr>
                </a:solidFill>
                <a:latin typeface="Calibri"/>
                <a:ea typeface="Calibri"/>
                <a:cs typeface="Calibri"/>
                <a:sym typeface="Calibri"/>
              </a:rPr>
              <a:t> is sign-extended to the accumulator width.</a:t>
            </a:r>
          </a:p>
          <a:p>
            <a:r>
              <a:rPr lang="en-US" sz="2000" dirty="0">
                <a:solidFill>
                  <a:schemeClr val="tx1">
                    <a:lumMod val="85000"/>
                    <a:lumOff val="15000"/>
                  </a:schemeClr>
                </a:solidFill>
                <a:latin typeface="Calibri"/>
                <a:ea typeface="Calibri"/>
                <a:cs typeface="Calibri"/>
                <a:sym typeface="Calibri"/>
              </a:rPr>
              <a:t>• A zero is appended to </a:t>
            </a:r>
            <a:r>
              <a:rPr lang="en-US" sz="2000" dirty="0" err="1">
                <a:solidFill>
                  <a:schemeClr val="tx1">
                    <a:lumMod val="85000"/>
                    <a:lumOff val="15000"/>
                  </a:schemeClr>
                </a:solidFill>
                <a:latin typeface="Calibri"/>
                <a:ea typeface="Calibri"/>
                <a:cs typeface="Calibri"/>
                <a:sym typeface="Calibri"/>
              </a:rPr>
              <a:t>i_b</a:t>
            </a:r>
            <a:r>
              <a:rPr lang="en-US" sz="2000" dirty="0">
                <a:solidFill>
                  <a:schemeClr val="tx1">
                    <a:lumMod val="85000"/>
                    <a:lumOff val="15000"/>
                  </a:schemeClr>
                </a:solidFill>
                <a:latin typeface="Calibri"/>
                <a:ea typeface="Calibri"/>
                <a:cs typeface="Calibri"/>
                <a:sym typeface="Calibri"/>
              </a:rPr>
              <a:t>:</a:t>
            </a:r>
            <a:br>
              <a:rPr lang="en-US" sz="2000" dirty="0">
                <a:solidFill>
                  <a:schemeClr val="tx1">
                    <a:lumMod val="85000"/>
                    <a:lumOff val="15000"/>
                  </a:schemeClr>
                </a:solidFill>
                <a:latin typeface="Calibri"/>
                <a:ea typeface="Calibri"/>
                <a:cs typeface="Calibri"/>
                <a:sym typeface="Calibri"/>
              </a:rPr>
            </a:br>
            <a:r>
              <a:rPr lang="en-US" sz="2000" dirty="0">
                <a:solidFill>
                  <a:schemeClr val="tx1">
                    <a:lumMod val="85000"/>
                    <a:lumOff val="15000"/>
                  </a:schemeClr>
                </a:solidFill>
                <a:latin typeface="Calibri"/>
                <a:ea typeface="Calibri"/>
                <a:cs typeface="Calibri"/>
                <a:sym typeface="Calibri"/>
              </a:rPr>
              <a:t>            </a:t>
            </a:r>
            <a:r>
              <a:rPr lang="en-US" sz="2000" dirty="0" err="1">
                <a:solidFill>
                  <a:schemeClr val="tx1">
                    <a:lumMod val="85000"/>
                    <a:lumOff val="15000"/>
                  </a:schemeClr>
                </a:solidFill>
                <a:latin typeface="Calibri"/>
                <a:ea typeface="Calibri"/>
                <a:cs typeface="Calibri"/>
                <a:sym typeface="Calibri"/>
              </a:rPr>
              <a:t>b_ext</a:t>
            </a:r>
            <a:r>
              <a:rPr lang="en-US" sz="2000" dirty="0">
                <a:solidFill>
                  <a:schemeClr val="tx1">
                    <a:lumMod val="85000"/>
                    <a:lumOff val="15000"/>
                  </a:schemeClr>
                </a:solidFill>
                <a:latin typeface="Calibri"/>
                <a:ea typeface="Calibri"/>
                <a:cs typeface="Calibri"/>
                <a:sym typeface="Calibri"/>
              </a:rPr>
              <a:t> = {</a:t>
            </a:r>
            <a:r>
              <a:rPr lang="en-US" sz="2000" dirty="0" err="1">
                <a:solidFill>
                  <a:schemeClr val="tx1">
                    <a:lumMod val="85000"/>
                    <a:lumOff val="15000"/>
                  </a:schemeClr>
                </a:solidFill>
                <a:latin typeface="Calibri"/>
                <a:ea typeface="Calibri"/>
                <a:cs typeface="Calibri"/>
                <a:sym typeface="Calibri"/>
              </a:rPr>
              <a:t>i_b</a:t>
            </a:r>
            <a:r>
              <a:rPr lang="en-US" sz="2000" dirty="0">
                <a:solidFill>
                  <a:schemeClr val="tx1">
                    <a:lumMod val="85000"/>
                    <a:lumOff val="15000"/>
                  </a:schemeClr>
                </a:solidFill>
                <a:latin typeface="Calibri"/>
                <a:ea typeface="Calibri"/>
                <a:cs typeface="Calibri"/>
                <a:sym typeface="Calibri"/>
              </a:rPr>
              <a:t>, 1'b0}</a:t>
            </a:r>
          </a:p>
          <a:p>
            <a:r>
              <a:rPr lang="en-US" sz="2000" dirty="0">
                <a:solidFill>
                  <a:schemeClr val="tx1">
                    <a:lumMod val="85000"/>
                    <a:lumOff val="15000"/>
                  </a:schemeClr>
                </a:solidFill>
                <a:latin typeface="Calibri"/>
                <a:ea typeface="Calibri"/>
                <a:cs typeface="Calibri"/>
                <a:sym typeface="Calibri"/>
              </a:rPr>
              <a:t>• The multiplier is divided into overlapping 3-bit Booth groups:</a:t>
            </a:r>
            <a:br>
              <a:rPr lang="en-US" sz="2000" dirty="0">
                <a:solidFill>
                  <a:schemeClr val="tx1">
                    <a:lumMod val="85000"/>
                    <a:lumOff val="15000"/>
                  </a:schemeClr>
                </a:solidFill>
                <a:latin typeface="Calibri"/>
                <a:ea typeface="Calibri"/>
                <a:cs typeface="Calibri"/>
                <a:sym typeface="Calibri"/>
              </a:rPr>
            </a:br>
            <a:r>
              <a:rPr lang="en-US" sz="2000" dirty="0">
                <a:solidFill>
                  <a:schemeClr val="tx1">
                    <a:lumMod val="85000"/>
                    <a:lumOff val="15000"/>
                  </a:schemeClr>
                </a:solidFill>
                <a:latin typeface="Calibri"/>
                <a:ea typeface="Calibri"/>
                <a:cs typeface="Calibri"/>
                <a:sym typeface="Calibri"/>
              </a:rPr>
              <a:t>                 {x₂ᵢ₊₁, x₂ᵢ, x₂ᵢ₋₁}</a:t>
            </a:r>
          </a:p>
          <a:p>
            <a:r>
              <a:rPr lang="en-US" sz="2000" dirty="0">
                <a:solidFill>
                  <a:schemeClr val="tx1">
                    <a:lumMod val="85000"/>
                    <a:lumOff val="15000"/>
                  </a:schemeClr>
                </a:solidFill>
                <a:latin typeface="Calibri"/>
                <a:ea typeface="Calibri"/>
                <a:cs typeface="Calibri"/>
                <a:sym typeface="Calibri"/>
              </a:rPr>
              <a:t>• Each group is recoded to select one partial product:</a:t>
            </a:r>
            <a:br>
              <a:rPr lang="en-US" sz="2000" dirty="0">
                <a:solidFill>
                  <a:schemeClr val="tx1">
                    <a:lumMod val="85000"/>
                    <a:lumOff val="15000"/>
                  </a:schemeClr>
                </a:solidFill>
                <a:latin typeface="Calibri"/>
                <a:ea typeface="Calibri"/>
                <a:cs typeface="Calibri"/>
                <a:sym typeface="Calibri"/>
              </a:rPr>
            </a:br>
            <a:r>
              <a:rPr lang="en-US" sz="2000" dirty="0">
                <a:solidFill>
                  <a:schemeClr val="tx1">
                    <a:lumMod val="85000"/>
                    <a:lumOff val="15000"/>
                  </a:schemeClr>
                </a:solidFill>
                <a:latin typeface="Calibri"/>
                <a:ea typeface="Calibri"/>
                <a:cs typeface="Calibri"/>
                <a:sym typeface="Calibri"/>
              </a:rPr>
              <a:t>           0, +A, -A, +2A, or -2A</a:t>
            </a:r>
          </a:p>
          <a:p>
            <a:r>
              <a:rPr lang="en-US" sz="2000" dirty="0">
                <a:solidFill>
                  <a:schemeClr val="tx1">
                    <a:lumMod val="85000"/>
                    <a:lumOff val="15000"/>
                  </a:schemeClr>
                </a:solidFill>
                <a:latin typeface="Calibri"/>
                <a:ea typeface="Calibri"/>
                <a:cs typeface="Calibri"/>
                <a:sym typeface="Calibri"/>
              </a:rPr>
              <a:t>• Each partial product is shifted left by 2i.</a:t>
            </a:r>
          </a:p>
          <a:p>
            <a:r>
              <a:rPr lang="en-US" sz="2000" dirty="0">
                <a:solidFill>
                  <a:schemeClr val="tx1">
                    <a:lumMod val="85000"/>
                    <a:lumOff val="15000"/>
                  </a:schemeClr>
                </a:solidFill>
                <a:latin typeface="Calibri"/>
                <a:ea typeface="Calibri"/>
                <a:cs typeface="Calibri"/>
                <a:sym typeface="Calibri"/>
              </a:rPr>
              <a:t>• All shifted partial products are accumulated </a:t>
            </a:r>
            <a:r>
              <a:rPr lang="en-US" sz="2000" dirty="0" err="1">
                <a:solidFill>
                  <a:schemeClr val="tx1">
                    <a:lumMod val="85000"/>
                    <a:lumOff val="15000"/>
                  </a:schemeClr>
                </a:solidFill>
                <a:latin typeface="Calibri"/>
                <a:ea typeface="Calibri"/>
                <a:cs typeface="Calibri"/>
                <a:sym typeface="Calibri"/>
              </a:rPr>
              <a:t>combinationally</a:t>
            </a:r>
            <a:r>
              <a:rPr lang="en-US" sz="2000" dirty="0">
                <a:solidFill>
                  <a:schemeClr val="tx1">
                    <a:lumMod val="85000"/>
                    <a:lumOff val="15000"/>
                  </a:schemeClr>
                </a:solidFill>
                <a:latin typeface="Calibri"/>
                <a:ea typeface="Calibri"/>
                <a:cs typeface="Calibri"/>
                <a:sym typeface="Calibri"/>
              </a:rPr>
              <a:t>.</a:t>
            </a:r>
          </a:p>
          <a:p>
            <a:r>
              <a:rPr lang="en-US" sz="2000" dirty="0">
                <a:solidFill>
                  <a:schemeClr val="tx1">
                    <a:lumMod val="85000"/>
                    <a:lumOff val="15000"/>
                  </a:schemeClr>
                </a:solidFill>
                <a:latin typeface="Calibri"/>
                <a:ea typeface="Calibri"/>
                <a:cs typeface="Calibri"/>
                <a:sym typeface="Calibri"/>
              </a:rPr>
              <a:t>• The final product is registered at the output.</a:t>
            </a:r>
          </a:p>
        </p:txBody>
      </p:sp>
    </p:spTree>
    <p:extLst>
      <p:ext uri="{BB962C8B-B14F-4D97-AF65-F5344CB8AC3E}">
        <p14:creationId xmlns:p14="http://schemas.microsoft.com/office/powerpoint/2010/main" val="28072669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601622A-11BC-D6F7-9367-41CD080ED9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52A306C0-22F8-6822-9E3F-7A66E935CC97}"/>
              </a:ext>
            </a:extLst>
          </p:cNvPr>
          <p:cNvSpPr>
            <a:spLocks noGrp="1"/>
          </p:cNvSpPr>
          <p:nvPr>
            <p:ph type="title"/>
          </p:nvPr>
        </p:nvSpPr>
        <p:spPr/>
        <p:txBody>
          <a:bodyPr>
            <a:normAutofit/>
          </a:bodyPr>
          <a:lstStyle/>
          <a:p>
            <a:r>
              <a:rPr lang="en-US" sz="3200" dirty="0">
                <a:latin typeface="Times New Roman" panose="02020603050405020304" pitchFamily="18" charset="0"/>
                <a:cs typeface="Times New Roman" panose="02020603050405020304" pitchFamily="18" charset="0"/>
              </a:rPr>
              <a:t>Radix 4 Booth Recoding Multiplier Example</a:t>
            </a:r>
          </a:p>
        </p:txBody>
      </p:sp>
      <p:pic>
        <p:nvPicPr>
          <p:cNvPr id="6" name="Picture 5">
            <a:extLst>
              <a:ext uri="{FF2B5EF4-FFF2-40B4-BE49-F238E27FC236}">
                <a16:creationId xmlns:a16="http://schemas.microsoft.com/office/drawing/2014/main" xmlns="" id="{31409F35-22D2-2F7E-6DB8-103FE1584EFA}"/>
              </a:ext>
            </a:extLst>
          </p:cNvPr>
          <p:cNvPicPr>
            <a:picLocks noChangeAspect="1"/>
          </p:cNvPicPr>
          <p:nvPr/>
        </p:nvPicPr>
        <p:blipFill>
          <a:blip r:embed="rId2"/>
          <a:stretch>
            <a:fillRect/>
          </a:stretch>
        </p:blipFill>
        <p:spPr>
          <a:xfrm>
            <a:off x="854765" y="1619435"/>
            <a:ext cx="4999383" cy="4423556"/>
          </a:xfrm>
          <a:prstGeom prst="rect">
            <a:avLst/>
          </a:prstGeom>
        </p:spPr>
      </p:pic>
      <p:pic>
        <p:nvPicPr>
          <p:cNvPr id="8" name="Picture 7">
            <a:extLst>
              <a:ext uri="{FF2B5EF4-FFF2-40B4-BE49-F238E27FC236}">
                <a16:creationId xmlns:a16="http://schemas.microsoft.com/office/drawing/2014/main" xmlns="" id="{23020694-4485-39DE-8A61-2063F2F37B72}"/>
              </a:ext>
            </a:extLst>
          </p:cNvPr>
          <p:cNvPicPr>
            <a:picLocks noChangeAspect="1"/>
          </p:cNvPicPr>
          <p:nvPr/>
        </p:nvPicPr>
        <p:blipFill>
          <a:blip r:embed="rId3"/>
          <a:stretch>
            <a:fillRect/>
          </a:stretch>
        </p:blipFill>
        <p:spPr>
          <a:xfrm>
            <a:off x="6752386" y="1619435"/>
            <a:ext cx="4011691" cy="1433432"/>
          </a:xfrm>
          <a:prstGeom prst="rect">
            <a:avLst/>
          </a:prstGeom>
        </p:spPr>
      </p:pic>
      <p:pic>
        <p:nvPicPr>
          <p:cNvPr id="10" name="Picture 9">
            <a:extLst>
              <a:ext uri="{FF2B5EF4-FFF2-40B4-BE49-F238E27FC236}">
                <a16:creationId xmlns:a16="http://schemas.microsoft.com/office/drawing/2014/main" xmlns="" id="{8619AFB5-E487-3655-BFCD-15A4A49DA9C5}"/>
              </a:ext>
            </a:extLst>
          </p:cNvPr>
          <p:cNvPicPr>
            <a:picLocks noChangeAspect="1"/>
          </p:cNvPicPr>
          <p:nvPr/>
        </p:nvPicPr>
        <p:blipFill>
          <a:blip r:embed="rId4"/>
          <a:stretch>
            <a:fillRect/>
          </a:stretch>
        </p:blipFill>
        <p:spPr>
          <a:xfrm>
            <a:off x="6752387" y="3363339"/>
            <a:ext cx="4117304" cy="2580261"/>
          </a:xfrm>
          <a:prstGeom prst="rect">
            <a:avLst/>
          </a:prstGeom>
        </p:spPr>
      </p:pic>
    </p:spTree>
    <p:extLst>
      <p:ext uri="{BB962C8B-B14F-4D97-AF65-F5344CB8AC3E}">
        <p14:creationId xmlns:p14="http://schemas.microsoft.com/office/powerpoint/2010/main" val="39052958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7" descr="A diagram of a computer system&#10;&#10;AI-generated content may be incorrect.">
            <a:extLst>
              <a:ext uri="{FF2B5EF4-FFF2-40B4-BE49-F238E27FC236}">
                <a16:creationId xmlns:a16="http://schemas.microsoft.com/office/drawing/2014/main" xmlns="" id="{FB6A998D-AFC9-E8D0-43E9-01EDB9877187}"/>
              </a:ext>
            </a:extLst>
          </p:cNvPr>
          <p:cNvPicPr>
            <a:picLocks noChangeAspect="1"/>
          </p:cNvPicPr>
          <p:nvPr/>
        </p:nvPicPr>
        <p:blipFill>
          <a:blip r:embed="rId3"/>
          <a:stretch>
            <a:fillRect/>
          </a:stretch>
        </p:blipFill>
        <p:spPr>
          <a:xfrm>
            <a:off x="1904838" y="1103672"/>
            <a:ext cx="8960121" cy="5269136"/>
          </a:xfrm>
          <a:prstGeom prst="rect">
            <a:avLst/>
          </a:prstGeom>
          <a:noFill/>
          <a:ln cap="flat">
            <a:noFill/>
          </a:ln>
        </p:spPr>
      </p:pic>
      <p:sp>
        <p:nvSpPr>
          <p:cNvPr id="4" name="Oval 3">
            <a:extLst>
              <a:ext uri="{FF2B5EF4-FFF2-40B4-BE49-F238E27FC236}">
                <a16:creationId xmlns:a16="http://schemas.microsoft.com/office/drawing/2014/main" xmlns="" id="{B4E5D890-FD41-5848-5E39-FB83665798A6}"/>
              </a:ext>
            </a:extLst>
          </p:cNvPr>
          <p:cNvSpPr/>
          <p:nvPr/>
        </p:nvSpPr>
        <p:spPr>
          <a:xfrm>
            <a:off x="8668139" y="4357396"/>
            <a:ext cx="1278294" cy="989045"/>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22D9585-9118-C0C8-B63E-BB4B2FEF704F}"/>
              </a:ext>
            </a:extLst>
          </p:cNvPr>
          <p:cNvSpPr txBox="1">
            <a:spLocks noGrp="1"/>
          </p:cNvSpPr>
          <p:nvPr>
            <p:ph type="title"/>
          </p:nvPr>
        </p:nvSpPr>
        <p:spPr/>
        <p:txBody>
          <a:bodyPr anchor="b">
            <a:normAutofit/>
          </a:bodyPr>
          <a:lstStyle/>
          <a:p>
            <a:pPr lvl="0"/>
            <a:r>
              <a:rPr lang="en-US">
                <a:latin typeface="Times New Roman"/>
              </a:rPr>
              <a:t>TDC Block Diagram &amp; Operation</a:t>
            </a:r>
          </a:p>
        </p:txBody>
      </p:sp>
      <p:sp>
        <p:nvSpPr>
          <p:cNvPr id="3" name="Text Placeholder 2">
            <a:extLst>
              <a:ext uri="{FF2B5EF4-FFF2-40B4-BE49-F238E27FC236}">
                <a16:creationId xmlns:a16="http://schemas.microsoft.com/office/drawing/2014/main" xmlns="" id="{9D50A461-77E3-6A44-124E-2E56A486CD4E}"/>
              </a:ext>
            </a:extLst>
          </p:cNvPr>
          <p:cNvSpPr txBox="1">
            <a:spLocks noGrp="1"/>
          </p:cNvSpPr>
          <p:nvPr>
            <p:ph idx="1"/>
          </p:nvPr>
        </p:nvSpPr>
        <p:spPr/>
        <p:txBody>
          <a:bodyPr/>
          <a:lstStyle/>
          <a:p>
            <a:pPr lvl="0"/>
            <a:r>
              <a:rPr lang="en-US" sz="2200" b="0">
                <a:solidFill>
                  <a:srgbClr val="262626"/>
                </a:solidFill>
              </a:rPr>
              <a:t>The block diagram of the TDC is shown below:</a:t>
            </a:r>
          </a:p>
          <a:p>
            <a:pPr lvl="0"/>
            <a:endParaRPr lang="en-US"/>
          </a:p>
          <a:p>
            <a:pPr lvl="0"/>
            <a:endParaRPr lang="en-US"/>
          </a:p>
          <a:p>
            <a:pPr lvl="0"/>
            <a:endParaRPr lang="en-US"/>
          </a:p>
          <a:p>
            <a:pPr lvl="0"/>
            <a:endParaRPr lang="en-US"/>
          </a:p>
          <a:p>
            <a:pPr lvl="0"/>
            <a:endParaRPr lang="en-US"/>
          </a:p>
          <a:p>
            <a:pPr lvl="0"/>
            <a:endParaRPr lang="en-US"/>
          </a:p>
          <a:p>
            <a:pPr lvl="0"/>
            <a:endParaRPr lang="en-US"/>
          </a:p>
          <a:p>
            <a:pPr lvl="0"/>
            <a:endParaRPr lang="en-US"/>
          </a:p>
          <a:p>
            <a:pPr lvl="0"/>
            <a:endParaRPr lang="en-US"/>
          </a:p>
        </p:txBody>
      </p:sp>
      <p:pic>
        <p:nvPicPr>
          <p:cNvPr id="4" name="Picture 4" descr="A diagram of a machine&#10;&#10;AI-generated content may be incorrect.">
            <a:extLst>
              <a:ext uri="{FF2B5EF4-FFF2-40B4-BE49-F238E27FC236}">
                <a16:creationId xmlns:a16="http://schemas.microsoft.com/office/drawing/2014/main" xmlns="" id="{B9F0F1C5-F5CB-BB00-54DF-7F2514BBE4E0}"/>
              </a:ext>
            </a:extLst>
          </p:cNvPr>
          <p:cNvPicPr>
            <a:picLocks noChangeAspect="1"/>
          </p:cNvPicPr>
          <p:nvPr/>
        </p:nvPicPr>
        <p:blipFill>
          <a:blip r:embed="rId2"/>
          <a:srcRect r="522" b="1247"/>
          <a:stretch>
            <a:fillRect/>
          </a:stretch>
        </p:blipFill>
        <p:spPr>
          <a:xfrm>
            <a:off x="608734" y="2354369"/>
            <a:ext cx="6188430" cy="3015581"/>
          </a:xfrm>
          <a:prstGeom prst="rect">
            <a:avLst/>
          </a:prstGeom>
          <a:noFill/>
          <a:ln cap="flat">
            <a:noFill/>
          </a:ln>
        </p:spPr>
      </p:pic>
      <p:pic>
        <p:nvPicPr>
          <p:cNvPr id="5" name="Picture 5">
            <a:extLst>
              <a:ext uri="{FF2B5EF4-FFF2-40B4-BE49-F238E27FC236}">
                <a16:creationId xmlns:a16="http://schemas.microsoft.com/office/drawing/2014/main" xmlns="" id="{D2C7D192-374C-B302-5764-F884E6E8D685}"/>
              </a:ext>
            </a:extLst>
          </p:cNvPr>
          <p:cNvPicPr>
            <a:picLocks noChangeAspect="1"/>
          </p:cNvPicPr>
          <p:nvPr/>
        </p:nvPicPr>
        <p:blipFill>
          <a:blip r:embed="rId3"/>
          <a:srcRect l="2606" r="3704" b="-331"/>
          <a:stretch>
            <a:fillRect/>
          </a:stretch>
        </p:blipFill>
        <p:spPr>
          <a:xfrm>
            <a:off x="6960284" y="2899004"/>
            <a:ext cx="4958754" cy="2199369"/>
          </a:xfrm>
          <a:prstGeom prst="rect">
            <a:avLst/>
          </a:prstGeom>
          <a:noFill/>
          <a:ln cap="flat">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1FF91E5-0EEE-3B5F-4E3B-B21E96D8E1DB}"/>
              </a:ext>
            </a:extLst>
          </p:cNvPr>
          <p:cNvSpPr txBox="1">
            <a:spLocks noGrp="1"/>
          </p:cNvSpPr>
          <p:nvPr>
            <p:ph type="title"/>
          </p:nvPr>
        </p:nvSpPr>
        <p:spPr/>
        <p:txBody>
          <a:bodyPr anchor="b">
            <a:normAutofit/>
          </a:bodyPr>
          <a:lstStyle/>
          <a:p>
            <a:pPr lvl="0"/>
            <a:r>
              <a:rPr lang="en-US">
                <a:latin typeface="Times New Roman"/>
                <a:cs typeface="Times New Roman"/>
              </a:rPr>
              <a:t>TDC Core</a:t>
            </a:r>
          </a:p>
        </p:txBody>
      </p:sp>
      <p:pic>
        <p:nvPicPr>
          <p:cNvPr id="3" name="Picture 5" descr="A diagram of a device&#10;&#10;AI-generated content may be incorrect.">
            <a:extLst>
              <a:ext uri="{FF2B5EF4-FFF2-40B4-BE49-F238E27FC236}">
                <a16:creationId xmlns:a16="http://schemas.microsoft.com/office/drawing/2014/main" xmlns="" id="{0B7400EC-A8AE-1366-028B-2B93E96D1A5C}"/>
              </a:ext>
            </a:extLst>
          </p:cNvPr>
          <p:cNvPicPr>
            <a:picLocks noChangeAspect="1"/>
          </p:cNvPicPr>
          <p:nvPr/>
        </p:nvPicPr>
        <p:blipFill>
          <a:blip r:embed="rId2"/>
          <a:stretch>
            <a:fillRect/>
          </a:stretch>
        </p:blipFill>
        <p:spPr>
          <a:xfrm>
            <a:off x="317360" y="1525274"/>
            <a:ext cx="5967822" cy="3801654"/>
          </a:xfrm>
          <a:prstGeom prst="rect">
            <a:avLst/>
          </a:prstGeom>
          <a:noFill/>
          <a:ln cap="flat">
            <a:noFill/>
          </a:ln>
        </p:spPr>
      </p:pic>
      <p:pic>
        <p:nvPicPr>
          <p:cNvPr id="4" name="Picture 2" descr="A diagram of a circuit&#10;&#10;AI-generated content may be incorrect.">
            <a:extLst>
              <a:ext uri="{FF2B5EF4-FFF2-40B4-BE49-F238E27FC236}">
                <a16:creationId xmlns:a16="http://schemas.microsoft.com/office/drawing/2014/main" xmlns="" id="{64EC08E6-9627-545B-85E2-65BD0242751D}"/>
              </a:ext>
            </a:extLst>
          </p:cNvPr>
          <p:cNvPicPr>
            <a:picLocks noChangeAspect="1"/>
          </p:cNvPicPr>
          <p:nvPr/>
        </p:nvPicPr>
        <p:blipFill>
          <a:blip r:embed="rId3"/>
          <a:srcRect r="145"/>
          <a:stretch>
            <a:fillRect/>
          </a:stretch>
        </p:blipFill>
        <p:spPr>
          <a:xfrm>
            <a:off x="6805842" y="1525136"/>
            <a:ext cx="5002883" cy="4867278"/>
          </a:xfrm>
          <a:prstGeom prst="rect">
            <a:avLst/>
          </a:prstGeom>
          <a:noFill/>
          <a:ln cap="flat">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20657A6-73D9-B421-5771-8EB9E9149C0F}"/>
              </a:ext>
            </a:extLst>
          </p:cNvPr>
          <p:cNvSpPr txBox="1">
            <a:spLocks noGrp="1"/>
          </p:cNvSpPr>
          <p:nvPr>
            <p:ph type="title"/>
          </p:nvPr>
        </p:nvSpPr>
        <p:spPr/>
        <p:txBody>
          <a:bodyPr anchor="b">
            <a:normAutofit/>
          </a:bodyPr>
          <a:lstStyle/>
          <a:p>
            <a:pPr lvl="0"/>
            <a:r>
              <a:rPr lang="en-US">
                <a:latin typeface="Times New Roman"/>
                <a:cs typeface="Times New Roman"/>
              </a:rPr>
              <a:t>Pseudo-Thermometer-Code Edge Detector Implementation</a:t>
            </a:r>
            <a:endParaRPr lang="en-US"/>
          </a:p>
        </p:txBody>
      </p:sp>
      <p:sp>
        <p:nvSpPr>
          <p:cNvPr id="3" name="Text Placeholder 2">
            <a:extLst>
              <a:ext uri="{FF2B5EF4-FFF2-40B4-BE49-F238E27FC236}">
                <a16:creationId xmlns:a16="http://schemas.microsoft.com/office/drawing/2014/main" xmlns="" id="{B31B824D-689E-FCEA-62A2-A076B9A3A291}"/>
              </a:ext>
            </a:extLst>
          </p:cNvPr>
          <p:cNvSpPr/>
          <p:nvPr/>
        </p:nvSpPr>
        <p:spPr>
          <a:xfrm>
            <a:off x="743855" y="1484802"/>
            <a:ext cx="11273975" cy="4586968"/>
          </a:xfrm>
          <a:prstGeom prst="rect">
            <a:avLst/>
          </a:prstGeom>
          <a:noFill/>
          <a:ln cap="flat">
            <a:noFill/>
            <a:prstDash val="solid"/>
          </a:ln>
        </p:spPr>
        <p:txBody>
          <a:bodyPr vert="horz" wrap="square" lIns="91421" tIns="45701" rIns="91421" bIns="45701" anchor="t" anchorCtr="0" compatLnSpc="1">
            <a:noAutofit/>
          </a:bodyPr>
          <a:lstStyle/>
          <a:p>
            <a:pPr marL="457200" marR="0" lvl="0" indent="-355601" algn="l" defTabSz="914400" rtl="0" fontAlgn="auto" hangingPunct="1">
              <a:lnSpc>
                <a:spcPct val="100000"/>
              </a:lnSpc>
              <a:spcBef>
                <a:spcPts val="400"/>
              </a:spcBef>
              <a:spcAft>
                <a:spcPts val="0"/>
              </a:spcAft>
              <a:buClr>
                <a:srgbClr val="5D5D5E"/>
              </a:buClr>
              <a:buSzPts val="2000"/>
              <a:buFont typeface="Arial"/>
              <a:buChar char="•"/>
              <a:tabLst/>
              <a:defRPr sz="1800" b="0" i="0" u="none" strike="noStrike" kern="0" cap="none" spc="0" baseline="0">
                <a:solidFill>
                  <a:srgbClr val="000000"/>
                </a:solidFill>
                <a:uFillTx/>
              </a:defRPr>
            </a:pPr>
            <a:r>
              <a:rPr lang="en-US" sz="2200" b="0" i="0" u="none" strike="noStrike" kern="0" cap="none" spc="0" baseline="0">
                <a:solidFill>
                  <a:srgbClr val="262626"/>
                </a:solidFill>
                <a:uFillTx/>
                <a:latin typeface="Calibri"/>
                <a:ea typeface="Calibri"/>
                <a:cs typeface="Calibri"/>
              </a:rPr>
              <a:t>Masks indicating the rising and falling edges in the pseudo-thermometer code are produced</a:t>
            </a:r>
          </a:p>
          <a:p>
            <a:pPr marL="457200" marR="0" lvl="0" indent="-355601" algn="l" defTabSz="914400" rtl="0" fontAlgn="auto" hangingPunct="1">
              <a:lnSpc>
                <a:spcPct val="100000"/>
              </a:lnSpc>
              <a:spcBef>
                <a:spcPts val="400"/>
              </a:spcBef>
              <a:spcAft>
                <a:spcPts val="0"/>
              </a:spcAft>
              <a:buClr>
                <a:srgbClr val="5D5D5E"/>
              </a:buClr>
              <a:buSzPts val="2000"/>
              <a:buFont typeface="Arial"/>
              <a:buChar char="•"/>
              <a:tabLst/>
              <a:defRPr sz="1800" b="0" i="0" u="none" strike="noStrike" kern="0" cap="none" spc="0" baseline="0">
                <a:solidFill>
                  <a:srgbClr val="000000"/>
                </a:solidFill>
                <a:uFillTx/>
              </a:defRPr>
            </a:pPr>
            <a:r>
              <a:rPr lang="en-US" sz="2200" b="0" i="0" u="none" strike="noStrike" kern="0" cap="none" spc="0" baseline="0">
                <a:solidFill>
                  <a:srgbClr val="262626"/>
                </a:solidFill>
                <a:uFillTx/>
                <a:latin typeface="Calibri"/>
                <a:ea typeface="Calibri"/>
                <a:cs typeface="Calibri"/>
              </a:rPr>
              <a:t>These masks are input to priority encoder to find the first rising and falling edges. </a:t>
            </a:r>
          </a:p>
          <a:p>
            <a:pPr marL="457200" marR="0" lvl="0" indent="-355601" algn="l" defTabSz="914400" rtl="0" fontAlgn="auto" hangingPunct="1">
              <a:lnSpc>
                <a:spcPct val="100000"/>
              </a:lnSpc>
              <a:spcBef>
                <a:spcPts val="400"/>
              </a:spcBef>
              <a:spcAft>
                <a:spcPts val="0"/>
              </a:spcAft>
              <a:buClr>
                <a:srgbClr val="5D5D5E"/>
              </a:buClr>
              <a:buSzPts val="2000"/>
              <a:buFont typeface="Arial"/>
              <a:buChar char="•"/>
              <a:tabLst/>
              <a:defRPr sz="1800" b="0" i="0" u="none" strike="noStrike" kern="0" cap="none" spc="0" baseline="0">
                <a:solidFill>
                  <a:srgbClr val="000000"/>
                </a:solidFill>
                <a:uFillTx/>
              </a:defRPr>
            </a:pPr>
            <a:r>
              <a:rPr lang="en-US" sz="2200" b="0" i="0" u="none" strike="noStrike" kern="0" cap="none" spc="0" baseline="0">
                <a:solidFill>
                  <a:srgbClr val="262626"/>
                </a:solidFill>
                <a:uFillTx/>
                <a:latin typeface="Calibri"/>
                <a:ea typeface="Calibri"/>
                <a:cs typeface="Calibri"/>
              </a:rPr>
              <a:t>Priority encoder implemented with a tree structure</a:t>
            </a:r>
          </a:p>
          <a:p>
            <a:pPr marL="457200" marR="0" lvl="0" indent="-381003" algn="l" defTabSz="914400" rtl="0" fontAlgn="auto" hangingPunct="1">
              <a:lnSpc>
                <a:spcPct val="100000"/>
              </a:lnSpc>
              <a:spcBef>
                <a:spcPts val="480"/>
              </a:spcBef>
              <a:spcAft>
                <a:spcPts val="0"/>
              </a:spcAft>
              <a:buClr>
                <a:srgbClr val="000000"/>
              </a:buClr>
              <a:buSzPts val="2400"/>
              <a:buFont typeface="Arial"/>
              <a:buChar char="•"/>
              <a:tabLst/>
              <a:defRPr sz="1800" b="0" i="0" u="none" strike="noStrike" kern="0" cap="none" spc="0" baseline="0">
                <a:solidFill>
                  <a:srgbClr val="000000"/>
                </a:solidFill>
                <a:uFillTx/>
              </a:defRPr>
            </a:pPr>
            <a:endParaRPr lang="en-US" sz="2400" b="0" i="0" u="none" strike="noStrike" kern="0" cap="none" spc="0" baseline="0">
              <a:solidFill>
                <a:srgbClr val="000000"/>
              </a:solidFill>
              <a:uFillTx/>
              <a:latin typeface="Calibri"/>
              <a:ea typeface="Calibri"/>
              <a:cs typeface="Calibri"/>
            </a:endParaRPr>
          </a:p>
        </p:txBody>
      </p:sp>
      <p:pic>
        <p:nvPicPr>
          <p:cNvPr id="4" name="Picture 10" descr="A diagram of a computer&#10;&#10;AI-generated content may be incorrect.">
            <a:extLst>
              <a:ext uri="{FF2B5EF4-FFF2-40B4-BE49-F238E27FC236}">
                <a16:creationId xmlns:a16="http://schemas.microsoft.com/office/drawing/2014/main" xmlns="" id="{9183D08D-646D-448F-8251-286E5589E5D8}"/>
              </a:ext>
            </a:extLst>
          </p:cNvPr>
          <p:cNvPicPr>
            <a:picLocks noChangeAspect="1"/>
          </p:cNvPicPr>
          <p:nvPr/>
        </p:nvPicPr>
        <p:blipFill>
          <a:blip r:embed="rId2"/>
          <a:stretch>
            <a:fillRect/>
          </a:stretch>
        </p:blipFill>
        <p:spPr>
          <a:xfrm>
            <a:off x="3313200" y="2728688"/>
            <a:ext cx="6146167" cy="3686632"/>
          </a:xfrm>
          <a:prstGeom prst="rect">
            <a:avLst/>
          </a:prstGeom>
          <a:noFill/>
          <a:ln cap="flat">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BBF6A15-9A9F-2DAE-439B-4D324C49EAFC}"/>
              </a:ext>
            </a:extLst>
          </p:cNvPr>
          <p:cNvSpPr txBox="1">
            <a:spLocks noGrp="1"/>
          </p:cNvSpPr>
          <p:nvPr>
            <p:ph type="title"/>
          </p:nvPr>
        </p:nvSpPr>
        <p:spPr/>
        <p:txBody>
          <a:bodyPr anchor="b">
            <a:normAutofit/>
          </a:bodyPr>
          <a:lstStyle/>
          <a:p>
            <a:pPr lvl="0"/>
            <a:r>
              <a:rPr lang="en-US">
                <a:latin typeface="Times New Roman"/>
                <a:cs typeface="Times New Roman"/>
              </a:rPr>
              <a:t>TDC Core</a:t>
            </a:r>
          </a:p>
        </p:txBody>
      </p:sp>
      <p:pic>
        <p:nvPicPr>
          <p:cNvPr id="3" name="Picture 5" descr="A diagram of a thermometer detector&#10;&#10;AI-generated content may be incorrect.">
            <a:extLst>
              <a:ext uri="{FF2B5EF4-FFF2-40B4-BE49-F238E27FC236}">
                <a16:creationId xmlns:a16="http://schemas.microsoft.com/office/drawing/2014/main" xmlns="" id="{7AE59F02-9C8F-ED4B-1AB8-BA77FDCB447E}"/>
              </a:ext>
            </a:extLst>
          </p:cNvPr>
          <p:cNvPicPr>
            <a:picLocks noChangeAspect="1"/>
          </p:cNvPicPr>
          <p:nvPr/>
        </p:nvPicPr>
        <p:blipFill>
          <a:blip r:embed="rId2"/>
          <a:srcRect l="7780" t="15567" r="7704" b="28760"/>
          <a:stretch>
            <a:fillRect/>
          </a:stretch>
        </p:blipFill>
        <p:spPr>
          <a:xfrm>
            <a:off x="491334" y="1766831"/>
            <a:ext cx="11211330" cy="3324090"/>
          </a:xfrm>
          <a:prstGeom prst="rect">
            <a:avLst/>
          </a:prstGeom>
          <a:noFill/>
          <a:ln cap="flat">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E1DD5A0-A92F-D0C5-BBF7-7BD06F42DF2D}"/>
              </a:ext>
            </a:extLst>
          </p:cNvPr>
          <p:cNvSpPr txBox="1">
            <a:spLocks noGrp="1"/>
          </p:cNvSpPr>
          <p:nvPr>
            <p:ph type="title"/>
          </p:nvPr>
        </p:nvSpPr>
        <p:spPr/>
        <p:txBody>
          <a:bodyPr anchor="b">
            <a:normAutofit/>
          </a:bodyPr>
          <a:lstStyle/>
          <a:p>
            <a:pPr lvl="0"/>
            <a:r>
              <a:rPr lang="en-US">
                <a:latin typeface="Times New Roman"/>
                <a:cs typeface="Times New Roman"/>
              </a:rPr>
              <a:t>Accounting for Random Phase Start</a:t>
            </a:r>
            <a:endParaRPr lang="en-US">
              <a:latin typeface="Times New Roman"/>
            </a:endParaRPr>
          </a:p>
        </p:txBody>
      </p:sp>
      <p:sp>
        <p:nvSpPr>
          <p:cNvPr id="3" name="Text Placeholder 2">
            <a:extLst>
              <a:ext uri="{FF2B5EF4-FFF2-40B4-BE49-F238E27FC236}">
                <a16:creationId xmlns:a16="http://schemas.microsoft.com/office/drawing/2014/main" xmlns="" id="{3FE4DD85-92F6-A361-2376-0A850B109522}"/>
              </a:ext>
            </a:extLst>
          </p:cNvPr>
          <p:cNvSpPr txBox="1">
            <a:spLocks noGrp="1"/>
          </p:cNvSpPr>
          <p:nvPr>
            <p:ph idx="1"/>
          </p:nvPr>
        </p:nvSpPr>
        <p:spPr>
          <a:xfrm>
            <a:off x="709793" y="1514557"/>
            <a:ext cx="10742389" cy="4984751"/>
          </a:xfrm>
        </p:spPr>
        <p:txBody>
          <a:bodyPr/>
          <a:lstStyle/>
          <a:p>
            <a:pPr lvl="0"/>
            <a:r>
              <a:rPr lang="en-US" sz="2200" b="0">
                <a:solidFill>
                  <a:srgbClr val="262626"/>
                </a:solidFill>
              </a:rPr>
              <a:t>Initial phase relation between DCO and reference is unknown</a:t>
            </a:r>
            <a:endParaRPr lang="en-US"/>
          </a:p>
          <a:p>
            <a:pPr lvl="0"/>
            <a:endParaRPr lang="en-US" sz="2200" b="0">
              <a:solidFill>
                <a:srgbClr val="262626"/>
              </a:solidFill>
            </a:endParaRPr>
          </a:p>
        </p:txBody>
      </p:sp>
      <p:pic>
        <p:nvPicPr>
          <p:cNvPr id="4" name="Picture 3" descr="A graph with numbers and lines&#10;&#10;AI-generated content may be incorrect.">
            <a:extLst>
              <a:ext uri="{FF2B5EF4-FFF2-40B4-BE49-F238E27FC236}">
                <a16:creationId xmlns:a16="http://schemas.microsoft.com/office/drawing/2014/main" xmlns="" id="{78EFC623-B52C-BC69-23F5-7CC782CE69E9}"/>
              </a:ext>
            </a:extLst>
          </p:cNvPr>
          <p:cNvPicPr>
            <a:picLocks noChangeAspect="1"/>
          </p:cNvPicPr>
          <p:nvPr/>
        </p:nvPicPr>
        <p:blipFill>
          <a:blip r:embed="rId2"/>
          <a:stretch>
            <a:fillRect/>
          </a:stretch>
        </p:blipFill>
        <p:spPr>
          <a:xfrm>
            <a:off x="761996" y="1962146"/>
            <a:ext cx="10668003" cy="3238503"/>
          </a:xfrm>
          <a:prstGeom prst="rect">
            <a:avLst/>
          </a:prstGeom>
          <a:noFill/>
          <a:ln cap="flat">
            <a:noFill/>
          </a:ln>
        </p:spPr>
      </p:pic>
      <p:pic>
        <p:nvPicPr>
          <p:cNvPr id="5" name="Picture 5" descr="A black and white image of a symbol&#10;&#10;AI-generated content may be incorrect.">
            <a:extLst>
              <a:ext uri="{FF2B5EF4-FFF2-40B4-BE49-F238E27FC236}">
                <a16:creationId xmlns:a16="http://schemas.microsoft.com/office/drawing/2014/main" xmlns="" id="{D398A97C-95E8-FA7A-6AB0-EE088E902830}"/>
              </a:ext>
            </a:extLst>
          </p:cNvPr>
          <p:cNvPicPr>
            <a:picLocks noChangeAspect="1"/>
          </p:cNvPicPr>
          <p:nvPr/>
        </p:nvPicPr>
        <p:blipFill>
          <a:blip r:embed="rId3"/>
          <a:stretch>
            <a:fillRect/>
          </a:stretch>
        </p:blipFill>
        <p:spPr>
          <a:xfrm>
            <a:off x="3726317" y="5208815"/>
            <a:ext cx="4695828" cy="838203"/>
          </a:xfrm>
          <a:prstGeom prst="rect">
            <a:avLst/>
          </a:prstGeom>
          <a:noFill/>
          <a:ln cap="flat">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F7F340B-2F84-980E-61AC-B7A8B23798B1}"/>
              </a:ext>
            </a:extLst>
          </p:cNvPr>
          <p:cNvSpPr txBox="1">
            <a:spLocks noGrp="1"/>
          </p:cNvSpPr>
          <p:nvPr>
            <p:ph type="title"/>
          </p:nvPr>
        </p:nvSpPr>
        <p:spPr/>
        <p:txBody>
          <a:bodyPr anchor="b">
            <a:normAutofit/>
          </a:bodyPr>
          <a:lstStyle/>
          <a:p>
            <a:pPr lvl="0"/>
            <a:r>
              <a:rPr lang="en-US">
                <a:latin typeface="Times New Roman"/>
              </a:rPr>
              <a:t>MATLAB Simulation Setup</a:t>
            </a:r>
          </a:p>
        </p:txBody>
      </p:sp>
      <p:sp>
        <p:nvSpPr>
          <p:cNvPr id="3" name="Text Placeholder 2">
            <a:extLst>
              <a:ext uri="{FF2B5EF4-FFF2-40B4-BE49-F238E27FC236}">
                <a16:creationId xmlns:a16="http://schemas.microsoft.com/office/drawing/2014/main" xmlns="" id="{62C8E817-163C-3D7F-C6B2-021DEC68F461}"/>
              </a:ext>
            </a:extLst>
          </p:cNvPr>
          <p:cNvSpPr txBox="1">
            <a:spLocks noGrp="1"/>
          </p:cNvSpPr>
          <p:nvPr>
            <p:ph idx="1"/>
          </p:nvPr>
        </p:nvSpPr>
        <p:spPr/>
        <p:txBody>
          <a:bodyPr/>
          <a:lstStyle/>
          <a:p>
            <a:pPr lvl="0"/>
            <a:r>
              <a:rPr lang="en-US" sz="2200" b="0">
                <a:solidFill>
                  <a:srgbClr val="262626"/>
                </a:solidFill>
              </a:rPr>
              <a:t>A sample-based fixed point MATLAB model of the TDC was developed to verify correct functionality and to quantify the measurement error introduced by the TDC</a:t>
            </a:r>
          </a:p>
          <a:p>
            <a:pPr lvl="0"/>
            <a:r>
              <a:rPr lang="en-US" sz="2200" b="0">
                <a:solidFill>
                  <a:srgbClr val="262626"/>
                </a:solidFill>
              </a:rPr>
              <a:t>The nominal buffer (tap) delay used in the model is 10ps</a:t>
            </a:r>
          </a:p>
          <a:p>
            <a:pPr lvl="0"/>
            <a:r>
              <a:rPr lang="en-US" sz="2200" b="0">
                <a:solidFill>
                  <a:srgbClr val="262626"/>
                </a:solidFill>
              </a:rPr>
              <a:t>The TDC was tested across a sweep of DCO clock period range 348ps – 520ps (1.92GHz - 2.87GHz) with step size of 2ps. </a:t>
            </a:r>
          </a:p>
          <a:p>
            <a:pPr lvl="0"/>
            <a:r>
              <a:rPr lang="en-US" sz="2200" b="0">
                <a:solidFill>
                  <a:srgbClr val="262626"/>
                </a:solidFill>
              </a:rPr>
              <a:t>The fractional part of the TDC output was represented with 16 bits</a:t>
            </a:r>
          </a:p>
          <a:p>
            <a:pPr lvl="0"/>
            <a:r>
              <a:rPr lang="en-US" sz="2200" b="0">
                <a:solidFill>
                  <a:srgbClr val="262626"/>
                </a:solidFill>
              </a:rPr>
              <a:t>For each selected DCO frequency the model computed the digital phase for 250 consecutive reference cycles</a:t>
            </a:r>
          </a:p>
          <a:p>
            <a:pPr lvl="0"/>
            <a:endParaRPr lang="en-US" sz="2200" b="0">
              <a:solidFill>
                <a:srgbClr val="262626"/>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EFB62EE-27AE-AE4D-AA24-972F58FCD9EE}"/>
              </a:ext>
            </a:extLst>
          </p:cNvPr>
          <p:cNvSpPr txBox="1">
            <a:spLocks noGrp="1"/>
          </p:cNvSpPr>
          <p:nvPr>
            <p:ph type="title"/>
          </p:nvPr>
        </p:nvSpPr>
        <p:spPr/>
        <p:txBody>
          <a:bodyPr anchor="b">
            <a:normAutofit/>
          </a:bodyPr>
          <a:lstStyle/>
          <a:p>
            <a:pPr lvl="0"/>
            <a:r>
              <a:rPr lang="en-US">
                <a:latin typeface="Times New Roman"/>
              </a:rPr>
              <a:t>MATLAB Simulation Results</a:t>
            </a:r>
          </a:p>
        </p:txBody>
      </p:sp>
      <p:sp>
        <p:nvSpPr>
          <p:cNvPr id="3" name="Text Placeholder 2">
            <a:extLst>
              <a:ext uri="{FF2B5EF4-FFF2-40B4-BE49-F238E27FC236}">
                <a16:creationId xmlns:a16="http://schemas.microsoft.com/office/drawing/2014/main" xmlns="" id="{28030C52-5621-9FC1-7B84-7F6BC157DAD1}"/>
              </a:ext>
            </a:extLst>
          </p:cNvPr>
          <p:cNvSpPr txBox="1">
            <a:spLocks noGrp="1"/>
          </p:cNvSpPr>
          <p:nvPr>
            <p:ph idx="1"/>
          </p:nvPr>
        </p:nvSpPr>
        <p:spPr>
          <a:xfrm>
            <a:off x="914400" y="1511302"/>
            <a:ext cx="10363196" cy="4984751"/>
          </a:xfrm>
        </p:spPr>
        <p:txBody>
          <a:bodyPr/>
          <a:lstStyle/>
          <a:p>
            <a:pPr lvl="0"/>
            <a:r>
              <a:rPr lang="en-US" sz="2200" b="0">
                <a:solidFill>
                  <a:srgbClr val="262626"/>
                </a:solidFill>
              </a:rPr>
              <a:t>From simulation the maximum error of the TDC is found to be </a:t>
            </a:r>
            <a:r>
              <a:rPr lang="en-US" sz="2200">
                <a:solidFill>
                  <a:srgbClr val="262626"/>
                </a:solidFill>
              </a:rPr>
              <a:t>0.048</a:t>
            </a:r>
          </a:p>
          <a:p>
            <a:pPr lvl="0"/>
            <a:r>
              <a:rPr lang="en-US" sz="2200" b="0">
                <a:solidFill>
                  <a:srgbClr val="262626"/>
                </a:solidFill>
              </a:rPr>
              <a:t>Main source of error: quantization in tapped delay line with worst case quantization step: 1/30 = 0.033</a:t>
            </a:r>
            <a:endParaRPr lang="en-US" sz="2200">
              <a:solidFill>
                <a:srgbClr val="262626"/>
              </a:solidFill>
            </a:endParaRPr>
          </a:p>
          <a:p>
            <a:pPr lvl="0"/>
            <a:endParaRPr lang="en-US"/>
          </a:p>
        </p:txBody>
      </p:sp>
      <p:pic>
        <p:nvPicPr>
          <p:cNvPr id="4" name="Picture 2" descr="A graph with blue lines&#10;&#10;AI-generated content may be incorrect.">
            <a:extLst>
              <a:ext uri="{FF2B5EF4-FFF2-40B4-BE49-F238E27FC236}">
                <a16:creationId xmlns:a16="http://schemas.microsoft.com/office/drawing/2014/main" xmlns="" id="{D90DC3E3-510E-17E1-3909-80132BA2EDCF}"/>
              </a:ext>
            </a:extLst>
          </p:cNvPr>
          <p:cNvPicPr>
            <a:picLocks noChangeAspect="1"/>
          </p:cNvPicPr>
          <p:nvPr/>
        </p:nvPicPr>
        <p:blipFill>
          <a:blip r:embed="rId2"/>
          <a:stretch>
            <a:fillRect/>
          </a:stretch>
        </p:blipFill>
        <p:spPr>
          <a:xfrm>
            <a:off x="3474244" y="2677884"/>
            <a:ext cx="5918417" cy="3817254"/>
          </a:xfrm>
          <a:prstGeom prst="rect">
            <a:avLst/>
          </a:prstGeom>
          <a:noFill/>
          <a:ln cap="flat">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2E1D626-9951-7D43-4080-ABCDFE536307}"/>
              </a:ext>
            </a:extLst>
          </p:cNvPr>
          <p:cNvSpPr txBox="1">
            <a:spLocks noGrp="1"/>
          </p:cNvSpPr>
          <p:nvPr>
            <p:ph type="title"/>
          </p:nvPr>
        </p:nvSpPr>
        <p:spPr/>
        <p:txBody>
          <a:bodyPr anchor="b">
            <a:normAutofit/>
          </a:bodyPr>
          <a:lstStyle/>
          <a:p>
            <a:pPr lvl="0"/>
            <a:r>
              <a:rPr lang="en-US">
                <a:latin typeface="Times New Roman"/>
                <a:cs typeface="Times New Roman"/>
              </a:rPr>
              <a:t>RTL Verification &amp; Coverage</a:t>
            </a:r>
            <a:endParaRPr lang="en-US">
              <a:latin typeface="Times New Roman"/>
            </a:endParaRPr>
          </a:p>
        </p:txBody>
      </p:sp>
      <p:sp>
        <p:nvSpPr>
          <p:cNvPr id="3" name="Text Placeholder 2">
            <a:extLst>
              <a:ext uri="{FF2B5EF4-FFF2-40B4-BE49-F238E27FC236}">
                <a16:creationId xmlns:a16="http://schemas.microsoft.com/office/drawing/2014/main" xmlns="" id="{DD7B48FF-6DF5-024D-995C-A345182A38AB}"/>
              </a:ext>
            </a:extLst>
          </p:cNvPr>
          <p:cNvSpPr txBox="1">
            <a:spLocks noGrp="1"/>
          </p:cNvSpPr>
          <p:nvPr>
            <p:ph idx="1"/>
          </p:nvPr>
        </p:nvSpPr>
        <p:spPr/>
        <p:txBody>
          <a:bodyPr/>
          <a:lstStyle/>
          <a:p>
            <a:pPr lvl="0"/>
            <a:r>
              <a:rPr lang="en-US" sz="2200" b="0">
                <a:solidFill>
                  <a:srgbClr val="262626"/>
                </a:solidFill>
              </a:rPr>
              <a:t>Testbench set up as one in MATLAB. Stimulus provided by MATLAB</a:t>
            </a:r>
          </a:p>
          <a:p>
            <a:pPr lvl="0"/>
            <a:r>
              <a:rPr lang="en-US" sz="2200" b="0">
                <a:solidFill>
                  <a:srgbClr val="262626"/>
                </a:solidFill>
              </a:rPr>
              <a:t>Reset assertion and de-assertion applied between each DCO frequency value to ensure TDC correctly accounts for random phase start.</a:t>
            </a:r>
          </a:p>
          <a:p>
            <a:pPr lvl="0"/>
            <a:r>
              <a:rPr lang="en-US" sz="2200" b="0">
                <a:solidFill>
                  <a:srgbClr val="262626"/>
                </a:solidFill>
              </a:rPr>
              <a:t>Outputs are compared to ideal MATLAB TDC model</a:t>
            </a:r>
          </a:p>
          <a:p>
            <a:pPr lvl="0"/>
            <a:r>
              <a:rPr lang="en-US" sz="2200" b="0">
                <a:solidFill>
                  <a:srgbClr val="262626"/>
                </a:solidFill>
              </a:rPr>
              <a:t>Maximum Error obtained:</a:t>
            </a:r>
            <a:r>
              <a:rPr lang="en-US" sz="2200">
                <a:solidFill>
                  <a:srgbClr val="262626"/>
                </a:solidFill>
              </a:rPr>
              <a:t> 0.046 </a:t>
            </a:r>
          </a:p>
          <a:p>
            <a:pPr lvl="0"/>
            <a:r>
              <a:rPr lang="en-US" sz="2200" b="0">
                <a:solidFill>
                  <a:srgbClr val="262626"/>
                </a:solidFill>
              </a:rPr>
              <a:t>Code Coverage summary:</a:t>
            </a:r>
          </a:p>
        </p:txBody>
      </p:sp>
      <p:pic>
        <p:nvPicPr>
          <p:cNvPr id="4" name="Picture 2" descr="A screenshot of a computer&#10;&#10;AI-generated content may be incorrect.">
            <a:extLst>
              <a:ext uri="{FF2B5EF4-FFF2-40B4-BE49-F238E27FC236}">
                <a16:creationId xmlns:a16="http://schemas.microsoft.com/office/drawing/2014/main" xmlns="" id="{0FC0ED29-1152-BDA5-2BD6-216C9D6C2029}"/>
              </a:ext>
            </a:extLst>
          </p:cNvPr>
          <p:cNvPicPr>
            <a:picLocks noChangeAspect="1"/>
          </p:cNvPicPr>
          <p:nvPr/>
        </p:nvPicPr>
        <p:blipFill>
          <a:blip r:embed="rId2"/>
          <a:srcRect r="-82" b="204"/>
          <a:stretch>
            <a:fillRect/>
          </a:stretch>
        </p:blipFill>
        <p:spPr>
          <a:xfrm>
            <a:off x="3050721" y="3868506"/>
            <a:ext cx="6845317" cy="2626165"/>
          </a:xfrm>
          <a:prstGeom prst="rect">
            <a:avLst/>
          </a:prstGeom>
          <a:noFill/>
          <a:ln cap="flat">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68E0F45D-E1A7-DBDD-98C8-C1740EF18110}"/>
              </a:ext>
            </a:extLst>
          </p:cNvPr>
          <p:cNvPicPr>
            <a:picLocks noChangeAspect="1"/>
          </p:cNvPicPr>
          <p:nvPr/>
        </p:nvPicPr>
        <p:blipFill>
          <a:blip r:embed="rId2"/>
          <a:stretch>
            <a:fillRect/>
          </a:stretch>
        </p:blipFill>
        <p:spPr>
          <a:xfrm>
            <a:off x="1724614" y="1308963"/>
            <a:ext cx="8742771" cy="5143208"/>
          </a:xfrm>
          <a:prstGeom prst="rect">
            <a:avLst/>
          </a:prstGeom>
        </p:spPr>
      </p:pic>
      <p:sp>
        <p:nvSpPr>
          <p:cNvPr id="2" name="Title 1">
            <a:extLst>
              <a:ext uri="{FF2B5EF4-FFF2-40B4-BE49-F238E27FC236}">
                <a16:creationId xmlns:a16="http://schemas.microsoft.com/office/drawing/2014/main" xmlns="" id="{C7F5C311-9728-93E6-F457-D7B19B67A1B1}"/>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Digital loop filter </a:t>
            </a:r>
            <a:endParaRPr lang="en-US" dirty="0"/>
          </a:p>
        </p:txBody>
      </p:sp>
      <p:sp>
        <p:nvSpPr>
          <p:cNvPr id="7" name="Oval 6">
            <a:extLst>
              <a:ext uri="{FF2B5EF4-FFF2-40B4-BE49-F238E27FC236}">
                <a16:creationId xmlns:a16="http://schemas.microsoft.com/office/drawing/2014/main" xmlns="" id="{7A10F588-C2AF-5AD5-0A55-DE1BE7F1E0D1}"/>
              </a:ext>
            </a:extLst>
          </p:cNvPr>
          <p:cNvSpPr/>
          <p:nvPr/>
        </p:nvSpPr>
        <p:spPr>
          <a:xfrm>
            <a:off x="6480313" y="4442791"/>
            <a:ext cx="1292087" cy="884583"/>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641442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Digital loop filter </a:t>
            </a:r>
          </a:p>
        </p:txBody>
      </p:sp>
      <p:sp>
        <p:nvSpPr>
          <p:cNvPr id="3" name="Text Placeholder 2"/>
          <p:cNvSpPr>
            <a:spLocks noGrp="1"/>
          </p:cNvSpPr>
          <p:nvPr>
            <p:ph type="body" idx="1"/>
          </p:nvPr>
        </p:nvSpPr>
        <p:spPr>
          <a:xfrm>
            <a:off x="421436" y="1510748"/>
            <a:ext cx="10856164" cy="4984947"/>
          </a:xfrm>
        </p:spPr>
        <p:txBody>
          <a:bodyPr/>
          <a:lstStyle/>
          <a:p>
            <a:pPr marL="76200" indent="0">
              <a:buNone/>
            </a:pPr>
            <a:r>
              <a:rPr lang="en-US" sz="2200" dirty="0">
                <a:solidFill>
                  <a:schemeClr val="tx1">
                    <a:lumMod val="85000"/>
                    <a:lumOff val="15000"/>
                  </a:schemeClr>
                </a:solidFill>
              </a:rPr>
              <a:t>DLF processes the phase error signal from TDC and generate a stable control word for the DCO.</a:t>
            </a:r>
          </a:p>
          <a:p>
            <a:r>
              <a:rPr lang="en-US" sz="2200" b="0" dirty="0">
                <a:solidFill>
                  <a:schemeClr val="tx1">
                    <a:lumMod val="85000"/>
                    <a:lumOff val="15000"/>
                  </a:schemeClr>
                </a:solidFill>
              </a:rPr>
              <a:t>The DLF acts like a stabilizer. It smooths out the sharp, noisy, quantized output from TDC.</a:t>
            </a:r>
          </a:p>
          <a:p>
            <a:r>
              <a:rPr lang="en-US" sz="2200" b="0" dirty="0">
                <a:solidFill>
                  <a:schemeClr val="tx1">
                    <a:lumMod val="85000"/>
                    <a:lumOff val="15000"/>
                  </a:schemeClr>
                </a:solidFill>
              </a:rPr>
              <a:t>It converts phase error to frequency control.</a:t>
            </a:r>
          </a:p>
          <a:p>
            <a:r>
              <a:rPr lang="en-US" sz="2200" b="0" dirty="0">
                <a:solidFill>
                  <a:schemeClr val="tx1">
                    <a:lumMod val="85000"/>
                    <a:lumOff val="15000"/>
                  </a:schemeClr>
                </a:solidFill>
              </a:rPr>
              <a:t>Loop filter transfer function: </a:t>
            </a:r>
            <a:r>
              <a:rPr lang="en-US" sz="2200" dirty="0">
                <a:solidFill>
                  <a:schemeClr val="tx1">
                    <a:lumMod val="85000"/>
                    <a:lumOff val="15000"/>
                  </a:schemeClr>
                </a:solidFill>
              </a:rPr>
              <a:t>(PI realization)</a:t>
            </a:r>
          </a:p>
          <a:p>
            <a:pPr marL="76200" indent="0">
              <a:buNone/>
            </a:pPr>
            <a:endParaRPr lang="en-US" sz="2000" dirty="0">
              <a:solidFill>
                <a:schemeClr val="tx1">
                  <a:lumMod val="85000"/>
                  <a:lumOff val="15000"/>
                </a:schemeClr>
              </a:solidFill>
            </a:endParaRPr>
          </a:p>
          <a:p>
            <a:pPr marL="76200" indent="0">
              <a:buNone/>
            </a:pPr>
            <a:r>
              <a:rPr lang="en-US" sz="2000" dirty="0"/>
              <a:t> </a:t>
            </a:r>
          </a:p>
          <a:p>
            <a:pPr marL="76200" indent="0">
              <a:buNone/>
            </a:pPr>
            <a:endParaRPr lang="en-US" sz="2000" dirty="0"/>
          </a:p>
          <a:p>
            <a:r>
              <a:rPr lang="en-US" sz="2200" b="0" dirty="0">
                <a:solidFill>
                  <a:schemeClr val="tx1">
                    <a:lumMod val="85000"/>
                    <a:lumOff val="15000"/>
                  </a:schemeClr>
                </a:solidFill>
              </a:rPr>
              <a:t>Ther filter will be composed of Proportional and Integral paths.</a:t>
            </a:r>
          </a:p>
          <a:p>
            <a:endParaRPr lang="en-US" sz="2000" dirty="0"/>
          </a:p>
        </p:txBody>
      </p:sp>
      <p:sp>
        <p:nvSpPr>
          <p:cNvPr id="23" name="Text Placeholder 3">
            <a:extLst>
              <a:ext uri="{FF2B5EF4-FFF2-40B4-BE49-F238E27FC236}">
                <a16:creationId xmlns:a16="http://schemas.microsoft.com/office/drawing/2014/main" xmlns="" id="{E65F6AFB-081F-9AA5-3C65-59C9B2E4F208}"/>
              </a:ext>
            </a:extLst>
          </p:cNvPr>
          <p:cNvSpPr>
            <a:spLocks noGrp="1"/>
          </p:cNvSpPr>
          <p:nvPr>
            <p:ph type="body" idx="4294967295"/>
          </p:nvPr>
        </p:nvSpPr>
        <p:spPr>
          <a:xfrm>
            <a:off x="0" y="1135216"/>
            <a:ext cx="10972800" cy="514350"/>
          </a:xfrm>
        </p:spPr>
        <p:txBody>
          <a:bodyPr>
            <a:normAutofit/>
          </a:bodyPr>
          <a:lstStyle/>
          <a:p>
            <a:pPr marL="101600" indent="0" algn="ctr">
              <a:buNone/>
            </a:pPr>
            <a:r>
              <a:rPr lang="en-US" sz="2000" b="1" dirty="0">
                <a:solidFill>
                  <a:schemeClr val="tx1">
                    <a:lumMod val="85000"/>
                    <a:lumOff val="15000"/>
                  </a:schemeClr>
                </a:solidFill>
              </a:rPr>
              <a:t>	Introduction</a:t>
            </a:r>
            <a:endParaRPr lang="en-US" sz="1800" b="1" dirty="0">
              <a:solidFill>
                <a:schemeClr val="tx1">
                  <a:lumMod val="85000"/>
                  <a:lumOff val="15000"/>
                </a:schemeClr>
              </a:solidFill>
            </a:endParaRPr>
          </a:p>
        </p:txBody>
      </p:sp>
      <p:grpSp>
        <p:nvGrpSpPr>
          <p:cNvPr id="15" name="Group 14">
            <a:extLst>
              <a:ext uri="{FF2B5EF4-FFF2-40B4-BE49-F238E27FC236}">
                <a16:creationId xmlns:a16="http://schemas.microsoft.com/office/drawing/2014/main" xmlns="" id="{09901A27-A27A-3902-D1F9-35CEF5789372}"/>
              </a:ext>
            </a:extLst>
          </p:cNvPr>
          <p:cNvGrpSpPr/>
          <p:nvPr/>
        </p:nvGrpSpPr>
        <p:grpSpPr>
          <a:xfrm>
            <a:off x="7207587" y="3429000"/>
            <a:ext cx="4904791" cy="1278294"/>
            <a:chOff x="6677609" y="2230016"/>
            <a:chExt cx="4904791" cy="1278294"/>
          </a:xfrm>
        </p:grpSpPr>
        <p:sp>
          <p:nvSpPr>
            <p:cNvPr id="5" name="Rectangle 4">
              <a:extLst>
                <a:ext uri="{FF2B5EF4-FFF2-40B4-BE49-F238E27FC236}">
                  <a16:creationId xmlns:a16="http://schemas.microsoft.com/office/drawing/2014/main" xmlns="" id="{AA8CD7C8-50E4-0204-0B35-B9254D15E6AF}"/>
                </a:ext>
              </a:extLst>
            </p:cNvPr>
            <p:cNvSpPr/>
            <p:nvPr/>
          </p:nvSpPr>
          <p:spPr>
            <a:xfrm>
              <a:off x="8500188" y="2230016"/>
              <a:ext cx="1250302" cy="127829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xmlns="" id="{AFA363F3-1301-28C1-C08A-1D98494F639A}"/>
                </a:ext>
              </a:extLst>
            </p:cNvPr>
            <p:cNvSpPr txBox="1"/>
            <p:nvPr/>
          </p:nvSpPr>
          <p:spPr>
            <a:xfrm>
              <a:off x="8574833" y="2545997"/>
              <a:ext cx="1101012" cy="646331"/>
            </a:xfrm>
            <a:prstGeom prst="rect">
              <a:avLst/>
            </a:prstGeom>
            <a:noFill/>
          </p:spPr>
          <p:txBody>
            <a:bodyPr wrap="square" rtlCol="0">
              <a:spAutoFit/>
            </a:bodyPr>
            <a:lstStyle/>
            <a:p>
              <a:pPr algn="ctr"/>
              <a:r>
                <a:rPr lang="en-US" sz="1800" dirty="0"/>
                <a:t>LOOP </a:t>
              </a:r>
            </a:p>
            <a:p>
              <a:pPr algn="ctr"/>
              <a:r>
                <a:rPr lang="en-US" sz="1800" dirty="0"/>
                <a:t>FILTER</a:t>
              </a:r>
            </a:p>
          </p:txBody>
        </p:sp>
        <p:cxnSp>
          <p:nvCxnSpPr>
            <p:cNvPr id="10" name="Straight Arrow Connector 9">
              <a:extLst>
                <a:ext uri="{FF2B5EF4-FFF2-40B4-BE49-F238E27FC236}">
                  <a16:creationId xmlns:a16="http://schemas.microsoft.com/office/drawing/2014/main" xmlns="" id="{A23D0C8E-A5A0-AB77-EE9D-E7502FBD7B12}"/>
                </a:ext>
              </a:extLst>
            </p:cNvPr>
            <p:cNvCxnSpPr/>
            <p:nvPr/>
          </p:nvCxnSpPr>
          <p:spPr>
            <a:xfrm>
              <a:off x="7464490" y="2967135"/>
              <a:ext cx="1035698"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2" name="Straight Arrow Connector 11">
              <a:extLst>
                <a:ext uri="{FF2B5EF4-FFF2-40B4-BE49-F238E27FC236}">
                  <a16:creationId xmlns:a16="http://schemas.microsoft.com/office/drawing/2014/main" xmlns="" id="{EB5D21DF-5E87-EB29-140F-A70819C9FA07}"/>
                </a:ext>
              </a:extLst>
            </p:cNvPr>
            <p:cNvCxnSpPr>
              <a:cxnSpLocks/>
            </p:cNvCxnSpPr>
            <p:nvPr/>
          </p:nvCxnSpPr>
          <p:spPr>
            <a:xfrm flipV="1">
              <a:off x="9750490" y="2967134"/>
              <a:ext cx="1101012"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3" name="TextBox 12">
              <a:extLst>
                <a:ext uri="{FF2B5EF4-FFF2-40B4-BE49-F238E27FC236}">
                  <a16:creationId xmlns:a16="http://schemas.microsoft.com/office/drawing/2014/main" xmlns="" id="{412719DB-4F8D-4C50-2729-91ECA0E3337F}"/>
                </a:ext>
              </a:extLst>
            </p:cNvPr>
            <p:cNvSpPr txBox="1"/>
            <p:nvPr/>
          </p:nvSpPr>
          <p:spPr>
            <a:xfrm>
              <a:off x="6677609" y="2527335"/>
              <a:ext cx="926841" cy="646331"/>
            </a:xfrm>
            <a:prstGeom prst="rect">
              <a:avLst/>
            </a:prstGeom>
            <a:noFill/>
          </p:spPr>
          <p:txBody>
            <a:bodyPr wrap="square" rtlCol="0">
              <a:spAutoFit/>
            </a:bodyPr>
            <a:lstStyle/>
            <a:p>
              <a:r>
                <a:rPr lang="en-US" sz="1800" dirty="0"/>
                <a:t>Phase Error </a:t>
              </a:r>
            </a:p>
          </p:txBody>
        </p:sp>
        <p:sp>
          <p:nvSpPr>
            <p:cNvPr id="14" name="TextBox 13">
              <a:extLst>
                <a:ext uri="{FF2B5EF4-FFF2-40B4-BE49-F238E27FC236}">
                  <a16:creationId xmlns:a16="http://schemas.microsoft.com/office/drawing/2014/main" xmlns="" id="{EE58443C-A715-6932-4E52-410638B3727D}"/>
                </a:ext>
              </a:extLst>
            </p:cNvPr>
            <p:cNvSpPr txBox="1"/>
            <p:nvPr/>
          </p:nvSpPr>
          <p:spPr>
            <a:xfrm>
              <a:off x="10668000" y="2597802"/>
              <a:ext cx="914400" cy="369332"/>
            </a:xfrm>
            <a:prstGeom prst="rect">
              <a:avLst/>
            </a:prstGeom>
            <a:noFill/>
          </p:spPr>
          <p:txBody>
            <a:bodyPr wrap="square" rtlCol="0">
              <a:spAutoFit/>
            </a:bodyPr>
            <a:lstStyle/>
            <a:p>
              <a:r>
                <a:rPr lang="en-US" sz="1800" dirty="0"/>
                <a:t>OTW</a:t>
              </a:r>
              <a:endParaRPr lang="en-US" dirty="0"/>
            </a:p>
          </p:txBody>
        </p:sp>
      </p:grpSp>
      <p:grpSp>
        <p:nvGrpSpPr>
          <p:cNvPr id="9" name="Group 8">
            <a:extLst>
              <a:ext uri="{FF2B5EF4-FFF2-40B4-BE49-F238E27FC236}">
                <a16:creationId xmlns:a16="http://schemas.microsoft.com/office/drawing/2014/main" xmlns="" id="{3D509FA0-E6A5-7E53-A29A-0167D36858E1}"/>
              </a:ext>
            </a:extLst>
          </p:cNvPr>
          <p:cNvGrpSpPr/>
          <p:nvPr/>
        </p:nvGrpSpPr>
        <p:grpSpPr>
          <a:xfrm>
            <a:off x="1925217" y="3647463"/>
            <a:ext cx="2522376" cy="711516"/>
            <a:chOff x="3785118" y="4022207"/>
            <a:chExt cx="2522376" cy="711516"/>
          </a:xfrm>
        </p:grpSpPr>
        <p:sp>
          <p:nvSpPr>
            <p:cNvPr id="20" name="Rectangle 19">
              <a:extLst>
                <a:ext uri="{FF2B5EF4-FFF2-40B4-BE49-F238E27FC236}">
                  <a16:creationId xmlns:a16="http://schemas.microsoft.com/office/drawing/2014/main" xmlns="" id="{9F49B10A-2E12-F770-A59C-DDE712A0BA9E}"/>
                </a:ext>
              </a:extLst>
            </p:cNvPr>
            <p:cNvSpPr/>
            <p:nvPr/>
          </p:nvSpPr>
          <p:spPr>
            <a:xfrm>
              <a:off x="3785118" y="4022207"/>
              <a:ext cx="2522376" cy="71151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xmlns="" id="{FB04EC09-B58E-4BB3-109E-4CD2B0185933}"/>
                </a:ext>
              </a:extLst>
            </p:cNvPr>
            <p:cNvPicPr>
              <a:picLocks noChangeAspect="1"/>
            </p:cNvPicPr>
            <p:nvPr/>
          </p:nvPicPr>
          <p:blipFill>
            <a:blip r:embed="rId3"/>
            <a:srcRect l="-51" t="17926" r="51" b="1"/>
            <a:stretch>
              <a:fillRect/>
            </a:stretch>
          </p:blipFill>
          <p:spPr>
            <a:xfrm>
              <a:off x="3981060" y="4105635"/>
              <a:ext cx="2114940" cy="576188"/>
            </a:xfrm>
            <a:prstGeom prst="rect">
              <a:avLst/>
            </a:prstGeom>
          </p:spPr>
        </p:pic>
      </p:grpSp>
      <p:grpSp>
        <p:nvGrpSpPr>
          <p:cNvPr id="33" name="Group 32">
            <a:extLst>
              <a:ext uri="{FF2B5EF4-FFF2-40B4-BE49-F238E27FC236}">
                <a16:creationId xmlns:a16="http://schemas.microsoft.com/office/drawing/2014/main" xmlns="" id="{2B4185AF-5446-9012-0873-ED7D0D391728}"/>
              </a:ext>
            </a:extLst>
          </p:cNvPr>
          <p:cNvGrpSpPr/>
          <p:nvPr/>
        </p:nvGrpSpPr>
        <p:grpSpPr>
          <a:xfrm>
            <a:off x="1468793" y="5150168"/>
            <a:ext cx="3435224" cy="1129631"/>
            <a:chOff x="8147176" y="4965891"/>
            <a:chExt cx="3247053" cy="957787"/>
          </a:xfrm>
        </p:grpSpPr>
        <p:sp>
          <p:nvSpPr>
            <p:cNvPr id="34" name="Rectangle 33">
              <a:extLst>
                <a:ext uri="{FF2B5EF4-FFF2-40B4-BE49-F238E27FC236}">
                  <a16:creationId xmlns:a16="http://schemas.microsoft.com/office/drawing/2014/main" xmlns="" id="{6663A430-AB49-2A78-8674-29BFD8FFFCAE}"/>
                </a:ext>
              </a:extLst>
            </p:cNvPr>
            <p:cNvSpPr/>
            <p:nvPr/>
          </p:nvSpPr>
          <p:spPr>
            <a:xfrm>
              <a:off x="8147176" y="4965891"/>
              <a:ext cx="3247053" cy="95778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5" name="Picture 34">
              <a:extLst>
                <a:ext uri="{FF2B5EF4-FFF2-40B4-BE49-F238E27FC236}">
                  <a16:creationId xmlns:a16="http://schemas.microsoft.com/office/drawing/2014/main" xmlns="" id="{3D273EDE-65BF-771B-BEF1-B5CAD0557AA4}"/>
                </a:ext>
              </a:extLst>
            </p:cNvPr>
            <p:cNvPicPr>
              <a:picLocks noChangeAspect="1"/>
            </p:cNvPicPr>
            <p:nvPr/>
          </p:nvPicPr>
          <p:blipFill>
            <a:blip r:embed="rId4"/>
            <a:stretch>
              <a:fillRect/>
            </a:stretch>
          </p:blipFill>
          <p:spPr>
            <a:xfrm>
              <a:off x="8236437" y="5001081"/>
              <a:ext cx="3068530" cy="847316"/>
            </a:xfrm>
            <a:prstGeom prst="rect">
              <a:avLst/>
            </a:prstGeom>
          </p:spPr>
        </p:pic>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xmlns="" id="{57EDAF88-1EA0-BACA-A9B0-BB52E40F94DC}"/>
              </a:ext>
            </a:extLst>
          </p:cNvPr>
          <p:cNvGrpSpPr/>
          <p:nvPr/>
        </p:nvGrpSpPr>
        <p:grpSpPr>
          <a:xfrm>
            <a:off x="5802280" y="2225487"/>
            <a:ext cx="6254666" cy="2694062"/>
            <a:chOff x="5937334" y="2679136"/>
            <a:chExt cx="6254666" cy="2694062"/>
          </a:xfrm>
        </p:grpSpPr>
        <p:grpSp>
          <p:nvGrpSpPr>
            <p:cNvPr id="23" name="Group 22">
              <a:extLst>
                <a:ext uri="{FF2B5EF4-FFF2-40B4-BE49-F238E27FC236}">
                  <a16:creationId xmlns:a16="http://schemas.microsoft.com/office/drawing/2014/main" xmlns="" id="{F6E15E9F-AB70-65E1-C6EC-33F4203369E5}"/>
                </a:ext>
              </a:extLst>
            </p:cNvPr>
            <p:cNvGrpSpPr/>
            <p:nvPr/>
          </p:nvGrpSpPr>
          <p:grpSpPr>
            <a:xfrm>
              <a:off x="5937334" y="2679136"/>
              <a:ext cx="6254666" cy="2694062"/>
              <a:chOff x="5713173" y="2561883"/>
              <a:chExt cx="6254666" cy="2694062"/>
            </a:xfrm>
          </p:grpSpPr>
          <p:grpSp>
            <p:nvGrpSpPr>
              <p:cNvPr id="21" name="Group 20">
                <a:extLst>
                  <a:ext uri="{FF2B5EF4-FFF2-40B4-BE49-F238E27FC236}">
                    <a16:creationId xmlns:a16="http://schemas.microsoft.com/office/drawing/2014/main" xmlns="" id="{44D88657-CB0B-E8E9-5EEE-48BBBB085158}"/>
                  </a:ext>
                </a:extLst>
              </p:cNvPr>
              <p:cNvGrpSpPr/>
              <p:nvPr/>
            </p:nvGrpSpPr>
            <p:grpSpPr>
              <a:xfrm>
                <a:off x="5713173" y="2561883"/>
                <a:ext cx="6254666" cy="2694062"/>
                <a:chOff x="5700981" y="2679136"/>
                <a:chExt cx="6254666" cy="2694062"/>
              </a:xfrm>
            </p:grpSpPr>
            <p:pic>
              <p:nvPicPr>
                <p:cNvPr id="8" name="Picture 7">
                  <a:extLst>
                    <a:ext uri="{FF2B5EF4-FFF2-40B4-BE49-F238E27FC236}">
                      <a16:creationId xmlns:a16="http://schemas.microsoft.com/office/drawing/2014/main" xmlns="" id="{A12B8294-28D0-B29B-36D3-41E5BB6F9A64}"/>
                    </a:ext>
                  </a:extLst>
                </p:cNvPr>
                <p:cNvPicPr>
                  <a:picLocks noChangeAspect="1"/>
                </p:cNvPicPr>
                <p:nvPr/>
              </p:nvPicPr>
              <p:blipFill>
                <a:blip r:embed="rId2"/>
                <a:stretch>
                  <a:fillRect/>
                </a:stretch>
              </p:blipFill>
              <p:spPr>
                <a:xfrm>
                  <a:off x="5700981" y="2679136"/>
                  <a:ext cx="6254666" cy="2694062"/>
                </a:xfrm>
                <a:prstGeom prst="rect">
                  <a:avLst/>
                </a:prstGeom>
              </p:spPr>
            </p:pic>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xmlns="" id="{F2CCF86B-3124-FBAE-AEAF-DED44FF25291}"/>
                        </a:ext>
                      </a:extLst>
                    </p14:cNvPr>
                    <p14:cNvContentPartPr/>
                    <p14:nvPr/>
                  </p14:nvContentPartPr>
                  <p14:xfrm>
                    <a:off x="6465390" y="3748770"/>
                    <a:ext cx="360" cy="360"/>
                  </p14:xfrm>
                </p:contentPart>
              </mc:Choice>
              <mc:Fallback xmlns="">
                <p:pic>
                  <p:nvPicPr>
                    <p:cNvPr id="2" name="Ink 1">
                      <a:extLst>
                        <a:ext uri="{FF2B5EF4-FFF2-40B4-BE49-F238E27FC236}">
                          <a16:creationId xmlns:a16="http://schemas.microsoft.com/office/drawing/2014/main" id="{F2CCF86B-3124-FBAE-AEAF-DED44FF25291}"/>
                        </a:ext>
                      </a:extLst>
                    </p:cNvPr>
                    <p:cNvPicPr/>
                    <p:nvPr/>
                  </p:nvPicPr>
                  <p:blipFill>
                    <a:blip r:embed="rId4"/>
                    <a:stretch>
                      <a:fillRect/>
                    </a:stretch>
                  </p:blipFill>
                  <p:spPr>
                    <a:xfrm>
                      <a:off x="6402750" y="3686130"/>
                      <a:ext cx="126000" cy="126000"/>
                    </a:xfrm>
                    <a:prstGeom prst="rect">
                      <a:avLst/>
                    </a:prstGeom>
                  </p:spPr>
                </p:pic>
              </mc:Fallback>
            </mc:AlternateContent>
            <p:grpSp>
              <p:nvGrpSpPr>
                <p:cNvPr id="18" name="Group 17">
                  <a:extLst>
                    <a:ext uri="{FF2B5EF4-FFF2-40B4-BE49-F238E27FC236}">
                      <a16:creationId xmlns:a16="http://schemas.microsoft.com/office/drawing/2014/main" xmlns="" id="{322CFED0-3CB6-FBD3-462A-54199F8414F3}"/>
                    </a:ext>
                  </a:extLst>
                </p:cNvPr>
                <p:cNvGrpSpPr/>
                <p:nvPr/>
              </p:nvGrpSpPr>
              <p:grpSpPr>
                <a:xfrm>
                  <a:off x="9326670" y="3718530"/>
                  <a:ext cx="34560" cy="95400"/>
                  <a:chOff x="9326670" y="3718530"/>
                  <a:chExt cx="34560" cy="95400"/>
                </a:xfrm>
              </p:grpSpPr>
              <mc:AlternateContent xmlns:mc="http://schemas.openxmlformats.org/markup-compatibility/2006" xmlns:p14="http://schemas.microsoft.com/office/powerpoint/2010/main">
                <mc:Choice Requires="p14">
                  <p:contentPart p14:bwMode="auto" r:id="rId5">
                    <p14:nvContentPartPr>
                      <p14:cNvPr id="12" name="Ink 11">
                        <a:extLst>
                          <a:ext uri="{FF2B5EF4-FFF2-40B4-BE49-F238E27FC236}">
                            <a16:creationId xmlns:a16="http://schemas.microsoft.com/office/drawing/2014/main" xmlns="" id="{AE1404F4-D8A7-5566-E439-C9006AD41A90}"/>
                          </a:ext>
                        </a:extLst>
                      </p14:cNvPr>
                      <p14:cNvContentPartPr/>
                      <p14:nvPr/>
                    </p14:nvContentPartPr>
                    <p14:xfrm>
                      <a:off x="9338190" y="3718530"/>
                      <a:ext cx="360" cy="360"/>
                    </p14:xfrm>
                  </p:contentPart>
                </mc:Choice>
                <mc:Fallback xmlns="">
                  <p:pic>
                    <p:nvPicPr>
                      <p:cNvPr id="12" name="Ink 11">
                        <a:extLst>
                          <a:ext uri="{FF2B5EF4-FFF2-40B4-BE49-F238E27FC236}">
                            <a16:creationId xmlns:a16="http://schemas.microsoft.com/office/drawing/2014/main" id="{AE1404F4-D8A7-5566-E439-C9006AD41A90}"/>
                          </a:ext>
                        </a:extLst>
                      </p:cNvPr>
                      <p:cNvPicPr/>
                      <p:nvPr/>
                    </p:nvPicPr>
                    <p:blipFill>
                      <a:blip r:embed="rId6"/>
                      <a:stretch>
                        <a:fillRect/>
                      </a:stretch>
                    </p:blipFill>
                    <p:spPr>
                      <a:xfrm>
                        <a:off x="9302190" y="3682530"/>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3" name="Ink 12">
                        <a:extLst>
                          <a:ext uri="{FF2B5EF4-FFF2-40B4-BE49-F238E27FC236}">
                            <a16:creationId xmlns:a16="http://schemas.microsoft.com/office/drawing/2014/main" xmlns="" id="{EDB193E2-4955-28DB-F137-C0A1A607BA97}"/>
                          </a:ext>
                        </a:extLst>
                      </p14:cNvPr>
                      <p14:cNvContentPartPr/>
                      <p14:nvPr/>
                    </p14:nvContentPartPr>
                    <p14:xfrm>
                      <a:off x="9360870" y="3764250"/>
                      <a:ext cx="360" cy="360"/>
                    </p14:xfrm>
                  </p:contentPart>
                </mc:Choice>
                <mc:Fallback xmlns="">
                  <p:pic>
                    <p:nvPicPr>
                      <p:cNvPr id="13" name="Ink 12">
                        <a:extLst>
                          <a:ext uri="{FF2B5EF4-FFF2-40B4-BE49-F238E27FC236}">
                            <a16:creationId xmlns:a16="http://schemas.microsoft.com/office/drawing/2014/main" id="{EDB193E2-4955-28DB-F137-C0A1A607BA97}"/>
                          </a:ext>
                        </a:extLst>
                      </p:cNvPr>
                      <p:cNvPicPr/>
                      <p:nvPr/>
                    </p:nvPicPr>
                    <p:blipFill>
                      <a:blip r:embed="rId6"/>
                      <a:stretch>
                        <a:fillRect/>
                      </a:stretch>
                    </p:blipFill>
                    <p:spPr>
                      <a:xfrm>
                        <a:off x="9325230" y="3728250"/>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5" name="Ink 14">
                        <a:extLst>
                          <a:ext uri="{FF2B5EF4-FFF2-40B4-BE49-F238E27FC236}">
                            <a16:creationId xmlns:a16="http://schemas.microsoft.com/office/drawing/2014/main" xmlns="" id="{1CF4AE9E-FCDB-F01F-845A-76F2291C3800}"/>
                          </a:ext>
                        </a:extLst>
                      </p14:cNvPr>
                      <p14:cNvContentPartPr/>
                      <p14:nvPr/>
                    </p14:nvContentPartPr>
                    <p14:xfrm>
                      <a:off x="9342150" y="3783330"/>
                      <a:ext cx="360" cy="360"/>
                    </p14:xfrm>
                  </p:contentPart>
                </mc:Choice>
                <mc:Fallback xmlns="">
                  <p:pic>
                    <p:nvPicPr>
                      <p:cNvPr id="15" name="Ink 14">
                        <a:extLst>
                          <a:ext uri="{FF2B5EF4-FFF2-40B4-BE49-F238E27FC236}">
                            <a16:creationId xmlns:a16="http://schemas.microsoft.com/office/drawing/2014/main" id="{1CF4AE9E-FCDB-F01F-845A-76F2291C3800}"/>
                          </a:ext>
                        </a:extLst>
                      </p:cNvPr>
                      <p:cNvPicPr/>
                      <p:nvPr/>
                    </p:nvPicPr>
                    <p:blipFill>
                      <a:blip r:embed="rId6"/>
                      <a:stretch>
                        <a:fillRect/>
                      </a:stretch>
                    </p:blipFill>
                    <p:spPr>
                      <a:xfrm>
                        <a:off x="9306150" y="3747330"/>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7" name="Ink 16">
                        <a:extLst>
                          <a:ext uri="{FF2B5EF4-FFF2-40B4-BE49-F238E27FC236}">
                            <a16:creationId xmlns:a16="http://schemas.microsoft.com/office/drawing/2014/main" xmlns="" id="{DFE20BEC-FA1D-EF56-9D44-9E81F3F5154F}"/>
                          </a:ext>
                        </a:extLst>
                      </p14:cNvPr>
                      <p14:cNvContentPartPr/>
                      <p14:nvPr/>
                    </p14:nvContentPartPr>
                    <p14:xfrm>
                      <a:off x="9326670" y="3813570"/>
                      <a:ext cx="360" cy="360"/>
                    </p14:xfrm>
                  </p:contentPart>
                </mc:Choice>
                <mc:Fallback xmlns="">
                  <p:pic>
                    <p:nvPicPr>
                      <p:cNvPr id="17" name="Ink 16">
                        <a:extLst>
                          <a:ext uri="{FF2B5EF4-FFF2-40B4-BE49-F238E27FC236}">
                            <a16:creationId xmlns:a16="http://schemas.microsoft.com/office/drawing/2014/main" id="{DFE20BEC-FA1D-EF56-9D44-9E81F3F5154F}"/>
                          </a:ext>
                        </a:extLst>
                      </p:cNvPr>
                      <p:cNvPicPr/>
                      <p:nvPr/>
                    </p:nvPicPr>
                    <p:blipFill>
                      <a:blip r:embed="rId6"/>
                      <a:stretch>
                        <a:fillRect/>
                      </a:stretch>
                    </p:blipFill>
                    <p:spPr>
                      <a:xfrm>
                        <a:off x="9291030" y="3777930"/>
                        <a:ext cx="72000" cy="72000"/>
                      </a:xfrm>
                      <a:prstGeom prst="rect">
                        <a:avLst/>
                      </a:prstGeom>
                    </p:spPr>
                  </p:pic>
                </mc:Fallback>
              </mc:AlternateContent>
            </p:grpSp>
          </p:grpSp>
          <mc:AlternateContent xmlns:mc="http://schemas.openxmlformats.org/markup-compatibility/2006" xmlns:p14="http://schemas.microsoft.com/office/powerpoint/2010/main">
            <mc:Choice Requires="p14">
              <p:contentPart p14:bwMode="auto" r:id="rId10">
                <p14:nvContentPartPr>
                  <p14:cNvPr id="22" name="Ink 21">
                    <a:extLst>
                      <a:ext uri="{FF2B5EF4-FFF2-40B4-BE49-F238E27FC236}">
                        <a16:creationId xmlns:a16="http://schemas.microsoft.com/office/drawing/2014/main" xmlns="" id="{3321FB20-212D-8CE0-90D2-94B60BB8AF3A}"/>
                      </a:ext>
                    </a:extLst>
                  </p14:cNvPr>
                  <p14:cNvContentPartPr/>
                  <p14:nvPr/>
                </p14:nvContentPartPr>
                <p14:xfrm>
                  <a:off x="6457890" y="3703260"/>
                  <a:ext cx="360" cy="360"/>
                </p14:xfrm>
              </p:contentPart>
            </mc:Choice>
            <mc:Fallback xmlns="">
              <p:pic>
                <p:nvPicPr>
                  <p:cNvPr id="22" name="Ink 21">
                    <a:extLst>
                      <a:ext uri="{FF2B5EF4-FFF2-40B4-BE49-F238E27FC236}">
                        <a16:creationId xmlns:a16="http://schemas.microsoft.com/office/drawing/2014/main" id="{3321FB20-212D-8CE0-90D2-94B60BB8AF3A}"/>
                      </a:ext>
                    </a:extLst>
                  </p:cNvPr>
                  <p:cNvPicPr/>
                  <p:nvPr/>
                </p:nvPicPr>
                <p:blipFill>
                  <a:blip r:embed="rId6"/>
                  <a:stretch>
                    <a:fillRect/>
                  </a:stretch>
                </p:blipFill>
                <p:spPr>
                  <a:xfrm>
                    <a:off x="6421890" y="3667260"/>
                    <a:ext cx="72000" cy="72000"/>
                  </a:xfrm>
                  <a:prstGeom prst="rect">
                    <a:avLst/>
                  </a:prstGeom>
                </p:spPr>
              </p:pic>
            </mc:Fallback>
          </mc:AlternateContent>
        </p:grpSp>
        <p:sp>
          <p:nvSpPr>
            <p:cNvPr id="24" name="TextBox 23">
              <a:extLst>
                <a:ext uri="{FF2B5EF4-FFF2-40B4-BE49-F238E27FC236}">
                  <a16:creationId xmlns:a16="http://schemas.microsoft.com/office/drawing/2014/main" xmlns="" id="{ADE154B9-95AF-CF49-807A-EE05EBDD72AA}"/>
                </a:ext>
              </a:extLst>
            </p:cNvPr>
            <p:cNvSpPr txBox="1"/>
            <p:nvPr/>
          </p:nvSpPr>
          <p:spPr>
            <a:xfrm>
              <a:off x="6558114" y="3594881"/>
              <a:ext cx="287258" cy="307777"/>
            </a:xfrm>
            <a:prstGeom prst="rect">
              <a:avLst/>
            </a:prstGeom>
            <a:noFill/>
          </p:spPr>
          <p:txBody>
            <a:bodyPr wrap="none" rtlCol="0">
              <a:spAutoFit/>
            </a:bodyPr>
            <a:lstStyle/>
            <a:p>
              <a:r>
                <a:rPr lang="el-GR" dirty="0"/>
                <a:t>ρ</a:t>
              </a:r>
              <a:endParaRPr lang="en-US" dirty="0"/>
            </a:p>
          </p:txBody>
        </p:sp>
        <p:sp>
          <p:nvSpPr>
            <p:cNvPr id="26" name="TextBox 25">
              <a:extLst>
                <a:ext uri="{FF2B5EF4-FFF2-40B4-BE49-F238E27FC236}">
                  <a16:creationId xmlns:a16="http://schemas.microsoft.com/office/drawing/2014/main" xmlns="" id="{434B5152-D35C-1FA6-44D3-073D0EF004D3}"/>
                </a:ext>
              </a:extLst>
            </p:cNvPr>
            <p:cNvSpPr txBox="1"/>
            <p:nvPr/>
          </p:nvSpPr>
          <p:spPr>
            <a:xfrm>
              <a:off x="9452443" y="3594881"/>
              <a:ext cx="289560" cy="307777"/>
            </a:xfrm>
            <a:prstGeom prst="rect">
              <a:avLst/>
            </a:prstGeom>
            <a:noFill/>
          </p:spPr>
          <p:txBody>
            <a:bodyPr wrap="square">
              <a:spAutoFit/>
            </a:bodyPr>
            <a:lstStyle/>
            <a:p>
              <a:r>
                <a:rPr lang="en-US" dirty="0"/>
                <a:t>ρ</a:t>
              </a:r>
            </a:p>
          </p:txBody>
        </p:sp>
      </p:grpSp>
      <p:sp>
        <p:nvSpPr>
          <p:cNvPr id="5" name="Title 1">
            <a:extLst>
              <a:ext uri="{FF2B5EF4-FFF2-40B4-BE49-F238E27FC236}">
                <a16:creationId xmlns:a16="http://schemas.microsoft.com/office/drawing/2014/main" xmlns="" id="{31F69B96-4353-EEF1-8128-658C4613362C}"/>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Digital loop filter </a:t>
            </a:r>
          </a:p>
        </p:txBody>
      </p:sp>
      <p:sp>
        <p:nvSpPr>
          <p:cNvPr id="3" name="Text Placeholder 2">
            <a:extLst>
              <a:ext uri="{FF2B5EF4-FFF2-40B4-BE49-F238E27FC236}">
                <a16:creationId xmlns:a16="http://schemas.microsoft.com/office/drawing/2014/main" xmlns="" id="{BF7E0217-418B-46EC-F31E-25BA37D189C9}"/>
              </a:ext>
            </a:extLst>
          </p:cNvPr>
          <p:cNvSpPr>
            <a:spLocks noGrp="1"/>
          </p:cNvSpPr>
          <p:nvPr>
            <p:ph type="body" idx="1"/>
          </p:nvPr>
        </p:nvSpPr>
        <p:spPr>
          <a:xfrm>
            <a:off x="476249" y="1510748"/>
            <a:ext cx="6254665" cy="4984947"/>
          </a:xfrm>
        </p:spPr>
        <p:txBody>
          <a:bodyPr/>
          <a:lstStyle/>
          <a:p>
            <a:pPr marL="76200" indent="0">
              <a:buNone/>
            </a:pPr>
            <a:r>
              <a:rPr lang="en-US" b="1" dirty="0">
                <a:solidFill>
                  <a:schemeClr val="tx1">
                    <a:lumMod val="85000"/>
                    <a:lumOff val="15000"/>
                  </a:schemeClr>
                </a:solidFill>
              </a:rPr>
              <a:t>Proportional path:</a:t>
            </a:r>
          </a:p>
          <a:p>
            <a:r>
              <a:rPr lang="en-US" sz="2000" b="0" dirty="0">
                <a:solidFill>
                  <a:schemeClr val="tx1">
                    <a:lumMod val="85000"/>
                    <a:lumOff val="15000"/>
                  </a:schemeClr>
                </a:solidFill>
              </a:rPr>
              <a:t>Controls loop bandwidth.</a:t>
            </a:r>
          </a:p>
          <a:p>
            <a:r>
              <a:rPr lang="en-US" sz="2000" b="0" dirty="0">
                <a:solidFill>
                  <a:schemeClr val="tx1">
                    <a:lumMod val="85000"/>
                    <a:lumOff val="15000"/>
                  </a:schemeClr>
                </a:solidFill>
              </a:rPr>
              <a:t>Responsible for fast response.</a:t>
            </a:r>
          </a:p>
          <a:p>
            <a:r>
              <a:rPr lang="en-US" sz="2000" b="0" dirty="0">
                <a:solidFill>
                  <a:schemeClr val="tx1">
                    <a:lumMod val="85000"/>
                    <a:lumOff val="15000"/>
                  </a:schemeClr>
                </a:solidFill>
              </a:rPr>
              <a:t>OTW is directly proportional to phase error.</a:t>
            </a:r>
          </a:p>
          <a:p>
            <a:pPr marL="101600" indent="0">
              <a:buNone/>
            </a:pPr>
            <a:endParaRPr lang="en-US" sz="2000" b="0" dirty="0">
              <a:solidFill>
                <a:schemeClr val="tx1">
                  <a:lumMod val="85000"/>
                  <a:lumOff val="15000"/>
                </a:schemeClr>
              </a:solidFill>
            </a:endParaRPr>
          </a:p>
          <a:p>
            <a:pPr marL="76200" indent="0">
              <a:buNone/>
            </a:pPr>
            <a:r>
              <a:rPr lang="en-US" b="1" dirty="0">
                <a:solidFill>
                  <a:schemeClr val="tx1">
                    <a:lumMod val="85000"/>
                    <a:lumOff val="15000"/>
                  </a:schemeClr>
                </a:solidFill>
              </a:rPr>
              <a:t>Integral path:</a:t>
            </a:r>
          </a:p>
          <a:p>
            <a:r>
              <a:rPr lang="en-US" sz="2000" b="0" dirty="0">
                <a:solidFill>
                  <a:schemeClr val="tx1">
                    <a:lumMod val="85000"/>
                    <a:lumOff val="15000"/>
                  </a:schemeClr>
                </a:solidFill>
              </a:rPr>
              <a:t>Accumulates past phase errors </a:t>
            </a:r>
          </a:p>
          <a:p>
            <a:r>
              <a:rPr lang="en-US" sz="2000" b="0" dirty="0">
                <a:solidFill>
                  <a:schemeClr val="tx1">
                    <a:lumMod val="85000"/>
                    <a:lumOff val="15000"/>
                  </a:schemeClr>
                </a:solidFill>
              </a:rPr>
              <a:t>Eliminates steady-state phase error.</a:t>
            </a:r>
          </a:p>
          <a:p>
            <a:r>
              <a:rPr lang="en-US" sz="2000" b="0" dirty="0">
                <a:solidFill>
                  <a:schemeClr val="tx1">
                    <a:lumMod val="85000"/>
                    <a:lumOff val="15000"/>
                  </a:schemeClr>
                </a:solidFill>
              </a:rPr>
              <a:t>Responsible for fine and accurate tuning.</a:t>
            </a:r>
          </a:p>
          <a:p>
            <a:r>
              <a:rPr lang="en-US" sz="2000" b="0" dirty="0">
                <a:solidFill>
                  <a:schemeClr val="tx1">
                    <a:lumMod val="85000"/>
                    <a:lumOff val="15000"/>
                  </a:schemeClr>
                </a:solidFill>
              </a:rPr>
              <a:t>Improved noise suppression (introduce extra pole).</a:t>
            </a:r>
          </a:p>
        </p:txBody>
      </p:sp>
      <p:sp>
        <p:nvSpPr>
          <p:cNvPr id="30" name="Text Placeholder 3">
            <a:extLst>
              <a:ext uri="{FF2B5EF4-FFF2-40B4-BE49-F238E27FC236}">
                <a16:creationId xmlns:a16="http://schemas.microsoft.com/office/drawing/2014/main" xmlns="" id="{8BB4B353-B72E-EB5E-46DD-CB4ECCB2A2C9}"/>
              </a:ext>
            </a:extLst>
          </p:cNvPr>
          <p:cNvSpPr>
            <a:spLocks noGrp="1"/>
          </p:cNvSpPr>
          <p:nvPr>
            <p:ph type="body" idx="4294967295"/>
          </p:nvPr>
        </p:nvSpPr>
        <p:spPr>
          <a:xfrm>
            <a:off x="0" y="1101268"/>
            <a:ext cx="10972800" cy="477838"/>
          </a:xfrm>
        </p:spPr>
        <p:txBody>
          <a:bodyPr>
            <a:normAutofit/>
          </a:bodyPr>
          <a:lstStyle/>
          <a:p>
            <a:pPr marL="101600" indent="0" algn="ctr">
              <a:buNone/>
            </a:pPr>
            <a:r>
              <a:rPr lang="en-US" sz="2000" b="1" dirty="0">
                <a:solidFill>
                  <a:schemeClr val="tx1">
                    <a:lumMod val="85000"/>
                    <a:lumOff val="15000"/>
                  </a:schemeClr>
                </a:solidFill>
              </a:rPr>
              <a:t>	PI controller </a:t>
            </a:r>
          </a:p>
        </p:txBody>
      </p:sp>
      <mc:AlternateContent xmlns:mc="http://schemas.openxmlformats.org/markup-compatibility/2006" xmlns:p14="http://schemas.microsoft.com/office/powerpoint/2010/main">
        <mc:Choice Requires="p14">
          <p:contentPart p14:bwMode="auto" r:id="rId11">
            <p14:nvContentPartPr>
              <p14:cNvPr id="7" name="Ink 6">
                <a:extLst>
                  <a:ext uri="{FF2B5EF4-FFF2-40B4-BE49-F238E27FC236}">
                    <a16:creationId xmlns:a16="http://schemas.microsoft.com/office/drawing/2014/main" xmlns="" id="{4706F27A-E7E3-7280-DBBD-B94EC71E1CD4}"/>
                  </a:ext>
                </a:extLst>
              </p14:cNvPr>
              <p14:cNvContentPartPr/>
              <p14:nvPr/>
            </p14:nvContentPartPr>
            <p14:xfrm>
              <a:off x="6431190" y="3836610"/>
              <a:ext cx="360" cy="360"/>
            </p14:xfrm>
          </p:contentPart>
        </mc:Choice>
        <mc:Fallback xmlns="">
          <p:pic>
            <p:nvPicPr>
              <p:cNvPr id="7" name="Ink 6">
                <a:extLst>
                  <a:ext uri="{FF2B5EF4-FFF2-40B4-BE49-F238E27FC236}">
                    <a16:creationId xmlns:a16="http://schemas.microsoft.com/office/drawing/2014/main" id="{4706F27A-E7E3-7280-DBBD-B94EC71E1CD4}"/>
                  </a:ext>
                </a:extLst>
              </p:cNvPr>
              <p:cNvPicPr/>
              <p:nvPr/>
            </p:nvPicPr>
            <p:blipFill>
              <a:blip r:embed="rId13"/>
              <a:stretch>
                <a:fillRect/>
              </a:stretch>
            </p:blipFill>
            <p:spPr>
              <a:xfrm>
                <a:off x="6413190" y="3818610"/>
                <a:ext cx="36000" cy="36000"/>
              </a:xfrm>
              <a:prstGeom prst="rect">
                <a:avLst/>
              </a:prstGeom>
            </p:spPr>
          </p:pic>
        </mc:Fallback>
      </mc:AlternateContent>
    </p:spTree>
    <p:extLst>
      <p:ext uri="{BB962C8B-B14F-4D97-AF65-F5344CB8AC3E}">
        <p14:creationId xmlns:p14="http://schemas.microsoft.com/office/powerpoint/2010/main" val="29921935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745BF8B-8D7E-98A6-6723-079CA03119C1}"/>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xmlns="" id="{3DCAEEBE-A616-4445-F5D8-DEC5A8E420F6}"/>
              </a:ext>
            </a:extLst>
          </p:cNvPr>
          <p:cNvPicPr>
            <a:picLocks noChangeAspect="1"/>
          </p:cNvPicPr>
          <p:nvPr/>
        </p:nvPicPr>
        <p:blipFill>
          <a:blip r:embed="rId3"/>
          <a:srcRect r="4892"/>
          <a:stretch>
            <a:fillRect/>
          </a:stretch>
        </p:blipFill>
        <p:spPr>
          <a:xfrm>
            <a:off x="7146471" y="1101268"/>
            <a:ext cx="4914900" cy="5419041"/>
          </a:xfrm>
          <a:prstGeom prst="rect">
            <a:avLst/>
          </a:prstGeom>
        </p:spPr>
      </p:pic>
      <p:sp>
        <p:nvSpPr>
          <p:cNvPr id="5" name="Title 1">
            <a:extLst>
              <a:ext uri="{FF2B5EF4-FFF2-40B4-BE49-F238E27FC236}">
                <a16:creationId xmlns:a16="http://schemas.microsoft.com/office/drawing/2014/main" xmlns="" id="{35AFEE0B-C4C9-81D3-B586-48D152F5D972}"/>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Digital loop filter </a:t>
            </a:r>
          </a:p>
        </p:txBody>
      </p:sp>
      <p:sp>
        <p:nvSpPr>
          <p:cNvPr id="3" name="Text Placeholder 2">
            <a:extLst>
              <a:ext uri="{FF2B5EF4-FFF2-40B4-BE49-F238E27FC236}">
                <a16:creationId xmlns:a16="http://schemas.microsoft.com/office/drawing/2014/main" xmlns="" id="{0CD61960-BB80-BF16-B91E-A9D84DD12E10}"/>
              </a:ext>
            </a:extLst>
          </p:cNvPr>
          <p:cNvSpPr>
            <a:spLocks noGrp="1"/>
          </p:cNvSpPr>
          <p:nvPr>
            <p:ph type="body" idx="1"/>
          </p:nvPr>
        </p:nvSpPr>
        <p:spPr>
          <a:xfrm>
            <a:off x="476250" y="1510748"/>
            <a:ext cx="6534150" cy="4984947"/>
          </a:xfrm>
        </p:spPr>
        <p:txBody>
          <a:bodyPr/>
          <a:lstStyle/>
          <a:p>
            <a:pPr marL="76200" indent="0">
              <a:buNone/>
            </a:pPr>
            <a:r>
              <a:rPr lang="en-US" b="1" dirty="0">
                <a:solidFill>
                  <a:schemeClr val="tx1">
                    <a:lumMod val="85000"/>
                    <a:lumOff val="15000"/>
                  </a:schemeClr>
                </a:solidFill>
              </a:rPr>
              <a:t>Fast tracking:</a:t>
            </a:r>
          </a:p>
          <a:p>
            <a:r>
              <a:rPr lang="en-US" b="0" dirty="0">
                <a:solidFill>
                  <a:schemeClr val="tx1">
                    <a:lumMod val="85000"/>
                    <a:lumOff val="15000"/>
                  </a:schemeClr>
                </a:solidFill>
              </a:rPr>
              <a:t>Operates as Type-I loop (only proportional path 𝛼 active)</a:t>
            </a:r>
          </a:p>
          <a:p>
            <a:r>
              <a:rPr lang="en-US" sz="2000" b="0" dirty="0">
                <a:solidFill>
                  <a:schemeClr val="tx1">
                    <a:lumMod val="85000"/>
                    <a:lumOff val="15000"/>
                  </a:schemeClr>
                </a:solidFill>
              </a:rPr>
              <a:t>Goal: Fast transient response, wide bandwidth to minimize lock/settling time.</a:t>
            </a:r>
          </a:p>
          <a:p>
            <a:r>
              <a:rPr lang="en-US" b="0" dirty="0">
                <a:solidFill>
                  <a:schemeClr val="tx1">
                    <a:lumMod val="85000"/>
                    <a:lumOff val="15000"/>
                  </a:schemeClr>
                </a:solidFill>
              </a:rPr>
              <a:t>Used in PVT calibration and Acquisition modes.</a:t>
            </a:r>
          </a:p>
          <a:p>
            <a:endParaRPr lang="en-US" b="0" dirty="0">
              <a:solidFill>
                <a:schemeClr val="tx1">
                  <a:lumMod val="85000"/>
                  <a:lumOff val="15000"/>
                </a:schemeClr>
              </a:solidFill>
            </a:endParaRPr>
          </a:p>
          <a:p>
            <a:pPr marL="76200" indent="0">
              <a:buNone/>
            </a:pPr>
            <a:r>
              <a:rPr lang="en-US" b="1" dirty="0">
                <a:solidFill>
                  <a:schemeClr val="tx1">
                    <a:lumMod val="85000"/>
                    <a:lumOff val="15000"/>
                  </a:schemeClr>
                </a:solidFill>
              </a:rPr>
              <a:t>Normal Tracking:</a:t>
            </a:r>
          </a:p>
          <a:p>
            <a:pPr marL="419100" indent="-342900">
              <a:buFont typeface="Arial" panose="020B0604020202020204" pitchFamily="34" charset="0"/>
              <a:buChar char="•"/>
            </a:pPr>
            <a:r>
              <a:rPr lang="en-US" b="0" dirty="0">
                <a:solidFill>
                  <a:schemeClr val="tx1">
                    <a:lumMod val="85000"/>
                    <a:lumOff val="15000"/>
                  </a:schemeClr>
                </a:solidFill>
              </a:rPr>
              <a:t>Operates as Type-II loop. (integrator turned ON           with gain </a:t>
            </a:r>
            <a:r>
              <a:rPr lang="el-GR" b="0" dirty="0">
                <a:solidFill>
                  <a:schemeClr val="tx1">
                    <a:lumMod val="85000"/>
                    <a:lumOff val="15000"/>
                  </a:schemeClr>
                </a:solidFill>
              </a:rPr>
              <a:t>ρ</a:t>
            </a:r>
            <a:r>
              <a:rPr lang="en-US" b="0" dirty="0">
                <a:solidFill>
                  <a:schemeClr val="tx1">
                    <a:lumMod val="85000"/>
                    <a:lumOff val="15000"/>
                  </a:schemeClr>
                </a:solidFill>
              </a:rPr>
              <a:t>). </a:t>
            </a:r>
          </a:p>
          <a:p>
            <a:pPr marL="419100" indent="-342900">
              <a:buFont typeface="Arial" panose="020B0604020202020204" pitchFamily="34" charset="0"/>
              <a:buChar char="•"/>
            </a:pPr>
            <a:r>
              <a:rPr lang="en-US" b="0" dirty="0">
                <a:solidFill>
                  <a:schemeClr val="tx1">
                    <a:lumMod val="85000"/>
                    <a:lumOff val="15000"/>
                  </a:schemeClr>
                </a:solidFill>
              </a:rPr>
              <a:t>Goal: Narrower bandwidth to minimize phase noise, eliminate steady-state phase error.</a:t>
            </a:r>
          </a:p>
          <a:p>
            <a:pPr marL="419100" indent="-342900">
              <a:buFont typeface="Arial" panose="020B0604020202020204" pitchFamily="34" charset="0"/>
              <a:buChar char="•"/>
            </a:pPr>
            <a:r>
              <a:rPr lang="en-US" b="0" dirty="0">
                <a:solidFill>
                  <a:schemeClr val="tx1">
                    <a:lumMod val="85000"/>
                    <a:lumOff val="15000"/>
                  </a:schemeClr>
                </a:solidFill>
              </a:rPr>
              <a:t>Used in Modulation or Tracking mode.</a:t>
            </a:r>
          </a:p>
          <a:p>
            <a:pPr marL="419100" indent="-342900">
              <a:buFont typeface="Arial" panose="020B0604020202020204" pitchFamily="34" charset="0"/>
              <a:buChar char="•"/>
            </a:pPr>
            <a:endParaRPr lang="en-US" b="0" dirty="0">
              <a:solidFill>
                <a:schemeClr val="tx1">
                  <a:lumMod val="85000"/>
                  <a:lumOff val="15000"/>
                </a:schemeClr>
              </a:solidFill>
            </a:endParaRPr>
          </a:p>
        </p:txBody>
      </p:sp>
      <p:sp>
        <p:nvSpPr>
          <p:cNvPr id="30" name="Text Placeholder 3">
            <a:extLst>
              <a:ext uri="{FF2B5EF4-FFF2-40B4-BE49-F238E27FC236}">
                <a16:creationId xmlns:a16="http://schemas.microsoft.com/office/drawing/2014/main" xmlns="" id="{A64C4F93-0AAB-41EC-828C-450F91B4D3D1}"/>
              </a:ext>
            </a:extLst>
          </p:cNvPr>
          <p:cNvSpPr>
            <a:spLocks noGrp="1"/>
          </p:cNvSpPr>
          <p:nvPr>
            <p:ph type="body" idx="4294967295"/>
          </p:nvPr>
        </p:nvSpPr>
        <p:spPr>
          <a:xfrm>
            <a:off x="0" y="1101268"/>
            <a:ext cx="10972800" cy="477838"/>
          </a:xfrm>
        </p:spPr>
        <p:txBody>
          <a:bodyPr>
            <a:normAutofit/>
          </a:bodyPr>
          <a:lstStyle/>
          <a:p>
            <a:pPr marL="101600" indent="0" algn="ctr">
              <a:buNone/>
            </a:pPr>
            <a:r>
              <a:rPr lang="en-US" dirty="0">
                <a:solidFill>
                  <a:schemeClr val="tx1">
                    <a:lumMod val="85000"/>
                    <a:lumOff val="15000"/>
                  </a:schemeClr>
                </a:solidFill>
              </a:rPr>
              <a:t>	ADPLL operating modes</a:t>
            </a:r>
          </a:p>
        </p:txBody>
      </p:sp>
      <mc:AlternateContent xmlns:mc="http://schemas.openxmlformats.org/markup-compatibility/2006" xmlns:p14="http://schemas.microsoft.com/office/powerpoint/2010/main">
        <mc:Choice Requires="p14">
          <p:contentPart p14:bwMode="auto" r:id="rId4">
            <p14:nvContentPartPr>
              <p14:cNvPr id="7" name="Ink 6">
                <a:extLst>
                  <a:ext uri="{FF2B5EF4-FFF2-40B4-BE49-F238E27FC236}">
                    <a16:creationId xmlns:a16="http://schemas.microsoft.com/office/drawing/2014/main" xmlns="" id="{5BA42986-C42B-4103-EF77-50294A150069}"/>
                  </a:ext>
                </a:extLst>
              </p14:cNvPr>
              <p14:cNvContentPartPr/>
              <p14:nvPr/>
            </p14:nvContentPartPr>
            <p14:xfrm>
              <a:off x="6431190" y="3836610"/>
              <a:ext cx="360" cy="360"/>
            </p14:xfrm>
          </p:contentPart>
        </mc:Choice>
        <mc:Fallback xmlns="">
          <p:pic>
            <p:nvPicPr>
              <p:cNvPr id="7" name="Ink 6">
                <a:extLst>
                  <a:ext uri="{FF2B5EF4-FFF2-40B4-BE49-F238E27FC236}">
                    <a16:creationId xmlns:a16="http://schemas.microsoft.com/office/drawing/2014/main" id="{4706F27A-E7E3-7280-DBBD-B94EC71E1CD4}"/>
                  </a:ext>
                </a:extLst>
              </p:cNvPr>
              <p:cNvPicPr/>
              <p:nvPr/>
            </p:nvPicPr>
            <p:blipFill>
              <a:blip r:embed="rId13"/>
              <a:stretch>
                <a:fillRect/>
              </a:stretch>
            </p:blipFill>
            <p:spPr>
              <a:xfrm>
                <a:off x="6413190" y="3818610"/>
                <a:ext cx="36000" cy="36000"/>
              </a:xfrm>
              <a:prstGeom prst="rect">
                <a:avLst/>
              </a:prstGeom>
            </p:spPr>
          </p:pic>
        </mc:Fallback>
      </mc:AlternateContent>
    </p:spTree>
    <p:extLst>
      <p:ext uri="{BB962C8B-B14F-4D97-AF65-F5344CB8AC3E}">
        <p14:creationId xmlns:p14="http://schemas.microsoft.com/office/powerpoint/2010/main" val="296965186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7925AF7-168D-A9C5-5697-A2890F0BD442}"/>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xmlns="" id="{5FCEF6BE-365A-4845-7E0B-62AB1B2C3E07}"/>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Digital loop filter </a:t>
            </a:r>
          </a:p>
        </p:txBody>
      </p:sp>
      <p:sp>
        <p:nvSpPr>
          <p:cNvPr id="3" name="Text Placeholder 2">
            <a:extLst>
              <a:ext uri="{FF2B5EF4-FFF2-40B4-BE49-F238E27FC236}">
                <a16:creationId xmlns:a16="http://schemas.microsoft.com/office/drawing/2014/main" xmlns="" id="{AB7B1AD7-D8FF-2DCC-93FC-DE5F9766F557}"/>
              </a:ext>
            </a:extLst>
          </p:cNvPr>
          <p:cNvSpPr>
            <a:spLocks noGrp="1"/>
          </p:cNvSpPr>
          <p:nvPr>
            <p:ph type="body" idx="1"/>
          </p:nvPr>
        </p:nvSpPr>
        <p:spPr>
          <a:xfrm>
            <a:off x="476250" y="1510748"/>
            <a:ext cx="9297670" cy="4984947"/>
          </a:xfrm>
        </p:spPr>
        <p:txBody>
          <a:bodyPr/>
          <a:lstStyle/>
          <a:p>
            <a:pPr marL="76200" indent="0">
              <a:buNone/>
            </a:pPr>
            <a:r>
              <a:rPr lang="en-US" dirty="0">
                <a:solidFill>
                  <a:schemeClr val="tx1">
                    <a:lumMod val="85000"/>
                    <a:lumOff val="15000"/>
                  </a:schemeClr>
                </a:solidFill>
              </a:rPr>
              <a:t>Gear shifting:</a:t>
            </a:r>
          </a:p>
          <a:p>
            <a:pPr marL="419100" indent="-342900"/>
            <a:r>
              <a:rPr lang="en-US" b="0" dirty="0">
                <a:solidFill>
                  <a:schemeClr val="tx1">
                    <a:lumMod val="85000"/>
                    <a:lumOff val="15000"/>
                  </a:schemeClr>
                </a:solidFill>
              </a:rPr>
              <a:t>Switching filter coefficients dynamically causes transient instability and frequency overshoot.</a:t>
            </a:r>
          </a:p>
          <a:p>
            <a:pPr marL="419100" indent="-342900"/>
            <a:r>
              <a:rPr lang="en-US" b="0" dirty="0">
                <a:solidFill>
                  <a:schemeClr val="tx1">
                    <a:lumMod val="85000"/>
                    <a:lumOff val="15000"/>
                  </a:schemeClr>
                </a:solidFill>
              </a:rPr>
              <a:t>The goal is to keep the Normalized Tuning Word (NTW) constat at switching instant.</a:t>
            </a:r>
          </a:p>
          <a:p>
            <a:pPr marL="76200" indent="0">
              <a:buNone/>
            </a:pPr>
            <a:endParaRPr lang="en-US" dirty="0">
              <a:solidFill>
                <a:schemeClr val="tx1">
                  <a:lumMod val="85000"/>
                  <a:lumOff val="15000"/>
                </a:schemeClr>
              </a:solidFill>
            </a:endParaRPr>
          </a:p>
          <a:p>
            <a:pPr marL="76200" indent="0">
              <a:buNone/>
            </a:pPr>
            <a:r>
              <a:rPr lang="en-US" b="1" dirty="0">
                <a:solidFill>
                  <a:schemeClr val="tx1">
                    <a:lumMod val="85000"/>
                    <a:lumOff val="15000"/>
                  </a:schemeClr>
                </a:solidFill>
              </a:rPr>
              <a:t>Proposed Hitless Transition technique:</a:t>
            </a:r>
          </a:p>
          <a:p>
            <a:pPr marL="76200" indent="0">
              <a:buNone/>
            </a:pPr>
            <a:r>
              <a:rPr lang="en-US" dirty="0">
                <a:solidFill>
                  <a:schemeClr val="tx1">
                    <a:lumMod val="85000"/>
                    <a:lumOff val="15000"/>
                  </a:schemeClr>
                </a:solidFill>
              </a:rPr>
              <a:t>Freeze mode </a:t>
            </a:r>
            <a:r>
              <a:rPr lang="en-US" b="0" dirty="0">
                <a:solidFill>
                  <a:schemeClr val="tx1">
                    <a:lumMod val="85000"/>
                    <a:lumOff val="15000"/>
                  </a:schemeClr>
                </a:solidFill>
              </a:rPr>
              <a:t>is introduced by the control unit where:</a:t>
            </a:r>
          </a:p>
          <a:p>
            <a:pPr marL="419100" indent="-342900">
              <a:buFont typeface="Arial" panose="020B0604020202020204" pitchFamily="34" charset="0"/>
              <a:buChar char="•"/>
            </a:pPr>
            <a:r>
              <a:rPr lang="en-US" b="0" dirty="0">
                <a:solidFill>
                  <a:schemeClr val="tx1">
                    <a:lumMod val="85000"/>
                    <a:lumOff val="15000"/>
                  </a:schemeClr>
                </a:solidFill>
              </a:rPr>
              <a:t>freezes the DCO control word for one cycle.</a:t>
            </a:r>
          </a:p>
          <a:p>
            <a:pPr marL="419100" indent="-342900">
              <a:buFont typeface="Arial" panose="020B0604020202020204" pitchFamily="34" charset="0"/>
              <a:buChar char="•"/>
            </a:pPr>
            <a:r>
              <a:rPr lang="en-US" b="0" dirty="0">
                <a:solidFill>
                  <a:schemeClr val="tx1">
                    <a:lumMod val="85000"/>
                    <a:lumOff val="15000"/>
                  </a:schemeClr>
                </a:solidFill>
              </a:rPr>
              <a:t>resets phase error.</a:t>
            </a:r>
          </a:p>
          <a:p>
            <a:pPr marL="419100" indent="-342900">
              <a:buFont typeface="Arial" panose="020B0604020202020204" pitchFamily="34" charset="0"/>
              <a:buChar char="•"/>
            </a:pPr>
            <a:r>
              <a:rPr lang="en-US" b="0" dirty="0">
                <a:solidFill>
                  <a:schemeClr val="tx1">
                    <a:lumMod val="85000"/>
                    <a:lumOff val="15000"/>
                  </a:schemeClr>
                </a:solidFill>
              </a:rPr>
              <a:t>Change the proportional gain.</a:t>
            </a:r>
          </a:p>
        </p:txBody>
      </p:sp>
      <p:sp>
        <p:nvSpPr>
          <p:cNvPr id="30" name="Text Placeholder 3">
            <a:extLst>
              <a:ext uri="{FF2B5EF4-FFF2-40B4-BE49-F238E27FC236}">
                <a16:creationId xmlns:a16="http://schemas.microsoft.com/office/drawing/2014/main" xmlns="" id="{6A28799A-9513-8576-4277-261219086AE0}"/>
              </a:ext>
            </a:extLst>
          </p:cNvPr>
          <p:cNvSpPr>
            <a:spLocks noGrp="1"/>
          </p:cNvSpPr>
          <p:nvPr>
            <p:ph type="body" idx="4294967295"/>
          </p:nvPr>
        </p:nvSpPr>
        <p:spPr>
          <a:xfrm>
            <a:off x="476250" y="1170937"/>
            <a:ext cx="10972800" cy="477838"/>
          </a:xfrm>
        </p:spPr>
        <p:txBody>
          <a:bodyPr>
            <a:normAutofit/>
          </a:bodyPr>
          <a:lstStyle/>
          <a:p>
            <a:pPr marL="101600" indent="0" algn="ctr">
              <a:buNone/>
            </a:pPr>
            <a:r>
              <a:rPr lang="en-US" dirty="0">
                <a:solidFill>
                  <a:schemeClr val="tx1">
                    <a:lumMod val="85000"/>
                    <a:lumOff val="15000"/>
                  </a:schemeClr>
                </a:solidFill>
              </a:rPr>
              <a:t>Modes transition</a:t>
            </a:r>
          </a:p>
        </p:txBody>
      </p:sp>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xmlns="" id="{A29C924F-3EC4-FAE7-D316-1019A5384D46}"/>
                  </a:ext>
                </a:extLst>
              </p14:cNvPr>
              <p14:cNvContentPartPr/>
              <p14:nvPr/>
            </p14:nvContentPartPr>
            <p14:xfrm>
              <a:off x="6431190" y="3836610"/>
              <a:ext cx="360" cy="360"/>
            </p14:xfrm>
          </p:contentPart>
        </mc:Choice>
        <mc:Fallback xmlns="">
          <p:pic>
            <p:nvPicPr>
              <p:cNvPr id="7" name="Ink 6">
                <a:extLst>
                  <a:ext uri="{FF2B5EF4-FFF2-40B4-BE49-F238E27FC236}">
                    <a16:creationId xmlns:a16="http://schemas.microsoft.com/office/drawing/2014/main" id="{4706F27A-E7E3-7280-DBBD-B94EC71E1CD4}"/>
                  </a:ext>
                </a:extLst>
              </p:cNvPr>
              <p:cNvPicPr/>
              <p:nvPr/>
            </p:nvPicPr>
            <p:blipFill>
              <a:blip r:embed="rId13"/>
              <a:stretch>
                <a:fillRect/>
              </a:stretch>
            </p:blipFill>
            <p:spPr>
              <a:xfrm>
                <a:off x="6413190" y="3818610"/>
                <a:ext cx="36000" cy="36000"/>
              </a:xfrm>
              <a:prstGeom prst="rect">
                <a:avLst/>
              </a:prstGeom>
            </p:spPr>
          </p:pic>
        </mc:Fallback>
      </mc:AlternateContent>
    </p:spTree>
    <p:extLst>
      <p:ext uri="{BB962C8B-B14F-4D97-AF65-F5344CB8AC3E}">
        <p14:creationId xmlns:p14="http://schemas.microsoft.com/office/powerpoint/2010/main" val="410903176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EA8327D-0EDD-2FF9-D196-B830C2C8374E}"/>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xmlns="" id="{1B38F2E0-8B7C-6D9A-03C1-2D05376C0E24}"/>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Digital loop filter </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xmlns="" id="{879EA464-B9C6-1035-2D6B-02125A7717E8}"/>
                  </a:ext>
                </a:extLst>
              </p:cNvPr>
              <p:cNvSpPr>
                <a:spLocks noGrp="1"/>
              </p:cNvSpPr>
              <p:nvPr>
                <p:ph type="body" idx="1"/>
              </p:nvPr>
            </p:nvSpPr>
            <p:spPr>
              <a:xfrm>
                <a:off x="552450" y="1510748"/>
                <a:ext cx="5369380" cy="4984947"/>
              </a:xfrm>
            </p:spPr>
            <p:txBody>
              <a:bodyPr/>
              <a:lstStyle/>
              <a:p>
                <a:pPr marL="457200" marR="0" lvl="0" indent="-381000" algn="l" defTabSz="914400" rtl="0" eaLnBrk="1" fontAlgn="auto" latinLnBrk="0" hangingPunct="1">
                  <a:lnSpc>
                    <a:spcPct val="100000"/>
                  </a:lnSpc>
                  <a:spcBef>
                    <a:spcPts val="480"/>
                  </a:spcBef>
                  <a:spcAft>
                    <a:spcPts val="0"/>
                  </a:spcAft>
                  <a:buClr>
                    <a:srgbClr val="000000"/>
                  </a:buClr>
                  <a:buSzPts val="2400"/>
                  <a:buFont typeface="Arial"/>
                  <a:buChar char="•"/>
                  <a:tabLst/>
                  <a:defRPr/>
                </a:pPr>
                <a:r>
                  <a:rPr kumimoji="0" lang="en-US" sz="2200" b="0" i="0" u="none" strike="noStrike" kern="0" cap="none" spc="0" normalizeH="0" baseline="0" noProof="0" dirty="0">
                    <a:ln>
                      <a:noFill/>
                    </a:ln>
                    <a:solidFill>
                      <a:srgbClr val="000000"/>
                    </a:solidFill>
                    <a:effectLst/>
                    <a:uLnTx/>
                    <a:uFillTx/>
                    <a:latin typeface="Calibri "/>
                    <a:sym typeface="Calibri"/>
                  </a:rPr>
                  <a:t>From the</a:t>
                </a:r>
                <a:r>
                  <a:rPr kumimoji="0" lang="en-US" sz="2200" b="0" i="0" u="none" strike="noStrike" kern="0" cap="none" spc="0" normalizeH="0" noProof="0" dirty="0">
                    <a:ln>
                      <a:noFill/>
                    </a:ln>
                    <a:solidFill>
                      <a:srgbClr val="000000"/>
                    </a:solidFill>
                    <a:effectLst/>
                    <a:uLnTx/>
                    <a:uFillTx/>
                    <a:latin typeface="Calibri "/>
                    <a:sym typeface="Calibri"/>
                  </a:rPr>
                  <a:t> </a:t>
                </a:r>
                <a:r>
                  <a:rPr lang="en-US" sz="2200" b="0" dirty="0">
                    <a:solidFill>
                      <a:srgbClr val="000000"/>
                    </a:solidFill>
                    <a:latin typeface="Calibri "/>
                  </a:rPr>
                  <a:t>stability analysis we can see that</a:t>
                </a:r>
                <a:r>
                  <a:rPr kumimoji="0" lang="en-US" sz="2200" b="0" i="0" u="none" strike="noStrike" kern="0" cap="none" spc="0" normalizeH="0" baseline="0" noProof="0" dirty="0">
                    <a:ln>
                      <a:noFill/>
                    </a:ln>
                    <a:solidFill>
                      <a:srgbClr val="000000"/>
                    </a:solidFill>
                    <a:effectLst/>
                    <a:uLnTx/>
                    <a:uFillTx/>
                    <a:latin typeface="Calibri "/>
                    <a:sym typeface="Calibri"/>
                  </a:rPr>
                  <a:t> </a:t>
                </a:r>
                <a14:m>
                  <m:oMath xmlns:m="http://schemas.openxmlformats.org/officeDocument/2006/math">
                    <m:r>
                      <m:rPr>
                        <m:sty m:val="p"/>
                      </m:rPr>
                      <a:rPr kumimoji="0" lang="en-US" sz="2200" b="0" i="0" u="none" strike="noStrike" kern="0" cap="none" spc="0" normalizeH="0" baseline="0" noProof="0">
                        <a:ln>
                          <a:noFill/>
                        </a:ln>
                        <a:solidFill>
                          <a:srgbClr val="000000"/>
                        </a:solidFill>
                        <a:effectLst/>
                        <a:uLnTx/>
                        <a:uFillTx/>
                        <a:latin typeface="Cambria Math" panose="02040503050406030204" pitchFamily="18" charset="0"/>
                        <a:sym typeface="Calibri"/>
                      </a:rPr>
                      <m:t>ζ</m:t>
                    </m:r>
                  </m:oMath>
                </a14:m>
                <a:r>
                  <a:rPr kumimoji="0" lang="en-US" sz="2200" b="0" i="0" u="none" strike="noStrike" kern="0" cap="none" spc="0" normalizeH="0" baseline="0" noProof="0" dirty="0">
                    <a:ln>
                      <a:noFill/>
                    </a:ln>
                    <a:solidFill>
                      <a:srgbClr val="000000"/>
                    </a:solidFill>
                    <a:effectLst/>
                    <a:uLnTx/>
                    <a:uFillTx/>
                    <a:latin typeface="Calibri "/>
                    <a:sym typeface="Calibri"/>
                  </a:rPr>
                  <a:t> and </a:t>
                </a:r>
                <a14:m>
                  <m:oMath xmlns:m="http://schemas.openxmlformats.org/officeDocument/2006/math">
                    <m:r>
                      <a:rPr kumimoji="0" lang="en-US" sz="2200" b="0" i="1" u="none" strike="noStrike" kern="0" cap="none" spc="0" normalizeH="0" baseline="0" noProof="0">
                        <a:ln>
                          <a:noFill/>
                        </a:ln>
                        <a:solidFill>
                          <a:srgbClr val="000000"/>
                        </a:solidFill>
                        <a:effectLst/>
                        <a:uLnTx/>
                        <a:uFillTx/>
                        <a:latin typeface="Cambria Math" panose="02040503050406030204" pitchFamily="18" charset="0"/>
                        <a:sym typeface="Calibri"/>
                      </a:rPr>
                      <m:t>𝜔</m:t>
                    </m:r>
                    <m:r>
                      <a:rPr kumimoji="0" lang="en-US" sz="2200" b="0" i="1" u="none" strike="noStrike" kern="0" cap="none" spc="0" normalizeH="0" baseline="0" noProof="0">
                        <a:ln>
                          <a:noFill/>
                        </a:ln>
                        <a:solidFill>
                          <a:srgbClr val="000000"/>
                        </a:solidFill>
                        <a:effectLst/>
                        <a:uLnTx/>
                        <a:uFillTx/>
                        <a:latin typeface="Cambria Math" panose="02040503050406030204" pitchFamily="18" charset="0"/>
                        <a:sym typeface="Calibri"/>
                      </a:rPr>
                      <m:t>𝑛</m:t>
                    </m:r>
                    <m:r>
                      <a:rPr kumimoji="0" lang="en-US" sz="2200" b="0" i="1" u="none" strike="noStrike" kern="0" cap="none" spc="0" normalizeH="0" baseline="0" noProof="0" smtClean="0">
                        <a:ln>
                          <a:noFill/>
                        </a:ln>
                        <a:solidFill>
                          <a:srgbClr val="000000"/>
                        </a:solidFill>
                        <a:effectLst/>
                        <a:uLnTx/>
                        <a:uFillTx/>
                        <a:latin typeface="Cambria Math" panose="02040503050406030204" pitchFamily="18" charset="0"/>
                        <a:sym typeface="Calibri"/>
                      </a:rPr>
                      <m:t> </m:t>
                    </m:r>
                  </m:oMath>
                </a14:m>
                <a:r>
                  <a:rPr kumimoji="0" lang="en-US" sz="2200" b="0" i="0" u="none" strike="noStrike" kern="0" cap="none" spc="0" normalizeH="0" baseline="0" noProof="0" dirty="0">
                    <a:ln>
                      <a:noFill/>
                    </a:ln>
                    <a:solidFill>
                      <a:srgbClr val="000000"/>
                    </a:solidFill>
                    <a:effectLst/>
                    <a:uLnTx/>
                    <a:uFillTx/>
                    <a:latin typeface="Calibri "/>
                    <a:sym typeface="Calibri"/>
                  </a:rPr>
                  <a:t>control the</a:t>
                </a:r>
                <a:r>
                  <a:rPr kumimoji="0" lang="en-US" sz="2200" b="0" i="0" u="none" strike="noStrike" kern="0" cap="none" spc="0" normalizeH="0" noProof="0" dirty="0">
                    <a:ln>
                      <a:noFill/>
                    </a:ln>
                    <a:solidFill>
                      <a:srgbClr val="000000"/>
                    </a:solidFill>
                    <a:effectLst/>
                    <a:uLnTx/>
                    <a:uFillTx/>
                    <a:latin typeface="Calibri "/>
                    <a:sym typeface="Calibri"/>
                  </a:rPr>
                  <a:t> system dynamics.</a:t>
                </a:r>
              </a:p>
              <a:p>
                <a:pPr marL="457200" marR="0" lvl="0" indent="-381000" algn="l" defTabSz="914400" rtl="0" eaLnBrk="1" fontAlgn="auto" latinLnBrk="0" hangingPunct="1">
                  <a:lnSpc>
                    <a:spcPct val="100000"/>
                  </a:lnSpc>
                  <a:spcBef>
                    <a:spcPts val="480"/>
                  </a:spcBef>
                  <a:spcAft>
                    <a:spcPts val="0"/>
                  </a:spcAft>
                  <a:buClr>
                    <a:srgbClr val="000000"/>
                  </a:buClr>
                  <a:buSzPts val="2400"/>
                  <a:buFont typeface="Arial"/>
                  <a:buChar char="•"/>
                  <a:tabLst/>
                  <a:defRPr/>
                </a:pPr>
                <a:endParaRPr lang="en-US" sz="2200" b="0" baseline="0" dirty="0">
                  <a:solidFill>
                    <a:srgbClr val="000000"/>
                  </a:solidFill>
                  <a:latin typeface="Calibri "/>
                </a:endParaRPr>
              </a:p>
              <a:p>
                <a:pPr marL="457200" marR="0" lvl="0" indent="-381000" algn="l" defTabSz="914400" rtl="0" eaLnBrk="1" fontAlgn="auto" latinLnBrk="0" hangingPunct="1">
                  <a:lnSpc>
                    <a:spcPct val="100000"/>
                  </a:lnSpc>
                  <a:spcBef>
                    <a:spcPts val="480"/>
                  </a:spcBef>
                  <a:spcAft>
                    <a:spcPts val="0"/>
                  </a:spcAft>
                  <a:buClr>
                    <a:srgbClr val="000000"/>
                  </a:buClr>
                  <a:buSzPts val="2400"/>
                  <a:buFont typeface="Arial"/>
                  <a:buChar char="•"/>
                  <a:tabLst/>
                  <a:defRPr/>
                </a:pPr>
                <a:endParaRPr kumimoji="0" lang="en-US" sz="2200" b="0" i="0" u="none" strike="noStrike" kern="0" cap="none" spc="0" normalizeH="0" noProof="0" dirty="0">
                  <a:ln>
                    <a:noFill/>
                  </a:ln>
                  <a:solidFill>
                    <a:srgbClr val="000000"/>
                  </a:solidFill>
                  <a:effectLst/>
                  <a:uLnTx/>
                  <a:uFillTx/>
                  <a:latin typeface="Calibri "/>
                  <a:sym typeface="Calibri"/>
                </a:endParaRPr>
              </a:p>
              <a:p>
                <a:pPr marL="457200" marR="0" lvl="0" indent="-381000" algn="l" defTabSz="914400" rtl="0" eaLnBrk="1" fontAlgn="auto" latinLnBrk="0" hangingPunct="1">
                  <a:lnSpc>
                    <a:spcPct val="100000"/>
                  </a:lnSpc>
                  <a:spcBef>
                    <a:spcPts val="480"/>
                  </a:spcBef>
                  <a:spcAft>
                    <a:spcPts val="0"/>
                  </a:spcAft>
                  <a:buClr>
                    <a:srgbClr val="000000"/>
                  </a:buClr>
                  <a:buSzPts val="2400"/>
                  <a:buFont typeface="Arial"/>
                  <a:buChar char="•"/>
                  <a:tabLst/>
                  <a:defRPr/>
                </a:pPr>
                <a:endParaRPr kumimoji="0" lang="en-US" sz="2200" b="0" i="0" u="none" strike="noStrike" kern="0" cap="none" spc="0" normalizeH="0" baseline="0" noProof="0" dirty="0">
                  <a:ln>
                    <a:noFill/>
                  </a:ln>
                  <a:solidFill>
                    <a:srgbClr val="000000"/>
                  </a:solidFill>
                  <a:effectLst/>
                  <a:uLnTx/>
                  <a:uFillTx/>
                  <a:latin typeface="Calibri "/>
                  <a:sym typeface="Calibri"/>
                </a:endParaRPr>
              </a:p>
              <a:p>
                <a:pPr marL="457200" marR="0" lvl="0" indent="-381000" algn="l" defTabSz="914400" rtl="0" eaLnBrk="1" fontAlgn="auto" latinLnBrk="0" hangingPunct="1">
                  <a:lnSpc>
                    <a:spcPct val="100000"/>
                  </a:lnSpc>
                  <a:spcBef>
                    <a:spcPts val="480"/>
                  </a:spcBef>
                  <a:spcAft>
                    <a:spcPts val="0"/>
                  </a:spcAft>
                  <a:buClr>
                    <a:srgbClr val="000000"/>
                  </a:buClr>
                  <a:buSzPts val="2400"/>
                  <a:buFont typeface="Arial"/>
                  <a:buChar char="•"/>
                  <a:tabLst/>
                  <a:defRPr/>
                </a:pPr>
                <a:r>
                  <a:rPr kumimoji="0" lang="en-US" sz="2200" b="0" i="0" u="none" strike="noStrike" kern="0" cap="none" spc="0" normalizeH="0" baseline="0" noProof="0" dirty="0">
                    <a:ln>
                      <a:noFill/>
                    </a:ln>
                    <a:solidFill>
                      <a:srgbClr val="000000"/>
                    </a:solidFill>
                    <a:effectLst/>
                    <a:uLnTx/>
                    <a:uFillTx/>
                    <a:latin typeface="Calibri "/>
                    <a:sym typeface="Calibri"/>
                  </a:rPr>
                  <a:t>The figure shows The effect of damping coefficient </a:t>
                </a:r>
                <a14:m>
                  <m:oMath xmlns:m="http://schemas.openxmlformats.org/officeDocument/2006/math">
                    <m:r>
                      <m:rPr>
                        <m:sty m:val="p"/>
                      </m:rPr>
                      <a:rPr kumimoji="0" lang="en-US" sz="2200" b="0" i="0" u="none" strike="noStrike" kern="0" cap="none" spc="0" normalizeH="0" baseline="0" noProof="0">
                        <a:ln>
                          <a:noFill/>
                        </a:ln>
                        <a:solidFill>
                          <a:srgbClr val="000000"/>
                        </a:solidFill>
                        <a:effectLst/>
                        <a:uLnTx/>
                        <a:uFillTx/>
                        <a:latin typeface="Cambria Math" panose="02040503050406030204" pitchFamily="18" charset="0"/>
                        <a:sym typeface="Calibri"/>
                      </a:rPr>
                      <m:t>ζ</m:t>
                    </m:r>
                  </m:oMath>
                </a14:m>
                <a:r>
                  <a:rPr kumimoji="0" lang="en-US" sz="2200" b="0" i="0" u="none" strike="noStrike" kern="0" cap="none" spc="0" normalizeH="0" baseline="0" noProof="0" dirty="0">
                    <a:ln>
                      <a:noFill/>
                    </a:ln>
                    <a:solidFill>
                      <a:srgbClr val="000000"/>
                    </a:solidFill>
                    <a:effectLst/>
                    <a:uLnTx/>
                    <a:uFillTx/>
                    <a:latin typeface="Calibri "/>
                    <a:sym typeface="Calibri"/>
                  </a:rPr>
                  <a:t> on the loop.</a:t>
                </a:r>
              </a:p>
              <a:p>
                <a:pPr marL="457200" marR="0" lvl="0" indent="-381000" algn="l" defTabSz="914400" rtl="0" eaLnBrk="1" fontAlgn="auto" latinLnBrk="0" hangingPunct="1">
                  <a:lnSpc>
                    <a:spcPct val="100000"/>
                  </a:lnSpc>
                  <a:spcBef>
                    <a:spcPts val="480"/>
                  </a:spcBef>
                  <a:spcAft>
                    <a:spcPts val="0"/>
                  </a:spcAft>
                  <a:buClr>
                    <a:srgbClr val="000000"/>
                  </a:buClr>
                  <a:buSzPts val="2400"/>
                  <a:buFont typeface="Arial"/>
                  <a:buChar char="•"/>
                  <a:tabLst/>
                  <a:defRPr/>
                </a:pPr>
                <a:r>
                  <a:rPr kumimoji="0" lang="en-US" sz="2200" b="0" u="none" strike="noStrike" kern="0" cap="none" spc="0" normalizeH="0" baseline="0" noProof="0" dirty="0">
                    <a:ln>
                      <a:noFill/>
                    </a:ln>
                    <a:solidFill>
                      <a:srgbClr val="000000"/>
                    </a:solidFill>
                    <a:effectLst/>
                    <a:uLnTx/>
                    <a:uFillTx/>
                    <a:sym typeface="Calibri"/>
                  </a:rPr>
                  <a:t>For critically damped system </a:t>
                </a:r>
                <a14:m>
                  <m:oMath xmlns:m="http://schemas.openxmlformats.org/officeDocument/2006/math">
                    <m:r>
                      <a:rPr kumimoji="0" lang="en-US" sz="2200" b="0" i="0" u="none" strike="noStrike" kern="0" cap="none" spc="0" normalizeH="0" baseline="0" noProof="0" smtClean="0">
                        <a:ln>
                          <a:noFill/>
                        </a:ln>
                        <a:solidFill>
                          <a:srgbClr val="000000"/>
                        </a:solidFill>
                        <a:effectLst/>
                        <a:uLnTx/>
                        <a:uFillTx/>
                        <a:latin typeface="Cambria Math" panose="02040503050406030204" pitchFamily="18" charset="0"/>
                        <a:sym typeface="Calibri"/>
                      </a:rPr>
                      <m:t> </m:t>
                    </m:r>
                    <m:r>
                      <m:rPr>
                        <m:sty m:val="p"/>
                      </m:rPr>
                      <a:rPr kumimoji="0" lang="en-US" sz="2200" b="0" i="0" u="none" strike="noStrike" kern="0" cap="none" spc="0" normalizeH="0" baseline="0" noProof="0">
                        <a:ln>
                          <a:noFill/>
                        </a:ln>
                        <a:solidFill>
                          <a:srgbClr val="000000"/>
                        </a:solidFill>
                        <a:effectLst/>
                        <a:uLnTx/>
                        <a:uFillTx/>
                        <a:latin typeface="Cambria Math" panose="02040503050406030204" pitchFamily="18" charset="0"/>
                        <a:sym typeface="Calibri"/>
                      </a:rPr>
                      <m:t>ζ</m:t>
                    </m:r>
                    <m:r>
                      <a:rPr kumimoji="0" lang="en-US" sz="2200" b="0" i="0" u="none" strike="noStrike" kern="0" cap="none" spc="0" normalizeH="0" baseline="0" noProof="0" smtClean="0">
                        <a:ln>
                          <a:noFill/>
                        </a:ln>
                        <a:solidFill>
                          <a:srgbClr val="000000"/>
                        </a:solidFill>
                        <a:effectLst/>
                        <a:uLnTx/>
                        <a:uFillTx/>
                        <a:latin typeface="Cambria Math" panose="02040503050406030204" pitchFamily="18" charset="0"/>
                        <a:sym typeface="Calibri"/>
                      </a:rPr>
                      <m:t>=</m:t>
                    </m:r>
                    <m:f>
                      <m:fPr>
                        <m:ctrlPr>
                          <a:rPr kumimoji="0" lang="en-US" sz="2200" b="0" i="1" u="none" strike="noStrike" kern="0" cap="none" spc="0" normalizeH="0" baseline="0" noProof="0">
                            <a:ln>
                              <a:noFill/>
                            </a:ln>
                            <a:solidFill>
                              <a:srgbClr val="000000"/>
                            </a:solidFill>
                            <a:effectLst/>
                            <a:uLnTx/>
                            <a:uFillTx/>
                            <a:latin typeface="Cambria Math" panose="02040503050406030204" pitchFamily="18" charset="0"/>
                            <a:sym typeface="Calibri"/>
                          </a:rPr>
                        </m:ctrlPr>
                      </m:fPr>
                      <m:num>
                        <m:r>
                          <a:rPr kumimoji="0" lang="en-US" sz="2200" b="0" i="1" u="none" strike="noStrike" kern="0" cap="none" spc="0" normalizeH="0" baseline="0" noProof="0">
                            <a:ln>
                              <a:noFill/>
                            </a:ln>
                            <a:solidFill>
                              <a:srgbClr val="000000"/>
                            </a:solidFill>
                            <a:effectLst/>
                            <a:uLnTx/>
                            <a:uFillTx/>
                            <a:latin typeface="Cambria Math" panose="02040503050406030204" pitchFamily="18" charset="0"/>
                            <a:sym typeface="Calibri"/>
                          </a:rPr>
                          <m:t>1</m:t>
                        </m:r>
                      </m:num>
                      <m:den>
                        <m:rad>
                          <m:radPr>
                            <m:degHide m:val="on"/>
                            <m:ctrlPr>
                              <a:rPr kumimoji="0" lang="en-US" sz="2200" b="0" i="1" u="none" strike="noStrike" kern="0" cap="none" spc="0" normalizeH="0" baseline="0" noProof="0">
                                <a:ln>
                                  <a:noFill/>
                                </a:ln>
                                <a:solidFill>
                                  <a:srgbClr val="000000"/>
                                </a:solidFill>
                                <a:effectLst/>
                                <a:uLnTx/>
                                <a:uFillTx/>
                                <a:latin typeface="Cambria Math" panose="02040503050406030204" pitchFamily="18" charset="0"/>
                                <a:sym typeface="Calibri"/>
                              </a:rPr>
                            </m:ctrlPr>
                          </m:radPr>
                          <m:deg/>
                          <m:e>
                            <m:r>
                              <a:rPr kumimoji="0" lang="en-US" sz="2200" b="0" i="1" u="none" strike="noStrike" kern="0" cap="none" spc="0" normalizeH="0" baseline="0" noProof="0">
                                <a:ln>
                                  <a:noFill/>
                                </a:ln>
                                <a:solidFill>
                                  <a:srgbClr val="000000"/>
                                </a:solidFill>
                                <a:effectLst/>
                                <a:uLnTx/>
                                <a:uFillTx/>
                                <a:latin typeface="Cambria Math" panose="02040503050406030204" pitchFamily="18" charset="0"/>
                                <a:sym typeface="Calibri"/>
                              </a:rPr>
                              <m:t>2</m:t>
                            </m:r>
                          </m:e>
                        </m:rad>
                      </m:den>
                    </m:f>
                  </m:oMath>
                </a14:m>
                <a:r>
                  <a:rPr kumimoji="0" lang="en-US" sz="2200" b="0" i="0" u="none" strike="noStrike" kern="0" cap="none" spc="0" normalizeH="0" baseline="0" noProof="0" dirty="0">
                    <a:ln>
                      <a:noFill/>
                    </a:ln>
                    <a:solidFill>
                      <a:srgbClr val="000000"/>
                    </a:solidFill>
                    <a:effectLst/>
                    <a:uLnTx/>
                    <a:uFillTx/>
                    <a:latin typeface="Calibri "/>
                    <a:sym typeface="Calibri"/>
                  </a:rPr>
                  <a:t> </a:t>
                </a:r>
              </a:p>
              <a:p>
                <a:pPr lvl="0" indent="-381000">
                  <a:spcBef>
                    <a:spcPts val="480"/>
                  </a:spcBef>
                  <a:buClr>
                    <a:srgbClr val="000000"/>
                  </a:buClr>
                  <a:buSzPts val="2400"/>
                  <a:defRPr/>
                </a:pPr>
                <a14:m>
                  <m:oMath xmlns:m="http://schemas.openxmlformats.org/officeDocument/2006/math">
                    <m:r>
                      <m:rPr>
                        <m:nor/>
                      </m:rPr>
                      <a:rPr lang="en-US" sz="2200" b="0" dirty="0">
                        <a:solidFill>
                          <a:srgbClr val="000000"/>
                        </a:solidFill>
                        <a:latin typeface="Calibri "/>
                      </a:rPr>
                      <m:t>𝛼</m:t>
                    </m:r>
                    <m:r>
                      <m:rPr>
                        <m:nor/>
                      </m:rPr>
                      <a:rPr lang="en-US" sz="2200" b="0" dirty="0">
                        <a:solidFill>
                          <a:srgbClr val="000000"/>
                        </a:solidFill>
                        <a:latin typeface="Calibri "/>
                      </a:rPr>
                      <m:t> </m:t>
                    </m:r>
                    <m:r>
                      <m:rPr>
                        <m:nor/>
                      </m:rPr>
                      <a:rPr lang="en-US" sz="2200" b="0" dirty="0">
                        <a:solidFill>
                          <a:srgbClr val="000000"/>
                        </a:solidFill>
                        <a:latin typeface="Calibri "/>
                      </a:rPr>
                      <m:t>= </m:t>
                    </m:r>
                    <m:sSup>
                      <m:sSupPr>
                        <m:ctrlPr>
                          <a:rPr lang="en-US" sz="2200" b="0" i="1" dirty="0" smtClean="0">
                            <a:solidFill>
                              <a:srgbClr val="000000"/>
                            </a:solidFill>
                            <a:latin typeface="Cambria Math" panose="02040503050406030204" pitchFamily="18" charset="0"/>
                          </a:rPr>
                        </m:ctrlPr>
                      </m:sSupPr>
                      <m:e>
                        <m:r>
                          <a:rPr lang="en-US" sz="2200" b="0" i="1" dirty="0" smtClean="0">
                            <a:solidFill>
                              <a:srgbClr val="000000"/>
                            </a:solidFill>
                            <a:latin typeface="Cambria Math" panose="02040503050406030204" pitchFamily="18" charset="0"/>
                          </a:rPr>
                          <m:t>2</m:t>
                        </m:r>
                      </m:e>
                      <m:sup>
                        <m:r>
                          <a:rPr lang="en-US" sz="2200" b="0" i="1" dirty="0" smtClean="0">
                            <a:solidFill>
                              <a:srgbClr val="000000"/>
                            </a:solidFill>
                            <a:latin typeface="Cambria Math" panose="02040503050406030204" pitchFamily="18" charset="0"/>
                          </a:rPr>
                          <m:t>−</m:t>
                        </m:r>
                        <m:r>
                          <a:rPr lang="en-US" sz="2200" b="0" i="1" dirty="0" smtClean="0">
                            <a:solidFill>
                              <a:srgbClr val="000000"/>
                            </a:solidFill>
                            <a:latin typeface="Cambria Math" panose="02040503050406030204" pitchFamily="18" charset="0"/>
                          </a:rPr>
                          <m:t>6</m:t>
                        </m:r>
                      </m:sup>
                    </m:sSup>
                  </m:oMath>
                </a14:m>
                <a:r>
                  <a:rPr kumimoji="0" lang="en-US" sz="2200" b="0" i="0" u="none" strike="noStrike" kern="0" cap="none" spc="0" normalizeH="0" baseline="0" noProof="0" dirty="0">
                    <a:ln>
                      <a:noFill/>
                    </a:ln>
                    <a:solidFill>
                      <a:srgbClr val="000000"/>
                    </a:solidFill>
                    <a:effectLst/>
                    <a:uLnTx/>
                    <a:uFillTx/>
                    <a:latin typeface="Calibri "/>
                    <a:sym typeface="Calibri"/>
                  </a:rPr>
                  <a:t>     </a:t>
                </a:r>
                <a14:m>
                  <m:oMath xmlns:m="http://schemas.openxmlformats.org/officeDocument/2006/math">
                    <m:sSup>
                      <m:sSupPr>
                        <m:ctrlPr>
                          <a:rPr kumimoji="0" lang="en-US" sz="2200" b="0" i="1" u="none" strike="noStrike" kern="0" cap="none" spc="0" normalizeH="0" baseline="0" noProof="0" dirty="0" smtClean="0">
                            <a:ln>
                              <a:noFill/>
                            </a:ln>
                            <a:solidFill>
                              <a:srgbClr val="000000"/>
                            </a:solidFill>
                            <a:effectLst/>
                            <a:uLnTx/>
                            <a:uFillTx/>
                            <a:latin typeface="Cambria Math" panose="02040503050406030204" pitchFamily="18" charset="0"/>
                            <a:sym typeface="Calibri"/>
                          </a:rPr>
                        </m:ctrlPr>
                      </m:sSupPr>
                      <m:e>
                        <m:r>
                          <m:rPr>
                            <m:nor/>
                          </m:rPr>
                          <a:rPr lang="en-US" sz="2400" b="0" dirty="0">
                            <a:solidFill>
                              <a:srgbClr val="000000"/>
                            </a:solidFill>
                            <a:latin typeface="Arial"/>
                            <a:cs typeface="Arial"/>
                            <a:sym typeface="Arial"/>
                          </a:rPr>
                          <m:t>ρ</m:t>
                        </m:r>
                        <m:r>
                          <m:rPr>
                            <m:nor/>
                          </m:rPr>
                          <a:rPr lang="en-US" sz="2400" b="0" i="0" dirty="0" smtClean="0">
                            <a:solidFill>
                              <a:srgbClr val="000000"/>
                            </a:solidFill>
                            <a:latin typeface="Arial"/>
                            <a:cs typeface="Arial"/>
                            <a:sym typeface="Arial"/>
                          </a:rPr>
                          <m:t> </m:t>
                        </m:r>
                        <m:r>
                          <m:rPr>
                            <m:nor/>
                          </m:rPr>
                          <a:rPr lang="en-US" sz="2400" b="0" i="0" dirty="0" smtClean="0">
                            <a:solidFill>
                              <a:srgbClr val="000000"/>
                            </a:solidFill>
                            <a:latin typeface="Arial"/>
                            <a:cs typeface="Arial"/>
                            <a:sym typeface="Arial"/>
                          </a:rPr>
                          <m:t>= </m:t>
                        </m:r>
                        <m:r>
                          <a:rPr kumimoji="0" lang="en-US" sz="2200" b="0" i="1" u="none" strike="noStrike" kern="0" cap="none" spc="0" normalizeH="0" baseline="0" noProof="0" dirty="0" smtClean="0">
                            <a:ln>
                              <a:noFill/>
                            </a:ln>
                            <a:solidFill>
                              <a:srgbClr val="000000"/>
                            </a:solidFill>
                            <a:effectLst/>
                            <a:uLnTx/>
                            <a:uFillTx/>
                            <a:latin typeface="Cambria Math" panose="02040503050406030204" pitchFamily="18" charset="0"/>
                            <a:sym typeface="Calibri"/>
                          </a:rPr>
                          <m:t>2</m:t>
                        </m:r>
                      </m:e>
                      <m:sup>
                        <m:r>
                          <a:rPr kumimoji="0" lang="en-US" sz="2200" b="0" i="1" u="none" strike="noStrike" kern="0" cap="none" spc="0" normalizeH="0" baseline="0" noProof="0" dirty="0" smtClean="0">
                            <a:ln>
                              <a:noFill/>
                            </a:ln>
                            <a:solidFill>
                              <a:srgbClr val="000000"/>
                            </a:solidFill>
                            <a:effectLst/>
                            <a:uLnTx/>
                            <a:uFillTx/>
                            <a:latin typeface="Cambria Math" panose="02040503050406030204" pitchFamily="18" charset="0"/>
                            <a:sym typeface="Calibri"/>
                          </a:rPr>
                          <m:t>−</m:t>
                        </m:r>
                        <m:r>
                          <a:rPr kumimoji="0" lang="en-US" sz="2200" b="0" i="1" u="none" strike="noStrike" kern="0" cap="none" spc="0" normalizeH="0" baseline="0" noProof="0" dirty="0" smtClean="0">
                            <a:ln>
                              <a:noFill/>
                            </a:ln>
                            <a:solidFill>
                              <a:srgbClr val="000000"/>
                            </a:solidFill>
                            <a:effectLst/>
                            <a:uLnTx/>
                            <a:uFillTx/>
                            <a:latin typeface="Cambria Math" panose="02040503050406030204" pitchFamily="18" charset="0"/>
                            <a:sym typeface="Calibri"/>
                          </a:rPr>
                          <m:t>13</m:t>
                        </m:r>
                      </m:sup>
                    </m:sSup>
                  </m:oMath>
                </a14:m>
                <a:endParaRPr kumimoji="0" lang="en-US" sz="2200" b="0" i="0" u="none" strike="noStrike" kern="0" cap="none" spc="0" normalizeH="0" baseline="0" noProof="0" dirty="0">
                  <a:ln>
                    <a:noFill/>
                  </a:ln>
                  <a:solidFill>
                    <a:srgbClr val="000000"/>
                  </a:solidFill>
                  <a:effectLst/>
                  <a:uLnTx/>
                  <a:uFillTx/>
                  <a:latin typeface="Calibri "/>
                  <a:sym typeface="Calibri"/>
                </a:endParaRPr>
              </a:p>
              <a:p>
                <a:pPr marL="457200" marR="0" lvl="0" indent="-381000" algn="l" defTabSz="914400" rtl="0" eaLnBrk="1" fontAlgn="auto" latinLnBrk="0" hangingPunct="1">
                  <a:lnSpc>
                    <a:spcPct val="100000"/>
                  </a:lnSpc>
                  <a:spcBef>
                    <a:spcPts val="480"/>
                  </a:spcBef>
                  <a:spcAft>
                    <a:spcPts val="0"/>
                  </a:spcAft>
                  <a:buClr>
                    <a:srgbClr val="000000"/>
                  </a:buClr>
                  <a:buSzPts val="2400"/>
                  <a:buFont typeface="Arial"/>
                  <a:buChar char="•"/>
                  <a:tabLst/>
                  <a:defRPr/>
                </a:pPr>
                <a:endParaRPr lang="en-US" sz="2000" dirty="0"/>
              </a:p>
              <a:p>
                <a:pPr marL="76200" indent="0">
                  <a:buNone/>
                </a:pPr>
                <a:endParaRPr lang="en-US" sz="2000" b="1" dirty="0"/>
              </a:p>
            </p:txBody>
          </p:sp>
        </mc:Choice>
        <mc:Fallback xmlns="">
          <p:sp>
            <p:nvSpPr>
              <p:cNvPr id="3" name="Text Placeholder 2">
                <a:extLst>
                  <a:ext uri="{FF2B5EF4-FFF2-40B4-BE49-F238E27FC236}">
                    <a16:creationId xmlns:a16="http://schemas.microsoft.com/office/drawing/2014/main" id="{879EA464-B9C6-1035-2D6B-02125A7717E8}"/>
                  </a:ext>
                </a:extLst>
              </p:cNvPr>
              <p:cNvSpPr>
                <a:spLocks noGrp="1" noRot="1" noChangeAspect="1" noMove="1" noResize="1" noEditPoints="1" noAdjustHandles="1" noChangeArrowheads="1" noChangeShapeType="1" noTextEdit="1"/>
              </p:cNvSpPr>
              <p:nvPr>
                <p:ph type="body" idx="1"/>
              </p:nvPr>
            </p:nvSpPr>
            <p:spPr>
              <a:xfrm>
                <a:off x="552450" y="1510748"/>
                <a:ext cx="5369380" cy="4984947"/>
              </a:xfrm>
              <a:blipFill>
                <a:blip r:embed="rId2"/>
                <a:stretch>
                  <a:fillRect l="-114"/>
                </a:stretch>
              </a:blipFill>
            </p:spPr>
            <p:txBody>
              <a:bodyPr/>
              <a:lstStyle/>
              <a:p>
                <a:r>
                  <a:rPr lang="en-US">
                    <a:noFill/>
                  </a:rPr>
                  <a:t> </a:t>
                </a:r>
              </a:p>
            </p:txBody>
          </p:sp>
        </mc:Fallback>
      </mc:AlternateContent>
      <p:sp>
        <p:nvSpPr>
          <p:cNvPr id="2" name="Text Placeholder 3">
            <a:extLst>
              <a:ext uri="{FF2B5EF4-FFF2-40B4-BE49-F238E27FC236}">
                <a16:creationId xmlns:a16="http://schemas.microsoft.com/office/drawing/2014/main" xmlns="" id="{D5157B65-9618-B463-C2F4-05A59F8A4DD9}"/>
              </a:ext>
            </a:extLst>
          </p:cNvPr>
          <p:cNvSpPr>
            <a:spLocks noGrp="1"/>
          </p:cNvSpPr>
          <p:nvPr>
            <p:ph type="body" idx="4294967295"/>
          </p:nvPr>
        </p:nvSpPr>
        <p:spPr>
          <a:xfrm>
            <a:off x="0" y="1156649"/>
            <a:ext cx="10972800" cy="506413"/>
          </a:xfrm>
        </p:spPr>
        <p:txBody>
          <a:bodyPr>
            <a:normAutofit/>
          </a:bodyPr>
          <a:lstStyle/>
          <a:p>
            <a:pPr marL="1473200" lvl="3" indent="0" algn="ctr">
              <a:buNone/>
            </a:pPr>
            <a:r>
              <a:rPr lang="en-US" b="1" dirty="0">
                <a:solidFill>
                  <a:schemeClr val="tx1">
                    <a:lumMod val="85000"/>
                    <a:lumOff val="15000"/>
                  </a:schemeClr>
                </a:solidFill>
              </a:rPr>
              <a:t>Type II ADPLL Magnitude response:</a:t>
            </a:r>
          </a:p>
          <a:p>
            <a:endParaRPr lang="en-US" sz="2000" b="1" i="0" dirty="0"/>
          </a:p>
        </p:txBody>
      </p:sp>
      <p:pic>
        <p:nvPicPr>
          <p:cNvPr id="4" name="Picture 3">
            <a:extLst>
              <a:ext uri="{FF2B5EF4-FFF2-40B4-BE49-F238E27FC236}">
                <a16:creationId xmlns:a16="http://schemas.microsoft.com/office/drawing/2014/main" xmlns="" id="{FB5CA768-BB41-7222-7A71-B29460BE208A}"/>
              </a:ext>
            </a:extLst>
          </p:cNvPr>
          <p:cNvPicPr>
            <a:picLocks noChangeAspect="1"/>
          </p:cNvPicPr>
          <p:nvPr/>
        </p:nvPicPr>
        <p:blipFill>
          <a:blip r:embed="rId3"/>
          <a:stretch>
            <a:fillRect/>
          </a:stretch>
        </p:blipFill>
        <p:spPr>
          <a:xfrm>
            <a:off x="6270172" y="1662819"/>
            <a:ext cx="5521528" cy="4460033"/>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xmlns="" id="{A5EA4E5F-1DF1-3C9F-AD1B-7E76B5824745}"/>
                  </a:ext>
                </a:extLst>
              </p:cNvPr>
              <p:cNvSpPr txBox="1"/>
              <p:nvPr/>
            </p:nvSpPr>
            <p:spPr>
              <a:xfrm>
                <a:off x="946151" y="2825968"/>
                <a:ext cx="4975678" cy="744243"/>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m:rPr>
                          <m:sty m:val="p"/>
                        </m:rPr>
                        <a:rPr lang="en-US" sz="2000" smtClean="0">
                          <a:latin typeface="Cambria Math" panose="02040503050406030204" pitchFamily="18" charset="0"/>
                        </a:rPr>
                        <m:t>ζ</m:t>
                      </m:r>
                      <m:r>
                        <a:rPr lang="en-US" sz="2000" smtClean="0">
                          <a:latin typeface="Cambria Math" panose="02040503050406030204" pitchFamily="18" charset="0"/>
                        </a:rPr>
                        <m:t> = </m:t>
                      </m:r>
                      <m:f>
                        <m:fPr>
                          <m:ctrlPr>
                            <a:rPr lang="en-US" sz="2000" i="1">
                              <a:latin typeface="Cambria Math" panose="02040503050406030204" pitchFamily="18" charset="0"/>
                            </a:rPr>
                          </m:ctrlPr>
                        </m:fPr>
                        <m:num>
                          <m:r>
                            <m:rPr>
                              <m:sty m:val="p"/>
                            </m:rPr>
                            <a:rPr lang="en-US" sz="2000">
                              <a:latin typeface="Cambria Math" panose="02040503050406030204" pitchFamily="18" charset="0"/>
                            </a:rPr>
                            <m:t>α</m:t>
                          </m:r>
                          <m:r>
                            <a:rPr lang="en-US" sz="2000">
                              <a:latin typeface="Cambria Math" panose="02040503050406030204" pitchFamily="18" charset="0"/>
                            </a:rPr>
                            <m:t> </m:t>
                          </m:r>
                          <m:r>
                            <a:rPr lang="en-US" sz="2000" i="1">
                              <a:latin typeface="Cambria Math" panose="02040503050406030204" pitchFamily="18" charset="0"/>
                            </a:rPr>
                            <m:t>𝑓𝑟</m:t>
                          </m:r>
                        </m:num>
                        <m:den>
                          <m:r>
                            <a:rPr lang="en-US" sz="2000" i="1">
                              <a:latin typeface="Cambria Math" panose="02040503050406030204" pitchFamily="18" charset="0"/>
                            </a:rPr>
                            <m:t>2</m:t>
                          </m:r>
                          <m:r>
                            <a:rPr lang="en-US" sz="2000" i="1">
                              <a:latin typeface="Cambria Math" panose="02040503050406030204" pitchFamily="18" charset="0"/>
                            </a:rPr>
                            <m:t>𝜔</m:t>
                          </m:r>
                          <m:r>
                            <a:rPr lang="en-US" sz="2000" i="1">
                              <a:latin typeface="Cambria Math" panose="02040503050406030204" pitchFamily="18" charset="0"/>
                            </a:rPr>
                            <m:t>𝑛</m:t>
                          </m:r>
                          <m:r>
                            <a:rPr lang="en-US" sz="2000">
                              <a:latin typeface="Cambria Math" panose="02040503050406030204" pitchFamily="18" charset="0"/>
                            </a:rPr>
                            <m:t> </m:t>
                          </m:r>
                        </m:den>
                      </m:f>
                      <m:r>
                        <a:rPr lang="en-US" sz="2000" i="1">
                          <a:latin typeface="Cambria Math" panose="02040503050406030204" pitchFamily="18" charset="0"/>
                        </a:rPr>
                        <m:t>= </m:t>
                      </m:r>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2</m:t>
                          </m:r>
                        </m:den>
                      </m:f>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𝛼</m:t>
                          </m:r>
                        </m:num>
                        <m:den>
                          <m:rad>
                            <m:radPr>
                              <m:degHide m:val="on"/>
                              <m:ctrlPr>
                                <a:rPr lang="en-US" sz="2000" i="1">
                                  <a:latin typeface="Cambria Math" panose="02040503050406030204" pitchFamily="18" charset="0"/>
                                </a:rPr>
                              </m:ctrlPr>
                            </m:radPr>
                            <m:deg/>
                            <m:e>
                              <m:r>
                                <m:rPr>
                                  <m:nor/>
                                </m:rPr>
                                <a:rPr lang="en-US" sz="2000" dirty="0"/>
                                <m:t>ρ</m:t>
                              </m:r>
                              <m:r>
                                <m:rPr>
                                  <m:nor/>
                                </m:rPr>
                                <a:rPr lang="en-US" sz="2000" dirty="0"/>
                                <m:t> </m:t>
                              </m:r>
                            </m:e>
                          </m:rad>
                        </m:den>
                      </m:f>
                      <m:r>
                        <a:rPr lang="en-US" sz="2000" b="0" i="1" dirty="0" smtClean="0">
                          <a:latin typeface="Cambria Math" panose="02040503050406030204" pitchFamily="18" charset="0"/>
                        </a:rPr>
                        <m:t>)</m:t>
                      </m:r>
                    </m:oMath>
                  </m:oMathPara>
                </a14:m>
                <a:endParaRPr lang="en-US" sz="2400" dirty="0"/>
              </a:p>
            </p:txBody>
          </p:sp>
        </mc:Choice>
        <mc:Fallback xmlns="">
          <p:sp>
            <p:nvSpPr>
              <p:cNvPr id="7" name="TextBox 6">
                <a:extLst>
                  <a:ext uri="{FF2B5EF4-FFF2-40B4-BE49-F238E27FC236}">
                    <a16:creationId xmlns:a16="http://schemas.microsoft.com/office/drawing/2014/main" id="{A5EA4E5F-1DF1-3C9F-AD1B-7E76B5824745}"/>
                  </a:ext>
                </a:extLst>
              </p:cNvPr>
              <p:cNvSpPr txBox="1">
                <a:spLocks noRot="1" noChangeAspect="1" noMove="1" noResize="1" noEditPoints="1" noAdjustHandles="1" noChangeArrowheads="1" noChangeShapeType="1" noTextEdit="1"/>
              </p:cNvSpPr>
              <p:nvPr/>
            </p:nvSpPr>
            <p:spPr>
              <a:xfrm>
                <a:off x="946151" y="2825968"/>
                <a:ext cx="4975678" cy="744243"/>
              </a:xfrm>
              <a:prstGeom prst="rect">
                <a:avLst/>
              </a:prstGeom>
              <a:blipFill>
                <a:blip r:embed="rId4"/>
                <a:stretch>
                  <a:fillRect/>
                </a:stretch>
              </a:blipFill>
            </p:spPr>
            <p:txBody>
              <a:bodyPr/>
              <a:lstStyle/>
              <a:p>
                <a:r>
                  <a:rPr lang="en-US">
                    <a:noFill/>
                  </a:rPr>
                  <a:t> </a:t>
                </a:r>
              </a:p>
            </p:txBody>
          </p:sp>
        </mc:Fallback>
      </mc:AlternateContent>
      <p:sp>
        <p:nvSpPr>
          <p:cNvPr id="8" name="Rectangle 7">
            <a:extLst>
              <a:ext uri="{FF2B5EF4-FFF2-40B4-BE49-F238E27FC236}">
                <a16:creationId xmlns:a16="http://schemas.microsoft.com/office/drawing/2014/main" xmlns="" id="{3FE21A94-0513-BACC-ADDF-313953B5E46E}"/>
              </a:ext>
            </a:extLst>
          </p:cNvPr>
          <p:cNvSpPr/>
          <p:nvPr/>
        </p:nvSpPr>
        <p:spPr>
          <a:xfrm>
            <a:off x="2087699" y="2825968"/>
            <a:ext cx="2838863" cy="74424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5897059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E949EE6-DADD-8DDE-ACA2-039D89C87307}"/>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xmlns="" id="{1D1D4435-85B5-B11F-0E0B-B5E7DD5E0D3D}"/>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Digital loop filter </a:t>
            </a:r>
          </a:p>
        </p:txBody>
      </p:sp>
      <p:sp>
        <p:nvSpPr>
          <p:cNvPr id="3" name="Text Placeholder 2">
            <a:extLst>
              <a:ext uri="{FF2B5EF4-FFF2-40B4-BE49-F238E27FC236}">
                <a16:creationId xmlns:a16="http://schemas.microsoft.com/office/drawing/2014/main" xmlns="" id="{E7FD6E35-3AF5-9327-4458-A29E8BDB6EE5}"/>
              </a:ext>
            </a:extLst>
          </p:cNvPr>
          <p:cNvSpPr>
            <a:spLocks noGrp="1"/>
          </p:cNvSpPr>
          <p:nvPr>
            <p:ph type="body" idx="1"/>
          </p:nvPr>
        </p:nvSpPr>
        <p:spPr>
          <a:xfrm>
            <a:off x="539751" y="1663062"/>
            <a:ext cx="10706100" cy="4984947"/>
          </a:xfrm>
        </p:spPr>
        <p:txBody>
          <a:bodyPr/>
          <a:lstStyle/>
          <a:p>
            <a:pPr marL="76200" indent="0">
              <a:buNone/>
            </a:pPr>
            <a:r>
              <a:rPr lang="en-US" sz="2000" b="0" dirty="0">
                <a:solidFill>
                  <a:schemeClr val="tx1">
                    <a:lumMod val="85000"/>
                    <a:lumOff val="15000"/>
                  </a:schemeClr>
                </a:solidFill>
                <a:latin typeface="+mn-lt"/>
              </a:rPr>
              <a:t>To verify the loop filter functionality and the effect on changing coefficients on the closed loop system, an ideal sample based ADPLL model assuming DCO central frequency = 2.432GHz , </a:t>
            </a:r>
          </a:p>
          <a:p>
            <a:pPr marL="76200" indent="0">
              <a:buNone/>
            </a:pPr>
            <a:endParaRPr lang="en-US" sz="2000" dirty="0"/>
          </a:p>
          <a:p>
            <a:pPr marL="76200" indent="0">
              <a:buNone/>
            </a:pPr>
            <a:endParaRPr lang="en-US" sz="2000" dirty="0"/>
          </a:p>
        </p:txBody>
      </p:sp>
      <p:sp>
        <p:nvSpPr>
          <p:cNvPr id="9" name="Text Placeholder 3">
            <a:extLst>
              <a:ext uri="{FF2B5EF4-FFF2-40B4-BE49-F238E27FC236}">
                <a16:creationId xmlns:a16="http://schemas.microsoft.com/office/drawing/2014/main" xmlns="" id="{F5FE31F8-8BE9-60B3-ECEB-5A5E625307C3}"/>
              </a:ext>
            </a:extLst>
          </p:cNvPr>
          <p:cNvSpPr>
            <a:spLocks noGrp="1"/>
          </p:cNvSpPr>
          <p:nvPr>
            <p:ph type="body" idx="4294967295"/>
          </p:nvPr>
        </p:nvSpPr>
        <p:spPr>
          <a:xfrm>
            <a:off x="0" y="1156649"/>
            <a:ext cx="10972800" cy="506413"/>
          </a:xfrm>
        </p:spPr>
        <p:txBody>
          <a:bodyPr>
            <a:normAutofit/>
          </a:bodyPr>
          <a:lstStyle/>
          <a:p>
            <a:pPr marL="101600" indent="0" algn="ctr">
              <a:buNone/>
            </a:pPr>
            <a:r>
              <a:rPr lang="en-US" sz="2000" b="1" dirty="0">
                <a:solidFill>
                  <a:schemeClr val="tx1">
                    <a:lumMod val="85000"/>
                    <a:lumOff val="15000"/>
                  </a:schemeClr>
                </a:solidFill>
              </a:rPr>
              <a:t>	 Simulation results:</a:t>
            </a:r>
          </a:p>
          <a:p>
            <a:endParaRPr lang="en-US" sz="2000" b="1" dirty="0"/>
          </a:p>
          <a:p>
            <a:endParaRPr lang="en-US" sz="2000" b="1" i="0" dirty="0"/>
          </a:p>
        </p:txBody>
      </p:sp>
      <p:pic>
        <p:nvPicPr>
          <p:cNvPr id="6" name="Picture 5">
            <a:extLst>
              <a:ext uri="{FF2B5EF4-FFF2-40B4-BE49-F238E27FC236}">
                <a16:creationId xmlns:a16="http://schemas.microsoft.com/office/drawing/2014/main" xmlns="" id="{10513092-CB63-2E08-5608-FF6FD27898D4}"/>
              </a:ext>
            </a:extLst>
          </p:cNvPr>
          <p:cNvPicPr>
            <a:picLocks noChangeAspect="1"/>
          </p:cNvPicPr>
          <p:nvPr/>
        </p:nvPicPr>
        <p:blipFill>
          <a:blip r:embed="rId2"/>
          <a:stretch>
            <a:fillRect/>
          </a:stretch>
        </p:blipFill>
        <p:spPr>
          <a:xfrm>
            <a:off x="2422852" y="2485216"/>
            <a:ext cx="7102455" cy="4000847"/>
          </a:xfrm>
          <a:prstGeom prst="rect">
            <a:avLst/>
          </a:prstGeom>
        </p:spPr>
      </p:pic>
    </p:spTree>
    <p:extLst>
      <p:ext uri="{BB962C8B-B14F-4D97-AF65-F5344CB8AC3E}">
        <p14:creationId xmlns:p14="http://schemas.microsoft.com/office/powerpoint/2010/main" val="410786402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4A8BB75-5148-99B3-603F-15655E1C7B5C}"/>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xmlns="" id="{E0A5EA29-39AF-4F7C-5851-62F26BF8130E}"/>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Digital loop filter </a:t>
            </a:r>
          </a:p>
        </p:txBody>
      </p:sp>
      <p:sp>
        <p:nvSpPr>
          <p:cNvPr id="3" name="Text Placeholder 2">
            <a:extLst>
              <a:ext uri="{FF2B5EF4-FFF2-40B4-BE49-F238E27FC236}">
                <a16:creationId xmlns:a16="http://schemas.microsoft.com/office/drawing/2014/main" xmlns="" id="{B0088A97-69CD-46F5-8D6C-F5DCC304A599}"/>
              </a:ext>
            </a:extLst>
          </p:cNvPr>
          <p:cNvSpPr>
            <a:spLocks noGrp="1"/>
          </p:cNvSpPr>
          <p:nvPr>
            <p:ph type="body" idx="1"/>
          </p:nvPr>
        </p:nvSpPr>
        <p:spPr>
          <a:xfrm>
            <a:off x="552450" y="1510748"/>
            <a:ext cx="5369380" cy="4984947"/>
          </a:xfrm>
        </p:spPr>
        <p:txBody>
          <a:bodyPr/>
          <a:lstStyle/>
          <a:p>
            <a:pPr marL="457200" marR="0" lvl="0" indent="-381000" algn="l" defTabSz="914400" rtl="0" eaLnBrk="1" fontAlgn="auto" latinLnBrk="0" hangingPunct="1">
              <a:lnSpc>
                <a:spcPct val="100000"/>
              </a:lnSpc>
              <a:spcBef>
                <a:spcPts val="480"/>
              </a:spcBef>
              <a:spcAft>
                <a:spcPts val="0"/>
              </a:spcAft>
              <a:buClr>
                <a:srgbClr val="000000"/>
              </a:buClr>
              <a:buSzPts val="2400"/>
              <a:buFont typeface="Arial"/>
              <a:buChar char="•"/>
              <a:tabLst/>
              <a:defRPr/>
            </a:pPr>
            <a:endParaRPr lang="en-US" sz="2000" dirty="0"/>
          </a:p>
          <a:p>
            <a:pPr marL="76200" indent="0">
              <a:buNone/>
            </a:pPr>
            <a:endParaRPr lang="en-US" sz="2000" b="1" dirty="0"/>
          </a:p>
        </p:txBody>
      </p:sp>
      <p:sp>
        <p:nvSpPr>
          <p:cNvPr id="2" name="Text Placeholder 3">
            <a:extLst>
              <a:ext uri="{FF2B5EF4-FFF2-40B4-BE49-F238E27FC236}">
                <a16:creationId xmlns:a16="http://schemas.microsoft.com/office/drawing/2014/main" xmlns="" id="{6E0DEED0-8A23-E001-D75A-A64669C3D9A2}"/>
              </a:ext>
            </a:extLst>
          </p:cNvPr>
          <p:cNvSpPr>
            <a:spLocks noGrp="1"/>
          </p:cNvSpPr>
          <p:nvPr>
            <p:ph type="body" idx="4294967295"/>
          </p:nvPr>
        </p:nvSpPr>
        <p:spPr>
          <a:xfrm>
            <a:off x="0" y="1156649"/>
            <a:ext cx="10972800" cy="506413"/>
          </a:xfrm>
        </p:spPr>
        <p:txBody>
          <a:bodyPr>
            <a:normAutofit/>
          </a:bodyPr>
          <a:lstStyle/>
          <a:p>
            <a:pPr marL="1473200" lvl="3" indent="0" algn="ctr">
              <a:buNone/>
            </a:pPr>
            <a:r>
              <a:rPr lang="en-US" b="1" dirty="0">
                <a:solidFill>
                  <a:schemeClr val="tx1">
                    <a:lumMod val="85000"/>
                    <a:lumOff val="15000"/>
                  </a:schemeClr>
                </a:solidFill>
              </a:rPr>
              <a:t>Type I ADPLL Magnitude response:</a:t>
            </a:r>
          </a:p>
          <a:p>
            <a:endParaRPr lang="en-US" sz="2000" b="1" i="0" dirty="0"/>
          </a:p>
        </p:txBody>
      </p:sp>
      <p:pic>
        <p:nvPicPr>
          <p:cNvPr id="9" name="Picture 8">
            <a:extLst>
              <a:ext uri="{FF2B5EF4-FFF2-40B4-BE49-F238E27FC236}">
                <a16:creationId xmlns:a16="http://schemas.microsoft.com/office/drawing/2014/main" xmlns="" id="{B99C685E-0E4C-7AA4-5CAF-73C6E5AF2C95}"/>
              </a:ext>
            </a:extLst>
          </p:cNvPr>
          <p:cNvPicPr>
            <a:picLocks noChangeAspect="1"/>
          </p:cNvPicPr>
          <p:nvPr/>
        </p:nvPicPr>
        <p:blipFill>
          <a:blip r:embed="rId2"/>
          <a:stretch>
            <a:fillRect/>
          </a:stretch>
        </p:blipFill>
        <p:spPr>
          <a:xfrm>
            <a:off x="6128083" y="2119590"/>
            <a:ext cx="5489700" cy="4259950"/>
          </a:xfrm>
          <a:prstGeom prst="rect">
            <a:avLst/>
          </a:prstGeom>
        </p:spPr>
      </p:pic>
      <p:pic>
        <p:nvPicPr>
          <p:cNvPr id="11" name="Picture 10">
            <a:extLst>
              <a:ext uri="{FF2B5EF4-FFF2-40B4-BE49-F238E27FC236}">
                <a16:creationId xmlns:a16="http://schemas.microsoft.com/office/drawing/2014/main" xmlns="" id="{0577A08D-8B66-8540-09D1-A7E29D15E96D}"/>
              </a:ext>
            </a:extLst>
          </p:cNvPr>
          <p:cNvPicPr>
            <a:picLocks noChangeAspect="1"/>
          </p:cNvPicPr>
          <p:nvPr/>
        </p:nvPicPr>
        <p:blipFill>
          <a:blip r:embed="rId3"/>
          <a:stretch>
            <a:fillRect/>
          </a:stretch>
        </p:blipFill>
        <p:spPr>
          <a:xfrm>
            <a:off x="344069" y="2119590"/>
            <a:ext cx="5489699" cy="4259950"/>
          </a:xfrm>
          <a:prstGeom prst="rect">
            <a:avLst/>
          </a:prstGeom>
        </p:spPr>
      </p:pic>
      <p:sp>
        <p:nvSpPr>
          <p:cNvPr id="14" name="TextBox 13">
            <a:extLst>
              <a:ext uri="{FF2B5EF4-FFF2-40B4-BE49-F238E27FC236}">
                <a16:creationId xmlns:a16="http://schemas.microsoft.com/office/drawing/2014/main" xmlns="" id="{2F5F4FF8-8408-8730-284B-33376F2F2F06}"/>
              </a:ext>
            </a:extLst>
          </p:cNvPr>
          <p:cNvSpPr txBox="1"/>
          <p:nvPr/>
        </p:nvSpPr>
        <p:spPr>
          <a:xfrm>
            <a:off x="344069" y="1689000"/>
            <a:ext cx="5198110" cy="369332"/>
          </a:xfrm>
          <a:prstGeom prst="rect">
            <a:avLst/>
          </a:prstGeom>
          <a:noFill/>
        </p:spPr>
        <p:txBody>
          <a:bodyPr wrap="square" rtlCol="0">
            <a:spAutoFit/>
          </a:bodyPr>
          <a:lstStyle/>
          <a:p>
            <a:pPr marL="285750" indent="-285750">
              <a:buFont typeface="Arial" panose="020B0604020202020204" pitchFamily="34" charset="0"/>
              <a:buChar char="•"/>
            </a:pPr>
            <a:r>
              <a:rPr lang="en-US" sz="1800" b="1" dirty="0"/>
              <a:t>DCO output frequency </a:t>
            </a:r>
          </a:p>
        </p:txBody>
      </p:sp>
      <p:sp>
        <p:nvSpPr>
          <p:cNvPr id="16" name="TextBox 15">
            <a:extLst>
              <a:ext uri="{FF2B5EF4-FFF2-40B4-BE49-F238E27FC236}">
                <a16:creationId xmlns:a16="http://schemas.microsoft.com/office/drawing/2014/main" xmlns="" id="{59E41F32-A0BE-21E0-A001-92D8A6EA480D}"/>
              </a:ext>
            </a:extLst>
          </p:cNvPr>
          <p:cNvSpPr txBox="1"/>
          <p:nvPr/>
        </p:nvSpPr>
        <p:spPr>
          <a:xfrm>
            <a:off x="6248401" y="1689000"/>
            <a:ext cx="5198110" cy="369332"/>
          </a:xfrm>
          <a:prstGeom prst="rect">
            <a:avLst/>
          </a:prstGeom>
          <a:noFill/>
        </p:spPr>
        <p:txBody>
          <a:bodyPr wrap="square" rtlCol="0">
            <a:spAutoFit/>
          </a:bodyPr>
          <a:lstStyle/>
          <a:p>
            <a:pPr marL="285750" indent="-285750">
              <a:buFont typeface="Arial" panose="020B0604020202020204" pitchFamily="34" charset="0"/>
              <a:buChar char="•"/>
            </a:pPr>
            <a:r>
              <a:rPr lang="en-US" sz="1800" b="1" dirty="0"/>
              <a:t>Type I magnitude response</a:t>
            </a:r>
          </a:p>
        </p:txBody>
      </p:sp>
    </p:spTree>
    <p:extLst>
      <p:ext uri="{BB962C8B-B14F-4D97-AF65-F5344CB8AC3E}">
        <p14:creationId xmlns:p14="http://schemas.microsoft.com/office/powerpoint/2010/main" val="274721337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xmlns="" id="{F6311D93-068B-9F15-8930-95CA743ED844}"/>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Digital loop filter </a:t>
            </a:r>
          </a:p>
        </p:txBody>
      </p:sp>
      <p:sp>
        <p:nvSpPr>
          <p:cNvPr id="12" name="Text Placeholder 3">
            <a:extLst>
              <a:ext uri="{FF2B5EF4-FFF2-40B4-BE49-F238E27FC236}">
                <a16:creationId xmlns:a16="http://schemas.microsoft.com/office/drawing/2014/main" xmlns="" id="{B51AA99D-DA57-51A2-FF48-6CE703EA532E}"/>
              </a:ext>
            </a:extLst>
          </p:cNvPr>
          <p:cNvSpPr>
            <a:spLocks noGrp="1"/>
          </p:cNvSpPr>
          <p:nvPr>
            <p:ph type="body" idx="4294967295"/>
          </p:nvPr>
        </p:nvSpPr>
        <p:spPr>
          <a:xfrm>
            <a:off x="0" y="1156852"/>
            <a:ext cx="10972800" cy="506413"/>
          </a:xfrm>
        </p:spPr>
        <p:txBody>
          <a:bodyPr>
            <a:normAutofit/>
          </a:bodyPr>
          <a:lstStyle/>
          <a:p>
            <a:pPr marL="76200" indent="0" algn="ctr">
              <a:buNone/>
            </a:pPr>
            <a:r>
              <a:rPr lang="en-US" sz="2000" b="1" dirty="0">
                <a:solidFill>
                  <a:schemeClr val="tx1">
                    <a:lumMod val="85000"/>
                    <a:lumOff val="15000"/>
                  </a:schemeClr>
                </a:solidFill>
              </a:rPr>
              <a:t>	RTL </a:t>
            </a:r>
            <a:r>
              <a:rPr lang="en-US" dirty="0">
                <a:solidFill>
                  <a:schemeClr val="tx1">
                    <a:lumMod val="85000"/>
                    <a:lumOff val="15000"/>
                  </a:schemeClr>
                </a:solidFill>
              </a:rPr>
              <a:t>Implementation</a:t>
            </a:r>
            <a:r>
              <a:rPr lang="en-US" sz="2000" b="1" dirty="0">
                <a:solidFill>
                  <a:schemeClr val="tx1">
                    <a:lumMod val="85000"/>
                    <a:lumOff val="15000"/>
                  </a:schemeClr>
                </a:solidFill>
              </a:rPr>
              <a:t> of PI loop filter:</a:t>
            </a:r>
          </a:p>
        </p:txBody>
      </p:sp>
      <p:pic>
        <p:nvPicPr>
          <p:cNvPr id="15" name="Picture 14">
            <a:extLst>
              <a:ext uri="{FF2B5EF4-FFF2-40B4-BE49-F238E27FC236}">
                <a16:creationId xmlns:a16="http://schemas.microsoft.com/office/drawing/2014/main" xmlns="" id="{8680558D-11C4-9BFE-E3D4-BC69CC0A6664}"/>
              </a:ext>
            </a:extLst>
          </p:cNvPr>
          <p:cNvPicPr>
            <a:picLocks noChangeAspect="1"/>
          </p:cNvPicPr>
          <p:nvPr/>
        </p:nvPicPr>
        <p:blipFill>
          <a:blip r:embed="rId2"/>
          <a:stretch>
            <a:fillRect/>
          </a:stretch>
        </p:blipFill>
        <p:spPr>
          <a:xfrm>
            <a:off x="3820160" y="1663265"/>
            <a:ext cx="8138161" cy="4778044"/>
          </a:xfrm>
          <a:prstGeom prst="rect">
            <a:avLst/>
          </a:prstGeom>
        </p:spPr>
      </p:pic>
      <p:sp>
        <p:nvSpPr>
          <p:cNvPr id="16" name="Text Placeholder 2">
            <a:extLst>
              <a:ext uri="{FF2B5EF4-FFF2-40B4-BE49-F238E27FC236}">
                <a16:creationId xmlns:a16="http://schemas.microsoft.com/office/drawing/2014/main" xmlns="" id="{30C7E94D-FF26-7D00-3BDE-383C1D849FC8}"/>
              </a:ext>
            </a:extLst>
          </p:cNvPr>
          <p:cNvSpPr>
            <a:spLocks noGrp="1"/>
          </p:cNvSpPr>
          <p:nvPr>
            <p:ph type="body" idx="1"/>
          </p:nvPr>
        </p:nvSpPr>
        <p:spPr>
          <a:xfrm>
            <a:off x="394970" y="1663265"/>
            <a:ext cx="3343910" cy="4984947"/>
          </a:xfrm>
        </p:spPr>
        <p:txBody>
          <a:bodyPr/>
          <a:lstStyle/>
          <a:p>
            <a:pPr marL="419100" indent="-342900"/>
            <a:r>
              <a:rPr lang="en-US" b="0" dirty="0">
                <a:solidFill>
                  <a:schemeClr val="tx1">
                    <a:lumMod val="85000"/>
                    <a:lumOff val="15000"/>
                  </a:schemeClr>
                </a:solidFill>
              </a:rPr>
              <a:t>Configurable gain coefficients </a:t>
            </a:r>
            <a:r>
              <a:rPr lang="el-GR" b="0" dirty="0">
                <a:solidFill>
                  <a:schemeClr val="tx1">
                    <a:lumMod val="85000"/>
                    <a:lumOff val="15000"/>
                  </a:schemeClr>
                </a:solidFill>
              </a:rPr>
              <a:t>α</a:t>
            </a:r>
            <a:r>
              <a:rPr lang="en-US" b="0" dirty="0">
                <a:solidFill>
                  <a:schemeClr val="tx1">
                    <a:lumMod val="85000"/>
                    <a:lumOff val="15000"/>
                  </a:schemeClr>
                </a:solidFill>
              </a:rPr>
              <a:t> and </a:t>
            </a:r>
            <a:r>
              <a:rPr lang="el-GR" b="0" dirty="0">
                <a:solidFill>
                  <a:schemeClr val="tx1">
                    <a:lumMod val="85000"/>
                    <a:lumOff val="15000"/>
                  </a:schemeClr>
                </a:solidFill>
              </a:rPr>
              <a:t>ρ</a:t>
            </a:r>
            <a:r>
              <a:rPr lang="en-US" b="0" dirty="0">
                <a:solidFill>
                  <a:schemeClr val="tx1">
                    <a:lumMod val="85000"/>
                    <a:lumOff val="15000"/>
                  </a:schemeClr>
                </a:solidFill>
              </a:rPr>
              <a:t> are implemented as arithmetic variable shifters.</a:t>
            </a:r>
          </a:p>
          <a:p>
            <a:pPr marL="419100" indent="-342900"/>
            <a:endParaRPr lang="en-US" b="0" dirty="0">
              <a:solidFill>
                <a:schemeClr val="tx1">
                  <a:lumMod val="85000"/>
                  <a:lumOff val="15000"/>
                </a:schemeClr>
              </a:solidFill>
            </a:endParaRPr>
          </a:p>
          <a:p>
            <a:pPr marL="419100" indent="-342900"/>
            <a:r>
              <a:rPr lang="en-US" b="0" dirty="0">
                <a:solidFill>
                  <a:schemeClr val="tx1">
                    <a:lumMod val="85000"/>
                    <a:lumOff val="15000"/>
                  </a:schemeClr>
                </a:solidFill>
              </a:rPr>
              <a:t>Integrator as hardware is accumulator. </a:t>
            </a:r>
          </a:p>
          <a:p>
            <a:pPr marL="419100" indent="-342900"/>
            <a:endParaRPr lang="en-US" b="0" dirty="0">
              <a:solidFill>
                <a:schemeClr val="tx1">
                  <a:lumMod val="85000"/>
                  <a:lumOff val="15000"/>
                </a:schemeClr>
              </a:solidFill>
            </a:endParaRPr>
          </a:p>
          <a:p>
            <a:pPr marL="419100" indent="-342900"/>
            <a:r>
              <a:rPr lang="en-US" b="0" dirty="0">
                <a:solidFill>
                  <a:schemeClr val="tx1">
                    <a:lumMod val="85000"/>
                    <a:lumOff val="15000"/>
                  </a:schemeClr>
                </a:solidFill>
              </a:rPr>
              <a:t>Detection for </a:t>
            </a:r>
            <a:r>
              <a:rPr lang="en-US" b="0" dirty="0" err="1">
                <a:solidFill>
                  <a:schemeClr val="tx1">
                    <a:lumMod val="85000"/>
                    <a:lumOff val="15000"/>
                  </a:schemeClr>
                </a:solidFill>
              </a:rPr>
              <a:t>gear_shift_en</a:t>
            </a:r>
            <a:r>
              <a:rPr lang="en-US" b="0" dirty="0">
                <a:solidFill>
                  <a:schemeClr val="tx1">
                    <a:lumMod val="85000"/>
                    <a:lumOff val="15000"/>
                  </a:schemeClr>
                </a:solidFill>
              </a:rPr>
              <a:t> pulse to switch modes.</a:t>
            </a:r>
          </a:p>
          <a:p>
            <a:pPr marL="419100" indent="-342900"/>
            <a:endParaRPr lang="en-US" b="0" dirty="0">
              <a:solidFill>
                <a:schemeClr val="tx1">
                  <a:lumMod val="85000"/>
                  <a:lumOff val="15000"/>
                </a:schemeClr>
              </a:solidFill>
            </a:endParaRPr>
          </a:p>
        </p:txBody>
      </p:sp>
    </p:spTree>
    <p:extLst>
      <p:ext uri="{BB962C8B-B14F-4D97-AF65-F5344CB8AC3E}">
        <p14:creationId xmlns:p14="http://schemas.microsoft.com/office/powerpoint/2010/main" val="392874821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912866F-41D6-8600-38CA-35F86BAEC815}"/>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xmlns="" id="{298726C0-9A1F-073A-9102-D8C58AE8356F}"/>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Digital loop filter </a:t>
            </a:r>
          </a:p>
        </p:txBody>
      </p:sp>
      <p:sp>
        <p:nvSpPr>
          <p:cNvPr id="12" name="Text Placeholder 3">
            <a:extLst>
              <a:ext uri="{FF2B5EF4-FFF2-40B4-BE49-F238E27FC236}">
                <a16:creationId xmlns:a16="http://schemas.microsoft.com/office/drawing/2014/main" xmlns="" id="{42EEAB69-8A0D-2C7C-64CC-414DA4277693}"/>
              </a:ext>
            </a:extLst>
          </p:cNvPr>
          <p:cNvSpPr>
            <a:spLocks noGrp="1"/>
          </p:cNvSpPr>
          <p:nvPr>
            <p:ph type="body" idx="4294967295"/>
          </p:nvPr>
        </p:nvSpPr>
        <p:spPr>
          <a:xfrm>
            <a:off x="0" y="1156852"/>
            <a:ext cx="10972800" cy="506413"/>
          </a:xfrm>
        </p:spPr>
        <p:txBody>
          <a:bodyPr>
            <a:normAutofit/>
          </a:bodyPr>
          <a:lstStyle/>
          <a:p>
            <a:pPr marL="76200" indent="0" algn="ctr">
              <a:buNone/>
            </a:pPr>
            <a:r>
              <a:rPr lang="en-US" sz="2000" b="1" dirty="0">
                <a:solidFill>
                  <a:schemeClr val="tx1">
                    <a:lumMod val="85000"/>
                    <a:lumOff val="15000"/>
                  </a:schemeClr>
                </a:solidFill>
              </a:rPr>
              <a:t>	RTL </a:t>
            </a:r>
            <a:r>
              <a:rPr lang="en-US" dirty="0">
                <a:solidFill>
                  <a:schemeClr val="tx1">
                    <a:lumMod val="85000"/>
                    <a:lumOff val="15000"/>
                  </a:schemeClr>
                </a:solidFill>
              </a:rPr>
              <a:t>verification Vs MATLAB</a:t>
            </a:r>
            <a:r>
              <a:rPr lang="en-US" sz="2000" b="1" dirty="0">
                <a:solidFill>
                  <a:schemeClr val="tx1">
                    <a:lumMod val="85000"/>
                    <a:lumOff val="15000"/>
                  </a:schemeClr>
                </a:solidFill>
              </a:rPr>
              <a:t> </a:t>
            </a:r>
            <a:r>
              <a:rPr lang="en-US" dirty="0">
                <a:solidFill>
                  <a:schemeClr val="tx1">
                    <a:lumMod val="85000"/>
                    <a:lumOff val="15000"/>
                  </a:schemeClr>
                </a:solidFill>
              </a:rPr>
              <a:t>Model</a:t>
            </a:r>
            <a:endParaRPr lang="en-US" sz="2000" b="1" dirty="0">
              <a:solidFill>
                <a:schemeClr val="tx1">
                  <a:lumMod val="85000"/>
                  <a:lumOff val="15000"/>
                </a:schemeClr>
              </a:solidFill>
            </a:endParaRPr>
          </a:p>
        </p:txBody>
      </p:sp>
      <p:sp>
        <p:nvSpPr>
          <p:cNvPr id="16" name="Text Placeholder 2">
            <a:extLst>
              <a:ext uri="{FF2B5EF4-FFF2-40B4-BE49-F238E27FC236}">
                <a16:creationId xmlns:a16="http://schemas.microsoft.com/office/drawing/2014/main" xmlns="" id="{77090F8B-493B-C067-3499-34D9DD10AFE2}"/>
              </a:ext>
            </a:extLst>
          </p:cNvPr>
          <p:cNvSpPr>
            <a:spLocks noGrp="1"/>
          </p:cNvSpPr>
          <p:nvPr>
            <p:ph type="body" idx="1"/>
          </p:nvPr>
        </p:nvSpPr>
        <p:spPr>
          <a:xfrm>
            <a:off x="466089" y="2178618"/>
            <a:ext cx="4418330" cy="4312961"/>
          </a:xfrm>
        </p:spPr>
        <p:txBody>
          <a:bodyPr/>
          <a:lstStyle/>
          <a:p>
            <a:pPr marL="419100" indent="-342900"/>
            <a:r>
              <a:rPr lang="en-US" b="0" dirty="0">
                <a:solidFill>
                  <a:schemeClr val="tx1">
                    <a:lumMod val="85000"/>
                    <a:lumOff val="15000"/>
                  </a:schemeClr>
                </a:solidFill>
              </a:rPr>
              <a:t>The testbench imports stimulus vectors generated from the MATLAB system model.</a:t>
            </a:r>
          </a:p>
          <a:p>
            <a:pPr marL="419100" indent="-342900"/>
            <a:r>
              <a:rPr lang="en-US" b="0" dirty="0">
                <a:solidFill>
                  <a:schemeClr val="tx1">
                    <a:lumMod val="85000"/>
                    <a:lumOff val="15000"/>
                  </a:schemeClr>
                </a:solidFill>
              </a:rPr>
              <a:t>Quantized RTL output tracking words (OTW) are plotted against MATLAB results to verify design correctness.</a:t>
            </a:r>
          </a:p>
          <a:p>
            <a:pPr marL="419100" indent="-342900"/>
            <a:r>
              <a:rPr lang="en-US" b="0" dirty="0">
                <a:solidFill>
                  <a:schemeClr val="tx1">
                    <a:lumMod val="85000"/>
                    <a:lumOff val="15000"/>
                  </a:schemeClr>
                </a:solidFill>
              </a:rPr>
              <a:t>Fixed-point optimization guarantees that hardware truncation matches the behavioral model with negligible error..</a:t>
            </a:r>
          </a:p>
        </p:txBody>
      </p:sp>
      <p:pic>
        <p:nvPicPr>
          <p:cNvPr id="2" name="Picture 1">
            <a:extLst>
              <a:ext uri="{FF2B5EF4-FFF2-40B4-BE49-F238E27FC236}">
                <a16:creationId xmlns:a16="http://schemas.microsoft.com/office/drawing/2014/main" xmlns="" id="{E87A4516-26AA-E5EC-A119-41D178A8C20C}"/>
              </a:ext>
            </a:extLst>
          </p:cNvPr>
          <p:cNvPicPr>
            <a:picLocks noChangeAspect="1"/>
          </p:cNvPicPr>
          <p:nvPr/>
        </p:nvPicPr>
        <p:blipFill>
          <a:blip r:embed="rId2"/>
          <a:stretch>
            <a:fillRect/>
          </a:stretch>
        </p:blipFill>
        <p:spPr>
          <a:xfrm>
            <a:off x="5437731" y="1734587"/>
            <a:ext cx="6288180" cy="4453772"/>
          </a:xfrm>
          <a:prstGeom prst="rect">
            <a:avLst/>
          </a:prstGeom>
        </p:spPr>
      </p:pic>
    </p:spTree>
    <p:extLst>
      <p:ext uri="{BB962C8B-B14F-4D97-AF65-F5344CB8AC3E}">
        <p14:creationId xmlns:p14="http://schemas.microsoft.com/office/powerpoint/2010/main" val="2898914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9C94324-AF13-C100-0F51-2DBD03E1F0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7D6FFA5D-A431-DBBE-6ED8-659979E41CC7}"/>
              </a:ext>
            </a:extLst>
          </p:cNvPr>
          <p:cNvSpPr>
            <a:spLocks noGrp="1"/>
          </p:cNvSpPr>
          <p:nvPr>
            <p:ph type="title"/>
          </p:nvPr>
        </p:nvSpPr>
        <p:spPr/>
        <p:txBody>
          <a:bodyPr/>
          <a:lstStyle/>
          <a:p>
            <a:r>
              <a:rPr lang="en-US" dirty="0">
                <a:latin typeface="Times New Roman" panose="02020603050405020304" pitchFamily="18" charset="0"/>
              </a:rPr>
              <a:t>Gain Estimation </a:t>
            </a:r>
            <a:endParaRPr lang="en-US" dirty="0"/>
          </a:p>
        </p:txBody>
      </p:sp>
      <p:pic>
        <p:nvPicPr>
          <p:cNvPr id="6" name="Picture 5">
            <a:extLst>
              <a:ext uri="{FF2B5EF4-FFF2-40B4-BE49-F238E27FC236}">
                <a16:creationId xmlns:a16="http://schemas.microsoft.com/office/drawing/2014/main" xmlns="" id="{64246D31-E5F5-0F10-DA66-3BDBAAC7B866}"/>
              </a:ext>
            </a:extLst>
          </p:cNvPr>
          <p:cNvPicPr>
            <a:picLocks noChangeAspect="1"/>
          </p:cNvPicPr>
          <p:nvPr/>
        </p:nvPicPr>
        <p:blipFill>
          <a:blip r:embed="rId2"/>
          <a:stretch>
            <a:fillRect/>
          </a:stretch>
        </p:blipFill>
        <p:spPr>
          <a:xfrm>
            <a:off x="1624747" y="1308963"/>
            <a:ext cx="8790608" cy="5171350"/>
          </a:xfrm>
          <a:prstGeom prst="rect">
            <a:avLst/>
          </a:prstGeom>
        </p:spPr>
      </p:pic>
      <p:sp>
        <p:nvSpPr>
          <p:cNvPr id="8" name="Oval 7">
            <a:extLst>
              <a:ext uri="{FF2B5EF4-FFF2-40B4-BE49-F238E27FC236}">
                <a16:creationId xmlns:a16="http://schemas.microsoft.com/office/drawing/2014/main" xmlns="" id="{1141A6C2-3AC7-89FC-475E-4020D6D5274D}"/>
              </a:ext>
            </a:extLst>
          </p:cNvPr>
          <p:cNvSpPr/>
          <p:nvPr/>
        </p:nvSpPr>
        <p:spPr>
          <a:xfrm>
            <a:off x="5374007" y="5106745"/>
            <a:ext cx="1292087" cy="884583"/>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8376629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ECAAB01-D5E4-4265-4F00-C87E10B47EEE}"/>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xmlns="" id="{741F980E-0AA1-941C-3A48-E6F82CA3FE3E}"/>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Gain Estimation </a:t>
            </a:r>
          </a:p>
        </p:txBody>
      </p:sp>
      <p:sp>
        <p:nvSpPr>
          <p:cNvPr id="12" name="Text Placeholder 3">
            <a:extLst>
              <a:ext uri="{FF2B5EF4-FFF2-40B4-BE49-F238E27FC236}">
                <a16:creationId xmlns:a16="http://schemas.microsoft.com/office/drawing/2014/main" xmlns="" id="{5863560C-3E7E-7D11-5C63-3F067C43C8E7}"/>
              </a:ext>
            </a:extLst>
          </p:cNvPr>
          <p:cNvSpPr>
            <a:spLocks noGrp="1"/>
          </p:cNvSpPr>
          <p:nvPr>
            <p:ph type="body" idx="4294967295"/>
          </p:nvPr>
        </p:nvSpPr>
        <p:spPr>
          <a:xfrm>
            <a:off x="609600" y="1228174"/>
            <a:ext cx="10972800" cy="506413"/>
          </a:xfrm>
        </p:spPr>
        <p:txBody>
          <a:bodyPr>
            <a:normAutofit/>
          </a:bodyPr>
          <a:lstStyle/>
          <a:p>
            <a:pPr marL="76200" indent="0" algn="ctr">
              <a:buNone/>
            </a:pPr>
            <a:r>
              <a:rPr lang="en-US" sz="2000" b="1" dirty="0">
                <a:solidFill>
                  <a:schemeClr val="tx1">
                    <a:lumMod val="85000"/>
                    <a:lumOff val="15000"/>
                  </a:schemeClr>
                </a:solidFill>
              </a:rPr>
              <a:t>Introduction</a:t>
            </a:r>
          </a:p>
        </p:txBody>
      </p:sp>
      <p:sp>
        <p:nvSpPr>
          <p:cNvPr id="16" name="Text Placeholder 2">
            <a:extLst>
              <a:ext uri="{FF2B5EF4-FFF2-40B4-BE49-F238E27FC236}">
                <a16:creationId xmlns:a16="http://schemas.microsoft.com/office/drawing/2014/main" xmlns="" id="{38E80D23-35FF-E48D-5F03-925FD0BE9645}"/>
              </a:ext>
            </a:extLst>
          </p:cNvPr>
          <p:cNvSpPr>
            <a:spLocks noGrp="1"/>
          </p:cNvSpPr>
          <p:nvPr>
            <p:ph type="body" idx="1"/>
          </p:nvPr>
        </p:nvSpPr>
        <p:spPr>
          <a:xfrm>
            <a:off x="496011" y="1958936"/>
            <a:ext cx="8890084" cy="4139439"/>
          </a:xfrm>
        </p:spPr>
        <p:txBody>
          <a:bodyPr/>
          <a:lstStyle/>
          <a:p>
            <a:pPr marL="419100" indent="-342900"/>
            <a:r>
              <a:rPr lang="en-US" b="0" dirty="0">
                <a:solidFill>
                  <a:schemeClr val="tx1">
                    <a:lumMod val="85000"/>
                    <a:lumOff val="15000"/>
                  </a:schemeClr>
                </a:solidFill>
              </a:rPr>
              <a:t>Two-point modulation requires an </a:t>
            </a:r>
            <a:r>
              <a:rPr lang="en-US" dirty="0">
                <a:solidFill>
                  <a:schemeClr val="tx1">
                    <a:lumMod val="85000"/>
                    <a:lumOff val="15000"/>
                  </a:schemeClr>
                </a:solidFill>
              </a:rPr>
              <a:t>all-pass </a:t>
            </a:r>
            <a:r>
              <a:rPr lang="en-US" b="0" dirty="0">
                <a:solidFill>
                  <a:schemeClr val="tx1">
                    <a:lumMod val="85000"/>
                    <a:lumOff val="15000"/>
                  </a:schemeClr>
                </a:solidFill>
              </a:rPr>
              <a:t>transfer function.</a:t>
            </a:r>
            <a:endParaRPr lang="en-US" dirty="0">
              <a:solidFill>
                <a:schemeClr val="tx1">
                  <a:lumMod val="85000"/>
                  <a:lumOff val="15000"/>
                </a:schemeClr>
              </a:solidFill>
            </a:endParaRPr>
          </a:p>
          <a:p>
            <a:pPr marL="419100" indent="-342900"/>
            <a:r>
              <a:rPr lang="en-US" b="0" dirty="0">
                <a:solidFill>
                  <a:schemeClr val="tx1">
                    <a:lumMod val="85000"/>
                    <a:lumOff val="15000"/>
                  </a:schemeClr>
                </a:solidFill>
              </a:rPr>
              <a:t>From linear model analysis this requires gain correction coefficient </a:t>
            </a:r>
            <a:r>
              <a:rPr lang="en-US" dirty="0">
                <a:solidFill>
                  <a:schemeClr val="tx1">
                    <a:lumMod val="85000"/>
                    <a:lumOff val="15000"/>
                  </a:schemeClr>
                </a:solidFill>
              </a:rPr>
              <a:t> (r=1)</a:t>
            </a:r>
            <a:r>
              <a:rPr lang="en-US" b="0" dirty="0">
                <a:solidFill>
                  <a:schemeClr val="tx1">
                    <a:lumMod val="85000"/>
                    <a:lumOff val="15000"/>
                  </a:schemeClr>
                </a:solidFill>
              </a:rPr>
              <a:t>.</a:t>
            </a:r>
          </a:p>
          <a:p>
            <a:pPr marL="419100" indent="-342900"/>
            <a:endParaRPr lang="en-US" b="0" dirty="0">
              <a:solidFill>
                <a:schemeClr val="tx1">
                  <a:lumMod val="85000"/>
                  <a:lumOff val="15000"/>
                </a:schemeClr>
              </a:solidFill>
            </a:endParaRPr>
          </a:p>
          <a:p>
            <a:pPr marL="419100" indent="-342900"/>
            <a:endParaRPr lang="en-US" b="0" dirty="0">
              <a:solidFill>
                <a:schemeClr val="tx1">
                  <a:lumMod val="85000"/>
                  <a:lumOff val="15000"/>
                </a:schemeClr>
              </a:solidFill>
            </a:endParaRPr>
          </a:p>
          <a:p>
            <a:pPr marL="419100" indent="-342900"/>
            <a:r>
              <a:rPr lang="en-US" b="0" dirty="0">
                <a:solidFill>
                  <a:schemeClr val="tx1">
                    <a:lumMod val="85000"/>
                    <a:lumOff val="15000"/>
                  </a:schemeClr>
                </a:solidFill>
              </a:rPr>
              <a:t>Since KDCO​ varies with PVT, Accurate gain estimation is required.</a:t>
            </a:r>
          </a:p>
          <a:p>
            <a:pPr marL="419100" indent="-342900"/>
            <a:r>
              <a:rPr lang="en-US" b="0" dirty="0">
                <a:solidFill>
                  <a:schemeClr val="tx1">
                    <a:lumMod val="85000"/>
                    <a:lumOff val="15000"/>
                  </a:schemeClr>
                </a:solidFill>
              </a:rPr>
              <a:t>Adaptive LMS algorithm is used in DCO gain estimation.</a:t>
            </a:r>
          </a:p>
        </p:txBody>
      </p:sp>
      <p:pic>
        <p:nvPicPr>
          <p:cNvPr id="3" name="Picture 2">
            <a:extLst>
              <a:ext uri="{FF2B5EF4-FFF2-40B4-BE49-F238E27FC236}">
                <a16:creationId xmlns:a16="http://schemas.microsoft.com/office/drawing/2014/main" xmlns="" id="{2AB323F3-F4AF-F964-A7CA-11BC61A85539}"/>
              </a:ext>
            </a:extLst>
          </p:cNvPr>
          <p:cNvPicPr>
            <a:picLocks noChangeAspect="1"/>
          </p:cNvPicPr>
          <p:nvPr/>
        </p:nvPicPr>
        <p:blipFill>
          <a:blip r:embed="rId2"/>
          <a:stretch>
            <a:fillRect/>
          </a:stretch>
        </p:blipFill>
        <p:spPr>
          <a:xfrm>
            <a:off x="4754609" y="2912603"/>
            <a:ext cx="1752603" cy="398687"/>
          </a:xfrm>
          <a:prstGeom prst="rect">
            <a:avLst/>
          </a:prstGeom>
          <a:noFill/>
          <a:ln cap="flat">
            <a:noFill/>
          </a:ln>
        </p:spPr>
      </p:pic>
    </p:spTree>
    <p:extLst>
      <p:ext uri="{BB962C8B-B14F-4D97-AF65-F5344CB8AC3E}">
        <p14:creationId xmlns:p14="http://schemas.microsoft.com/office/powerpoint/2010/main" val="108402115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9AAE52B-8A67-8560-2B9D-FF3DB416DF38}"/>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xmlns="" id="{DA39A538-0A88-4FBA-77A5-6500BAA42FD3}"/>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LMS</a:t>
            </a:r>
          </a:p>
        </p:txBody>
      </p:sp>
      <p:sp>
        <p:nvSpPr>
          <p:cNvPr id="12" name="Text Placeholder 3">
            <a:extLst>
              <a:ext uri="{FF2B5EF4-FFF2-40B4-BE49-F238E27FC236}">
                <a16:creationId xmlns:a16="http://schemas.microsoft.com/office/drawing/2014/main" xmlns="" id="{1AF37EA1-9C91-9943-4BE8-8334DA66F3D0}"/>
              </a:ext>
            </a:extLst>
          </p:cNvPr>
          <p:cNvSpPr>
            <a:spLocks noGrp="1"/>
          </p:cNvSpPr>
          <p:nvPr>
            <p:ph type="body" idx="4294967295"/>
          </p:nvPr>
        </p:nvSpPr>
        <p:spPr>
          <a:xfrm>
            <a:off x="609600" y="1228174"/>
            <a:ext cx="10972800" cy="506413"/>
          </a:xfrm>
        </p:spPr>
        <p:txBody>
          <a:bodyPr>
            <a:normAutofit/>
          </a:bodyPr>
          <a:lstStyle/>
          <a:p>
            <a:pPr marL="76200" indent="0" algn="ctr">
              <a:buNone/>
            </a:pPr>
            <a:r>
              <a:rPr lang="en-US" sz="2000" b="1" dirty="0">
                <a:solidFill>
                  <a:schemeClr val="tx1">
                    <a:lumMod val="85000"/>
                    <a:lumOff val="15000"/>
                  </a:schemeClr>
                </a:solidFill>
              </a:rPr>
              <a:t>Sign-Sign LMS Algorithm</a:t>
            </a:r>
          </a:p>
        </p:txBody>
      </p:sp>
      <mc:AlternateContent xmlns:mc="http://schemas.openxmlformats.org/markup-compatibility/2006" xmlns:a14="http://schemas.microsoft.com/office/drawing/2010/main">
        <mc:Choice Requires="a14">
          <p:sp>
            <p:nvSpPr>
              <p:cNvPr id="16" name="Text Placeholder 2">
                <a:extLst>
                  <a:ext uri="{FF2B5EF4-FFF2-40B4-BE49-F238E27FC236}">
                    <a16:creationId xmlns:a16="http://schemas.microsoft.com/office/drawing/2014/main" xmlns="" id="{EB74CCA0-63DB-171D-3B2A-DA73D40CDE72}"/>
                  </a:ext>
                </a:extLst>
              </p:cNvPr>
              <p:cNvSpPr>
                <a:spLocks noGrp="1"/>
              </p:cNvSpPr>
              <p:nvPr>
                <p:ph type="body" idx="1"/>
              </p:nvPr>
            </p:nvSpPr>
            <p:spPr>
              <a:xfrm>
                <a:off x="426331" y="1759644"/>
                <a:ext cx="10556408" cy="4383366"/>
              </a:xfrm>
            </p:spPr>
            <p:txBody>
              <a:bodyPr/>
              <a:lstStyle/>
              <a:p>
                <a:pPr marL="419100" indent="-342900"/>
                <a:r>
                  <a:rPr lang="en-US" b="0" dirty="0">
                    <a:solidFill>
                      <a:schemeClr val="tx1">
                        <a:lumMod val="85000"/>
                        <a:lumOff val="15000"/>
                      </a:schemeClr>
                    </a:solidFill>
                  </a:rPr>
                  <a:t>LMS algorithm was chosen for gain estimation because of its simplified hardware and Low power optimization.</a:t>
                </a:r>
              </a:p>
              <a:p>
                <a:pPr marL="419100" indent="-342900"/>
                <a:r>
                  <a:rPr lang="en-US" b="0" dirty="0">
                    <a:solidFill>
                      <a:schemeClr val="tx1">
                        <a:lumMod val="85000"/>
                        <a:lumOff val="15000"/>
                      </a:schemeClr>
                    </a:solidFill>
                  </a:rPr>
                  <a:t>An even more simplified algorithm was used with variable step size:</a:t>
                </a:r>
              </a:p>
              <a:p>
                <a:pPr marL="533400" lvl="1" indent="0">
                  <a:buNone/>
                </a:pPr>
                <a:r>
                  <a:rPr lang="en-US" dirty="0">
                    <a:solidFill>
                      <a:schemeClr val="tx1">
                        <a:lumMod val="85000"/>
                        <a:lumOff val="15000"/>
                      </a:schemeClr>
                    </a:solidFill>
                  </a:rPr>
                  <a:t>Sign-Sign LMS (SS-LMS)</a:t>
                </a:r>
              </a:p>
              <a:p>
                <a:pPr marL="419100" indent="-342900"/>
                <a:endParaRPr lang="en-US" b="0" dirty="0">
                  <a:solidFill>
                    <a:schemeClr val="tx1">
                      <a:lumMod val="85000"/>
                      <a:lumOff val="15000"/>
                    </a:schemeClr>
                  </a:solidFill>
                </a:endParaRPr>
              </a:p>
              <a:p>
                <a:pPr marL="533400" lvl="1" indent="0">
                  <a:lnSpc>
                    <a:spcPct val="150000"/>
                  </a:lnSpc>
                  <a:buNone/>
                </a:pPr>
                <a14:m>
                  <m:oMathPara xmlns:m="http://schemas.openxmlformats.org/officeDocument/2006/math">
                    <m:oMathParaPr>
                      <m:jc m:val="left"/>
                    </m:oMathParaPr>
                    <m:oMath xmlns:m="http://schemas.openxmlformats.org/officeDocument/2006/math">
                      <m:r>
                        <m:rPr>
                          <m:sty m:val="p"/>
                        </m:rPr>
                        <a:rPr lang="en-US" b="0" dirty="0">
                          <a:solidFill>
                            <a:schemeClr val="tx1">
                              <a:lumMod val="85000"/>
                              <a:lumOff val="15000"/>
                            </a:schemeClr>
                          </a:solidFill>
                          <a:latin typeface="Cambria Math" panose="02040503050406030204" pitchFamily="18" charset="0"/>
                        </a:rPr>
                        <m:t>G</m:t>
                      </m:r>
                      <m:d>
                        <m:dPr>
                          <m:ctrlPr>
                            <a:rPr lang="pt-BR" b="0" i="1">
                              <a:solidFill>
                                <a:schemeClr val="tx1">
                                  <a:lumMod val="85000"/>
                                  <a:lumOff val="15000"/>
                                </a:schemeClr>
                              </a:solidFill>
                              <a:latin typeface="Cambria Math" panose="02040503050406030204" pitchFamily="18" charset="0"/>
                            </a:rPr>
                          </m:ctrlPr>
                        </m:dPr>
                        <m:e>
                          <m:r>
                            <a:rPr lang="pt-BR" b="0" i="1">
                              <a:solidFill>
                                <a:schemeClr val="tx1">
                                  <a:lumMod val="85000"/>
                                  <a:lumOff val="15000"/>
                                </a:schemeClr>
                              </a:solidFill>
                              <a:latin typeface="Cambria Math" panose="02040503050406030204" pitchFamily="18" charset="0"/>
                            </a:rPr>
                            <m:t>𝑛</m:t>
                          </m:r>
                          <m:r>
                            <a:rPr lang="pt-BR" b="0" i="1">
                              <a:solidFill>
                                <a:schemeClr val="tx1">
                                  <a:lumMod val="85000"/>
                                  <a:lumOff val="15000"/>
                                </a:schemeClr>
                              </a:solidFill>
                              <a:latin typeface="Cambria Math" panose="02040503050406030204" pitchFamily="18" charset="0"/>
                            </a:rPr>
                            <m:t>+</m:t>
                          </m:r>
                          <m:r>
                            <a:rPr lang="pt-BR" b="0" i="1">
                              <a:solidFill>
                                <a:schemeClr val="tx1">
                                  <a:lumMod val="85000"/>
                                  <a:lumOff val="15000"/>
                                </a:schemeClr>
                              </a:solidFill>
                              <a:latin typeface="Cambria Math" panose="02040503050406030204" pitchFamily="18" charset="0"/>
                            </a:rPr>
                            <m:t>1</m:t>
                          </m:r>
                        </m:e>
                      </m:d>
                      <m:r>
                        <a:rPr lang="pt-BR" b="0" i="1">
                          <a:solidFill>
                            <a:schemeClr val="tx1">
                              <a:lumMod val="85000"/>
                              <a:lumOff val="15000"/>
                            </a:schemeClr>
                          </a:solidFill>
                          <a:latin typeface="Cambria Math" panose="02040503050406030204" pitchFamily="18" charset="0"/>
                        </a:rPr>
                        <m:t>=</m:t>
                      </m:r>
                      <m:r>
                        <a:rPr lang="en-US" b="0" i="1" smtClean="0">
                          <a:solidFill>
                            <a:schemeClr val="tx1">
                              <a:lumMod val="85000"/>
                              <a:lumOff val="15000"/>
                            </a:schemeClr>
                          </a:solidFill>
                          <a:latin typeface="Cambria Math" panose="02040503050406030204" pitchFamily="18" charset="0"/>
                        </a:rPr>
                        <m:t>𝐺</m:t>
                      </m:r>
                      <m:d>
                        <m:dPr>
                          <m:ctrlPr>
                            <a:rPr lang="pt-BR" b="0" i="1">
                              <a:solidFill>
                                <a:schemeClr val="tx1">
                                  <a:lumMod val="85000"/>
                                  <a:lumOff val="15000"/>
                                </a:schemeClr>
                              </a:solidFill>
                              <a:latin typeface="Cambria Math" panose="02040503050406030204" pitchFamily="18" charset="0"/>
                            </a:rPr>
                          </m:ctrlPr>
                        </m:dPr>
                        <m:e>
                          <m:r>
                            <a:rPr lang="pt-BR" b="0" i="1">
                              <a:solidFill>
                                <a:schemeClr val="tx1">
                                  <a:lumMod val="85000"/>
                                  <a:lumOff val="15000"/>
                                </a:schemeClr>
                              </a:solidFill>
                              <a:latin typeface="Cambria Math" panose="02040503050406030204" pitchFamily="18" charset="0"/>
                            </a:rPr>
                            <m:t>𝑛</m:t>
                          </m:r>
                        </m:e>
                      </m:d>
                      <m:r>
                        <a:rPr lang="pt-BR" b="0" i="1">
                          <a:solidFill>
                            <a:schemeClr val="tx1">
                              <a:lumMod val="85000"/>
                              <a:lumOff val="15000"/>
                            </a:schemeClr>
                          </a:solidFill>
                          <a:latin typeface="Cambria Math" panose="02040503050406030204" pitchFamily="18" charset="0"/>
                        </a:rPr>
                        <m:t>+</m:t>
                      </m:r>
                      <m:r>
                        <a:rPr lang="pt-BR" b="0" i="1">
                          <a:solidFill>
                            <a:schemeClr val="tx1">
                              <a:lumMod val="85000"/>
                              <a:lumOff val="15000"/>
                            </a:schemeClr>
                          </a:solidFill>
                          <a:latin typeface="Cambria Math" panose="02040503050406030204" pitchFamily="18" charset="0"/>
                        </a:rPr>
                        <m:t>𝜇</m:t>
                      </m:r>
                      <m:r>
                        <a:rPr lang="pt-BR" b="0" i="1">
                          <a:solidFill>
                            <a:schemeClr val="tx1">
                              <a:lumMod val="85000"/>
                              <a:lumOff val="15000"/>
                            </a:schemeClr>
                          </a:solidFill>
                          <a:latin typeface="Cambria Math" panose="02040503050406030204" pitchFamily="18" charset="0"/>
                        </a:rPr>
                        <m:t>𝑠𝑖𝑔𝑛</m:t>
                      </m:r>
                      <m:d>
                        <m:dPr>
                          <m:ctrlPr>
                            <a:rPr lang="pt-BR" b="0" i="1">
                              <a:solidFill>
                                <a:schemeClr val="tx1">
                                  <a:lumMod val="85000"/>
                                  <a:lumOff val="15000"/>
                                </a:schemeClr>
                              </a:solidFill>
                              <a:latin typeface="Cambria Math" panose="02040503050406030204" pitchFamily="18" charset="0"/>
                            </a:rPr>
                          </m:ctrlPr>
                        </m:dPr>
                        <m:e>
                          <m:r>
                            <a:rPr lang="pt-BR" b="0" i="1">
                              <a:solidFill>
                                <a:schemeClr val="tx1">
                                  <a:lumMod val="85000"/>
                                  <a:lumOff val="15000"/>
                                </a:schemeClr>
                              </a:solidFill>
                              <a:latin typeface="Cambria Math" panose="02040503050406030204" pitchFamily="18" charset="0"/>
                            </a:rPr>
                            <m:t>𝑚</m:t>
                          </m:r>
                          <m:r>
                            <a:rPr lang="pt-BR" b="0" i="1">
                              <a:solidFill>
                                <a:schemeClr val="tx1">
                                  <a:lumMod val="85000"/>
                                  <a:lumOff val="15000"/>
                                </a:schemeClr>
                              </a:solidFill>
                              <a:latin typeface="Cambria Math" panose="02040503050406030204" pitchFamily="18" charset="0"/>
                            </a:rPr>
                            <m:t>[</m:t>
                          </m:r>
                          <m:r>
                            <a:rPr lang="pt-BR" b="0" i="1">
                              <a:solidFill>
                                <a:schemeClr val="tx1">
                                  <a:lumMod val="85000"/>
                                  <a:lumOff val="15000"/>
                                </a:schemeClr>
                              </a:solidFill>
                              <a:latin typeface="Cambria Math" panose="02040503050406030204" pitchFamily="18" charset="0"/>
                            </a:rPr>
                            <m:t>𝑛</m:t>
                          </m:r>
                          <m:r>
                            <a:rPr lang="pt-BR" b="0" i="1">
                              <a:solidFill>
                                <a:schemeClr val="tx1">
                                  <a:lumMod val="85000"/>
                                  <a:lumOff val="15000"/>
                                </a:schemeClr>
                              </a:solidFill>
                              <a:latin typeface="Cambria Math" panose="02040503050406030204" pitchFamily="18" charset="0"/>
                            </a:rPr>
                            <m:t>]</m:t>
                          </m:r>
                        </m:e>
                      </m:d>
                      <m:r>
                        <a:rPr lang="pt-BR" b="0" i="1">
                          <a:solidFill>
                            <a:schemeClr val="tx1">
                              <a:lumMod val="85000"/>
                              <a:lumOff val="15000"/>
                            </a:schemeClr>
                          </a:solidFill>
                          <a:latin typeface="Cambria Math" panose="02040503050406030204" pitchFamily="18" charset="0"/>
                        </a:rPr>
                        <m:t>𝑠𝑖𝑔𝑛</m:t>
                      </m:r>
                      <m:d>
                        <m:dPr>
                          <m:ctrlPr>
                            <a:rPr lang="pt-BR" b="0" i="1">
                              <a:solidFill>
                                <a:schemeClr val="tx1">
                                  <a:lumMod val="85000"/>
                                  <a:lumOff val="15000"/>
                                </a:schemeClr>
                              </a:solidFill>
                              <a:latin typeface="Cambria Math" panose="02040503050406030204" pitchFamily="18" charset="0"/>
                            </a:rPr>
                          </m:ctrlPr>
                        </m:dPr>
                        <m:e>
                          <m:r>
                            <a:rPr lang="el-GR" b="0" i="1">
                              <a:solidFill>
                                <a:schemeClr val="tx1">
                                  <a:lumMod val="85000"/>
                                  <a:lumOff val="15000"/>
                                </a:schemeClr>
                              </a:solidFill>
                              <a:latin typeface="Cambria Math" panose="02040503050406030204" pitchFamily="18" charset="0"/>
                            </a:rPr>
                            <m:t>𝜙</m:t>
                          </m:r>
                          <m:r>
                            <a:rPr lang="pt-BR" b="0" i="1">
                              <a:solidFill>
                                <a:schemeClr val="tx1">
                                  <a:lumMod val="85000"/>
                                  <a:lumOff val="15000"/>
                                </a:schemeClr>
                              </a:solidFill>
                              <a:latin typeface="Cambria Math" panose="02040503050406030204" pitchFamily="18" charset="0"/>
                            </a:rPr>
                            <m:t>𝑒</m:t>
                          </m:r>
                          <m:r>
                            <a:rPr lang="pt-BR" b="0" i="1">
                              <a:solidFill>
                                <a:schemeClr val="tx1">
                                  <a:lumMod val="85000"/>
                                  <a:lumOff val="15000"/>
                                </a:schemeClr>
                              </a:solidFill>
                              <a:latin typeface="Cambria Math" panose="02040503050406030204" pitchFamily="18" charset="0"/>
                            </a:rPr>
                            <m:t>​[</m:t>
                          </m:r>
                          <m:r>
                            <a:rPr lang="pt-BR" b="0" i="1">
                              <a:solidFill>
                                <a:schemeClr val="tx1">
                                  <a:lumMod val="85000"/>
                                  <a:lumOff val="15000"/>
                                </a:schemeClr>
                              </a:solidFill>
                              <a:latin typeface="Cambria Math" panose="02040503050406030204" pitchFamily="18" charset="0"/>
                            </a:rPr>
                            <m:t>𝑛</m:t>
                          </m:r>
                          <m:r>
                            <a:rPr lang="pt-BR" b="0" i="1">
                              <a:solidFill>
                                <a:schemeClr val="tx1">
                                  <a:lumMod val="85000"/>
                                  <a:lumOff val="15000"/>
                                </a:schemeClr>
                              </a:solidFill>
                              <a:latin typeface="Cambria Math" panose="02040503050406030204" pitchFamily="18" charset="0"/>
                            </a:rPr>
                            <m:t>]</m:t>
                          </m:r>
                        </m:e>
                      </m:d>
                    </m:oMath>
                  </m:oMathPara>
                </a14:m>
                <a:endParaRPr lang="en-US" b="0" dirty="0">
                  <a:solidFill>
                    <a:schemeClr val="tx1">
                      <a:lumMod val="85000"/>
                      <a:lumOff val="15000"/>
                    </a:schemeClr>
                  </a:solidFill>
                </a:endParaRPr>
              </a:p>
              <a:p>
                <a:pPr marL="76200" indent="0">
                  <a:buNone/>
                </a:pPr>
                <a:endParaRPr lang="en-US" b="0" dirty="0">
                  <a:solidFill>
                    <a:schemeClr val="tx1">
                      <a:lumMod val="85000"/>
                      <a:lumOff val="15000"/>
                    </a:schemeClr>
                  </a:solidFill>
                </a:endParaRPr>
              </a:p>
              <a:p>
                <a:pPr marL="76200" indent="0">
                  <a:buNone/>
                </a:pPr>
                <a:endParaRPr lang="en-US" b="0" dirty="0">
                  <a:solidFill>
                    <a:schemeClr val="tx1">
                      <a:lumMod val="85000"/>
                      <a:lumOff val="15000"/>
                    </a:schemeClr>
                  </a:solidFill>
                </a:endParaRPr>
              </a:p>
              <a:p>
                <a:pPr marL="419100" indent="-342900"/>
                <a:r>
                  <a:rPr lang="en-US" b="0" dirty="0">
                    <a:solidFill>
                      <a:schemeClr val="tx1">
                        <a:lumMod val="85000"/>
                        <a:lumOff val="15000"/>
                      </a:schemeClr>
                    </a:solidFill>
                  </a:rPr>
                  <a:t>The algorithm minimizes the correlation between modulation data and residual phase error. </a:t>
                </a:r>
              </a:p>
              <a:p>
                <a:pPr marL="419100" indent="-342900"/>
                <a:r>
                  <a:rPr lang="en-US" b="0" dirty="0">
                    <a:solidFill>
                      <a:schemeClr val="tx1">
                        <a:lumMod val="85000"/>
                        <a:lumOff val="15000"/>
                      </a:schemeClr>
                    </a:solidFill>
                  </a:rPr>
                  <a:t>Convergence occurs when the residual phase error is minimized, achieving an accurate KDCO estimation.</a:t>
                </a:r>
              </a:p>
            </p:txBody>
          </p:sp>
        </mc:Choice>
        <mc:Fallback xmlns="">
          <p:sp>
            <p:nvSpPr>
              <p:cNvPr id="16" name="Text Placeholder 2">
                <a:extLst>
                  <a:ext uri="{FF2B5EF4-FFF2-40B4-BE49-F238E27FC236}">
                    <a16:creationId xmlns:a16="http://schemas.microsoft.com/office/drawing/2014/main" id="{EB74CCA0-63DB-171D-3B2A-DA73D40CDE72}"/>
                  </a:ext>
                </a:extLst>
              </p:cNvPr>
              <p:cNvSpPr>
                <a:spLocks noGrp="1" noRot="1" noChangeAspect="1" noMove="1" noResize="1" noEditPoints="1" noAdjustHandles="1" noChangeArrowheads="1" noChangeShapeType="1" noTextEdit="1"/>
              </p:cNvSpPr>
              <p:nvPr>
                <p:ph type="body" idx="1"/>
              </p:nvPr>
            </p:nvSpPr>
            <p:spPr>
              <a:xfrm>
                <a:off x="426331" y="1759644"/>
                <a:ext cx="10556408" cy="4383366"/>
              </a:xfrm>
              <a:blipFill>
                <a:blip r:embed="rId2"/>
                <a:stretch>
                  <a:fillRect/>
                </a:stretch>
              </a:blipFill>
            </p:spPr>
            <p:txBody>
              <a:bodyPr/>
              <a:lstStyle/>
              <a:p>
                <a:r>
                  <a:rPr lang="en-US">
                    <a:noFill/>
                  </a:rPr>
                  <a:t> </a:t>
                </a:r>
              </a:p>
            </p:txBody>
          </p:sp>
        </mc:Fallback>
      </mc:AlternateContent>
      <p:sp>
        <p:nvSpPr>
          <p:cNvPr id="2" name="Rectangle 1">
            <a:extLst>
              <a:ext uri="{FF2B5EF4-FFF2-40B4-BE49-F238E27FC236}">
                <a16:creationId xmlns:a16="http://schemas.microsoft.com/office/drawing/2014/main" xmlns="" id="{58D93161-5D15-6C61-D32D-E4873BC7682E}"/>
              </a:ext>
            </a:extLst>
          </p:cNvPr>
          <p:cNvSpPr/>
          <p:nvPr/>
        </p:nvSpPr>
        <p:spPr>
          <a:xfrm>
            <a:off x="707391" y="3429000"/>
            <a:ext cx="5388609" cy="71561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xmlns="" id="{7A8A8848-7E1A-068F-1214-8D3CA5FCEF45}"/>
              </a:ext>
            </a:extLst>
          </p:cNvPr>
          <p:cNvSpPr/>
          <p:nvPr/>
        </p:nvSpPr>
        <p:spPr>
          <a:xfrm>
            <a:off x="8304245" y="3079102"/>
            <a:ext cx="1698171" cy="99837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Arrow Connector 3">
            <a:extLst>
              <a:ext uri="{FF2B5EF4-FFF2-40B4-BE49-F238E27FC236}">
                <a16:creationId xmlns:a16="http://schemas.microsoft.com/office/drawing/2014/main" xmlns="" id="{8DAB349D-ED20-CFD4-0ACC-4666E3D619A7}"/>
              </a:ext>
            </a:extLst>
          </p:cNvPr>
          <p:cNvCxnSpPr/>
          <p:nvPr/>
        </p:nvCxnSpPr>
        <p:spPr>
          <a:xfrm>
            <a:off x="6988629" y="3312367"/>
            <a:ext cx="1315616" cy="0"/>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6" name="Straight Arrow Connector 5">
            <a:extLst>
              <a:ext uri="{FF2B5EF4-FFF2-40B4-BE49-F238E27FC236}">
                <a16:creationId xmlns:a16="http://schemas.microsoft.com/office/drawing/2014/main" xmlns="" id="{7BBBBBB2-44E5-29E3-5585-E7501FA0CFAC}"/>
              </a:ext>
            </a:extLst>
          </p:cNvPr>
          <p:cNvCxnSpPr/>
          <p:nvPr/>
        </p:nvCxnSpPr>
        <p:spPr>
          <a:xfrm>
            <a:off x="6988629" y="3791338"/>
            <a:ext cx="1315616" cy="0"/>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7" name="Straight Arrow Connector 6">
            <a:extLst>
              <a:ext uri="{FF2B5EF4-FFF2-40B4-BE49-F238E27FC236}">
                <a16:creationId xmlns:a16="http://schemas.microsoft.com/office/drawing/2014/main" xmlns="" id="{C739FCB6-C705-5714-C75C-0A7493642F0C}"/>
              </a:ext>
            </a:extLst>
          </p:cNvPr>
          <p:cNvCxnSpPr/>
          <p:nvPr/>
        </p:nvCxnSpPr>
        <p:spPr>
          <a:xfrm>
            <a:off x="10002416" y="3548742"/>
            <a:ext cx="1315616" cy="0"/>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xmlns="" id="{11F04D65-A248-E636-3B22-620151CE13B5}"/>
                  </a:ext>
                </a:extLst>
              </p:cNvPr>
              <p:cNvSpPr txBox="1"/>
              <p:nvPr/>
            </p:nvSpPr>
            <p:spPr>
              <a:xfrm>
                <a:off x="6268583" y="3586753"/>
                <a:ext cx="853751" cy="400110"/>
              </a:xfrm>
              <a:prstGeom prst="rect">
                <a:avLst/>
              </a:prstGeom>
              <a:noFill/>
            </p:spPr>
            <p:txBody>
              <a:bodyPr wrap="square" rtlCol="0">
                <a:spAutoFit/>
              </a:bodyPr>
              <a:lstStyle/>
              <a:p>
                <a14:m>
                  <m:oMath xmlns:m="http://schemas.openxmlformats.org/officeDocument/2006/math">
                    <m:r>
                      <a:rPr lang="el-GR" sz="2000" i="1">
                        <a:solidFill>
                          <a:schemeClr val="tx1">
                            <a:lumMod val="85000"/>
                            <a:lumOff val="15000"/>
                          </a:schemeClr>
                        </a:solidFill>
                        <a:latin typeface="Cambria Math" panose="02040503050406030204" pitchFamily="18" charset="0"/>
                      </a:rPr>
                      <m:t>𝜙</m:t>
                    </m:r>
                    <m:r>
                      <a:rPr lang="pt-BR" sz="2000" i="1">
                        <a:solidFill>
                          <a:schemeClr val="tx1">
                            <a:lumMod val="85000"/>
                            <a:lumOff val="15000"/>
                          </a:schemeClr>
                        </a:solidFill>
                        <a:latin typeface="Cambria Math" panose="02040503050406030204" pitchFamily="18" charset="0"/>
                      </a:rPr>
                      <m:t>𝑒</m:t>
                    </m:r>
                    <m:r>
                      <a:rPr lang="pt-BR" sz="2000" i="1">
                        <a:solidFill>
                          <a:schemeClr val="tx1">
                            <a:lumMod val="85000"/>
                            <a:lumOff val="15000"/>
                          </a:schemeClr>
                        </a:solidFill>
                        <a:latin typeface="Cambria Math" panose="02040503050406030204" pitchFamily="18" charset="0"/>
                      </a:rPr>
                      <m:t>​</m:t>
                    </m:r>
                  </m:oMath>
                </a14:m>
                <a:r>
                  <a:rPr lang="en-US" sz="2000" dirty="0"/>
                  <a:t>[n]</a:t>
                </a:r>
              </a:p>
            </p:txBody>
          </p:sp>
        </mc:Choice>
        <mc:Fallback xmlns="">
          <p:sp>
            <p:nvSpPr>
              <p:cNvPr id="8" name="TextBox 7">
                <a:extLst>
                  <a:ext uri="{FF2B5EF4-FFF2-40B4-BE49-F238E27FC236}">
                    <a16:creationId xmlns:a16="http://schemas.microsoft.com/office/drawing/2014/main" id="{11F04D65-A248-E636-3B22-620151CE13B5}"/>
                  </a:ext>
                </a:extLst>
              </p:cNvPr>
              <p:cNvSpPr txBox="1">
                <a:spLocks noRot="1" noChangeAspect="1" noMove="1" noResize="1" noEditPoints="1" noAdjustHandles="1" noChangeArrowheads="1" noChangeShapeType="1" noTextEdit="1"/>
              </p:cNvSpPr>
              <p:nvPr/>
            </p:nvSpPr>
            <p:spPr>
              <a:xfrm>
                <a:off x="6268583" y="3586753"/>
                <a:ext cx="853751" cy="400110"/>
              </a:xfrm>
              <a:prstGeom prst="rect">
                <a:avLst/>
              </a:prstGeom>
              <a:blipFill>
                <a:blip r:embed="rId3"/>
                <a:stretch>
                  <a:fillRect l="-2857" t="-7576" b="-25758"/>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xmlns="" id="{ABE3D152-7DFB-9B7E-4191-1CA8606EA8CE}"/>
              </a:ext>
            </a:extLst>
          </p:cNvPr>
          <p:cNvSpPr txBox="1"/>
          <p:nvPr/>
        </p:nvSpPr>
        <p:spPr>
          <a:xfrm>
            <a:off x="6337817" y="3037114"/>
            <a:ext cx="650811" cy="369332"/>
          </a:xfrm>
          <a:prstGeom prst="rect">
            <a:avLst/>
          </a:prstGeom>
          <a:noFill/>
        </p:spPr>
        <p:txBody>
          <a:bodyPr wrap="square" rtlCol="0">
            <a:spAutoFit/>
          </a:bodyPr>
          <a:lstStyle/>
          <a:p>
            <a:r>
              <a:rPr lang="en-US" dirty="0"/>
              <a:t>M[n]</a:t>
            </a:r>
          </a:p>
        </p:txBody>
      </p:sp>
      <p:sp>
        <p:nvSpPr>
          <p:cNvPr id="10" name="TextBox 9">
            <a:extLst>
              <a:ext uri="{FF2B5EF4-FFF2-40B4-BE49-F238E27FC236}">
                <a16:creationId xmlns:a16="http://schemas.microsoft.com/office/drawing/2014/main" xmlns="" id="{05BB0BD6-3B55-E09E-C056-C24D995F9F27}"/>
              </a:ext>
            </a:extLst>
          </p:cNvPr>
          <p:cNvSpPr txBox="1"/>
          <p:nvPr/>
        </p:nvSpPr>
        <p:spPr>
          <a:xfrm>
            <a:off x="8507184" y="3293705"/>
            <a:ext cx="1408922" cy="523220"/>
          </a:xfrm>
          <a:prstGeom prst="rect">
            <a:avLst/>
          </a:prstGeom>
          <a:noFill/>
        </p:spPr>
        <p:txBody>
          <a:bodyPr wrap="square" rtlCol="0">
            <a:spAutoFit/>
          </a:bodyPr>
          <a:lstStyle/>
          <a:p>
            <a:r>
              <a:rPr lang="en-US" sz="2800" dirty="0"/>
              <a:t>SS-LMS</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xmlns="" id="{34D8C727-EC42-D4C4-26E5-108EFBA84A25}"/>
                  </a:ext>
                </a:extLst>
              </p:cNvPr>
              <p:cNvSpPr txBox="1"/>
              <p:nvPr/>
            </p:nvSpPr>
            <p:spPr>
              <a:xfrm>
                <a:off x="10789293" y="3109039"/>
                <a:ext cx="112614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chemeClr val="tx1">
                              <a:lumMod val="85000"/>
                              <a:lumOff val="15000"/>
                            </a:schemeClr>
                          </a:solidFill>
                          <a:latin typeface="Cambria Math" panose="02040503050406030204" pitchFamily="18" charset="0"/>
                        </a:rPr>
                        <m:t>𝐺</m:t>
                      </m:r>
                      <m:d>
                        <m:dPr>
                          <m:ctrlPr>
                            <a:rPr lang="pt-BR" i="1">
                              <a:solidFill>
                                <a:schemeClr val="tx1">
                                  <a:lumMod val="85000"/>
                                  <a:lumOff val="15000"/>
                                </a:schemeClr>
                              </a:solidFill>
                              <a:latin typeface="Cambria Math" panose="02040503050406030204" pitchFamily="18" charset="0"/>
                            </a:rPr>
                          </m:ctrlPr>
                        </m:dPr>
                        <m:e>
                          <m:r>
                            <a:rPr lang="pt-BR" i="1">
                              <a:solidFill>
                                <a:schemeClr val="tx1">
                                  <a:lumMod val="85000"/>
                                  <a:lumOff val="15000"/>
                                </a:schemeClr>
                              </a:solidFill>
                              <a:latin typeface="Cambria Math" panose="02040503050406030204" pitchFamily="18" charset="0"/>
                            </a:rPr>
                            <m:t>𝑛</m:t>
                          </m:r>
                          <m:r>
                            <a:rPr lang="en-US" b="0" i="1" smtClean="0">
                              <a:solidFill>
                                <a:schemeClr val="tx1">
                                  <a:lumMod val="85000"/>
                                  <a:lumOff val="15000"/>
                                </a:schemeClr>
                              </a:solidFill>
                              <a:latin typeface="Cambria Math" panose="02040503050406030204" pitchFamily="18" charset="0"/>
                            </a:rPr>
                            <m:t>+</m:t>
                          </m:r>
                          <m:r>
                            <a:rPr lang="en-US" b="0" i="1" smtClean="0">
                              <a:solidFill>
                                <a:schemeClr val="tx1">
                                  <a:lumMod val="85000"/>
                                  <a:lumOff val="15000"/>
                                </a:schemeClr>
                              </a:solidFill>
                              <a:latin typeface="Cambria Math" panose="02040503050406030204" pitchFamily="18" charset="0"/>
                            </a:rPr>
                            <m:t>1</m:t>
                          </m:r>
                        </m:e>
                      </m:d>
                    </m:oMath>
                  </m:oMathPara>
                </a14:m>
                <a:endParaRPr lang="en-US" dirty="0"/>
              </a:p>
            </p:txBody>
          </p:sp>
        </mc:Choice>
        <mc:Fallback xmlns="">
          <p:sp>
            <p:nvSpPr>
              <p:cNvPr id="11" name="TextBox 10">
                <a:extLst>
                  <a:ext uri="{FF2B5EF4-FFF2-40B4-BE49-F238E27FC236}">
                    <a16:creationId xmlns:a16="http://schemas.microsoft.com/office/drawing/2014/main" id="{34D8C727-EC42-D4C4-26E5-108EFBA84A25}"/>
                  </a:ext>
                </a:extLst>
              </p:cNvPr>
              <p:cNvSpPr txBox="1">
                <a:spLocks noRot="1" noChangeAspect="1" noMove="1" noResize="1" noEditPoints="1" noAdjustHandles="1" noChangeArrowheads="1" noChangeShapeType="1" noTextEdit="1"/>
              </p:cNvSpPr>
              <p:nvPr/>
            </p:nvSpPr>
            <p:spPr>
              <a:xfrm>
                <a:off x="10789293" y="3109039"/>
                <a:ext cx="1126142" cy="369332"/>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3212507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CC7FE85-20DB-72B7-3D9C-A7D3E1B45625}"/>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xmlns="" id="{EF1EA9C2-B979-6D2B-8456-E25FC5FCEDF0}"/>
              </a:ext>
            </a:extLst>
          </p:cNvPr>
          <p:cNvSpPr>
            <a:spLocks noGrp="1"/>
          </p:cNvSpPr>
          <p:nvPr>
            <p:ph type="title"/>
          </p:nvPr>
        </p:nvSpPr>
        <p:spPr/>
        <p:txBody>
          <a:bodyPr/>
          <a:lstStyle/>
          <a:p>
            <a:r>
              <a:rPr lang="en-US" dirty="0">
                <a:latin typeface="Times New Roman" panose="02020603050405020304" pitchFamily="18" charset="0"/>
              </a:rPr>
              <a:t>LMS</a:t>
            </a:r>
            <a:endParaRPr lang="en-US" dirty="0">
              <a:latin typeface="Times New Roman" panose="02020603050405020304" pitchFamily="18" charset="0"/>
              <a:cs typeface="Times New Roman" panose="02020603050405020304" pitchFamily="18" charset="0"/>
            </a:endParaRPr>
          </a:p>
        </p:txBody>
      </p:sp>
      <p:sp>
        <p:nvSpPr>
          <p:cNvPr id="12" name="Text Placeholder 3">
            <a:extLst>
              <a:ext uri="{FF2B5EF4-FFF2-40B4-BE49-F238E27FC236}">
                <a16:creationId xmlns:a16="http://schemas.microsoft.com/office/drawing/2014/main" xmlns="" id="{88463ADB-B714-4CD5-3688-9DB580E2C69F}"/>
              </a:ext>
            </a:extLst>
          </p:cNvPr>
          <p:cNvSpPr>
            <a:spLocks noGrp="1"/>
          </p:cNvSpPr>
          <p:nvPr>
            <p:ph type="body" idx="4294967295"/>
          </p:nvPr>
        </p:nvSpPr>
        <p:spPr>
          <a:xfrm>
            <a:off x="193040" y="1160417"/>
            <a:ext cx="10972800" cy="506413"/>
          </a:xfrm>
        </p:spPr>
        <p:txBody>
          <a:bodyPr>
            <a:normAutofit/>
          </a:bodyPr>
          <a:lstStyle/>
          <a:p>
            <a:pPr marL="76200" indent="0" algn="ctr">
              <a:buNone/>
            </a:pPr>
            <a:r>
              <a:rPr lang="en-US" sz="2000" b="1" dirty="0">
                <a:solidFill>
                  <a:schemeClr val="tx1">
                    <a:lumMod val="85000"/>
                    <a:lumOff val="15000"/>
                  </a:schemeClr>
                </a:solidFill>
              </a:rPr>
              <a:t>	RTL </a:t>
            </a:r>
            <a:r>
              <a:rPr lang="en-US" dirty="0">
                <a:solidFill>
                  <a:schemeClr val="tx1">
                    <a:lumMod val="85000"/>
                    <a:lumOff val="15000"/>
                  </a:schemeClr>
                </a:solidFill>
              </a:rPr>
              <a:t>Implementation</a:t>
            </a:r>
            <a:r>
              <a:rPr lang="en-US" sz="2000" b="1" dirty="0">
                <a:solidFill>
                  <a:schemeClr val="tx1">
                    <a:lumMod val="85000"/>
                    <a:lumOff val="15000"/>
                  </a:schemeClr>
                </a:solidFill>
              </a:rPr>
              <a:t> </a:t>
            </a:r>
          </a:p>
        </p:txBody>
      </p:sp>
      <p:pic>
        <p:nvPicPr>
          <p:cNvPr id="3" name="Picture 2">
            <a:extLst>
              <a:ext uri="{FF2B5EF4-FFF2-40B4-BE49-F238E27FC236}">
                <a16:creationId xmlns:a16="http://schemas.microsoft.com/office/drawing/2014/main" xmlns="" id="{342C1DCD-D579-A93E-2B11-4428963750E9}"/>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47804" y="2024698"/>
            <a:ext cx="10111186" cy="3839389"/>
          </a:xfrm>
          <a:prstGeom prst="rect">
            <a:avLst/>
          </a:prstGeom>
          <a:noFill/>
          <a:ln>
            <a:noFill/>
          </a:ln>
        </p:spPr>
      </p:pic>
    </p:spTree>
    <p:extLst>
      <p:ext uri="{BB962C8B-B14F-4D97-AF65-F5344CB8AC3E}">
        <p14:creationId xmlns:p14="http://schemas.microsoft.com/office/powerpoint/2010/main" val="358501772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DA8E7FF-54C1-8E75-ACF5-A5DB5F1460C1}"/>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xmlns="" id="{524CE5B7-08A6-2AFA-6214-8F523574D493}"/>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LMS</a:t>
            </a:r>
          </a:p>
        </p:txBody>
      </p:sp>
      <p:sp>
        <p:nvSpPr>
          <p:cNvPr id="12" name="Text Placeholder 3">
            <a:extLst>
              <a:ext uri="{FF2B5EF4-FFF2-40B4-BE49-F238E27FC236}">
                <a16:creationId xmlns:a16="http://schemas.microsoft.com/office/drawing/2014/main" xmlns="" id="{925B1F2C-C96F-96F3-F114-4D70CBA65043}"/>
              </a:ext>
            </a:extLst>
          </p:cNvPr>
          <p:cNvSpPr>
            <a:spLocks noGrp="1"/>
          </p:cNvSpPr>
          <p:nvPr>
            <p:ph type="body" idx="4294967295"/>
          </p:nvPr>
        </p:nvSpPr>
        <p:spPr>
          <a:xfrm>
            <a:off x="609600" y="1228174"/>
            <a:ext cx="10972800" cy="506413"/>
          </a:xfrm>
        </p:spPr>
        <p:txBody>
          <a:bodyPr>
            <a:normAutofit/>
          </a:bodyPr>
          <a:lstStyle/>
          <a:p>
            <a:pPr marL="76200" indent="0" algn="ctr">
              <a:buNone/>
            </a:pPr>
            <a:r>
              <a:rPr lang="en-US" dirty="0">
                <a:solidFill>
                  <a:schemeClr val="tx1">
                    <a:lumMod val="85000"/>
                    <a:lumOff val="15000"/>
                  </a:schemeClr>
                </a:solidFill>
              </a:rPr>
              <a:t>MATLAB Simulation Results</a:t>
            </a:r>
            <a:endParaRPr lang="en-US" sz="2000" b="1" dirty="0">
              <a:solidFill>
                <a:schemeClr val="tx1">
                  <a:lumMod val="85000"/>
                  <a:lumOff val="15000"/>
                </a:schemeClr>
              </a:solidFill>
            </a:endParaRPr>
          </a:p>
        </p:txBody>
      </p:sp>
      <p:pic>
        <p:nvPicPr>
          <p:cNvPr id="8" name="Picture 7">
            <a:extLst>
              <a:ext uri="{FF2B5EF4-FFF2-40B4-BE49-F238E27FC236}">
                <a16:creationId xmlns:a16="http://schemas.microsoft.com/office/drawing/2014/main" xmlns="" id="{DEC90AC7-A165-A341-6204-F090D72999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86609" y="2272673"/>
            <a:ext cx="7818782" cy="4007126"/>
          </a:xfrm>
          <a:prstGeom prst="rect">
            <a:avLst/>
          </a:prstGeom>
        </p:spPr>
      </p:pic>
      <p:sp>
        <p:nvSpPr>
          <p:cNvPr id="9" name="TextBox 8">
            <a:extLst>
              <a:ext uri="{FF2B5EF4-FFF2-40B4-BE49-F238E27FC236}">
                <a16:creationId xmlns:a16="http://schemas.microsoft.com/office/drawing/2014/main" xmlns="" id="{0D68A516-4ED4-6F8F-7524-1575821845B5}"/>
              </a:ext>
            </a:extLst>
          </p:cNvPr>
          <p:cNvSpPr txBox="1"/>
          <p:nvPr/>
        </p:nvSpPr>
        <p:spPr>
          <a:xfrm>
            <a:off x="536712" y="1847873"/>
            <a:ext cx="6404317" cy="369332"/>
          </a:xfrm>
          <a:prstGeom prst="rect">
            <a:avLst/>
          </a:prstGeom>
          <a:noFill/>
        </p:spPr>
        <p:txBody>
          <a:bodyPr wrap="none" rtlCol="0">
            <a:spAutoFit/>
          </a:bodyPr>
          <a:lstStyle/>
          <a:p>
            <a:r>
              <a:rPr lang="en-US" sz="1800" b="1" dirty="0"/>
              <a:t>Relative Estimated Gain Error during training sequence: </a:t>
            </a:r>
          </a:p>
        </p:txBody>
      </p:sp>
    </p:spTree>
    <p:extLst>
      <p:ext uri="{BB962C8B-B14F-4D97-AF65-F5344CB8AC3E}">
        <p14:creationId xmlns:p14="http://schemas.microsoft.com/office/powerpoint/2010/main" val="22306623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D791969-D346-9FBF-D8AD-A4D95293B485}"/>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xmlns="" id="{6443242A-6C29-6FE4-DE8D-C2007AEAEA73}"/>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LMS</a:t>
            </a:r>
          </a:p>
        </p:txBody>
      </p:sp>
      <p:sp>
        <p:nvSpPr>
          <p:cNvPr id="12" name="Text Placeholder 3">
            <a:extLst>
              <a:ext uri="{FF2B5EF4-FFF2-40B4-BE49-F238E27FC236}">
                <a16:creationId xmlns:a16="http://schemas.microsoft.com/office/drawing/2014/main" xmlns="" id="{F11E92C9-950E-4F87-6A8D-DF4E91808958}"/>
              </a:ext>
            </a:extLst>
          </p:cNvPr>
          <p:cNvSpPr>
            <a:spLocks noGrp="1"/>
          </p:cNvSpPr>
          <p:nvPr>
            <p:ph type="body" idx="4294967295"/>
          </p:nvPr>
        </p:nvSpPr>
        <p:spPr>
          <a:xfrm>
            <a:off x="609600" y="1228174"/>
            <a:ext cx="10972800" cy="506413"/>
          </a:xfrm>
        </p:spPr>
        <p:txBody>
          <a:bodyPr>
            <a:normAutofit/>
          </a:bodyPr>
          <a:lstStyle/>
          <a:p>
            <a:pPr marL="76200" indent="0" algn="ctr">
              <a:buNone/>
            </a:pPr>
            <a:r>
              <a:rPr lang="en-US" dirty="0">
                <a:solidFill>
                  <a:schemeClr val="tx1">
                    <a:lumMod val="85000"/>
                    <a:lumOff val="15000"/>
                  </a:schemeClr>
                </a:solidFill>
              </a:rPr>
              <a:t>RTL Verification Vs MATLAB</a:t>
            </a:r>
            <a:r>
              <a:rPr lang="en-US" sz="2000" b="1" dirty="0">
                <a:solidFill>
                  <a:schemeClr val="tx1">
                    <a:lumMod val="85000"/>
                    <a:lumOff val="15000"/>
                  </a:schemeClr>
                </a:solidFill>
              </a:rPr>
              <a:t> </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xmlns="" id="{EAFC2B3F-C65D-578D-72A6-C5D918119736}"/>
                  </a:ext>
                </a:extLst>
              </p14:cNvPr>
              <p14:cNvContentPartPr/>
              <p14:nvPr/>
            </p14:nvContentPartPr>
            <p14:xfrm>
              <a:off x="2303405" y="3458770"/>
              <a:ext cx="111960" cy="51840"/>
            </p14:xfrm>
          </p:contentPart>
        </mc:Choice>
        <mc:Fallback xmlns="">
          <p:pic>
            <p:nvPicPr>
              <p:cNvPr id="3" name="Ink 2">
                <a:extLst>
                  <a:ext uri="{FF2B5EF4-FFF2-40B4-BE49-F238E27FC236}">
                    <a16:creationId xmlns:a16="http://schemas.microsoft.com/office/drawing/2014/main" id="{EAFC2B3F-C65D-578D-72A6-C5D918119736}"/>
                  </a:ext>
                </a:extLst>
              </p:cNvPr>
              <p:cNvPicPr/>
              <p:nvPr/>
            </p:nvPicPr>
            <p:blipFill>
              <a:blip r:embed="rId3"/>
              <a:stretch>
                <a:fillRect/>
              </a:stretch>
            </p:blipFill>
            <p:spPr>
              <a:xfrm>
                <a:off x="2267405" y="3422770"/>
                <a:ext cx="183600" cy="123480"/>
              </a:xfrm>
              <a:prstGeom prst="rect">
                <a:avLst/>
              </a:prstGeom>
            </p:spPr>
          </p:pic>
        </mc:Fallback>
      </mc:AlternateContent>
      <p:grpSp>
        <p:nvGrpSpPr>
          <p:cNvPr id="8" name="Group 7">
            <a:extLst>
              <a:ext uri="{FF2B5EF4-FFF2-40B4-BE49-F238E27FC236}">
                <a16:creationId xmlns:a16="http://schemas.microsoft.com/office/drawing/2014/main" xmlns="" id="{E934B7FF-3D5D-DF68-8800-FCB68F83E5E7}"/>
              </a:ext>
            </a:extLst>
          </p:cNvPr>
          <p:cNvGrpSpPr/>
          <p:nvPr/>
        </p:nvGrpSpPr>
        <p:grpSpPr>
          <a:xfrm>
            <a:off x="5094514" y="1734587"/>
            <a:ext cx="6812349" cy="4722197"/>
            <a:chOff x="1754682" y="1734587"/>
            <a:chExt cx="8682636" cy="4524470"/>
          </a:xfrm>
        </p:grpSpPr>
        <p:pic>
          <p:nvPicPr>
            <p:cNvPr id="2" name="Picture 1">
              <a:extLst>
                <a:ext uri="{FF2B5EF4-FFF2-40B4-BE49-F238E27FC236}">
                  <a16:creationId xmlns:a16="http://schemas.microsoft.com/office/drawing/2014/main" xmlns="" id="{854BCA5E-F34F-8793-C9B7-73002BE841A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54682" y="1734587"/>
              <a:ext cx="8682636" cy="4524470"/>
            </a:xfrm>
            <a:prstGeom prst="rect">
              <a:avLst/>
            </a:prstGeom>
          </p:spPr>
        </p:pic>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xmlns="" id="{DEBC8C42-0999-B369-4677-7717AB38D3B6}"/>
                    </a:ext>
                  </a:extLst>
                </p14:cNvPr>
                <p14:cNvContentPartPr/>
                <p14:nvPr/>
              </p14:nvContentPartPr>
              <p14:xfrm>
                <a:off x="1991160" y="3356700"/>
                <a:ext cx="90000" cy="325800"/>
              </p14:xfrm>
            </p:contentPart>
          </mc:Choice>
          <mc:Fallback xmlns="">
            <p:pic>
              <p:nvPicPr>
                <p:cNvPr id="7" name="Ink 6">
                  <a:extLst>
                    <a:ext uri="{FF2B5EF4-FFF2-40B4-BE49-F238E27FC236}">
                      <a16:creationId xmlns:a16="http://schemas.microsoft.com/office/drawing/2014/main" id="{DEBC8C42-0999-B369-4677-7717AB38D3B6}"/>
                    </a:ext>
                  </a:extLst>
                </p:cNvPr>
                <p:cNvPicPr/>
                <p:nvPr/>
              </p:nvPicPr>
              <p:blipFill>
                <a:blip r:embed="rId6"/>
                <a:stretch>
                  <a:fillRect/>
                </a:stretch>
              </p:blipFill>
              <p:spPr>
                <a:xfrm>
                  <a:off x="1955520" y="3321060"/>
                  <a:ext cx="161640" cy="397440"/>
                </a:xfrm>
                <a:prstGeom prst="rect">
                  <a:avLst/>
                </a:prstGeom>
              </p:spPr>
            </p:pic>
          </mc:Fallback>
        </mc:AlternateContent>
      </p:grpSp>
      <p:sp>
        <p:nvSpPr>
          <p:cNvPr id="4" name="Text Placeholder 2">
            <a:extLst>
              <a:ext uri="{FF2B5EF4-FFF2-40B4-BE49-F238E27FC236}">
                <a16:creationId xmlns:a16="http://schemas.microsoft.com/office/drawing/2014/main" xmlns="" id="{6C60CAC7-D100-C86F-DC59-F2BF50A5A431}"/>
              </a:ext>
            </a:extLst>
          </p:cNvPr>
          <p:cNvSpPr>
            <a:spLocks noGrp="1"/>
          </p:cNvSpPr>
          <p:nvPr>
            <p:ph type="body" idx="1"/>
          </p:nvPr>
        </p:nvSpPr>
        <p:spPr>
          <a:xfrm>
            <a:off x="285137" y="2237425"/>
            <a:ext cx="4418330" cy="4312961"/>
          </a:xfrm>
        </p:spPr>
        <p:txBody>
          <a:bodyPr/>
          <a:lstStyle/>
          <a:p>
            <a:pPr marL="419100" indent="-342900"/>
            <a:r>
              <a:rPr lang="en-US" b="0" dirty="0">
                <a:solidFill>
                  <a:schemeClr val="tx1">
                    <a:lumMod val="85000"/>
                    <a:lumOff val="15000"/>
                  </a:schemeClr>
                </a:solidFill>
              </a:rPr>
              <a:t>MATLAB reference sample-based model used for golden comparison.</a:t>
            </a:r>
          </a:p>
          <a:p>
            <a:pPr marL="419100" indent="-342900"/>
            <a:endParaRPr lang="en-US" b="0" dirty="0">
              <a:solidFill>
                <a:schemeClr val="tx1">
                  <a:lumMod val="85000"/>
                  <a:lumOff val="15000"/>
                </a:schemeClr>
              </a:solidFill>
            </a:endParaRPr>
          </a:p>
          <a:p>
            <a:pPr marL="419100" indent="-342900"/>
            <a:r>
              <a:rPr lang="en-US" b="0" dirty="0">
                <a:solidFill>
                  <a:schemeClr val="tx1">
                    <a:lumMod val="85000"/>
                    <a:lumOff val="15000"/>
                  </a:schemeClr>
                </a:solidFill>
              </a:rPr>
              <a:t>Identical training sequence applied to MATLAB and RTL.</a:t>
            </a:r>
          </a:p>
          <a:p>
            <a:pPr marL="419100" indent="-342900"/>
            <a:endParaRPr lang="en-US" b="0" dirty="0">
              <a:solidFill>
                <a:schemeClr val="tx1">
                  <a:lumMod val="85000"/>
                  <a:lumOff val="15000"/>
                </a:schemeClr>
              </a:solidFill>
            </a:endParaRPr>
          </a:p>
          <a:p>
            <a:pPr marL="419100" indent="-342900"/>
            <a:r>
              <a:rPr lang="en-US" b="0" dirty="0">
                <a:solidFill>
                  <a:schemeClr val="tx1">
                    <a:lumMod val="85000"/>
                    <a:lumOff val="15000"/>
                  </a:schemeClr>
                </a:solidFill>
              </a:rPr>
              <a:t>Estimated DCO gain convergence compared throughout training.</a:t>
            </a:r>
          </a:p>
        </p:txBody>
      </p:sp>
    </p:spTree>
    <p:extLst>
      <p:ext uri="{BB962C8B-B14F-4D97-AF65-F5344CB8AC3E}">
        <p14:creationId xmlns:p14="http://schemas.microsoft.com/office/powerpoint/2010/main" val="361899359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A5D7C36-0370-3B62-A3E9-A9D7B1DEEB8D}"/>
              </a:ext>
            </a:extLst>
          </p:cNvPr>
          <p:cNvSpPr>
            <a:spLocks noGrp="1"/>
          </p:cNvSpPr>
          <p:nvPr>
            <p:ph type="title"/>
          </p:nvPr>
        </p:nvSpPr>
        <p:spPr/>
        <p:txBody>
          <a:bodyPr/>
          <a:lstStyle/>
          <a:p>
            <a:r>
              <a:rPr lang="en-US" dirty="0"/>
              <a:t>LMS Before optimization </a:t>
            </a:r>
          </a:p>
        </p:txBody>
      </p:sp>
      <p:sp>
        <p:nvSpPr>
          <p:cNvPr id="3" name="Text Placeholder 2">
            <a:extLst>
              <a:ext uri="{FF2B5EF4-FFF2-40B4-BE49-F238E27FC236}">
                <a16:creationId xmlns:a16="http://schemas.microsoft.com/office/drawing/2014/main" xmlns="" id="{0A131003-B736-369C-397E-D49826ED8C57}"/>
              </a:ext>
            </a:extLst>
          </p:cNvPr>
          <p:cNvSpPr>
            <a:spLocks noGrp="1"/>
          </p:cNvSpPr>
          <p:nvPr>
            <p:ph type="body" idx="1"/>
          </p:nvPr>
        </p:nvSpPr>
        <p:spPr>
          <a:xfrm>
            <a:off x="914400" y="5435600"/>
            <a:ext cx="10363200" cy="1060095"/>
          </a:xfrm>
        </p:spPr>
        <p:txBody>
          <a:bodyPr/>
          <a:lstStyle/>
          <a:p>
            <a:r>
              <a:rPr lang="en-US" dirty="0">
                <a:solidFill>
                  <a:schemeClr val="tx1">
                    <a:lumMod val="75000"/>
                    <a:lumOff val="25000"/>
                  </a:schemeClr>
                </a:solidFill>
              </a:rPr>
              <a:t>LMS takes around 80 symbol to converge with rapid oscillation during transition time </a:t>
            </a:r>
          </a:p>
          <a:p>
            <a:endParaRPr lang="en-US" dirty="0"/>
          </a:p>
        </p:txBody>
      </p:sp>
      <p:pic>
        <p:nvPicPr>
          <p:cNvPr id="5" name="Picture 4">
            <a:extLst>
              <a:ext uri="{FF2B5EF4-FFF2-40B4-BE49-F238E27FC236}">
                <a16:creationId xmlns:a16="http://schemas.microsoft.com/office/drawing/2014/main" xmlns="" id="{79B90A41-846A-A785-7690-5707512FA778}"/>
              </a:ext>
            </a:extLst>
          </p:cNvPr>
          <p:cNvPicPr>
            <a:picLocks noChangeAspect="1"/>
          </p:cNvPicPr>
          <p:nvPr/>
        </p:nvPicPr>
        <p:blipFill>
          <a:blip r:embed="rId2"/>
          <a:stretch>
            <a:fillRect/>
          </a:stretch>
        </p:blipFill>
        <p:spPr>
          <a:xfrm>
            <a:off x="2167989" y="1308963"/>
            <a:ext cx="7678222" cy="3839111"/>
          </a:xfrm>
          <a:prstGeom prst="rect">
            <a:avLst/>
          </a:prstGeom>
        </p:spPr>
      </p:pic>
    </p:spTree>
    <p:extLst>
      <p:ext uri="{BB962C8B-B14F-4D97-AF65-F5344CB8AC3E}">
        <p14:creationId xmlns:p14="http://schemas.microsoft.com/office/powerpoint/2010/main" val="238678713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9E6085A-1CDD-2E2D-441E-761EE62F37F0}"/>
              </a:ext>
            </a:extLst>
          </p:cNvPr>
          <p:cNvSpPr>
            <a:spLocks noGrp="1"/>
          </p:cNvSpPr>
          <p:nvPr>
            <p:ph type="title"/>
          </p:nvPr>
        </p:nvSpPr>
        <p:spPr/>
        <p:txBody>
          <a:bodyPr/>
          <a:lstStyle/>
          <a:p>
            <a:r>
              <a:rPr lang="en-US" dirty="0"/>
              <a:t>LMS optimization </a:t>
            </a:r>
          </a:p>
        </p:txBody>
      </p:sp>
      <p:sp>
        <p:nvSpPr>
          <p:cNvPr id="3" name="Text Placeholder 2">
            <a:extLst>
              <a:ext uri="{FF2B5EF4-FFF2-40B4-BE49-F238E27FC236}">
                <a16:creationId xmlns:a16="http://schemas.microsoft.com/office/drawing/2014/main" xmlns="" id="{9B1CBFF0-C8D3-F100-A9A8-6AC463F480D8}"/>
              </a:ext>
            </a:extLst>
          </p:cNvPr>
          <p:cNvSpPr>
            <a:spLocks noGrp="1"/>
          </p:cNvSpPr>
          <p:nvPr>
            <p:ph type="body" idx="1"/>
          </p:nvPr>
        </p:nvSpPr>
        <p:spPr>
          <a:xfrm>
            <a:off x="558800" y="4229100"/>
            <a:ext cx="10566400" cy="1651000"/>
          </a:xfrm>
        </p:spPr>
        <p:txBody>
          <a:bodyPr/>
          <a:lstStyle/>
          <a:p>
            <a:r>
              <a:rPr lang="en-US" dirty="0">
                <a:solidFill>
                  <a:schemeClr val="tx1">
                    <a:lumMod val="75000"/>
                    <a:lumOff val="25000"/>
                  </a:schemeClr>
                </a:solidFill>
              </a:rPr>
              <a:t>Adding two filters to reduce noise of phase error but that will cause delay mismatch between modulated signal and phase error signal</a:t>
            </a:r>
          </a:p>
          <a:p>
            <a:r>
              <a:rPr lang="en-US" dirty="0">
                <a:solidFill>
                  <a:schemeClr val="tx1">
                    <a:lumMod val="75000"/>
                    <a:lumOff val="25000"/>
                  </a:schemeClr>
                </a:solidFill>
              </a:rPr>
              <a:t>So we have to add same filters with same response to match delay between modulated data and phase error </a:t>
            </a:r>
          </a:p>
          <a:p>
            <a:endParaRPr lang="en-US" dirty="0"/>
          </a:p>
        </p:txBody>
      </p:sp>
      <p:pic>
        <p:nvPicPr>
          <p:cNvPr id="7170" name="Picture 2">
            <a:extLst>
              <a:ext uri="{FF2B5EF4-FFF2-40B4-BE49-F238E27FC236}">
                <a16:creationId xmlns:a16="http://schemas.microsoft.com/office/drawing/2014/main" xmlns="" id="{EA984B92-63EF-C480-16D8-4F68954424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5650" y="1308963"/>
            <a:ext cx="8798216" cy="29201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433766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0F9F67B-D624-E7F7-788B-ACB3E25615F4}"/>
              </a:ext>
            </a:extLst>
          </p:cNvPr>
          <p:cNvSpPr>
            <a:spLocks noGrp="1"/>
          </p:cNvSpPr>
          <p:nvPr>
            <p:ph type="title"/>
          </p:nvPr>
        </p:nvSpPr>
        <p:spPr/>
        <p:txBody>
          <a:bodyPr/>
          <a:lstStyle/>
          <a:p>
            <a:r>
              <a:rPr lang="en-US" dirty="0"/>
              <a:t>IIR implementation </a:t>
            </a:r>
          </a:p>
        </p:txBody>
      </p:sp>
      <p:sp>
        <p:nvSpPr>
          <p:cNvPr id="3" name="Text Placeholder 2">
            <a:extLst>
              <a:ext uri="{FF2B5EF4-FFF2-40B4-BE49-F238E27FC236}">
                <a16:creationId xmlns:a16="http://schemas.microsoft.com/office/drawing/2014/main" xmlns="" id="{80BB818F-9D7B-5A7D-BAD1-1837AC5A12EE}"/>
              </a:ext>
            </a:extLst>
          </p:cNvPr>
          <p:cNvSpPr>
            <a:spLocks noGrp="1"/>
          </p:cNvSpPr>
          <p:nvPr>
            <p:ph type="body" idx="1"/>
          </p:nvPr>
        </p:nvSpPr>
        <p:spPr>
          <a:xfrm>
            <a:off x="914400" y="5764933"/>
            <a:ext cx="9804400" cy="730762"/>
          </a:xfrm>
        </p:spPr>
        <p:txBody>
          <a:bodyPr/>
          <a:lstStyle/>
          <a:p>
            <a:r>
              <a:rPr lang="en-US" dirty="0">
                <a:solidFill>
                  <a:schemeClr val="tx1">
                    <a:lumMod val="75000"/>
                    <a:lumOff val="25000"/>
                  </a:schemeClr>
                </a:solidFill>
              </a:rPr>
              <a:t>y[n] = (1 −</a:t>
            </a:r>
            <a:r>
              <a:rPr lang="el-GR" dirty="0">
                <a:solidFill>
                  <a:schemeClr val="tx1">
                    <a:lumMod val="75000"/>
                    <a:lumOff val="25000"/>
                  </a:schemeClr>
                </a:solidFill>
              </a:rPr>
              <a:t>α)</a:t>
            </a:r>
            <a:r>
              <a:rPr lang="en-US" dirty="0">
                <a:solidFill>
                  <a:schemeClr val="tx1">
                    <a:lumMod val="75000"/>
                    <a:lumOff val="25000"/>
                  </a:schemeClr>
                </a:solidFill>
              </a:rPr>
              <a:t>y[n−1]+</a:t>
            </a:r>
            <a:r>
              <a:rPr lang="el-GR" dirty="0">
                <a:solidFill>
                  <a:schemeClr val="tx1">
                    <a:lumMod val="75000"/>
                    <a:lumOff val="25000"/>
                  </a:schemeClr>
                </a:solidFill>
              </a:rPr>
              <a:t>α</a:t>
            </a:r>
            <a:r>
              <a:rPr lang="en-US" dirty="0">
                <a:solidFill>
                  <a:schemeClr val="tx1">
                    <a:lumMod val="75000"/>
                    <a:lumOff val="25000"/>
                  </a:schemeClr>
                </a:solidFill>
              </a:rPr>
              <a:t>x[n]</a:t>
            </a:r>
          </a:p>
        </p:txBody>
      </p:sp>
      <p:pic>
        <p:nvPicPr>
          <p:cNvPr id="8" name="Picture 7">
            <a:extLst>
              <a:ext uri="{FF2B5EF4-FFF2-40B4-BE49-F238E27FC236}">
                <a16:creationId xmlns:a16="http://schemas.microsoft.com/office/drawing/2014/main" xmlns="" id="{40C485DC-1089-057A-8C66-779690309020}"/>
              </a:ext>
            </a:extLst>
          </p:cNvPr>
          <p:cNvPicPr>
            <a:picLocks noChangeAspect="1"/>
          </p:cNvPicPr>
          <p:nvPr/>
        </p:nvPicPr>
        <p:blipFill>
          <a:blip r:embed="rId3"/>
          <a:stretch>
            <a:fillRect/>
          </a:stretch>
        </p:blipFill>
        <p:spPr>
          <a:xfrm>
            <a:off x="2064890" y="1397401"/>
            <a:ext cx="7503420" cy="4367532"/>
          </a:xfrm>
          <a:prstGeom prst="rect">
            <a:avLst/>
          </a:prstGeom>
        </p:spPr>
      </p:pic>
    </p:spTree>
    <p:extLst>
      <p:ext uri="{BB962C8B-B14F-4D97-AF65-F5344CB8AC3E}">
        <p14:creationId xmlns:p14="http://schemas.microsoft.com/office/powerpoint/2010/main" val="362040352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375FA6D-82CB-628B-6E15-DEA01E7E077E}"/>
              </a:ext>
            </a:extLst>
          </p:cNvPr>
          <p:cNvSpPr>
            <a:spLocks noGrp="1"/>
          </p:cNvSpPr>
          <p:nvPr>
            <p:ph type="title"/>
          </p:nvPr>
        </p:nvSpPr>
        <p:spPr/>
        <p:txBody>
          <a:bodyPr/>
          <a:lstStyle/>
          <a:p>
            <a:r>
              <a:rPr lang="en-US" dirty="0"/>
              <a:t>LMS optimized response </a:t>
            </a:r>
          </a:p>
        </p:txBody>
      </p:sp>
      <p:sp>
        <p:nvSpPr>
          <p:cNvPr id="3" name="Text Placeholder 2">
            <a:extLst>
              <a:ext uri="{FF2B5EF4-FFF2-40B4-BE49-F238E27FC236}">
                <a16:creationId xmlns:a16="http://schemas.microsoft.com/office/drawing/2014/main" xmlns="" id="{AF71B82D-CD6D-031F-D67D-DEBD65AEC60F}"/>
              </a:ext>
            </a:extLst>
          </p:cNvPr>
          <p:cNvSpPr>
            <a:spLocks noGrp="1"/>
          </p:cNvSpPr>
          <p:nvPr>
            <p:ph type="body" idx="1"/>
          </p:nvPr>
        </p:nvSpPr>
        <p:spPr>
          <a:xfrm>
            <a:off x="914400" y="1510748"/>
            <a:ext cx="4751297" cy="4984947"/>
          </a:xfrm>
        </p:spPr>
        <p:txBody>
          <a:bodyPr/>
          <a:lstStyle/>
          <a:p>
            <a:pPr marL="101600" indent="0">
              <a:buNone/>
            </a:pPr>
            <a:endParaRPr lang="en-US" dirty="0"/>
          </a:p>
          <a:p>
            <a:r>
              <a:rPr lang="en-US" dirty="0">
                <a:solidFill>
                  <a:schemeClr val="tx1">
                    <a:lumMod val="75000"/>
                    <a:lumOff val="25000"/>
                  </a:schemeClr>
                </a:solidFill>
              </a:rPr>
              <a:t>Oscillation reduced significantly </a:t>
            </a:r>
          </a:p>
          <a:p>
            <a:r>
              <a:rPr lang="en-US" dirty="0">
                <a:solidFill>
                  <a:schemeClr val="tx1">
                    <a:lumMod val="75000"/>
                    <a:lumOff val="25000"/>
                  </a:schemeClr>
                </a:solidFill>
              </a:rPr>
              <a:t>Response more faster it takes less than 10 symbol compared to 80 symbol before optimization </a:t>
            </a:r>
          </a:p>
        </p:txBody>
      </p:sp>
      <p:pic>
        <p:nvPicPr>
          <p:cNvPr id="5" name="Picture 4">
            <a:extLst>
              <a:ext uri="{FF2B5EF4-FFF2-40B4-BE49-F238E27FC236}">
                <a16:creationId xmlns:a16="http://schemas.microsoft.com/office/drawing/2014/main" xmlns="" id="{DE04A7E1-75BB-108F-02D4-9847B1531CA8}"/>
              </a:ext>
            </a:extLst>
          </p:cNvPr>
          <p:cNvPicPr>
            <a:picLocks noChangeAspect="1"/>
          </p:cNvPicPr>
          <p:nvPr/>
        </p:nvPicPr>
        <p:blipFill>
          <a:blip r:embed="rId2"/>
          <a:stretch>
            <a:fillRect/>
          </a:stretch>
        </p:blipFill>
        <p:spPr>
          <a:xfrm>
            <a:off x="5665697" y="1308963"/>
            <a:ext cx="6113554" cy="4583418"/>
          </a:xfrm>
          <a:prstGeom prst="rect">
            <a:avLst/>
          </a:prstGeom>
        </p:spPr>
      </p:pic>
    </p:spTree>
    <p:extLst>
      <p:ext uri="{BB962C8B-B14F-4D97-AF65-F5344CB8AC3E}">
        <p14:creationId xmlns:p14="http://schemas.microsoft.com/office/powerpoint/2010/main" val="228713927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3D728D2-9EC7-B842-6058-F7F9CF266D1C}"/>
              </a:ext>
            </a:extLst>
          </p:cNvPr>
          <p:cNvSpPr>
            <a:spLocks noGrp="1"/>
          </p:cNvSpPr>
          <p:nvPr>
            <p:ph type="title"/>
          </p:nvPr>
        </p:nvSpPr>
        <p:spPr/>
        <p:txBody>
          <a:bodyPr/>
          <a:lstStyle/>
          <a:p>
            <a:r>
              <a:rPr lang="en-US" dirty="0"/>
              <a:t>DCO operation </a:t>
            </a:r>
          </a:p>
        </p:txBody>
      </p:sp>
      <p:sp>
        <p:nvSpPr>
          <p:cNvPr id="3" name="Text Placeholder 2">
            <a:extLst>
              <a:ext uri="{FF2B5EF4-FFF2-40B4-BE49-F238E27FC236}">
                <a16:creationId xmlns:a16="http://schemas.microsoft.com/office/drawing/2014/main" xmlns="" id="{3533211D-C1A9-6EA5-284D-4D287EAD33F8}"/>
              </a:ext>
            </a:extLst>
          </p:cNvPr>
          <p:cNvSpPr>
            <a:spLocks noGrp="1"/>
          </p:cNvSpPr>
          <p:nvPr>
            <p:ph type="body" idx="1"/>
          </p:nvPr>
        </p:nvSpPr>
        <p:spPr>
          <a:xfrm>
            <a:off x="946151" y="1510748"/>
            <a:ext cx="4857750" cy="4984947"/>
          </a:xfrm>
        </p:spPr>
        <p:txBody>
          <a:bodyPr/>
          <a:lstStyle/>
          <a:p>
            <a:r>
              <a:rPr lang="en-US" dirty="0"/>
              <a:t>DCO has mainly has four modes :</a:t>
            </a:r>
          </a:p>
          <a:p>
            <a:pPr marL="457200" lvl="1">
              <a:buFont typeface="Arial"/>
              <a:buChar char="•"/>
            </a:pPr>
            <a:r>
              <a:rPr lang="en-US" dirty="0">
                <a:solidFill>
                  <a:schemeClr val="tx1">
                    <a:lumMod val="75000"/>
                    <a:lumOff val="25000"/>
                  </a:schemeClr>
                </a:solidFill>
              </a:rPr>
              <a:t>PVT Calibration: </a:t>
            </a:r>
            <a:r>
              <a:rPr lang="en-US" b="0" dirty="0">
                <a:solidFill>
                  <a:schemeClr val="tx1">
                    <a:lumMod val="75000"/>
                    <a:lumOff val="25000"/>
                  </a:schemeClr>
                </a:solidFill>
              </a:rPr>
              <a:t>Compensates for PVT variations to align the baseline frequency with the BLE range.</a:t>
            </a:r>
          </a:p>
          <a:p>
            <a:pPr marL="457200" lvl="1">
              <a:buFont typeface="Arial"/>
              <a:buChar char="•"/>
            </a:pPr>
            <a:r>
              <a:rPr lang="en-US" dirty="0">
                <a:solidFill>
                  <a:schemeClr val="tx1">
                    <a:lumMod val="75000"/>
                    <a:lumOff val="25000"/>
                  </a:schemeClr>
                </a:solidFill>
              </a:rPr>
              <a:t>ACQ mode </a:t>
            </a:r>
            <a:r>
              <a:rPr lang="en-US" b="0" dirty="0">
                <a:solidFill>
                  <a:schemeClr val="tx1">
                    <a:lumMod val="75000"/>
                    <a:lumOff val="25000"/>
                  </a:schemeClr>
                </a:solidFill>
              </a:rPr>
              <a:t>: Locks onto the specific communication channel selected by the link layer.</a:t>
            </a:r>
          </a:p>
          <a:p>
            <a:pPr marL="457200" lvl="1">
              <a:buFont typeface="Arial"/>
              <a:buChar char="•"/>
            </a:pPr>
            <a:r>
              <a:rPr lang="en-US" dirty="0">
                <a:solidFill>
                  <a:schemeClr val="tx1">
                    <a:lumMod val="75000"/>
                    <a:lumOff val="25000"/>
                  </a:schemeClr>
                </a:solidFill>
              </a:rPr>
              <a:t>Tracking mode </a:t>
            </a:r>
            <a:r>
              <a:rPr lang="en-US" b="0" dirty="0">
                <a:solidFill>
                  <a:schemeClr val="tx1">
                    <a:lumMod val="75000"/>
                    <a:lumOff val="25000"/>
                  </a:schemeClr>
                </a:solidFill>
              </a:rPr>
              <a:t>: Utilizes fine-resolution tuning to actively reduce  frequency offset from channel.</a:t>
            </a:r>
          </a:p>
          <a:p>
            <a:pPr marL="457200" lvl="1">
              <a:buFont typeface="Arial"/>
              <a:buChar char="•"/>
            </a:pPr>
            <a:r>
              <a:rPr lang="en-US" dirty="0">
                <a:solidFill>
                  <a:schemeClr val="tx1">
                    <a:lumMod val="75000"/>
                    <a:lumOff val="25000"/>
                  </a:schemeClr>
                </a:solidFill>
              </a:rPr>
              <a:t>SD operation : </a:t>
            </a:r>
            <a:r>
              <a:rPr lang="en-US" b="0" dirty="0">
                <a:solidFill>
                  <a:schemeClr val="tx1">
                    <a:lumMod val="75000"/>
                    <a:lumOff val="25000"/>
                  </a:schemeClr>
                </a:solidFill>
              </a:rPr>
              <a:t>Reduces DCO quantization noise to improve signal </a:t>
            </a:r>
          </a:p>
          <a:p>
            <a:pPr>
              <a:buFont typeface="Courier New" panose="02070309020205020404" pitchFamily="49" charset="0"/>
              <a:buChar char="o"/>
            </a:pPr>
            <a:endParaRPr lang="en-US" dirty="0">
              <a:solidFill>
                <a:schemeClr val="tx1">
                  <a:lumMod val="95000"/>
                  <a:lumOff val="5000"/>
                </a:schemeClr>
              </a:solidFill>
            </a:endParaRPr>
          </a:p>
          <a:p>
            <a:pPr marL="101600" indent="0">
              <a:buNone/>
            </a:pPr>
            <a:endParaRPr lang="en-US" dirty="0"/>
          </a:p>
        </p:txBody>
      </p:sp>
      <p:pic>
        <p:nvPicPr>
          <p:cNvPr id="1030" name="Picture 6">
            <a:extLst>
              <a:ext uri="{FF2B5EF4-FFF2-40B4-BE49-F238E27FC236}">
                <a16:creationId xmlns:a16="http://schemas.microsoft.com/office/drawing/2014/main" xmlns="" id="{4F6950B5-D9CE-B36F-4B2C-99A3E9AD2D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1510748"/>
            <a:ext cx="5838825" cy="3695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551585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4D8242C-38B6-40CC-0273-BBCD84F8D9E4}"/>
              </a:ext>
            </a:extLst>
          </p:cNvPr>
          <p:cNvSpPr>
            <a:spLocks noGrp="1"/>
          </p:cNvSpPr>
          <p:nvPr>
            <p:ph type="title"/>
          </p:nvPr>
        </p:nvSpPr>
        <p:spPr/>
        <p:txBody>
          <a:bodyPr/>
          <a:lstStyle/>
          <a:p>
            <a:r>
              <a:rPr lang="en-US" dirty="0"/>
              <a:t>DCO on high level</a:t>
            </a:r>
          </a:p>
        </p:txBody>
      </p:sp>
      <p:sp>
        <p:nvSpPr>
          <p:cNvPr id="3" name="Text Placeholder 2">
            <a:extLst>
              <a:ext uri="{FF2B5EF4-FFF2-40B4-BE49-F238E27FC236}">
                <a16:creationId xmlns:a16="http://schemas.microsoft.com/office/drawing/2014/main" xmlns="" id="{5A91B9E2-5033-C8B0-50BD-5C071D9DA11D}"/>
              </a:ext>
            </a:extLst>
          </p:cNvPr>
          <p:cNvSpPr>
            <a:spLocks noGrp="1"/>
          </p:cNvSpPr>
          <p:nvPr>
            <p:ph type="body" idx="1"/>
          </p:nvPr>
        </p:nvSpPr>
        <p:spPr>
          <a:xfrm>
            <a:off x="914400" y="4635500"/>
            <a:ext cx="10363200" cy="1860195"/>
          </a:xfrm>
        </p:spPr>
        <p:txBody>
          <a:bodyPr/>
          <a:lstStyle/>
          <a:p>
            <a:r>
              <a:rPr lang="en-US" b="0" dirty="0">
                <a:solidFill>
                  <a:schemeClr val="tx1">
                    <a:lumMod val="75000"/>
                    <a:lumOff val="25000"/>
                  </a:schemeClr>
                </a:solidFill>
              </a:rPr>
              <a:t>The Digital Loop Filter (DLF) output is normalized to the reference frequency and operates independently of the DCO gain. It passes through a gain normalizer to generate the oscillator tuning word. This tuning word is added to the direct modulation path. The signal is then split: the integer portion connects to the DCO interface, while the fractional portion feeds the Sigma-Delta (SD) modulator for fine frequency control.</a:t>
            </a:r>
          </a:p>
        </p:txBody>
      </p:sp>
      <p:pic>
        <p:nvPicPr>
          <p:cNvPr id="5122" name="Picture 2">
            <a:extLst>
              <a:ext uri="{FF2B5EF4-FFF2-40B4-BE49-F238E27FC236}">
                <a16:creationId xmlns:a16="http://schemas.microsoft.com/office/drawing/2014/main" xmlns="" id="{3C5D4C52-D858-D402-2D19-8FB269B0BF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6800" y="1871618"/>
            <a:ext cx="8229600" cy="26199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877269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851C74D-9875-A343-ED71-3D42A0370DAA}"/>
              </a:ext>
            </a:extLst>
          </p:cNvPr>
          <p:cNvSpPr>
            <a:spLocks noGrp="1"/>
          </p:cNvSpPr>
          <p:nvPr>
            <p:ph type="title"/>
          </p:nvPr>
        </p:nvSpPr>
        <p:spPr/>
        <p:txBody>
          <a:bodyPr/>
          <a:lstStyle/>
          <a:p>
            <a:r>
              <a:rPr lang="en-US" dirty="0"/>
              <a:t>Gain normalizer </a:t>
            </a:r>
          </a:p>
        </p:txBody>
      </p:sp>
      <p:sp>
        <p:nvSpPr>
          <p:cNvPr id="3" name="Text Placeholder 2">
            <a:extLst>
              <a:ext uri="{FF2B5EF4-FFF2-40B4-BE49-F238E27FC236}">
                <a16:creationId xmlns:a16="http://schemas.microsoft.com/office/drawing/2014/main" xmlns="" id="{53B56778-84D7-8F0A-E937-E6DC4E6256C8}"/>
              </a:ext>
            </a:extLst>
          </p:cNvPr>
          <p:cNvSpPr>
            <a:spLocks noGrp="1"/>
          </p:cNvSpPr>
          <p:nvPr>
            <p:ph type="body" idx="1"/>
          </p:nvPr>
        </p:nvSpPr>
        <p:spPr>
          <a:xfrm>
            <a:off x="946151" y="4194549"/>
            <a:ext cx="11112500" cy="2317395"/>
          </a:xfrm>
        </p:spPr>
        <p:txBody>
          <a:bodyPr/>
          <a:lstStyle/>
          <a:p>
            <a:r>
              <a:rPr lang="en-US" b="0" dirty="0">
                <a:solidFill>
                  <a:schemeClr val="tx1">
                    <a:lumMod val="75000"/>
                    <a:lumOff val="25000"/>
                  </a:schemeClr>
                </a:solidFill>
              </a:rPr>
              <a:t>A 2-bit mode signal determines the required multiplication factor based on the current operating</a:t>
            </a:r>
          </a:p>
          <a:p>
            <a:r>
              <a:rPr lang="en-US" b="0" dirty="0">
                <a:solidFill>
                  <a:schemeClr val="tx1">
                    <a:lumMod val="75000"/>
                    <a:lumOff val="25000"/>
                  </a:schemeClr>
                </a:solidFill>
              </a:rPr>
              <a:t>PVT Mode: Multiplies the signal by 16 (32 MHz / 2 MHz), implemented directly as a 4-bit left shift.</a:t>
            </a:r>
          </a:p>
          <a:p>
            <a:r>
              <a:rPr lang="en-US" b="0" dirty="0">
                <a:solidFill>
                  <a:schemeClr val="tx1">
                    <a:lumMod val="75000"/>
                    <a:lumOff val="25000"/>
                  </a:schemeClr>
                </a:solidFill>
              </a:rPr>
              <a:t>Acquisition Mode: Multiplies by 64 (32 MHz / 0.5 MHz), implemented as a 6-bit left shift.</a:t>
            </a:r>
          </a:p>
          <a:p>
            <a:r>
              <a:rPr lang="en-US" b="0" dirty="0">
                <a:solidFill>
                  <a:schemeClr val="tx1">
                    <a:lumMod val="75000"/>
                    <a:lumOff val="25000"/>
                  </a:schemeClr>
                </a:solidFill>
              </a:rPr>
              <a:t>Tracking Mode: Multiplies by 1280 (32 MHz / 25 kHz), implemented by adding an 8-bit left shift to a 10-bit left shift.</a:t>
            </a:r>
          </a:p>
          <a:p>
            <a:r>
              <a:rPr lang="en-US" b="0" dirty="0">
                <a:solidFill>
                  <a:schemeClr val="tx1">
                    <a:lumMod val="75000"/>
                    <a:lumOff val="25000"/>
                  </a:schemeClr>
                </a:solidFill>
              </a:rPr>
              <a:t>Replacing a complex digital multiplier with basic shift registers and adders to save power and area </a:t>
            </a:r>
          </a:p>
          <a:p>
            <a:endParaRPr lang="en-US" dirty="0"/>
          </a:p>
        </p:txBody>
      </p:sp>
      <p:pic>
        <p:nvPicPr>
          <p:cNvPr id="4" name="Picture 3">
            <a:extLst>
              <a:ext uri="{FF2B5EF4-FFF2-40B4-BE49-F238E27FC236}">
                <a16:creationId xmlns:a16="http://schemas.microsoft.com/office/drawing/2014/main" xmlns="" id="{59B1859D-53B6-9A36-927A-E6254E6F815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auto">
          <a:xfrm>
            <a:off x="2763202" y="1299812"/>
            <a:ext cx="6436995" cy="2853088"/>
          </a:xfrm>
          <a:prstGeom prst="rect">
            <a:avLst/>
          </a:prstGeom>
          <a:noFill/>
          <a:ln>
            <a:noFill/>
          </a:ln>
        </p:spPr>
      </p:pic>
    </p:spTree>
    <p:extLst>
      <p:ext uri="{BB962C8B-B14F-4D97-AF65-F5344CB8AC3E}">
        <p14:creationId xmlns:p14="http://schemas.microsoft.com/office/powerpoint/2010/main" val="269146369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5DAB680-BFF2-4A8C-FAEF-B79ECDC43A4D}"/>
              </a:ext>
            </a:extLst>
          </p:cNvPr>
          <p:cNvSpPr>
            <a:spLocks noGrp="1"/>
          </p:cNvSpPr>
          <p:nvPr>
            <p:ph type="title"/>
          </p:nvPr>
        </p:nvSpPr>
        <p:spPr/>
        <p:txBody>
          <a:bodyPr/>
          <a:lstStyle/>
          <a:p>
            <a:r>
              <a:rPr lang="en-US" dirty="0"/>
              <a:t>DCO interface implementation </a:t>
            </a:r>
          </a:p>
        </p:txBody>
      </p:sp>
      <p:pic>
        <p:nvPicPr>
          <p:cNvPr id="2050" name="Picture 2">
            <a:extLst>
              <a:ext uri="{FF2B5EF4-FFF2-40B4-BE49-F238E27FC236}">
                <a16:creationId xmlns:a16="http://schemas.microsoft.com/office/drawing/2014/main" xmlns="" id="{AC432C34-ECCF-62C2-8484-C8DE33F201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7099" y="1441184"/>
            <a:ext cx="9345261" cy="54168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018192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2F7D848-A649-A3C6-6821-6804E577E7F7}"/>
              </a:ext>
            </a:extLst>
          </p:cNvPr>
          <p:cNvSpPr>
            <a:spLocks noGrp="1"/>
          </p:cNvSpPr>
          <p:nvPr>
            <p:ph type="title"/>
          </p:nvPr>
        </p:nvSpPr>
        <p:spPr/>
        <p:txBody>
          <a:bodyPr/>
          <a:lstStyle/>
          <a:p>
            <a:r>
              <a:rPr lang="en-US" b="0" i="0" dirty="0"/>
              <a:t>Behavioral model  of DCO</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xmlns="" id="{84C8D66F-EFAE-912C-B918-790CC04C741F}"/>
                  </a:ext>
                </a:extLst>
              </p:cNvPr>
              <p:cNvSpPr>
                <a:spLocks noGrp="1"/>
              </p:cNvSpPr>
              <p:nvPr>
                <p:ph type="body" idx="1"/>
              </p:nvPr>
            </p:nvSpPr>
            <p:spPr/>
            <p:txBody>
              <a:bodyPr/>
              <a:lstStyle/>
              <a:p>
                <a:r>
                  <a:rPr lang="en-US" b="0" dirty="0">
                    <a:solidFill>
                      <a:schemeClr val="tx1">
                        <a:lumMod val="75000"/>
                        <a:lumOff val="25000"/>
                      </a:schemeClr>
                    </a:solidFill>
                  </a:rPr>
                  <a:t>The DCO is modeled using three independent capacitor banks corresponding to the primary tuning modes: PVT, Acquisition (ACQ), and Tracking.</a:t>
                </a:r>
              </a:p>
              <a:p>
                <a:r>
                  <a:rPr lang="en-US" b="0" dirty="0">
                    <a:solidFill>
                      <a:schemeClr val="tx1">
                        <a:lumMod val="75000"/>
                        <a:lumOff val="25000"/>
                      </a:schemeClr>
                    </a:solidFill>
                  </a:rPr>
                  <a:t>Behavioral Model: Based on standard LC tank equations:</a:t>
                </a:r>
              </a:p>
              <a:p>
                <a14:m>
                  <m:oMath xmlns:m="http://schemas.openxmlformats.org/officeDocument/2006/math">
                    <m:sSub>
                      <m:sSubPr>
                        <m:ctrlPr>
                          <a:rPr lang="en-US" b="0" i="1">
                            <a:solidFill>
                              <a:schemeClr val="tx1">
                                <a:lumMod val="75000"/>
                                <a:lumOff val="25000"/>
                              </a:schemeClr>
                            </a:solidFill>
                            <a:latin typeface="Cambria Math" panose="02040503050406030204" pitchFamily="18" charset="0"/>
                          </a:rPr>
                        </m:ctrlPr>
                      </m:sSubPr>
                      <m:e>
                        <m:r>
                          <a:rPr lang="en-US" b="0">
                            <a:solidFill>
                              <a:schemeClr val="tx1">
                                <a:lumMod val="75000"/>
                                <a:lumOff val="25000"/>
                              </a:schemeClr>
                            </a:solidFill>
                            <a:latin typeface="Cambria Math" panose="02040503050406030204" pitchFamily="18" charset="0"/>
                          </a:rPr>
                          <m:t>𝑓</m:t>
                        </m:r>
                      </m:e>
                      <m:sub>
                        <m:r>
                          <a:rPr lang="en-US" b="0">
                            <a:solidFill>
                              <a:schemeClr val="tx1">
                                <a:lumMod val="75000"/>
                                <a:lumOff val="25000"/>
                              </a:schemeClr>
                            </a:solidFill>
                            <a:latin typeface="Cambria Math" panose="02040503050406030204" pitchFamily="18" charset="0"/>
                          </a:rPr>
                          <m:t>𝑜</m:t>
                        </m:r>
                      </m:sub>
                    </m:sSub>
                    <m:r>
                      <a:rPr lang="en-US" b="0">
                        <a:solidFill>
                          <a:schemeClr val="tx1">
                            <a:lumMod val="75000"/>
                            <a:lumOff val="25000"/>
                          </a:schemeClr>
                        </a:solidFill>
                        <a:latin typeface="Cambria Math" panose="02040503050406030204" pitchFamily="18" charset="0"/>
                      </a:rPr>
                      <m:t>+∆</m:t>
                    </m:r>
                    <m:r>
                      <a:rPr lang="en-US" b="0">
                        <a:solidFill>
                          <a:schemeClr val="tx1">
                            <a:lumMod val="75000"/>
                            <a:lumOff val="25000"/>
                          </a:schemeClr>
                        </a:solidFill>
                        <a:latin typeface="Cambria Math" panose="02040503050406030204" pitchFamily="18" charset="0"/>
                      </a:rPr>
                      <m:t>𝑓</m:t>
                    </m:r>
                    <m:r>
                      <a:rPr lang="en-US" b="0">
                        <a:solidFill>
                          <a:schemeClr val="tx1">
                            <a:lumMod val="75000"/>
                            <a:lumOff val="25000"/>
                          </a:schemeClr>
                        </a:solidFill>
                        <a:latin typeface="Cambria Math" panose="02040503050406030204" pitchFamily="18" charset="0"/>
                      </a:rPr>
                      <m:t>=</m:t>
                    </m:r>
                    <m:f>
                      <m:fPr>
                        <m:ctrlPr>
                          <a:rPr lang="en-US" b="0" i="1">
                            <a:solidFill>
                              <a:schemeClr val="tx1">
                                <a:lumMod val="75000"/>
                                <a:lumOff val="25000"/>
                              </a:schemeClr>
                            </a:solidFill>
                            <a:latin typeface="Cambria Math" panose="02040503050406030204" pitchFamily="18" charset="0"/>
                          </a:rPr>
                        </m:ctrlPr>
                      </m:fPr>
                      <m:num>
                        <m:r>
                          <a:rPr lang="en-US" b="0">
                            <a:solidFill>
                              <a:schemeClr val="tx1">
                                <a:lumMod val="75000"/>
                                <a:lumOff val="25000"/>
                              </a:schemeClr>
                            </a:solidFill>
                            <a:latin typeface="Cambria Math" panose="02040503050406030204" pitchFamily="18" charset="0"/>
                          </a:rPr>
                          <m:t>1</m:t>
                        </m:r>
                      </m:num>
                      <m:den>
                        <m:r>
                          <a:rPr lang="en-US" b="0">
                            <a:solidFill>
                              <a:schemeClr val="tx1">
                                <a:lumMod val="75000"/>
                                <a:lumOff val="25000"/>
                              </a:schemeClr>
                            </a:solidFill>
                            <a:latin typeface="Cambria Math" panose="02040503050406030204" pitchFamily="18" charset="0"/>
                          </a:rPr>
                          <m:t>2</m:t>
                        </m:r>
                        <m:r>
                          <a:rPr lang="en-US" b="0">
                            <a:solidFill>
                              <a:schemeClr val="tx1">
                                <a:lumMod val="75000"/>
                                <a:lumOff val="25000"/>
                              </a:schemeClr>
                            </a:solidFill>
                            <a:latin typeface="Cambria Math" panose="02040503050406030204" pitchFamily="18" charset="0"/>
                          </a:rPr>
                          <m:t>𝜋</m:t>
                        </m:r>
                        <m:rad>
                          <m:radPr>
                            <m:degHide m:val="on"/>
                            <m:ctrlPr>
                              <a:rPr lang="en-US" b="0" i="1">
                                <a:solidFill>
                                  <a:schemeClr val="tx1">
                                    <a:lumMod val="75000"/>
                                    <a:lumOff val="25000"/>
                                  </a:schemeClr>
                                </a:solidFill>
                                <a:latin typeface="Cambria Math" panose="02040503050406030204" pitchFamily="18" charset="0"/>
                              </a:rPr>
                            </m:ctrlPr>
                          </m:radPr>
                          <m:deg/>
                          <m:e>
                            <m:r>
                              <a:rPr lang="en-US" b="0">
                                <a:solidFill>
                                  <a:schemeClr val="tx1">
                                    <a:lumMod val="75000"/>
                                    <a:lumOff val="25000"/>
                                  </a:schemeClr>
                                </a:solidFill>
                                <a:latin typeface="Cambria Math" panose="02040503050406030204" pitchFamily="18" charset="0"/>
                              </a:rPr>
                              <m:t>𝐿</m:t>
                            </m:r>
                            <m:sSub>
                              <m:sSubPr>
                                <m:ctrlPr>
                                  <a:rPr lang="en-US" b="0" i="1">
                                    <a:solidFill>
                                      <a:schemeClr val="tx1">
                                        <a:lumMod val="75000"/>
                                        <a:lumOff val="25000"/>
                                      </a:schemeClr>
                                    </a:solidFill>
                                    <a:latin typeface="Cambria Math" panose="02040503050406030204" pitchFamily="18" charset="0"/>
                                  </a:rPr>
                                </m:ctrlPr>
                              </m:sSubPr>
                              <m:e>
                                <m:r>
                                  <a:rPr lang="en-US" b="0">
                                    <a:solidFill>
                                      <a:schemeClr val="tx1">
                                        <a:lumMod val="75000"/>
                                        <a:lumOff val="25000"/>
                                      </a:schemeClr>
                                    </a:solidFill>
                                    <a:latin typeface="Cambria Math" panose="02040503050406030204" pitchFamily="18" charset="0"/>
                                  </a:rPr>
                                  <m:t>𝐶</m:t>
                                </m:r>
                              </m:e>
                              <m:sub>
                                <m:r>
                                  <a:rPr lang="en-US" b="0">
                                    <a:solidFill>
                                      <a:schemeClr val="tx1">
                                        <a:lumMod val="75000"/>
                                        <a:lumOff val="25000"/>
                                      </a:schemeClr>
                                    </a:solidFill>
                                    <a:latin typeface="Cambria Math" panose="02040503050406030204" pitchFamily="18" charset="0"/>
                                  </a:rPr>
                                  <m:t>0</m:t>
                                </m:r>
                              </m:sub>
                            </m:sSub>
                            <m:r>
                              <a:rPr lang="en-US" b="0">
                                <a:solidFill>
                                  <a:schemeClr val="tx1">
                                    <a:lumMod val="75000"/>
                                    <a:lumOff val="25000"/>
                                  </a:schemeClr>
                                </a:solidFill>
                                <a:latin typeface="Cambria Math" panose="02040503050406030204" pitchFamily="18" charset="0"/>
                              </a:rPr>
                              <m:t>(</m:t>
                            </m:r>
                            <m:r>
                              <a:rPr lang="en-US" b="0">
                                <a:solidFill>
                                  <a:schemeClr val="tx1">
                                    <a:lumMod val="75000"/>
                                    <a:lumOff val="25000"/>
                                  </a:schemeClr>
                                </a:solidFill>
                                <a:latin typeface="Cambria Math" panose="02040503050406030204" pitchFamily="18" charset="0"/>
                              </a:rPr>
                              <m:t>1</m:t>
                            </m:r>
                            <m:r>
                              <a:rPr lang="en-US" b="0">
                                <a:solidFill>
                                  <a:schemeClr val="tx1">
                                    <a:lumMod val="75000"/>
                                    <a:lumOff val="25000"/>
                                  </a:schemeClr>
                                </a:solidFill>
                                <a:latin typeface="Cambria Math" panose="02040503050406030204" pitchFamily="18" charset="0"/>
                              </a:rPr>
                              <m:t>+</m:t>
                            </m:r>
                            <m:r>
                              <m:rPr>
                                <m:sty m:val="p"/>
                              </m:rPr>
                              <a:rPr lang="en-US" b="0">
                                <a:solidFill>
                                  <a:schemeClr val="tx1">
                                    <a:lumMod val="75000"/>
                                    <a:lumOff val="25000"/>
                                  </a:schemeClr>
                                </a:solidFill>
                                <a:latin typeface="Cambria Math" panose="02040503050406030204" pitchFamily="18" charset="0"/>
                              </a:rPr>
                              <m:t>Δ</m:t>
                            </m:r>
                            <m:r>
                              <a:rPr lang="en-US" b="0">
                                <a:solidFill>
                                  <a:schemeClr val="tx1">
                                    <a:lumMod val="75000"/>
                                    <a:lumOff val="25000"/>
                                  </a:schemeClr>
                                </a:solidFill>
                                <a:latin typeface="Cambria Math" panose="02040503050406030204" pitchFamily="18" charset="0"/>
                              </a:rPr>
                              <m:t>𝐶</m:t>
                            </m:r>
                            <m:r>
                              <a:rPr lang="en-US" b="0">
                                <a:solidFill>
                                  <a:schemeClr val="tx1">
                                    <a:lumMod val="75000"/>
                                    <a:lumOff val="25000"/>
                                  </a:schemeClr>
                                </a:solidFill>
                                <a:latin typeface="Cambria Math" panose="02040503050406030204" pitchFamily="18" charset="0"/>
                              </a:rPr>
                              <m:t>/</m:t>
                            </m:r>
                            <m:sSub>
                              <m:sSubPr>
                                <m:ctrlPr>
                                  <a:rPr lang="en-US" b="0" i="1">
                                    <a:solidFill>
                                      <a:schemeClr val="tx1">
                                        <a:lumMod val="75000"/>
                                        <a:lumOff val="25000"/>
                                      </a:schemeClr>
                                    </a:solidFill>
                                    <a:latin typeface="Cambria Math" panose="02040503050406030204" pitchFamily="18" charset="0"/>
                                  </a:rPr>
                                </m:ctrlPr>
                              </m:sSubPr>
                              <m:e>
                                <m:r>
                                  <a:rPr lang="en-US" b="0">
                                    <a:solidFill>
                                      <a:schemeClr val="tx1">
                                        <a:lumMod val="75000"/>
                                        <a:lumOff val="25000"/>
                                      </a:schemeClr>
                                    </a:solidFill>
                                    <a:latin typeface="Cambria Math" panose="02040503050406030204" pitchFamily="18" charset="0"/>
                                  </a:rPr>
                                  <m:t>𝐶</m:t>
                                </m:r>
                              </m:e>
                              <m:sub>
                                <m:r>
                                  <a:rPr lang="en-US" b="0">
                                    <a:solidFill>
                                      <a:schemeClr val="tx1">
                                        <a:lumMod val="75000"/>
                                        <a:lumOff val="25000"/>
                                      </a:schemeClr>
                                    </a:solidFill>
                                    <a:latin typeface="Cambria Math" panose="02040503050406030204" pitchFamily="18" charset="0"/>
                                  </a:rPr>
                                  <m:t>0</m:t>
                                </m:r>
                              </m:sub>
                            </m:sSub>
                            <m:r>
                              <a:rPr lang="en-US" b="0">
                                <a:solidFill>
                                  <a:schemeClr val="tx1">
                                    <a:lumMod val="75000"/>
                                    <a:lumOff val="25000"/>
                                  </a:schemeClr>
                                </a:solidFill>
                                <a:latin typeface="Cambria Math" panose="02040503050406030204" pitchFamily="18" charset="0"/>
                              </a:rPr>
                              <m:t>)</m:t>
                            </m:r>
                          </m:e>
                        </m:rad>
                      </m:den>
                    </m:f>
                    <m:r>
                      <a:rPr lang="en-US" b="0">
                        <a:solidFill>
                          <a:schemeClr val="tx1">
                            <a:lumMod val="75000"/>
                            <a:lumOff val="25000"/>
                          </a:schemeClr>
                        </a:solidFill>
                        <a:latin typeface="Cambria Math" panose="02040503050406030204" pitchFamily="18" charset="0"/>
                      </a:rPr>
                      <m:t>=</m:t>
                    </m:r>
                    <m:sSub>
                      <m:sSubPr>
                        <m:ctrlPr>
                          <a:rPr lang="en-US" b="0" i="1">
                            <a:solidFill>
                              <a:schemeClr val="tx1">
                                <a:lumMod val="75000"/>
                                <a:lumOff val="25000"/>
                              </a:schemeClr>
                            </a:solidFill>
                            <a:latin typeface="Cambria Math" panose="02040503050406030204" pitchFamily="18" charset="0"/>
                          </a:rPr>
                        </m:ctrlPr>
                      </m:sSubPr>
                      <m:e>
                        <m:r>
                          <a:rPr lang="en-US" b="0">
                            <a:solidFill>
                              <a:schemeClr val="tx1">
                                <a:lumMod val="75000"/>
                                <a:lumOff val="25000"/>
                              </a:schemeClr>
                            </a:solidFill>
                            <a:latin typeface="Cambria Math" panose="02040503050406030204" pitchFamily="18" charset="0"/>
                          </a:rPr>
                          <m:t>𝑓</m:t>
                        </m:r>
                      </m:e>
                      <m:sub>
                        <m:r>
                          <a:rPr lang="en-US" b="0">
                            <a:solidFill>
                              <a:schemeClr val="tx1">
                                <a:lumMod val="75000"/>
                                <a:lumOff val="25000"/>
                              </a:schemeClr>
                            </a:solidFill>
                            <a:latin typeface="Cambria Math" panose="02040503050406030204" pitchFamily="18" charset="0"/>
                          </a:rPr>
                          <m:t>0</m:t>
                        </m:r>
                      </m:sub>
                    </m:sSub>
                    <m:d>
                      <m:dPr>
                        <m:ctrlPr>
                          <a:rPr lang="en-US" b="0" i="1">
                            <a:solidFill>
                              <a:schemeClr val="tx1">
                                <a:lumMod val="75000"/>
                                <a:lumOff val="25000"/>
                              </a:schemeClr>
                            </a:solidFill>
                            <a:latin typeface="Cambria Math" panose="02040503050406030204" pitchFamily="18" charset="0"/>
                          </a:rPr>
                        </m:ctrlPr>
                      </m:dPr>
                      <m:e>
                        <m:r>
                          <a:rPr lang="en-US" b="0">
                            <a:solidFill>
                              <a:schemeClr val="tx1">
                                <a:lumMod val="75000"/>
                                <a:lumOff val="25000"/>
                              </a:schemeClr>
                            </a:solidFill>
                            <a:latin typeface="Cambria Math" panose="02040503050406030204" pitchFamily="18" charset="0"/>
                          </a:rPr>
                          <m:t>1</m:t>
                        </m:r>
                        <m:r>
                          <a:rPr lang="en-US" b="0">
                            <a:solidFill>
                              <a:schemeClr val="tx1">
                                <a:lumMod val="75000"/>
                                <a:lumOff val="25000"/>
                              </a:schemeClr>
                            </a:solidFill>
                            <a:latin typeface="Cambria Math" panose="02040503050406030204" pitchFamily="18" charset="0"/>
                          </a:rPr>
                          <m:t>−</m:t>
                        </m:r>
                        <m:f>
                          <m:fPr>
                            <m:ctrlPr>
                              <a:rPr lang="en-US" b="0" i="1">
                                <a:solidFill>
                                  <a:schemeClr val="tx1">
                                    <a:lumMod val="75000"/>
                                    <a:lumOff val="25000"/>
                                  </a:schemeClr>
                                </a:solidFill>
                                <a:latin typeface="Cambria Math" panose="02040503050406030204" pitchFamily="18" charset="0"/>
                              </a:rPr>
                            </m:ctrlPr>
                          </m:fPr>
                          <m:num>
                            <m:r>
                              <m:rPr>
                                <m:sty m:val="p"/>
                              </m:rPr>
                              <a:rPr lang="en-US" b="0">
                                <a:solidFill>
                                  <a:schemeClr val="tx1">
                                    <a:lumMod val="75000"/>
                                    <a:lumOff val="25000"/>
                                  </a:schemeClr>
                                </a:solidFill>
                                <a:latin typeface="Cambria Math" panose="02040503050406030204" pitchFamily="18" charset="0"/>
                              </a:rPr>
                              <m:t>Δ</m:t>
                            </m:r>
                            <m:r>
                              <a:rPr lang="en-US" b="0">
                                <a:solidFill>
                                  <a:schemeClr val="tx1">
                                    <a:lumMod val="75000"/>
                                    <a:lumOff val="25000"/>
                                  </a:schemeClr>
                                </a:solidFill>
                                <a:latin typeface="Cambria Math" panose="02040503050406030204" pitchFamily="18" charset="0"/>
                              </a:rPr>
                              <m:t>𝐶</m:t>
                            </m:r>
                          </m:num>
                          <m:den>
                            <m:r>
                              <a:rPr lang="en-US" b="0">
                                <a:solidFill>
                                  <a:schemeClr val="tx1">
                                    <a:lumMod val="75000"/>
                                    <a:lumOff val="25000"/>
                                  </a:schemeClr>
                                </a:solidFill>
                                <a:latin typeface="Cambria Math" panose="02040503050406030204" pitchFamily="18" charset="0"/>
                              </a:rPr>
                              <m:t>2</m:t>
                            </m:r>
                            <m:sSub>
                              <m:sSubPr>
                                <m:ctrlPr>
                                  <a:rPr lang="en-US" b="0" i="1">
                                    <a:solidFill>
                                      <a:schemeClr val="tx1">
                                        <a:lumMod val="75000"/>
                                        <a:lumOff val="25000"/>
                                      </a:schemeClr>
                                    </a:solidFill>
                                    <a:latin typeface="Cambria Math" panose="02040503050406030204" pitchFamily="18" charset="0"/>
                                  </a:rPr>
                                </m:ctrlPr>
                              </m:sSubPr>
                              <m:e>
                                <m:r>
                                  <a:rPr lang="en-US" b="0">
                                    <a:solidFill>
                                      <a:schemeClr val="tx1">
                                        <a:lumMod val="75000"/>
                                        <a:lumOff val="25000"/>
                                      </a:schemeClr>
                                    </a:solidFill>
                                    <a:latin typeface="Cambria Math" panose="02040503050406030204" pitchFamily="18" charset="0"/>
                                  </a:rPr>
                                  <m:t>𝐶</m:t>
                                </m:r>
                              </m:e>
                              <m:sub>
                                <m:r>
                                  <a:rPr lang="en-US" b="0">
                                    <a:solidFill>
                                      <a:schemeClr val="tx1">
                                        <a:lumMod val="75000"/>
                                        <a:lumOff val="25000"/>
                                      </a:schemeClr>
                                    </a:solidFill>
                                    <a:latin typeface="Cambria Math" panose="02040503050406030204" pitchFamily="18" charset="0"/>
                                  </a:rPr>
                                  <m:t>0</m:t>
                                </m:r>
                              </m:sub>
                            </m:sSub>
                          </m:den>
                        </m:f>
                      </m:e>
                    </m:d>
                    <m:r>
                      <a:rPr lang="en-US" b="0">
                        <a:solidFill>
                          <a:schemeClr val="tx1">
                            <a:lumMod val="75000"/>
                            <a:lumOff val="25000"/>
                          </a:schemeClr>
                        </a:solidFill>
                        <a:latin typeface="Cambria Math" panose="02040503050406030204" pitchFamily="18" charset="0"/>
                      </a:rPr>
                      <m:t>→</m:t>
                    </m:r>
                    <m:f>
                      <m:fPr>
                        <m:ctrlPr>
                          <a:rPr lang="en-US" b="0" i="1">
                            <a:solidFill>
                              <a:schemeClr val="tx1">
                                <a:lumMod val="75000"/>
                                <a:lumOff val="25000"/>
                              </a:schemeClr>
                            </a:solidFill>
                            <a:latin typeface="Cambria Math" panose="02040503050406030204" pitchFamily="18" charset="0"/>
                          </a:rPr>
                        </m:ctrlPr>
                      </m:fPr>
                      <m:num>
                        <m:r>
                          <a:rPr lang="en-US" b="0">
                            <a:solidFill>
                              <a:schemeClr val="tx1">
                                <a:lumMod val="75000"/>
                                <a:lumOff val="25000"/>
                              </a:schemeClr>
                            </a:solidFill>
                            <a:latin typeface="Cambria Math" panose="02040503050406030204" pitchFamily="18" charset="0"/>
                          </a:rPr>
                          <m:t>∆</m:t>
                        </m:r>
                        <m:r>
                          <a:rPr lang="en-US" b="0">
                            <a:solidFill>
                              <a:schemeClr val="tx1">
                                <a:lumMod val="75000"/>
                                <a:lumOff val="25000"/>
                              </a:schemeClr>
                            </a:solidFill>
                            <a:latin typeface="Cambria Math" panose="02040503050406030204" pitchFamily="18" charset="0"/>
                          </a:rPr>
                          <m:t>𝑓</m:t>
                        </m:r>
                      </m:num>
                      <m:den>
                        <m:sSub>
                          <m:sSubPr>
                            <m:ctrlPr>
                              <a:rPr lang="en-US" b="0" i="1">
                                <a:solidFill>
                                  <a:schemeClr val="tx1">
                                    <a:lumMod val="75000"/>
                                    <a:lumOff val="25000"/>
                                  </a:schemeClr>
                                </a:solidFill>
                                <a:latin typeface="Cambria Math" panose="02040503050406030204" pitchFamily="18" charset="0"/>
                              </a:rPr>
                            </m:ctrlPr>
                          </m:sSubPr>
                          <m:e>
                            <m:r>
                              <a:rPr lang="en-US" b="0">
                                <a:solidFill>
                                  <a:schemeClr val="tx1">
                                    <a:lumMod val="75000"/>
                                    <a:lumOff val="25000"/>
                                  </a:schemeClr>
                                </a:solidFill>
                                <a:latin typeface="Cambria Math" panose="02040503050406030204" pitchFamily="18" charset="0"/>
                              </a:rPr>
                              <m:t>𝑓</m:t>
                            </m:r>
                          </m:e>
                          <m:sub>
                            <m:r>
                              <a:rPr lang="en-US" b="0">
                                <a:solidFill>
                                  <a:schemeClr val="tx1">
                                    <a:lumMod val="75000"/>
                                    <a:lumOff val="25000"/>
                                  </a:schemeClr>
                                </a:solidFill>
                                <a:latin typeface="Cambria Math" panose="02040503050406030204" pitchFamily="18" charset="0"/>
                              </a:rPr>
                              <m:t>𝑜</m:t>
                            </m:r>
                          </m:sub>
                        </m:sSub>
                      </m:den>
                    </m:f>
                    <m:r>
                      <a:rPr lang="en-US" b="0">
                        <a:solidFill>
                          <a:schemeClr val="tx1">
                            <a:lumMod val="75000"/>
                            <a:lumOff val="25000"/>
                          </a:schemeClr>
                        </a:solidFill>
                        <a:latin typeface="Cambria Math" panose="02040503050406030204" pitchFamily="18" charset="0"/>
                      </a:rPr>
                      <m:t>= −</m:t>
                    </m:r>
                    <m:f>
                      <m:fPr>
                        <m:ctrlPr>
                          <a:rPr lang="en-US" b="0" i="1">
                            <a:solidFill>
                              <a:schemeClr val="tx1">
                                <a:lumMod val="75000"/>
                                <a:lumOff val="25000"/>
                              </a:schemeClr>
                            </a:solidFill>
                            <a:latin typeface="Cambria Math" panose="02040503050406030204" pitchFamily="18" charset="0"/>
                          </a:rPr>
                        </m:ctrlPr>
                      </m:fPr>
                      <m:num>
                        <m:r>
                          <m:rPr>
                            <m:sty m:val="p"/>
                          </m:rPr>
                          <a:rPr lang="en-US" b="0">
                            <a:solidFill>
                              <a:schemeClr val="tx1">
                                <a:lumMod val="75000"/>
                                <a:lumOff val="25000"/>
                              </a:schemeClr>
                            </a:solidFill>
                            <a:latin typeface="Cambria Math" panose="02040503050406030204" pitchFamily="18" charset="0"/>
                          </a:rPr>
                          <m:t>Δ</m:t>
                        </m:r>
                        <m:r>
                          <a:rPr lang="en-US" b="0">
                            <a:solidFill>
                              <a:schemeClr val="tx1">
                                <a:lumMod val="75000"/>
                                <a:lumOff val="25000"/>
                              </a:schemeClr>
                            </a:solidFill>
                            <a:latin typeface="Cambria Math" panose="02040503050406030204" pitchFamily="18" charset="0"/>
                          </a:rPr>
                          <m:t>𝐶</m:t>
                        </m:r>
                      </m:num>
                      <m:den>
                        <m:r>
                          <a:rPr lang="en-US" b="0">
                            <a:solidFill>
                              <a:schemeClr val="tx1">
                                <a:lumMod val="75000"/>
                                <a:lumOff val="25000"/>
                              </a:schemeClr>
                            </a:solidFill>
                            <a:latin typeface="Cambria Math" panose="02040503050406030204" pitchFamily="18" charset="0"/>
                          </a:rPr>
                          <m:t>2</m:t>
                        </m:r>
                        <m:sSub>
                          <m:sSubPr>
                            <m:ctrlPr>
                              <a:rPr lang="en-US" b="0" i="1">
                                <a:solidFill>
                                  <a:schemeClr val="tx1">
                                    <a:lumMod val="75000"/>
                                    <a:lumOff val="25000"/>
                                  </a:schemeClr>
                                </a:solidFill>
                                <a:latin typeface="Cambria Math" panose="02040503050406030204" pitchFamily="18" charset="0"/>
                              </a:rPr>
                            </m:ctrlPr>
                          </m:sSubPr>
                          <m:e>
                            <m:r>
                              <a:rPr lang="en-US" b="0">
                                <a:solidFill>
                                  <a:schemeClr val="tx1">
                                    <a:lumMod val="75000"/>
                                    <a:lumOff val="25000"/>
                                  </a:schemeClr>
                                </a:solidFill>
                                <a:latin typeface="Cambria Math" panose="02040503050406030204" pitchFamily="18" charset="0"/>
                              </a:rPr>
                              <m:t>𝐶</m:t>
                            </m:r>
                          </m:e>
                          <m:sub>
                            <m:r>
                              <a:rPr lang="en-US" b="0">
                                <a:solidFill>
                                  <a:schemeClr val="tx1">
                                    <a:lumMod val="75000"/>
                                    <a:lumOff val="25000"/>
                                  </a:schemeClr>
                                </a:solidFill>
                                <a:latin typeface="Cambria Math" panose="02040503050406030204" pitchFamily="18" charset="0"/>
                              </a:rPr>
                              <m:t>0</m:t>
                            </m:r>
                          </m:sub>
                        </m:sSub>
                      </m:den>
                    </m:f>
                  </m:oMath>
                </a14:m>
                <a:endParaRPr lang="en-US" b="0" dirty="0">
                  <a:solidFill>
                    <a:schemeClr val="tx1">
                      <a:lumMod val="75000"/>
                      <a:lumOff val="25000"/>
                    </a:schemeClr>
                  </a:solidFill>
                </a:endParaRPr>
              </a:p>
              <a:p>
                <a14:m>
                  <m:oMath xmlns:m="http://schemas.openxmlformats.org/officeDocument/2006/math">
                    <m:r>
                      <a:rPr lang="en-US" b="0">
                        <a:solidFill>
                          <a:schemeClr val="tx1">
                            <a:lumMod val="75000"/>
                            <a:lumOff val="25000"/>
                          </a:schemeClr>
                        </a:solidFill>
                        <a:latin typeface="Cambria Math" panose="02040503050406030204" pitchFamily="18" charset="0"/>
                      </a:rPr>
                      <m:t>∆</m:t>
                    </m:r>
                    <m:r>
                      <a:rPr lang="en-US" b="0">
                        <a:solidFill>
                          <a:schemeClr val="tx1">
                            <a:lumMod val="75000"/>
                            <a:lumOff val="25000"/>
                          </a:schemeClr>
                        </a:solidFill>
                        <a:latin typeface="Cambria Math" panose="02040503050406030204" pitchFamily="18" charset="0"/>
                      </a:rPr>
                      <m:t>𝑪</m:t>
                    </m:r>
                    <m:r>
                      <a:rPr lang="en-US" b="0">
                        <a:solidFill>
                          <a:schemeClr val="tx1">
                            <a:lumMod val="75000"/>
                            <a:lumOff val="25000"/>
                          </a:schemeClr>
                        </a:solidFill>
                        <a:latin typeface="Cambria Math" panose="02040503050406030204" pitchFamily="18" charset="0"/>
                      </a:rPr>
                      <m:t> </m:t>
                    </m:r>
                    <m:r>
                      <a:rPr lang="en-US" b="0">
                        <a:solidFill>
                          <a:schemeClr val="tx1">
                            <a:lumMod val="75000"/>
                            <a:lumOff val="25000"/>
                          </a:schemeClr>
                        </a:solidFill>
                        <a:latin typeface="Cambria Math" panose="02040503050406030204" pitchFamily="18" charset="0"/>
                      </a:rPr>
                      <m:t>𝒊𝒔</m:t>
                    </m:r>
                    <m:r>
                      <a:rPr lang="en-US" b="0">
                        <a:solidFill>
                          <a:schemeClr val="tx1">
                            <a:lumMod val="75000"/>
                            <a:lumOff val="25000"/>
                          </a:schemeClr>
                        </a:solidFill>
                        <a:latin typeface="Cambria Math" panose="02040503050406030204" pitchFamily="18" charset="0"/>
                      </a:rPr>
                      <m:t> </m:t>
                    </m:r>
                    <m:r>
                      <a:rPr lang="en-US" b="0">
                        <a:solidFill>
                          <a:schemeClr val="tx1">
                            <a:lumMod val="75000"/>
                            <a:lumOff val="25000"/>
                          </a:schemeClr>
                        </a:solidFill>
                        <a:latin typeface="Cambria Math" panose="02040503050406030204" pitchFamily="18" charset="0"/>
                      </a:rPr>
                      <m:t>𝒊𝒏𝒄𝒓𝒆𝒎𝒆𝒏𝒕</m:t>
                    </m:r>
                    <m:r>
                      <a:rPr lang="en-US" b="0">
                        <a:solidFill>
                          <a:schemeClr val="tx1">
                            <a:lumMod val="75000"/>
                            <a:lumOff val="25000"/>
                          </a:schemeClr>
                        </a:solidFill>
                        <a:latin typeface="Cambria Math" panose="02040503050406030204" pitchFamily="18" charset="0"/>
                      </a:rPr>
                      <m:t> </m:t>
                    </m:r>
                    <m:r>
                      <a:rPr lang="en-US" b="0">
                        <a:solidFill>
                          <a:schemeClr val="tx1">
                            <a:lumMod val="75000"/>
                            <a:lumOff val="25000"/>
                          </a:schemeClr>
                        </a:solidFill>
                        <a:latin typeface="Cambria Math" panose="02040503050406030204" pitchFamily="18" charset="0"/>
                      </a:rPr>
                      <m:t>𝒄𝒂𝒑𝒄𝒊𝒕𝒐𝒓</m:t>
                    </m:r>
                    <m:r>
                      <a:rPr lang="en-US" b="0">
                        <a:solidFill>
                          <a:schemeClr val="tx1">
                            <a:lumMod val="75000"/>
                            <a:lumOff val="25000"/>
                          </a:schemeClr>
                        </a:solidFill>
                        <a:latin typeface="Cambria Math" panose="02040503050406030204" pitchFamily="18" charset="0"/>
                      </a:rPr>
                      <m:t> </m:t>
                    </m:r>
                    <m:r>
                      <a:rPr lang="en-US" b="0">
                        <a:solidFill>
                          <a:schemeClr val="tx1">
                            <a:lumMod val="75000"/>
                            <a:lumOff val="25000"/>
                          </a:schemeClr>
                        </a:solidFill>
                        <a:latin typeface="Cambria Math" panose="02040503050406030204" pitchFamily="18" charset="0"/>
                      </a:rPr>
                      <m:t>𝒔𝒆𝒍𝒆𝒄𝒕𝒆𝒅</m:t>
                    </m:r>
                    <m:r>
                      <a:rPr lang="en-US" b="0">
                        <a:solidFill>
                          <a:schemeClr val="tx1">
                            <a:lumMod val="75000"/>
                            <a:lumOff val="25000"/>
                          </a:schemeClr>
                        </a:solidFill>
                        <a:latin typeface="Cambria Math" panose="02040503050406030204" pitchFamily="18" charset="0"/>
                      </a:rPr>
                      <m:t> </m:t>
                    </m:r>
                    <m:r>
                      <a:rPr lang="en-US" b="0">
                        <a:solidFill>
                          <a:schemeClr val="tx1">
                            <a:lumMod val="75000"/>
                            <a:lumOff val="25000"/>
                          </a:schemeClr>
                        </a:solidFill>
                        <a:latin typeface="Cambria Math" panose="02040503050406030204" pitchFamily="18" charset="0"/>
                      </a:rPr>
                      <m:t>𝒃𝒚</m:t>
                    </m:r>
                    <m:r>
                      <a:rPr lang="en-US" b="0">
                        <a:solidFill>
                          <a:schemeClr val="tx1">
                            <a:lumMod val="75000"/>
                            <a:lumOff val="25000"/>
                          </a:schemeClr>
                        </a:solidFill>
                        <a:latin typeface="Cambria Math" panose="02040503050406030204" pitchFamily="18" charset="0"/>
                      </a:rPr>
                      <m:t>  </m:t>
                    </m:r>
                    <m:r>
                      <a:rPr lang="en-US" b="0">
                        <a:solidFill>
                          <a:schemeClr val="tx1">
                            <a:lumMod val="75000"/>
                            <a:lumOff val="25000"/>
                          </a:schemeClr>
                        </a:solidFill>
                        <a:latin typeface="Cambria Math" panose="02040503050406030204" pitchFamily="18" charset="0"/>
                      </a:rPr>
                      <m:t>𝒅𝒊𝒈𝒊𝒕𝒂𝒍</m:t>
                    </m:r>
                    <m:r>
                      <a:rPr lang="en-US" b="0">
                        <a:solidFill>
                          <a:schemeClr val="tx1">
                            <a:lumMod val="75000"/>
                            <a:lumOff val="25000"/>
                          </a:schemeClr>
                        </a:solidFill>
                        <a:latin typeface="Cambria Math" panose="02040503050406030204" pitchFamily="18" charset="0"/>
                      </a:rPr>
                      <m:t> </m:t>
                    </m:r>
                    <m:r>
                      <a:rPr lang="en-US" b="0">
                        <a:solidFill>
                          <a:schemeClr val="tx1">
                            <a:lumMod val="75000"/>
                            <a:lumOff val="25000"/>
                          </a:schemeClr>
                        </a:solidFill>
                        <a:latin typeface="Cambria Math" panose="02040503050406030204" pitchFamily="18" charset="0"/>
                      </a:rPr>
                      <m:t>𝒘𝒐𝒓𝒅</m:t>
                    </m:r>
                    <m:r>
                      <a:rPr lang="en-US" b="0">
                        <a:solidFill>
                          <a:schemeClr val="tx1">
                            <a:lumMod val="75000"/>
                            <a:lumOff val="25000"/>
                          </a:schemeClr>
                        </a:solidFill>
                        <a:latin typeface="Cambria Math" panose="02040503050406030204" pitchFamily="18" charset="0"/>
                      </a:rPr>
                      <m:t> </m:t>
                    </m:r>
                    <m:r>
                      <a:rPr lang="en-US" b="0">
                        <a:solidFill>
                          <a:schemeClr val="tx1">
                            <a:lumMod val="75000"/>
                            <a:lumOff val="25000"/>
                          </a:schemeClr>
                        </a:solidFill>
                        <a:latin typeface="Cambria Math" panose="02040503050406030204" pitchFamily="18" charset="0"/>
                      </a:rPr>
                      <m:t>𝒕𝒐</m:t>
                    </m:r>
                    <m:r>
                      <a:rPr lang="en-US" b="0">
                        <a:solidFill>
                          <a:schemeClr val="tx1">
                            <a:lumMod val="75000"/>
                            <a:lumOff val="25000"/>
                          </a:schemeClr>
                        </a:solidFill>
                        <a:latin typeface="Cambria Math" panose="02040503050406030204" pitchFamily="18" charset="0"/>
                      </a:rPr>
                      <m:t> </m:t>
                    </m:r>
                    <m:r>
                      <a:rPr lang="en-US" b="0">
                        <a:solidFill>
                          <a:schemeClr val="tx1">
                            <a:lumMod val="75000"/>
                            <a:lumOff val="25000"/>
                          </a:schemeClr>
                        </a:solidFill>
                        <a:latin typeface="Cambria Math" panose="02040503050406030204" pitchFamily="18" charset="0"/>
                      </a:rPr>
                      <m:t>𝒄𝒐𝒏𝒕𝒓𝒐𝒍</m:t>
                    </m:r>
                    <m:r>
                      <a:rPr lang="en-US" b="0">
                        <a:solidFill>
                          <a:schemeClr val="tx1">
                            <a:lumMod val="75000"/>
                            <a:lumOff val="25000"/>
                          </a:schemeClr>
                        </a:solidFill>
                        <a:latin typeface="Cambria Math" panose="02040503050406030204" pitchFamily="18" charset="0"/>
                      </a:rPr>
                      <m:t> </m:t>
                    </m:r>
                    <m:r>
                      <a:rPr lang="en-US" b="0">
                        <a:solidFill>
                          <a:schemeClr val="tx1">
                            <a:lumMod val="75000"/>
                            <a:lumOff val="25000"/>
                          </a:schemeClr>
                        </a:solidFill>
                        <a:latin typeface="Cambria Math" panose="02040503050406030204" pitchFamily="18" charset="0"/>
                      </a:rPr>
                      <m:t>𝒅𝒄𝒐</m:t>
                    </m:r>
                    <m:r>
                      <a:rPr lang="en-US" b="0">
                        <a:solidFill>
                          <a:schemeClr val="tx1">
                            <a:lumMod val="75000"/>
                            <a:lumOff val="25000"/>
                          </a:schemeClr>
                        </a:solidFill>
                        <a:latin typeface="Cambria Math" panose="02040503050406030204" pitchFamily="18" charset="0"/>
                      </a:rPr>
                      <m:t> </m:t>
                    </m:r>
                    <m:r>
                      <a:rPr lang="en-US" b="0">
                        <a:solidFill>
                          <a:schemeClr val="tx1">
                            <a:lumMod val="75000"/>
                            <a:lumOff val="25000"/>
                          </a:schemeClr>
                        </a:solidFill>
                        <a:latin typeface="Cambria Math" panose="02040503050406030204" pitchFamily="18" charset="0"/>
                      </a:rPr>
                      <m:t>𝒇𝒓𝒆𝒒𝒖𝒏𝒄𝒚</m:t>
                    </m:r>
                    <m:r>
                      <a:rPr lang="en-US" b="0">
                        <a:solidFill>
                          <a:schemeClr val="tx1">
                            <a:lumMod val="75000"/>
                            <a:lumOff val="25000"/>
                          </a:schemeClr>
                        </a:solidFill>
                        <a:latin typeface="Cambria Math" panose="02040503050406030204" pitchFamily="18" charset="0"/>
                      </a:rPr>
                      <m:t> </m:t>
                    </m:r>
                  </m:oMath>
                </a14:m>
                <a:endParaRPr lang="en-US" b="0" dirty="0">
                  <a:solidFill>
                    <a:schemeClr val="tx1">
                      <a:lumMod val="75000"/>
                      <a:lumOff val="25000"/>
                    </a:schemeClr>
                  </a:solidFill>
                </a:endParaRPr>
              </a:p>
              <a:p>
                <a:r>
                  <a:rPr lang="en-US" b="0" dirty="0">
                    <a:solidFill>
                      <a:schemeClr val="tx1">
                        <a:lumMod val="75000"/>
                        <a:lumOff val="25000"/>
                      </a:schemeClr>
                    </a:solidFill>
                  </a:rPr>
                  <a:t>Frequency step :</a:t>
                </a:r>
              </a:p>
              <a:p>
                <a:pPr marL="914400" lvl="2"/>
                <a:r>
                  <a:rPr lang="en-US" b="0" dirty="0">
                    <a:solidFill>
                      <a:schemeClr val="tx1">
                        <a:lumMod val="75000"/>
                        <a:lumOff val="25000"/>
                      </a:schemeClr>
                    </a:solidFill>
                  </a:rPr>
                  <a:t>At PVT = 2MHz</a:t>
                </a:r>
              </a:p>
              <a:p>
                <a:pPr marL="914400" lvl="2"/>
                <a:r>
                  <a:rPr lang="en-US" b="0" dirty="0">
                    <a:solidFill>
                      <a:schemeClr val="tx1">
                        <a:lumMod val="75000"/>
                        <a:lumOff val="25000"/>
                      </a:schemeClr>
                    </a:solidFill>
                  </a:rPr>
                  <a:t>At ACQ = 0.5MHz</a:t>
                </a:r>
              </a:p>
              <a:p>
                <a:pPr marL="914400" lvl="2"/>
                <a:r>
                  <a:rPr lang="en-US" b="0" dirty="0">
                    <a:solidFill>
                      <a:schemeClr val="tx1">
                        <a:lumMod val="75000"/>
                        <a:lumOff val="25000"/>
                      </a:schemeClr>
                    </a:solidFill>
                  </a:rPr>
                  <a:t>At Track = 25KHz </a:t>
                </a:r>
              </a:p>
              <a:p>
                <a:pPr marL="101600" indent="0">
                  <a:buNone/>
                </a:pPr>
                <a:r>
                  <a:rPr lang="en-US" b="0" dirty="0">
                    <a:solidFill>
                      <a:schemeClr val="tx1">
                        <a:lumMod val="75000"/>
                        <a:lumOff val="25000"/>
                      </a:schemeClr>
                    </a:solidFill>
                  </a:rPr>
                  <a:t>	</a:t>
                </a:r>
              </a:p>
              <a:p>
                <a:endParaRPr lang="en-US" dirty="0"/>
              </a:p>
            </p:txBody>
          </p:sp>
        </mc:Choice>
        <mc:Fallback xmlns="">
          <p:sp>
            <p:nvSpPr>
              <p:cNvPr id="3" name="Text Placeholder 2">
                <a:extLst>
                  <a:ext uri="{FF2B5EF4-FFF2-40B4-BE49-F238E27FC236}">
                    <a16:creationId xmlns:a16="http://schemas.microsoft.com/office/drawing/2014/main" id="{84C8D66F-EFAE-912C-B918-790CC04C741F}"/>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07275947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Sigma Delta</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38961" y="1308963"/>
            <a:ext cx="9386377" cy="5517351"/>
          </a:xfrm>
          <a:prstGeom prst="rect">
            <a:avLst/>
          </a:prstGeom>
        </p:spPr>
      </p:pic>
      <p:sp>
        <p:nvSpPr>
          <p:cNvPr id="5" name="Oval 4"/>
          <p:cNvSpPr/>
          <p:nvPr/>
        </p:nvSpPr>
        <p:spPr>
          <a:xfrm>
            <a:off x="4372824" y="4137434"/>
            <a:ext cx="1339913" cy="87818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3826345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i="0" dirty="0">
                <a:solidFill>
                  <a:schemeClr val="tx1"/>
                </a:solidFill>
                <a:latin typeface="+mj-lt"/>
                <a:cs typeface="Calibri"/>
              </a:rPr>
              <a:t>Why Sigma Delta </a:t>
            </a:r>
          </a:p>
        </p:txBody>
      </p:sp>
      <p:sp>
        <p:nvSpPr>
          <p:cNvPr id="4" name="Text Placeholder 2"/>
          <p:cNvSpPr>
            <a:spLocks noGrp="1"/>
          </p:cNvSpPr>
          <p:nvPr>
            <p:ph type="body" idx="1"/>
          </p:nvPr>
        </p:nvSpPr>
        <p:spPr>
          <a:xfrm>
            <a:off x="760491" y="1503911"/>
            <a:ext cx="10363200" cy="4984947"/>
          </a:xfrm>
        </p:spPr>
        <p:txBody>
          <a:bodyPr/>
          <a:lstStyle/>
          <a:p>
            <a:pPr lvl="1">
              <a:buFont typeface="Wingdings" panose="05000000000000000000" pitchFamily="2" charset="2"/>
              <a:buChar char="q"/>
            </a:pPr>
            <a:r>
              <a:rPr lang="en-US" b="0" dirty="0">
                <a:solidFill>
                  <a:schemeClr val="tx1"/>
                </a:solidFill>
              </a:rPr>
              <a:t>The </a:t>
            </a:r>
            <a:r>
              <a:rPr lang="en-US" dirty="0">
                <a:solidFill>
                  <a:schemeClr val="tx1"/>
                </a:solidFill>
              </a:rPr>
              <a:t>DCO’s </a:t>
            </a:r>
            <a:r>
              <a:rPr lang="en-US" dirty="0" err="1">
                <a:solidFill>
                  <a:schemeClr val="tx1"/>
                </a:solidFill>
              </a:rPr>
              <a:t>varactor</a:t>
            </a:r>
            <a:r>
              <a:rPr lang="en-US" dirty="0">
                <a:solidFill>
                  <a:schemeClr val="tx1"/>
                </a:solidFill>
              </a:rPr>
              <a:t> </a:t>
            </a:r>
            <a:r>
              <a:rPr lang="en-US" b="0" dirty="0">
                <a:solidFill>
                  <a:schemeClr val="tx1"/>
                </a:solidFill>
              </a:rPr>
              <a:t>array has coarse frequency steps  (LSBs) on the order of tens of kHz, far too large for the sub-Hz or sub-kHz resolution required by the ADPLL.</a:t>
            </a:r>
          </a:p>
          <a:p>
            <a:pPr lvl="1">
              <a:buFont typeface="Wingdings" panose="05000000000000000000" pitchFamily="2" charset="2"/>
              <a:buChar char="q"/>
            </a:pPr>
            <a:r>
              <a:rPr lang="en-US" b="0" dirty="0">
                <a:solidFill>
                  <a:schemeClr val="tx1"/>
                </a:solidFill>
              </a:rPr>
              <a:t>A </a:t>
            </a:r>
            <a:r>
              <a:rPr lang="en-US" dirty="0">
                <a:solidFill>
                  <a:schemeClr val="tx1"/>
                </a:solidFill>
              </a:rPr>
              <a:t>digital sigma–delta (ΣΔ) modulator </a:t>
            </a:r>
            <a:r>
              <a:rPr lang="en-US" b="0" dirty="0">
                <a:solidFill>
                  <a:schemeClr val="tx1"/>
                </a:solidFill>
              </a:rPr>
              <a:t>converts a </a:t>
            </a:r>
            <a:r>
              <a:rPr lang="en-US" i="1" dirty="0">
                <a:solidFill>
                  <a:schemeClr val="tx1"/>
                </a:solidFill>
              </a:rPr>
              <a:t>low-rate fractional tuning word</a:t>
            </a:r>
            <a:r>
              <a:rPr lang="en-US" dirty="0">
                <a:solidFill>
                  <a:schemeClr val="tx1"/>
                </a:solidFill>
              </a:rPr>
              <a:t> </a:t>
            </a:r>
            <a:r>
              <a:rPr lang="en-US" b="0" dirty="0">
                <a:solidFill>
                  <a:schemeClr val="tx1"/>
                </a:solidFill>
              </a:rPr>
              <a:t>into a </a:t>
            </a:r>
            <a:r>
              <a:rPr lang="en-US" b="0" i="1" dirty="0">
                <a:solidFill>
                  <a:schemeClr val="tx1"/>
                </a:solidFill>
              </a:rPr>
              <a:t>high-rate integer sequence</a:t>
            </a:r>
            <a:r>
              <a:rPr lang="en-US" b="0" dirty="0">
                <a:solidFill>
                  <a:schemeClr val="tx1"/>
                </a:solidFill>
              </a:rPr>
              <a:t> whose time-average equals the desired fractional value.</a:t>
            </a:r>
          </a:p>
          <a:p>
            <a:pPr lvl="1">
              <a:buFont typeface="Wingdings" panose="05000000000000000000" pitchFamily="2" charset="2"/>
              <a:buChar char="q"/>
            </a:pPr>
            <a:r>
              <a:rPr lang="en-US" b="0" dirty="0">
                <a:solidFill>
                  <a:schemeClr val="tx1"/>
                </a:solidFill>
              </a:rPr>
              <a:t>23 kHz hardware resolution becomes 718 Hz effective frequency resolution improvement could be range of  32</a:t>
            </a:r>
          </a:p>
          <a:p>
            <a:pPr lvl="1">
              <a:buFont typeface="Wingdings" panose="05000000000000000000" pitchFamily="2" charset="2"/>
              <a:buChar char="q"/>
            </a:pPr>
            <a:r>
              <a:rPr lang="en-US" b="0" dirty="0">
                <a:solidFill>
                  <a:schemeClr val="tx1"/>
                </a:solidFill>
              </a:rPr>
              <a:t>Sigma delta have  2 main function which are </a:t>
            </a:r>
          </a:p>
          <a:p>
            <a:pPr lvl="2">
              <a:buFont typeface="Wingdings" panose="05000000000000000000" pitchFamily="2" charset="2"/>
              <a:buChar char="Ø"/>
            </a:pPr>
            <a:r>
              <a:rPr lang="en-US" b="0" dirty="0">
                <a:solidFill>
                  <a:schemeClr val="tx1"/>
                </a:solidFill>
              </a:rPr>
              <a:t>Noise shaping  </a:t>
            </a:r>
          </a:p>
          <a:p>
            <a:pPr lvl="2">
              <a:buFont typeface="Wingdings" panose="05000000000000000000" pitchFamily="2" charset="2"/>
              <a:buChar char="Ø"/>
            </a:pPr>
            <a:r>
              <a:rPr lang="en-US" b="0" dirty="0">
                <a:solidFill>
                  <a:schemeClr val="tx1"/>
                </a:solidFill>
              </a:rPr>
              <a:t> Averaging</a:t>
            </a:r>
          </a:p>
          <a:p>
            <a:pPr lvl="1">
              <a:buFont typeface="Wingdings" panose="05000000000000000000" pitchFamily="2" charset="2"/>
              <a:buChar char="q"/>
            </a:pPr>
            <a:r>
              <a:rPr lang="en-US" b="0" dirty="0">
                <a:solidFill>
                  <a:schemeClr val="tx1"/>
                </a:solidFill>
              </a:rPr>
              <a:t>MASH architecture selected — literature </a:t>
            </a:r>
          </a:p>
          <a:p>
            <a:pPr marL="558800" lvl="1" indent="0">
              <a:buNone/>
            </a:pPr>
            <a:r>
              <a:rPr lang="en-US" b="0" dirty="0">
                <a:solidFill>
                  <a:schemeClr val="tx1"/>
                </a:solidFill>
              </a:rPr>
              <a:t>      consensus points to MASH as the optimal topology,</a:t>
            </a:r>
          </a:p>
          <a:p>
            <a:pPr marL="558800" lvl="1" indent="0">
              <a:buNone/>
            </a:pPr>
            <a:r>
              <a:rPr lang="en-US" b="0" dirty="0">
                <a:solidFill>
                  <a:schemeClr val="tx1"/>
                </a:solidFill>
              </a:rPr>
              <a:t>      offering the best trade-off between stability,</a:t>
            </a:r>
          </a:p>
          <a:p>
            <a:pPr marL="558800" lvl="1" indent="0">
              <a:buNone/>
            </a:pPr>
            <a:r>
              <a:rPr lang="en-US" b="0" dirty="0">
                <a:solidFill>
                  <a:schemeClr val="tx1"/>
                </a:solidFill>
              </a:rPr>
              <a:t>      hardware complexity, and noise shaping quality </a:t>
            </a:r>
          </a:p>
          <a:p>
            <a:pPr>
              <a:buFont typeface="Wingdings" panose="05000000000000000000" pitchFamily="2" charset="2"/>
              <a:buChar char="q"/>
            </a:pPr>
            <a:endParaRPr lang="en-US" dirty="0"/>
          </a:p>
        </p:txBody>
      </p:sp>
      <p:pic>
        <p:nvPicPr>
          <p:cNvPr id="5" name="Picture 4"/>
          <p:cNvPicPr>
            <a:picLocks noChangeAspect="1"/>
          </p:cNvPicPr>
          <p:nvPr/>
        </p:nvPicPr>
        <p:blipFill>
          <a:blip r:embed="rId2"/>
          <a:stretch>
            <a:fillRect/>
          </a:stretch>
        </p:blipFill>
        <p:spPr>
          <a:xfrm>
            <a:off x="7197505" y="3328527"/>
            <a:ext cx="4994495" cy="2678139"/>
          </a:xfrm>
          <a:prstGeom prst="rect">
            <a:avLst/>
          </a:prstGeom>
        </p:spPr>
      </p:pic>
    </p:spTree>
    <p:extLst>
      <p:ext uri="{BB962C8B-B14F-4D97-AF65-F5344CB8AC3E}">
        <p14:creationId xmlns:p14="http://schemas.microsoft.com/office/powerpoint/2010/main" val="193065693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rPr>
              <a:t>First order MASH Sigma Delta Analysis </a:t>
            </a:r>
            <a:endParaRPr lang="en-US" dirty="0"/>
          </a:p>
        </p:txBody>
      </p:sp>
      <p:sp>
        <p:nvSpPr>
          <p:cNvPr id="3" name="Text Placeholder 2"/>
          <p:cNvSpPr>
            <a:spLocks noGrp="1"/>
          </p:cNvSpPr>
          <p:nvPr>
            <p:ph type="body" idx="1"/>
          </p:nvPr>
        </p:nvSpPr>
        <p:spPr>
          <a:xfrm>
            <a:off x="624746" y="4189623"/>
            <a:ext cx="10980971" cy="2428460"/>
          </a:xfrm>
        </p:spPr>
        <p:txBody>
          <a:bodyPr/>
          <a:lstStyle/>
          <a:p>
            <a:pPr>
              <a:buFont typeface="Wingdings" panose="05000000000000000000" pitchFamily="2" charset="2"/>
              <a:buChar char="q"/>
            </a:pPr>
            <a:r>
              <a:rPr lang="en-US" dirty="0">
                <a:solidFill>
                  <a:schemeClr val="tx1"/>
                </a:solidFill>
              </a:rPr>
              <a:t>Quantization error is given by the fractional part of the accumulated input: eₙ = ⟨u₀ + </a:t>
            </a:r>
            <a:r>
              <a:rPr lang="en-US" dirty="0" err="1">
                <a:solidFill>
                  <a:schemeClr val="tx1"/>
                </a:solidFill>
              </a:rPr>
              <a:t>Σx</a:t>
            </a:r>
            <a:r>
              <a:rPr lang="en-US" dirty="0">
                <a:solidFill>
                  <a:schemeClr val="tx1"/>
                </a:solidFill>
              </a:rPr>
              <a:t>ₖ⟩, which for a constant input simplifies to eₙ = ⟨U₀ + n(n+1)⟩ = ⟨U₀ + </a:t>
            </a:r>
            <a:r>
              <a:rPr lang="en-US" dirty="0" err="1">
                <a:solidFill>
                  <a:schemeClr val="tx1"/>
                </a:solidFill>
              </a:rPr>
              <a:t>nX</a:t>
            </a:r>
            <a:r>
              <a:rPr lang="en-US" dirty="0">
                <a:solidFill>
                  <a:schemeClr val="tx1"/>
                </a:solidFill>
              </a:rPr>
              <a:t> + X⟩</a:t>
            </a:r>
          </a:p>
          <a:p>
            <a:pPr>
              <a:buFont typeface="Wingdings" panose="05000000000000000000" pitchFamily="2" charset="2"/>
              <a:buChar char="q"/>
            </a:pPr>
            <a:r>
              <a:rPr lang="en-US" dirty="0">
                <a:solidFill>
                  <a:schemeClr val="tx1"/>
                </a:solidFill>
              </a:rPr>
              <a:t>Periodic error (idle tones): if NX is an integer, the error sequence becomes periodic, producing idle tones in the frequency domain that corrupt the DCO output spectrum</a:t>
            </a:r>
          </a:p>
          <a:p>
            <a:pPr>
              <a:buFont typeface="Wingdings" panose="05000000000000000000" pitchFamily="2" charset="2"/>
              <a:buChar char="q"/>
            </a:pPr>
            <a:r>
              <a:rPr lang="en-US" dirty="0">
                <a:solidFill>
                  <a:schemeClr val="tx1"/>
                </a:solidFill>
              </a:rPr>
              <a:t>Non-periodic error: if NX is irrational (non-integer), the accumulator never repeats, the error is pseudo-random, and idle tones are avoided — this is the desirable operating condition</a:t>
            </a:r>
          </a:p>
        </p:txBody>
      </p:sp>
      <p:pic>
        <p:nvPicPr>
          <p:cNvPr id="4" name="Picture 3"/>
          <p:cNvPicPr>
            <a:picLocks noChangeAspect="1"/>
          </p:cNvPicPr>
          <p:nvPr/>
        </p:nvPicPr>
        <p:blipFill rotWithShape="1">
          <a:blip r:embed="rId2"/>
          <a:srcRect l="41298" t="11274" r="43" b="19372"/>
          <a:stretch/>
        </p:blipFill>
        <p:spPr>
          <a:xfrm>
            <a:off x="3760647" y="1551690"/>
            <a:ext cx="3536831" cy="2223150"/>
          </a:xfrm>
          <a:prstGeom prst="rect">
            <a:avLst/>
          </a:prstGeom>
        </p:spPr>
      </p:pic>
      <p:pic>
        <p:nvPicPr>
          <p:cNvPr id="5" name="Picture 4"/>
          <p:cNvPicPr>
            <a:picLocks noChangeAspect="1"/>
          </p:cNvPicPr>
          <p:nvPr/>
        </p:nvPicPr>
        <p:blipFill rotWithShape="1">
          <a:blip r:embed="rId3"/>
          <a:srcRect b="12345"/>
          <a:stretch/>
        </p:blipFill>
        <p:spPr>
          <a:xfrm>
            <a:off x="7709464" y="1607489"/>
            <a:ext cx="3896254" cy="1959992"/>
          </a:xfrm>
          <a:prstGeom prst="rect">
            <a:avLst/>
          </a:prstGeom>
        </p:spPr>
      </p:pic>
      <p:sp>
        <p:nvSpPr>
          <p:cNvPr id="6" name="TextBox 5"/>
          <p:cNvSpPr txBox="1"/>
          <p:nvPr/>
        </p:nvSpPr>
        <p:spPr>
          <a:xfrm>
            <a:off x="471322" y="3724664"/>
            <a:ext cx="3294575" cy="338554"/>
          </a:xfrm>
          <a:prstGeom prst="rect">
            <a:avLst/>
          </a:prstGeom>
          <a:noFill/>
        </p:spPr>
        <p:txBody>
          <a:bodyPr wrap="square" rtlCol="0">
            <a:spAutoFit/>
          </a:bodyPr>
          <a:lstStyle/>
          <a:p>
            <a:r>
              <a:rPr lang="en-US" sz="1600" dirty="0"/>
              <a:t>First order MASH accumulator</a:t>
            </a:r>
          </a:p>
        </p:txBody>
      </p:sp>
      <p:sp>
        <p:nvSpPr>
          <p:cNvPr id="7" name="TextBox 6"/>
          <p:cNvSpPr txBox="1"/>
          <p:nvPr/>
        </p:nvSpPr>
        <p:spPr>
          <a:xfrm>
            <a:off x="8421686" y="3693886"/>
            <a:ext cx="3364302" cy="369332"/>
          </a:xfrm>
          <a:prstGeom prst="rect">
            <a:avLst/>
          </a:prstGeom>
          <a:noFill/>
        </p:spPr>
        <p:txBody>
          <a:bodyPr wrap="square" rtlCol="0">
            <a:spAutoFit/>
          </a:bodyPr>
          <a:lstStyle/>
          <a:p>
            <a:r>
              <a:rPr lang="en-US" dirty="0"/>
              <a:t>First order MASH Z domain model</a:t>
            </a:r>
          </a:p>
        </p:txBody>
      </p:sp>
      <p:pic>
        <p:nvPicPr>
          <p:cNvPr id="9" name="Picture 8"/>
          <p:cNvPicPr>
            <a:picLocks noChangeAspect="1"/>
          </p:cNvPicPr>
          <p:nvPr/>
        </p:nvPicPr>
        <p:blipFill>
          <a:blip r:embed="rId4"/>
          <a:stretch>
            <a:fillRect/>
          </a:stretch>
        </p:blipFill>
        <p:spPr>
          <a:xfrm>
            <a:off x="624747" y="1240750"/>
            <a:ext cx="2310926" cy="2371422"/>
          </a:xfrm>
          <a:prstGeom prst="rect">
            <a:avLst/>
          </a:prstGeom>
        </p:spPr>
      </p:pic>
      <p:sp>
        <p:nvSpPr>
          <p:cNvPr id="11" name="TextBox 10"/>
          <p:cNvSpPr txBox="1"/>
          <p:nvPr/>
        </p:nvSpPr>
        <p:spPr>
          <a:xfrm>
            <a:off x="4296887" y="3730566"/>
            <a:ext cx="3294575" cy="338554"/>
          </a:xfrm>
          <a:prstGeom prst="rect">
            <a:avLst/>
          </a:prstGeom>
          <a:noFill/>
        </p:spPr>
        <p:txBody>
          <a:bodyPr wrap="square" rtlCol="0">
            <a:spAutoFit/>
          </a:bodyPr>
          <a:lstStyle/>
          <a:p>
            <a:r>
              <a:rPr lang="en-US" sz="1600" dirty="0"/>
              <a:t>First order MASH model</a:t>
            </a:r>
          </a:p>
        </p:txBody>
      </p:sp>
    </p:spTree>
    <p:extLst>
      <p:ext uri="{BB962C8B-B14F-4D97-AF65-F5344CB8AC3E}">
        <p14:creationId xmlns:p14="http://schemas.microsoft.com/office/powerpoint/2010/main" val="421802934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a:t>
            </a:r>
            <a:r>
              <a:rPr lang="en-US" baseline="30000" dirty="0"/>
              <a:t>rd</a:t>
            </a:r>
            <a:r>
              <a:rPr lang="en-US" dirty="0"/>
              <a:t> order MASH Implementation</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3968" y="1233897"/>
            <a:ext cx="4527743" cy="4891435"/>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81457" y="1382838"/>
            <a:ext cx="5258366" cy="4050346"/>
          </a:xfrm>
          <a:prstGeom prst="rect">
            <a:avLst/>
          </a:prstGeom>
        </p:spPr>
      </p:pic>
      <mc:AlternateContent xmlns:mc="http://schemas.openxmlformats.org/markup-compatibility/2006" xmlns:a14="http://schemas.microsoft.com/office/drawing/2010/main">
        <mc:Choice Requires="a14">
          <p:sp>
            <p:nvSpPr>
              <p:cNvPr id="9" name="Rectangle 8"/>
              <p:cNvSpPr/>
              <p:nvPr/>
            </p:nvSpPr>
            <p:spPr>
              <a:xfrm>
                <a:off x="7355621" y="5507059"/>
                <a:ext cx="2190151" cy="634789"/>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𝑆𝑇𝐹</m:t>
                      </m:r>
                      <m:r>
                        <a:rPr lang="en-US" i="1" smtClean="0">
                          <a:latin typeface="Cambria Math" panose="02040503050406030204" pitchFamily="18" charset="0"/>
                        </a:rPr>
                        <m:t>(</m:t>
                      </m:r>
                      <m:r>
                        <a:rPr lang="en-US" i="1" smtClean="0">
                          <a:latin typeface="Cambria Math" panose="02040503050406030204" pitchFamily="18" charset="0"/>
                        </a:rPr>
                        <m:t>𝑧</m:t>
                      </m:r>
                      <m:r>
                        <a:rPr lang="en-US" i="1" smtClean="0">
                          <a:latin typeface="Cambria Math" panose="02040503050406030204" pitchFamily="18" charset="0"/>
                        </a:rPr>
                        <m:t>) = (</m:t>
                      </m:r>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𝑀</m:t>
                          </m:r>
                        </m:den>
                      </m:f>
                      <m:r>
                        <a:rPr lang="en-US" i="1" smtClean="0">
                          <a:latin typeface="Cambria Math" panose="02040503050406030204" pitchFamily="18" charset="0"/>
                        </a:rPr>
                        <m:t>) </m:t>
                      </m:r>
                      <m:sSup>
                        <m:sSupPr>
                          <m:ctrlPr>
                            <a:rPr lang="en-US" i="1" smtClean="0">
                              <a:latin typeface="Cambria Math" panose="02040503050406030204" pitchFamily="18" charset="0"/>
                            </a:rPr>
                          </m:ctrlPr>
                        </m:sSupPr>
                        <m:e>
                          <m:r>
                            <a:rPr lang="en-US" b="0" i="1" smtClean="0">
                              <a:latin typeface="Cambria Math" panose="02040503050406030204" pitchFamily="18" charset="0"/>
                            </a:rPr>
                            <m:t>𝑍</m:t>
                          </m:r>
                        </m:e>
                        <m:sup>
                          <m:r>
                            <a:rPr lang="en-US" b="0" i="1" smtClean="0">
                              <a:latin typeface="Cambria Math" panose="02040503050406030204" pitchFamily="18" charset="0"/>
                            </a:rPr>
                            <m:t>−</m:t>
                          </m:r>
                          <m:r>
                            <a:rPr lang="en-US" b="0" i="1" smtClean="0">
                              <a:latin typeface="Cambria Math" panose="02040503050406030204" pitchFamily="18" charset="0"/>
                            </a:rPr>
                            <m:t>2</m:t>
                          </m:r>
                        </m:sup>
                      </m:sSup>
                    </m:oMath>
                  </m:oMathPara>
                </a14:m>
                <a:endParaRPr lang="en-US" dirty="0"/>
              </a:p>
            </p:txBody>
          </p:sp>
        </mc:Choice>
        <mc:Fallback xmlns="">
          <p:sp>
            <p:nvSpPr>
              <p:cNvPr id="9" name="Rectangle 8"/>
              <p:cNvSpPr>
                <a:spLocks noRot="1" noChangeAspect="1" noMove="1" noResize="1" noEditPoints="1" noAdjustHandles="1" noChangeArrowheads="1" noChangeShapeType="1" noTextEdit="1"/>
              </p:cNvSpPr>
              <p:nvPr/>
            </p:nvSpPr>
            <p:spPr>
              <a:xfrm>
                <a:off x="7355621" y="5507059"/>
                <a:ext cx="2190151" cy="634789"/>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7355621" y="6220912"/>
                <a:ext cx="230037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pl-PL" i="1" smtClean="0">
                          <a:latin typeface="Cambria Math" panose="02040503050406030204" pitchFamily="18" charset="0"/>
                        </a:rPr>
                        <m:t>𝑁𝑇𝐹</m:t>
                      </m:r>
                      <m:r>
                        <a:rPr lang="pl-PL" i="1" smtClean="0">
                          <a:latin typeface="Cambria Math" panose="02040503050406030204" pitchFamily="18" charset="0"/>
                        </a:rPr>
                        <m:t>(</m:t>
                      </m:r>
                      <m:r>
                        <a:rPr lang="pl-PL" i="1" smtClean="0">
                          <a:latin typeface="Cambria Math" panose="02040503050406030204" pitchFamily="18" charset="0"/>
                        </a:rPr>
                        <m:t>𝑧</m:t>
                      </m:r>
                      <m:r>
                        <a:rPr lang="pl-PL" i="1" smtClean="0">
                          <a:latin typeface="Cambria Math" panose="02040503050406030204" pitchFamily="18" charset="0"/>
                        </a:rPr>
                        <m:t>) = </m:t>
                      </m:r>
                      <m:sSup>
                        <m:sSupPr>
                          <m:ctrlPr>
                            <a:rPr lang="pl-PL" i="1" smtClean="0">
                              <a:latin typeface="Cambria Math" panose="02040503050406030204" pitchFamily="18" charset="0"/>
                            </a:rPr>
                          </m:ctrlPr>
                        </m:sSupPr>
                        <m:e>
                          <m:r>
                            <a:rPr lang="en-US" b="0" i="1" smtClean="0">
                              <a:latin typeface="Cambria Math" panose="02040503050406030204" pitchFamily="18" charset="0"/>
                            </a:rPr>
                            <m:t>(</m:t>
                          </m:r>
                          <m:r>
                            <a:rPr lang="en-US" b="0" i="1" smtClean="0">
                              <a:latin typeface="Cambria Math" panose="02040503050406030204" pitchFamily="18" charset="0"/>
                            </a:rPr>
                            <m:t>1</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𝑍</m:t>
                              </m:r>
                            </m:e>
                            <m:sup>
                              <m:r>
                                <a:rPr lang="en-US" b="0" i="1" smtClean="0">
                                  <a:latin typeface="Cambria Math" panose="02040503050406030204" pitchFamily="18" charset="0"/>
                                </a:rPr>
                                <m:t>−</m:t>
                              </m:r>
                              <m:r>
                                <a:rPr lang="en-US" b="0" i="1" smtClean="0">
                                  <a:latin typeface="Cambria Math" panose="02040503050406030204" pitchFamily="18" charset="0"/>
                                </a:rPr>
                                <m:t>1</m:t>
                              </m:r>
                            </m:sup>
                          </m:sSup>
                          <m:r>
                            <a:rPr lang="en-US" b="0" i="1" smtClean="0">
                              <a:latin typeface="Cambria Math" panose="02040503050406030204" pitchFamily="18" charset="0"/>
                            </a:rPr>
                            <m:t>)</m:t>
                          </m:r>
                        </m:e>
                        <m:sup>
                          <m:r>
                            <a:rPr lang="en-US" b="0" i="1" smtClean="0">
                              <a:latin typeface="Cambria Math" panose="02040503050406030204" pitchFamily="18" charset="0"/>
                            </a:rPr>
                            <m:t>3</m:t>
                          </m:r>
                        </m:sup>
                      </m:sSup>
                    </m:oMath>
                  </m:oMathPara>
                </a14:m>
                <a:endParaRPr lang="en-US" dirty="0">
                  <a:latin typeface="Bell MT" panose="02020503060305020303" pitchFamily="18" charset="0"/>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7355621" y="6220912"/>
                <a:ext cx="2300373" cy="276999"/>
              </a:xfrm>
              <a:prstGeom prst="rect">
                <a:avLst/>
              </a:prstGeom>
              <a:blipFill rotWithShape="0">
                <a:blip r:embed="rId5"/>
                <a:stretch>
                  <a:fillRect l="-2122" t="-4348" r="-796" b="-32609"/>
                </a:stretch>
              </a:blipFill>
            </p:spPr>
            <p:txBody>
              <a:bodyPr/>
              <a:lstStyle/>
              <a:p>
                <a:r>
                  <a:rPr lang="en-US">
                    <a:noFill/>
                  </a:rPr>
                  <a:t> </a:t>
                </a:r>
              </a:p>
            </p:txBody>
          </p:sp>
        </mc:Fallback>
      </mc:AlternateContent>
    </p:spTree>
    <p:extLst>
      <p:ext uri="{BB962C8B-B14F-4D97-AF65-F5344CB8AC3E}">
        <p14:creationId xmlns:p14="http://schemas.microsoft.com/office/powerpoint/2010/main" val="212511066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Sigma delta and DCO interface </a:t>
            </a:r>
          </a:p>
        </p:txBody>
      </p:sp>
      <p:sp>
        <p:nvSpPr>
          <p:cNvPr id="6" name="TextBox 5"/>
          <p:cNvSpPr txBox="1"/>
          <p:nvPr/>
        </p:nvSpPr>
        <p:spPr>
          <a:xfrm>
            <a:off x="470780" y="1539089"/>
            <a:ext cx="4906978" cy="4801314"/>
          </a:xfrm>
          <a:prstGeom prst="rect">
            <a:avLst/>
          </a:prstGeom>
          <a:noFill/>
        </p:spPr>
        <p:txBody>
          <a:bodyPr wrap="square" rtlCol="0">
            <a:spAutoFit/>
          </a:bodyPr>
          <a:lstStyle/>
          <a:p>
            <a:pPr marL="285750" indent="-285750">
              <a:buFont typeface="Wingdings" panose="05000000000000000000" pitchFamily="2" charset="2"/>
              <a:buChar char="q"/>
            </a:pPr>
            <a:r>
              <a:rPr lang="en-US" b="1" dirty="0" err="1"/>
              <a:t>rst_n</a:t>
            </a:r>
            <a:r>
              <a:rPr lang="en-US" dirty="0"/>
              <a:t> – Active-low reset sourced from the </a:t>
            </a:r>
            <a:r>
              <a:rPr lang="en-US" b="1" dirty="0"/>
              <a:t>control unit</a:t>
            </a:r>
            <a:r>
              <a:rPr lang="en-US" dirty="0"/>
              <a:t>, ensuring synchronous initialization</a:t>
            </a:r>
          </a:p>
          <a:p>
            <a:pPr marL="285750" indent="-285750">
              <a:buFont typeface="Wingdings" panose="05000000000000000000" pitchFamily="2" charset="2"/>
              <a:buChar char="q"/>
            </a:pPr>
            <a:r>
              <a:rPr lang="en-US" b="1" dirty="0" err="1"/>
              <a:t>sd_en</a:t>
            </a:r>
            <a:r>
              <a:rPr lang="en-US" dirty="0"/>
              <a:t> – Driven by the </a:t>
            </a:r>
            <a:r>
              <a:rPr lang="en-US" b="1" dirty="0"/>
              <a:t>control unit</a:t>
            </a:r>
            <a:r>
              <a:rPr lang="en-US" dirty="0"/>
              <a:t>; sigma delta is only activated in specific operating modes (e.g., transmission), keeping it powered down otherwise</a:t>
            </a:r>
          </a:p>
          <a:p>
            <a:pPr marL="285750" indent="-285750">
              <a:buFont typeface="Wingdings" panose="05000000000000000000" pitchFamily="2" charset="2"/>
              <a:buChar char="q"/>
            </a:pPr>
            <a:r>
              <a:rPr lang="en-US" b="1" dirty="0" err="1"/>
              <a:t>sd_in</a:t>
            </a:r>
            <a:r>
              <a:rPr lang="en-US" b="1" dirty="0"/>
              <a:t> (10-bit)</a:t>
            </a:r>
            <a:r>
              <a:rPr lang="en-US" dirty="0"/>
              <a:t> – From the </a:t>
            </a:r>
            <a:r>
              <a:rPr lang="en-US" b="1" dirty="0"/>
              <a:t>gain normalizer block</a:t>
            </a:r>
            <a:r>
              <a:rPr lang="en-US" dirty="0"/>
              <a:t>, which shifts the frequency word to compensate for the </a:t>
            </a:r>
            <a:r>
              <a:rPr lang="en-US" b="1" dirty="0"/>
              <a:t>1/M factor</a:t>
            </a:r>
            <a:r>
              <a:rPr lang="en-US" dirty="0"/>
              <a:t> from the linear PLL model</a:t>
            </a:r>
          </a:p>
          <a:p>
            <a:pPr marL="285750" indent="-285750">
              <a:buFont typeface="Wingdings" panose="05000000000000000000" pitchFamily="2" charset="2"/>
              <a:buChar char="q"/>
            </a:pPr>
            <a:r>
              <a:rPr lang="en-US" b="1" dirty="0" err="1"/>
              <a:t>sd_clk</a:t>
            </a:r>
            <a:r>
              <a:rPr lang="en-US" dirty="0"/>
              <a:t> – Derived from </a:t>
            </a:r>
            <a:r>
              <a:rPr lang="en-US" b="1" dirty="0"/>
              <a:t>DCO clock ÷ 8 </a:t>
            </a:r>
            <a:r>
              <a:rPr lang="en-US" dirty="0"/>
              <a:t>via an analog clock divider, ranging from: 2402 / 8 ≈ </a:t>
            </a:r>
            <a:r>
              <a:rPr lang="en-US" b="1" dirty="0"/>
              <a:t> 300 MHz</a:t>
            </a:r>
            <a:r>
              <a:rPr lang="en-US" dirty="0"/>
              <a:t> to 2480 / 6 ≈ </a:t>
            </a:r>
            <a:r>
              <a:rPr lang="en-US" b="1" dirty="0"/>
              <a:t>310 MHz</a:t>
            </a:r>
            <a:endParaRPr lang="en-US" dirty="0"/>
          </a:p>
          <a:p>
            <a:pPr marL="285750" indent="-285750">
              <a:buFont typeface="Wingdings" panose="05000000000000000000" pitchFamily="2" charset="2"/>
              <a:buChar char="q"/>
            </a:pPr>
            <a:r>
              <a:rPr lang="en-US" b="1" dirty="0" err="1"/>
              <a:t>o_sd</a:t>
            </a:r>
            <a:r>
              <a:rPr lang="en-US" dirty="0"/>
              <a:t> – Signed 3-bit output; a </a:t>
            </a:r>
            <a:r>
              <a:rPr lang="en-US" b="1" dirty="0"/>
              <a:t>constant 4 is added</a:t>
            </a:r>
            <a:r>
              <a:rPr lang="en-US" dirty="0"/>
              <a:t> to convert it to an unsigned 3-bit code (0–7), as it drives the </a:t>
            </a:r>
            <a:r>
              <a:rPr lang="en-US" b="1" dirty="0"/>
              <a:t>unary-weighted tracking capacitor bank</a:t>
            </a:r>
            <a:r>
              <a:rPr lang="en-US" dirty="0"/>
              <a:t> of the DCO</a:t>
            </a:r>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508551" y="2211545"/>
            <a:ext cx="6912804" cy="3456402"/>
          </a:xfrm>
          <a:prstGeom prst="rect">
            <a:avLst/>
          </a:prstGeom>
        </p:spPr>
      </p:pic>
    </p:spTree>
    <p:extLst>
      <p:ext uri="{BB962C8B-B14F-4D97-AF65-F5344CB8AC3E}">
        <p14:creationId xmlns:p14="http://schemas.microsoft.com/office/powerpoint/2010/main" val="154225505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Simulation Results </a:t>
            </a:r>
          </a:p>
        </p:txBody>
      </p:sp>
      <p:pic>
        <p:nvPicPr>
          <p:cNvPr id="5" name="Picture 4"/>
          <p:cNvPicPr>
            <a:picLocks noChangeAspect="1"/>
          </p:cNvPicPr>
          <p:nvPr/>
        </p:nvPicPr>
        <p:blipFill>
          <a:blip r:embed="rId2"/>
          <a:stretch>
            <a:fillRect/>
          </a:stretch>
        </p:blipFill>
        <p:spPr>
          <a:xfrm>
            <a:off x="253863" y="1308963"/>
            <a:ext cx="5776824" cy="3100304"/>
          </a:xfrm>
          <a:prstGeom prst="rect">
            <a:avLst/>
          </a:prstGeom>
        </p:spPr>
      </p:pic>
      <mc:AlternateContent xmlns:mc="http://schemas.openxmlformats.org/markup-compatibility/2006" xmlns:a14="http://schemas.microsoft.com/office/drawing/2010/main">
        <mc:Choice Requires="a14">
          <p:sp>
            <p:nvSpPr>
              <p:cNvPr id="6" name="Rectangle 5"/>
              <p:cNvSpPr/>
              <p:nvPr/>
            </p:nvSpPr>
            <p:spPr>
              <a:xfrm>
                <a:off x="253863" y="4598438"/>
                <a:ext cx="5680406" cy="1083182"/>
              </a:xfrm>
              <a:prstGeom prst="rect">
                <a:avLst/>
              </a:prstGeom>
            </p:spPr>
            <p:txBody>
              <a:bodyPr wrap="square">
                <a:spAutoFit/>
              </a:bodyPr>
              <a:lstStyle/>
              <a:p>
                <a:pPr marL="285750" indent="-285750">
                  <a:buFont typeface="Wingdings" panose="05000000000000000000" pitchFamily="2" charset="2"/>
                  <a:buChar char="q"/>
                </a:pPr>
                <a:r>
                  <a:rPr lang="en-US" dirty="0"/>
                  <a:t>Power spectral density (PSD) of the MASH 1-1-1 output for an irrational input value </a:t>
                </a:r>
                <a14:m>
                  <m:oMath xmlns:m="http://schemas.openxmlformats.org/officeDocument/2006/math">
                    <m:f>
                      <m:fPr>
                        <m:ctrlPr>
                          <a:rPr lang="en-US" i="1">
                            <a:latin typeface="Cambria Math" panose="02040503050406030204" pitchFamily="18" charset="0"/>
                          </a:rPr>
                        </m:ctrlPr>
                      </m:fPr>
                      <m:num>
                        <m:rad>
                          <m:radPr>
                            <m:degHide m:val="on"/>
                            <m:ctrlPr>
                              <a:rPr lang="en-US" i="1">
                                <a:latin typeface="Cambria Math" panose="02040503050406030204" pitchFamily="18" charset="0"/>
                              </a:rPr>
                            </m:ctrlPr>
                          </m:radPr>
                          <m:deg/>
                          <m:e>
                            <m:r>
                              <a:rPr lang="en-US" i="1">
                                <a:latin typeface="Cambria Math" panose="02040503050406030204" pitchFamily="18" charset="0"/>
                              </a:rPr>
                              <m:t>2</m:t>
                            </m:r>
                          </m:e>
                        </m:rad>
                      </m:num>
                      <m:den>
                        <m:r>
                          <a:rPr lang="en-US" i="1">
                            <a:latin typeface="Cambria Math" panose="02040503050406030204" pitchFamily="18" charset="0"/>
                          </a:rPr>
                          <m:t>10</m:t>
                        </m:r>
                      </m:den>
                    </m:f>
                  </m:oMath>
                </a14:m>
                <a:r>
                  <a:rPr lang="en-US" dirty="0"/>
                  <a:t>. The spectrum shows no periodic tonal components, as the irrational input prevents repetitive patterns in the quantization process.</a:t>
                </a:r>
              </a:p>
            </p:txBody>
          </p:sp>
        </mc:Choice>
        <mc:Fallback xmlns="">
          <p:sp>
            <p:nvSpPr>
              <p:cNvPr id="6" name="Rectangle 5"/>
              <p:cNvSpPr>
                <a:spLocks noRot="1" noChangeAspect="1" noMove="1" noResize="1" noEditPoints="1" noAdjustHandles="1" noChangeArrowheads="1" noChangeShapeType="1" noTextEdit="1"/>
              </p:cNvSpPr>
              <p:nvPr/>
            </p:nvSpPr>
            <p:spPr>
              <a:xfrm>
                <a:off x="253863" y="4598438"/>
                <a:ext cx="5680406" cy="1083182"/>
              </a:xfrm>
              <a:prstGeom prst="rect">
                <a:avLst/>
              </a:prstGeom>
              <a:blipFill rotWithShape="0">
                <a:blip r:embed="rId3"/>
                <a:stretch>
                  <a:fillRect l="-215" t="-562" b="-5056"/>
                </a:stretch>
              </a:blipFill>
            </p:spPr>
            <p:txBody>
              <a:bodyPr/>
              <a:lstStyle/>
              <a:p>
                <a:r>
                  <a:rPr lang="en-US">
                    <a:noFill/>
                  </a:rPr>
                  <a:t> </a:t>
                </a:r>
              </a:p>
            </p:txBody>
          </p:sp>
        </mc:Fallback>
      </mc:AlternateContent>
      <p:pic>
        <p:nvPicPr>
          <p:cNvPr id="7" name="Picture 6"/>
          <p:cNvPicPr>
            <a:picLocks noChangeAspect="1"/>
          </p:cNvPicPr>
          <p:nvPr/>
        </p:nvPicPr>
        <p:blipFill>
          <a:blip r:embed="rId4"/>
          <a:stretch>
            <a:fillRect/>
          </a:stretch>
        </p:blipFill>
        <p:spPr>
          <a:xfrm>
            <a:off x="6134784" y="2991668"/>
            <a:ext cx="6018431" cy="3396655"/>
          </a:xfrm>
          <a:prstGeom prst="rect">
            <a:avLst/>
          </a:prstGeom>
        </p:spPr>
      </p:pic>
      <p:sp>
        <p:nvSpPr>
          <p:cNvPr id="8" name="Rectangle 7"/>
          <p:cNvSpPr/>
          <p:nvPr/>
        </p:nvSpPr>
        <p:spPr>
          <a:xfrm>
            <a:off x="6096001" y="1308963"/>
            <a:ext cx="6096000" cy="1169551"/>
          </a:xfrm>
          <a:prstGeom prst="rect">
            <a:avLst/>
          </a:prstGeom>
        </p:spPr>
        <p:txBody>
          <a:bodyPr>
            <a:spAutoFit/>
          </a:bodyPr>
          <a:lstStyle/>
          <a:p>
            <a:pPr marL="285750" indent="-285750">
              <a:buFont typeface="Wingdings" panose="05000000000000000000" pitchFamily="2" charset="2"/>
              <a:buChar char="q"/>
            </a:pPr>
            <a:r>
              <a:rPr lang="en-US" dirty="0"/>
              <a:t>Extended output spectrum of the MASH 1-1-1 modulator for a rational input value (0.25). Strong periodic tonal components are clearly visible, resulting from the repetitive nature of the rational input sequence. The application of dithering significantly reduces these tones by breaking the periodicity.</a:t>
            </a:r>
          </a:p>
        </p:txBody>
      </p:sp>
    </p:spTree>
    <p:extLst>
      <p:ext uri="{BB962C8B-B14F-4D97-AF65-F5344CB8AC3E}">
        <p14:creationId xmlns:p14="http://schemas.microsoft.com/office/powerpoint/2010/main" val="336117219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Sigma delta Simulation results </a:t>
            </a:r>
          </a:p>
        </p:txBody>
      </p:sp>
      <p:sp>
        <p:nvSpPr>
          <p:cNvPr id="3" name="Text Placeholder 2"/>
          <p:cNvSpPr>
            <a:spLocks noGrp="1"/>
          </p:cNvSpPr>
          <p:nvPr>
            <p:ph type="body" idx="1"/>
          </p:nvPr>
        </p:nvSpPr>
        <p:spPr>
          <a:xfrm>
            <a:off x="914400" y="1510748"/>
            <a:ext cx="6898741" cy="4984947"/>
          </a:xfrm>
        </p:spPr>
        <p:txBody>
          <a:bodyPr/>
          <a:lstStyle/>
          <a:p>
            <a:pPr>
              <a:buFont typeface="Wingdings" panose="05000000000000000000" pitchFamily="2" charset="2"/>
              <a:buChar char="q"/>
            </a:pPr>
            <a:r>
              <a:rPr lang="en-US" b="0" dirty="0">
                <a:solidFill>
                  <a:schemeClr val="tx1"/>
                </a:solidFill>
              </a:rPr>
              <a:t>Loop filter output ranges from 10⁻² to 10⁻³, which is then multiplied by the gain normalizer (×1280, the tracking mode gain), and only the fractional part of the result is fed into the sigma-delta — giving an input range on the order of 10⁻¹ as seen in the table</a:t>
            </a:r>
          </a:p>
          <a:p>
            <a:pPr>
              <a:buFont typeface="Wingdings" panose="05000000000000000000" pitchFamily="2" charset="2"/>
              <a:buChar char="q"/>
            </a:pPr>
            <a:r>
              <a:rPr lang="en-US" b="0" dirty="0">
                <a:solidFill>
                  <a:schemeClr val="tx1"/>
                </a:solidFill>
              </a:rPr>
              <a:t>SD output averaging is performed over 12 cycles, corresponding to the ratio between the sigma-delta clock (</a:t>
            </a:r>
            <a:r>
              <a:rPr lang="en-US" b="0" dirty="0" err="1">
                <a:solidFill>
                  <a:schemeClr val="tx1"/>
                </a:solidFill>
              </a:rPr>
              <a:t>sd_clk</a:t>
            </a:r>
            <a:r>
              <a:rPr lang="en-US" b="0" dirty="0">
                <a:solidFill>
                  <a:schemeClr val="tx1"/>
                </a:solidFill>
              </a:rPr>
              <a:t> ≈ 400–413 MHz) and the reference clock — the </a:t>
            </a:r>
            <a:r>
              <a:rPr lang="en-US" b="0" dirty="0" err="1">
                <a:solidFill>
                  <a:schemeClr val="tx1"/>
                </a:solidFill>
              </a:rPr>
              <a:t>Avg_SD_Output</a:t>
            </a:r>
            <a:r>
              <a:rPr lang="en-US" b="0" dirty="0">
                <a:solidFill>
                  <a:schemeClr val="tx1"/>
                </a:solidFill>
              </a:rPr>
              <a:t> column reflects this time-averaged value</a:t>
            </a:r>
          </a:p>
          <a:p>
            <a:pPr>
              <a:buFont typeface="Wingdings" panose="05000000000000000000" pitchFamily="2" charset="2"/>
              <a:buChar char="q"/>
            </a:pPr>
            <a:r>
              <a:rPr lang="en-US" b="0" dirty="0">
                <a:solidFill>
                  <a:schemeClr val="tx1"/>
                </a:solidFill>
              </a:rPr>
              <a:t>Quantization error (shown in the Error column) remains small and bounded, and is considered acceptable since the ADPLL loop filter will suppress and compensate these residual errors over time</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86700" y="1210311"/>
            <a:ext cx="4305300" cy="5294437"/>
          </a:xfrm>
          <a:prstGeom prst="rect">
            <a:avLst/>
          </a:prstGeom>
        </p:spPr>
      </p:pic>
    </p:spTree>
    <p:extLst>
      <p:ext uri="{BB962C8B-B14F-4D97-AF65-F5344CB8AC3E}">
        <p14:creationId xmlns:p14="http://schemas.microsoft.com/office/powerpoint/2010/main" val="264248967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RTL </a:t>
            </a:r>
            <a:r>
              <a:rPr lang="en-US" dirty="0" err="1"/>
              <a:t>vs</a:t>
            </a:r>
            <a:r>
              <a:rPr lang="en-US" dirty="0"/>
              <a:t> MATLAB Verification</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38110" y="1308963"/>
            <a:ext cx="5853890" cy="3228786"/>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3331" y="3306536"/>
            <a:ext cx="5874779" cy="3048996"/>
          </a:xfrm>
          <a:prstGeom prst="rect">
            <a:avLst/>
          </a:prstGeom>
        </p:spPr>
      </p:pic>
    </p:spTree>
    <p:extLst>
      <p:ext uri="{BB962C8B-B14F-4D97-AF65-F5344CB8AC3E}">
        <p14:creationId xmlns:p14="http://schemas.microsoft.com/office/powerpoint/2010/main" val="303086486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Control Unit </a:t>
            </a:r>
          </a:p>
        </p:txBody>
      </p:sp>
      <p:pic>
        <p:nvPicPr>
          <p:cNvPr id="8" name="Picture 7"/>
          <p:cNvPicPr>
            <a:picLocks noChangeAspect="1"/>
          </p:cNvPicPr>
          <p:nvPr/>
        </p:nvPicPr>
        <p:blipFill>
          <a:blip r:embed="rId2"/>
          <a:stretch>
            <a:fillRect/>
          </a:stretch>
        </p:blipFill>
        <p:spPr>
          <a:xfrm>
            <a:off x="1828367" y="578201"/>
            <a:ext cx="8739876" cy="5750171"/>
          </a:xfrm>
          <a:prstGeom prst="rect">
            <a:avLst/>
          </a:prstGeom>
        </p:spPr>
      </p:pic>
    </p:spTree>
    <p:extLst>
      <p:ext uri="{BB962C8B-B14F-4D97-AF65-F5344CB8AC3E}">
        <p14:creationId xmlns:p14="http://schemas.microsoft.com/office/powerpoint/2010/main" val="7077068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Control unit Architecture</a:t>
            </a:r>
          </a:p>
        </p:txBody>
      </p:sp>
      <p:sp>
        <p:nvSpPr>
          <p:cNvPr id="3" name="Text Placeholder 2"/>
          <p:cNvSpPr>
            <a:spLocks noGrp="1"/>
          </p:cNvSpPr>
          <p:nvPr>
            <p:ph type="body" idx="1"/>
          </p:nvPr>
        </p:nvSpPr>
        <p:spPr>
          <a:xfrm>
            <a:off x="914400" y="1510748"/>
            <a:ext cx="4517679" cy="4984947"/>
          </a:xfrm>
        </p:spPr>
        <p:txBody>
          <a:bodyPr/>
          <a:lstStyle/>
          <a:p>
            <a:endParaRPr lang="en-US" dirty="0"/>
          </a:p>
          <a:p>
            <a:endParaRPr lang="en-US" dirty="0"/>
          </a:p>
          <a:p>
            <a:endParaRPr lang="en-US" dirty="0"/>
          </a:p>
        </p:txBody>
      </p:sp>
      <p:sp>
        <p:nvSpPr>
          <p:cNvPr id="6" name="TextBox 5"/>
          <p:cNvSpPr txBox="1"/>
          <p:nvPr/>
        </p:nvSpPr>
        <p:spPr>
          <a:xfrm>
            <a:off x="298765" y="943582"/>
            <a:ext cx="7903675" cy="6524863"/>
          </a:xfrm>
          <a:prstGeom prst="rect">
            <a:avLst/>
          </a:prstGeom>
          <a:noFill/>
        </p:spPr>
        <p:txBody>
          <a:bodyPr wrap="square" rtlCol="0">
            <a:spAutoFit/>
          </a:bodyPr>
          <a:lstStyle/>
          <a:p>
            <a:endParaRPr lang="en-US" dirty="0"/>
          </a:p>
          <a:p>
            <a:pPr marL="342900" indent="-342900">
              <a:buFont typeface="Wingdings" panose="05000000000000000000" pitchFamily="2" charset="2"/>
              <a:buChar char="q"/>
            </a:pPr>
            <a:r>
              <a:rPr lang="en-US" sz="2000" b="1" dirty="0"/>
              <a:t>Main FSM</a:t>
            </a:r>
          </a:p>
          <a:p>
            <a:pPr marL="742950" lvl="1" indent="-285750">
              <a:buFont typeface="Wingdings" panose="05000000000000000000" pitchFamily="2" charset="2"/>
              <a:buChar char="Ø"/>
            </a:pPr>
            <a:r>
              <a:rPr lang="en-US" dirty="0"/>
              <a:t> Controls overall operation sequence of the BLE transmitter and d</a:t>
            </a:r>
          </a:p>
          <a:p>
            <a:pPr marL="742950" lvl="1" indent="-285750">
              <a:buFont typeface="Wingdings" panose="05000000000000000000" pitchFamily="2" charset="2"/>
              <a:buChar char="Ø"/>
            </a:pPr>
            <a:r>
              <a:rPr lang="en-US" dirty="0"/>
              <a:t> Coordinates transitions between different operating modes</a:t>
            </a:r>
          </a:p>
          <a:p>
            <a:pPr marL="342900" indent="-342900">
              <a:buFont typeface="Wingdings" panose="05000000000000000000" pitchFamily="2" charset="2"/>
              <a:buChar char="q"/>
            </a:pPr>
            <a:r>
              <a:rPr lang="en-US" sz="2000" b="1" dirty="0"/>
              <a:t>ADPLL FSM</a:t>
            </a:r>
          </a:p>
          <a:p>
            <a:pPr marL="742950" lvl="1" indent="-285750">
              <a:buFont typeface="Wingdings" panose="05000000000000000000" pitchFamily="2" charset="2"/>
              <a:buChar char="Ø"/>
            </a:pPr>
            <a:r>
              <a:rPr lang="en-US" dirty="0"/>
              <a:t>Controls ADPLL phases: PVT calibration, acquisition, tracking &amp; modulation</a:t>
            </a:r>
          </a:p>
          <a:p>
            <a:pPr marL="742950" lvl="1" indent="-285750">
              <a:buFont typeface="Wingdings" panose="05000000000000000000" pitchFamily="2" charset="2"/>
              <a:buChar char="Ø"/>
            </a:pPr>
            <a:r>
              <a:rPr lang="en-US" dirty="0"/>
              <a:t>Provides status information to the Main FSM</a:t>
            </a:r>
          </a:p>
          <a:p>
            <a:pPr marL="285750" indent="-285750">
              <a:buFont typeface="Wingdings" panose="05000000000000000000" pitchFamily="2" charset="2"/>
              <a:buChar char="q"/>
            </a:pPr>
            <a:r>
              <a:rPr lang="en-US" b="1" dirty="0"/>
              <a:t>TMU (Time Management Unit)</a:t>
            </a:r>
          </a:p>
          <a:p>
            <a:pPr marL="742950" lvl="1" indent="-285750">
              <a:buFont typeface="Wingdings" panose="05000000000000000000" pitchFamily="2" charset="2"/>
              <a:buChar char="Ø"/>
            </a:pPr>
            <a:r>
              <a:rPr lang="en-US" dirty="0"/>
              <a:t> Determines the duration of each operating mode</a:t>
            </a:r>
          </a:p>
          <a:p>
            <a:pPr marL="742950" lvl="1" indent="-285750">
              <a:buFont typeface="Wingdings" panose="05000000000000000000" pitchFamily="2" charset="2"/>
              <a:buChar char="Ø"/>
            </a:pPr>
            <a:r>
              <a:rPr lang="en-US" dirty="0"/>
              <a:t> Generates timing control signals used for state transitions</a:t>
            </a:r>
          </a:p>
          <a:p>
            <a:pPr marL="285750" indent="-285750">
              <a:buFont typeface="Wingdings" panose="05000000000000000000" pitchFamily="2" charset="2"/>
              <a:buChar char="q"/>
            </a:pPr>
            <a:r>
              <a:rPr lang="en-US" b="1" dirty="0"/>
              <a:t>Register File Interface</a:t>
            </a:r>
          </a:p>
          <a:p>
            <a:pPr marL="742950" lvl="1" indent="-285750">
              <a:buFont typeface="Wingdings" panose="05000000000000000000" pitchFamily="2" charset="2"/>
              <a:buChar char="Ø"/>
            </a:pPr>
            <a:r>
              <a:rPr lang="en-US" dirty="0"/>
              <a:t>TMU reads programmable timing parameters from the Register File</a:t>
            </a:r>
          </a:p>
          <a:p>
            <a:pPr marL="742950" lvl="1" indent="-285750">
              <a:buFont typeface="Wingdings" panose="05000000000000000000" pitchFamily="2" charset="2"/>
              <a:buChar char="Ø"/>
            </a:pPr>
            <a:r>
              <a:rPr lang="en-US" dirty="0"/>
              <a:t>Timing parameters can be modified without changing the hardware</a:t>
            </a:r>
          </a:p>
          <a:p>
            <a:pPr marL="285750" indent="-285750">
              <a:buFont typeface="Wingdings" panose="05000000000000000000" pitchFamily="2" charset="2"/>
              <a:buChar char="q"/>
            </a:pPr>
            <a:r>
              <a:rPr lang="en-US" b="1" dirty="0"/>
              <a:t>Configurable Timing Registers</a:t>
            </a:r>
          </a:p>
          <a:p>
            <a:pPr marL="742950" lvl="1" indent="-285750">
              <a:buFont typeface="Wingdings" panose="05000000000000000000" pitchFamily="2" charset="2"/>
              <a:buChar char="Ø"/>
            </a:pPr>
            <a:r>
              <a:rPr lang="en-US" dirty="0"/>
              <a:t> PVT_CYCLES → cycles allocated for PVT calibration</a:t>
            </a:r>
          </a:p>
          <a:p>
            <a:pPr marL="742950" lvl="1" indent="-285750">
              <a:buFont typeface="Wingdings" panose="05000000000000000000" pitchFamily="2" charset="2"/>
              <a:buChar char="Ø"/>
            </a:pPr>
            <a:r>
              <a:rPr lang="en-US" dirty="0"/>
              <a:t> ACQUISITION_CYCLES → duration of acquisition mode</a:t>
            </a:r>
          </a:p>
          <a:p>
            <a:pPr marL="742950" lvl="1" indent="-285750">
              <a:buFont typeface="Wingdings" panose="05000000000000000000" pitchFamily="2" charset="2"/>
              <a:buChar char="Ø"/>
            </a:pPr>
            <a:r>
              <a:rPr lang="en-US" dirty="0"/>
              <a:t>TRACK_CYCLES → duration of tracking mode</a:t>
            </a:r>
          </a:p>
          <a:p>
            <a:pPr marL="285750" indent="-285750">
              <a:buFont typeface="Wingdings" panose="05000000000000000000" pitchFamily="2" charset="2"/>
              <a:buChar char="q"/>
            </a:pPr>
            <a:r>
              <a:rPr lang="en-US" b="1" dirty="0"/>
              <a:t>Link Layer</a:t>
            </a:r>
          </a:p>
          <a:p>
            <a:pPr marL="742950" lvl="1" indent="-285750">
              <a:buFont typeface="Wingdings" panose="05000000000000000000" pitchFamily="2" charset="2"/>
              <a:buChar char="Ø"/>
            </a:pPr>
            <a:r>
              <a:rPr lang="en-US" dirty="0"/>
              <a:t>triggers transmission via </a:t>
            </a:r>
            <a:r>
              <a:rPr lang="en-US" dirty="0" err="1"/>
              <a:t>i_ll_tx_start</a:t>
            </a:r>
            <a:r>
              <a:rPr lang="en-US" dirty="0"/>
              <a:t> and </a:t>
            </a:r>
          </a:p>
          <a:p>
            <a:pPr lvl="1"/>
            <a:r>
              <a:rPr lang="en-US" dirty="0" err="1"/>
              <a:t>i_ll_mod_start</a:t>
            </a:r>
            <a:r>
              <a:rPr lang="en-US" dirty="0"/>
              <a:t>, and receives </a:t>
            </a:r>
            <a:r>
              <a:rPr lang="en-US" dirty="0" err="1"/>
              <a:t>o_phy_ready</a:t>
            </a:r>
            <a:r>
              <a:rPr lang="en-US" dirty="0"/>
              <a:t> from the Control Unit </a:t>
            </a:r>
          </a:p>
          <a:p>
            <a:pPr marL="742950" lvl="1" indent="-285750">
              <a:buFont typeface="Wingdings" panose="05000000000000000000" pitchFamily="2" charset="2"/>
              <a:buChar char="Ø"/>
            </a:pPr>
            <a:endParaRPr lang="en-US" dirty="0"/>
          </a:p>
          <a:p>
            <a:pPr marL="742950" lvl="1" indent="-285750">
              <a:buFont typeface="Wingdings" panose="05000000000000000000" pitchFamily="2" charset="2"/>
              <a:buChar char="Ø"/>
            </a:pPr>
            <a:endParaRPr lang="en-US" dirty="0"/>
          </a:p>
          <a:p>
            <a:pPr marL="742950" lvl="1" indent="-285750">
              <a:buFont typeface="Wingdings" panose="05000000000000000000" pitchFamily="2" charset="2"/>
              <a:buChar char="q"/>
            </a:pPr>
            <a:endParaRPr lang="en-US" dirty="0"/>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364961" y="2039725"/>
            <a:ext cx="5827039" cy="4455970"/>
          </a:xfrm>
          <a:prstGeom prst="rect">
            <a:avLst/>
          </a:prstGeom>
        </p:spPr>
      </p:pic>
    </p:spTree>
    <p:extLst>
      <p:ext uri="{BB962C8B-B14F-4D97-AF65-F5344CB8AC3E}">
        <p14:creationId xmlns:p14="http://schemas.microsoft.com/office/powerpoint/2010/main" val="74698897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Main Control Unit FSM </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7451" y="1839731"/>
            <a:ext cx="10058400" cy="4340188"/>
          </a:xfrm>
          <a:prstGeom prst="rect">
            <a:avLst/>
          </a:prstGeom>
        </p:spPr>
      </p:pic>
    </p:spTree>
    <p:extLst>
      <p:ext uri="{BB962C8B-B14F-4D97-AF65-F5344CB8AC3E}">
        <p14:creationId xmlns:p14="http://schemas.microsoft.com/office/powerpoint/2010/main" val="315755526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xmlns="" id="{72157825-601B-161C-29D3-D31849664E9F}"/>
              </a:ext>
            </a:extLst>
          </p:cNvPr>
          <p:cNvGrpSpPr/>
          <p:nvPr/>
        </p:nvGrpSpPr>
        <p:grpSpPr>
          <a:xfrm>
            <a:off x="646112" y="1392525"/>
            <a:ext cx="4868863" cy="4278312"/>
            <a:chOff x="0" y="0"/>
            <a:chExt cx="4629150" cy="3804920"/>
          </a:xfrm>
        </p:grpSpPr>
        <p:pic>
          <p:nvPicPr>
            <p:cNvPr id="5" name="Picture 4">
              <a:extLst>
                <a:ext uri="{FF2B5EF4-FFF2-40B4-BE49-F238E27FC236}">
                  <a16:creationId xmlns:a16="http://schemas.microsoft.com/office/drawing/2014/main" xmlns="" id="{1FC2C6D1-C149-A6DD-E6EA-7738CCC5EA7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4629150" cy="3475355"/>
            </a:xfrm>
            <a:prstGeom prst="rect">
              <a:avLst/>
            </a:prstGeom>
            <a:noFill/>
            <a:ln>
              <a:noFill/>
            </a:ln>
          </p:spPr>
        </p:pic>
        <p:sp>
          <p:nvSpPr>
            <p:cNvPr id="6" name="Text Box 1">
              <a:extLst>
                <a:ext uri="{FF2B5EF4-FFF2-40B4-BE49-F238E27FC236}">
                  <a16:creationId xmlns:a16="http://schemas.microsoft.com/office/drawing/2014/main" xmlns="" id="{694E778C-D3EF-DD63-259A-FA5F7D2CAA7C}"/>
                </a:ext>
              </a:extLst>
            </p:cNvPr>
            <p:cNvSpPr txBox="1"/>
            <p:nvPr/>
          </p:nvSpPr>
          <p:spPr>
            <a:xfrm>
              <a:off x="0" y="3538220"/>
              <a:ext cx="4629150" cy="266700"/>
            </a:xfrm>
            <a:prstGeom prst="rect">
              <a:avLst/>
            </a:prstGeom>
            <a:solidFill>
              <a:prstClr val="white"/>
            </a:solidFill>
            <a:ln>
              <a:noFill/>
            </a:ln>
          </p:spPr>
          <p:txBody>
            <a:bodyPr rot="0" spcFirstLastPara="0" vert="horz" wrap="square" lIns="0" tIns="0" rIns="0" bIns="0" numCol="1" spcCol="0" rtlCol="0" fromWordArt="0" anchor="t" anchorCtr="0" forceAA="0" compatLnSpc="1">
              <a:prstTxWarp prst="textNoShape">
                <a:avLst/>
              </a:prstTxWarp>
              <a:noAutofit/>
            </a:bodyPr>
            <a:lstStyle/>
            <a:p>
              <a:pPr marL="0" marR="0">
                <a:spcAft>
                  <a:spcPts val="1000"/>
                </a:spcAft>
                <a:buNone/>
              </a:pPr>
              <a:endParaRPr lang="en-US" sz="900" i="1" kern="100" dirty="0">
                <a:solidFill>
                  <a:srgbClr val="0E2841"/>
                </a:solidFill>
                <a:effectLst/>
                <a:latin typeface="Aptos" panose="020B0004020202020204" pitchFamily="34" charset="0"/>
                <a:ea typeface="Aptos" panose="020B0004020202020204" pitchFamily="34" charset="0"/>
                <a:cs typeface="Arial" panose="020B0604020202020204" pitchFamily="34" charset="0"/>
              </a:endParaRPr>
            </a:p>
          </p:txBody>
        </p:sp>
      </p:grpSp>
      <p:pic>
        <p:nvPicPr>
          <p:cNvPr id="7" name="Picture 6">
            <a:extLst>
              <a:ext uri="{FF2B5EF4-FFF2-40B4-BE49-F238E27FC236}">
                <a16:creationId xmlns:a16="http://schemas.microsoft.com/office/drawing/2014/main" xmlns="" id="{C3721C9C-829B-6241-8FF2-7230ABA4ED7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701030" y="1093788"/>
            <a:ext cx="5176520" cy="4577049"/>
          </a:xfrm>
          <a:prstGeom prst="rect">
            <a:avLst/>
          </a:prstGeom>
          <a:noFill/>
          <a:ln>
            <a:noFill/>
          </a:ln>
        </p:spPr>
      </p:pic>
    </p:spTree>
    <p:extLst>
      <p:ext uri="{BB962C8B-B14F-4D97-AF65-F5344CB8AC3E}">
        <p14:creationId xmlns:p14="http://schemas.microsoft.com/office/powerpoint/2010/main" val="49612674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F5976BC-BDF8-24C4-A678-13D050ECF465}"/>
              </a:ext>
            </a:extLst>
          </p:cNvPr>
          <p:cNvSpPr>
            <a:spLocks noGrp="1"/>
          </p:cNvSpPr>
          <p:nvPr>
            <p:ph type="title"/>
          </p:nvPr>
        </p:nvSpPr>
        <p:spPr/>
        <p:txBody>
          <a:bodyPr/>
          <a:lstStyle/>
          <a:p>
            <a:r>
              <a:rPr lang="en-US" dirty="0"/>
              <a:t>Modulation RTL Vs MATLAB </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xmlns="" id="{8918A20D-E12A-0C1A-EBBD-330003194B49}"/>
                  </a:ext>
                </a:extLst>
              </p:cNvPr>
              <p:cNvSpPr>
                <a:spLocks noGrp="1"/>
              </p:cNvSpPr>
              <p:nvPr>
                <p:ph type="body" idx="1"/>
              </p:nvPr>
            </p:nvSpPr>
            <p:spPr>
              <a:xfrm>
                <a:off x="914400" y="5320802"/>
                <a:ext cx="10363200" cy="1174893"/>
              </a:xfrm>
            </p:spPr>
            <p:txBody>
              <a:bodyPr/>
              <a:lstStyle/>
              <a:p>
                <a:r>
                  <a:rPr lang="en-US" b="0" dirty="0">
                    <a:solidFill>
                      <a:schemeClr val="tx1">
                        <a:lumMod val="75000"/>
                        <a:lumOff val="25000"/>
                      </a:schemeClr>
                    </a:solidFill>
                  </a:rPr>
                  <a:t>We pass the specification of BLE  1111  or 0000 should be between </a:t>
                </a:r>
                <a14:m>
                  <m:oMath xmlns:m="http://schemas.openxmlformats.org/officeDocument/2006/math">
                    <m:r>
                      <a:rPr lang="en-US" b="0">
                        <a:solidFill>
                          <a:schemeClr val="tx1">
                            <a:lumMod val="75000"/>
                            <a:lumOff val="25000"/>
                          </a:schemeClr>
                        </a:solidFill>
                        <a:latin typeface="Cambria Math" panose="02040503050406030204" pitchFamily="18" charset="0"/>
                      </a:rPr>
                      <m:t>± </m:t>
                    </m:r>
                  </m:oMath>
                </a14:m>
                <a:r>
                  <a:rPr lang="en-US" b="0" dirty="0">
                    <a:solidFill>
                      <a:schemeClr val="tx1">
                        <a:lumMod val="75000"/>
                        <a:lumOff val="25000"/>
                      </a:schemeClr>
                    </a:solidFill>
                  </a:rPr>
                  <a:t>225 &amp; 275</a:t>
                </a:r>
              </a:p>
              <a:p>
                <a:r>
                  <a:rPr lang="en-US" b="0" dirty="0">
                    <a:solidFill>
                      <a:schemeClr val="tx1">
                        <a:lumMod val="75000"/>
                        <a:lumOff val="25000"/>
                      </a:schemeClr>
                    </a:solidFill>
                  </a:rPr>
                  <a:t>And for 10101010 should be 80% of maximum frequency around 204KHz in our case</a:t>
                </a:r>
              </a:p>
              <a:p>
                <a:endParaRPr lang="en-US" dirty="0"/>
              </a:p>
            </p:txBody>
          </p:sp>
        </mc:Choice>
        <mc:Fallback xmlns="">
          <p:sp>
            <p:nvSpPr>
              <p:cNvPr id="3" name="Text Placeholder 2">
                <a:extLst>
                  <a:ext uri="{FF2B5EF4-FFF2-40B4-BE49-F238E27FC236}">
                    <a16:creationId xmlns:a16="http://schemas.microsoft.com/office/drawing/2014/main" id="{8918A20D-E12A-0C1A-EBBD-330003194B49}"/>
                  </a:ext>
                </a:extLst>
              </p:cNvPr>
              <p:cNvSpPr>
                <a:spLocks noGrp="1" noRot="1" noChangeAspect="1" noMove="1" noResize="1" noEditPoints="1" noAdjustHandles="1" noChangeArrowheads="1" noChangeShapeType="1" noTextEdit="1"/>
              </p:cNvSpPr>
              <p:nvPr>
                <p:ph type="body" idx="1"/>
              </p:nvPr>
            </p:nvSpPr>
            <p:spPr>
              <a:xfrm>
                <a:off x="914400" y="5320802"/>
                <a:ext cx="10363200" cy="1174893"/>
              </a:xfrm>
              <a:blipFill>
                <a:blip r:embed="rId2"/>
                <a:stretch>
                  <a:fillRect/>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xmlns="" id="{015810D1-8A88-3309-ECFA-2E62211E33D6}"/>
              </a:ext>
            </a:extLst>
          </p:cNvPr>
          <p:cNvPicPr>
            <a:picLocks noChangeAspect="1"/>
          </p:cNvPicPr>
          <p:nvPr/>
        </p:nvPicPr>
        <p:blipFill>
          <a:blip r:embed="rId3"/>
          <a:stretch>
            <a:fillRect/>
          </a:stretch>
        </p:blipFill>
        <p:spPr>
          <a:xfrm>
            <a:off x="1994671" y="1389141"/>
            <a:ext cx="7537375" cy="3851483"/>
          </a:xfrm>
          <a:prstGeom prst="rect">
            <a:avLst/>
          </a:prstGeom>
        </p:spPr>
      </p:pic>
    </p:spTree>
    <p:extLst>
      <p:ext uri="{BB962C8B-B14F-4D97-AF65-F5344CB8AC3E}">
        <p14:creationId xmlns:p14="http://schemas.microsoft.com/office/powerpoint/2010/main" val="80147346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A2E45E9-2E56-8B72-1BE6-EB0007FB0B81}"/>
              </a:ext>
            </a:extLst>
          </p:cNvPr>
          <p:cNvSpPr>
            <a:spLocks noGrp="1"/>
          </p:cNvSpPr>
          <p:nvPr>
            <p:ph type="title"/>
          </p:nvPr>
        </p:nvSpPr>
        <p:spPr/>
        <p:txBody>
          <a:bodyPr/>
          <a:lstStyle/>
          <a:p>
            <a:r>
              <a:rPr lang="en-US" dirty="0"/>
              <a:t>Multi packet modulation </a:t>
            </a:r>
          </a:p>
        </p:txBody>
      </p:sp>
      <p:pic>
        <p:nvPicPr>
          <p:cNvPr id="5" name="Picture 4">
            <a:extLst>
              <a:ext uri="{FF2B5EF4-FFF2-40B4-BE49-F238E27FC236}">
                <a16:creationId xmlns:a16="http://schemas.microsoft.com/office/drawing/2014/main" xmlns="" id="{D0D3A2DB-1087-2179-0310-7340FE277F86}"/>
              </a:ext>
            </a:extLst>
          </p:cNvPr>
          <p:cNvPicPr>
            <a:picLocks noChangeAspect="1"/>
          </p:cNvPicPr>
          <p:nvPr/>
        </p:nvPicPr>
        <p:blipFill>
          <a:blip r:embed="rId2"/>
          <a:stretch>
            <a:fillRect/>
          </a:stretch>
        </p:blipFill>
        <p:spPr>
          <a:xfrm>
            <a:off x="1339851" y="1411821"/>
            <a:ext cx="9321800" cy="4397870"/>
          </a:xfrm>
          <a:prstGeom prst="rect">
            <a:avLst/>
          </a:prstGeom>
        </p:spPr>
      </p:pic>
    </p:spTree>
    <p:extLst>
      <p:ext uri="{BB962C8B-B14F-4D97-AF65-F5344CB8AC3E}">
        <p14:creationId xmlns:p14="http://schemas.microsoft.com/office/powerpoint/2010/main" val="22786549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C1B4016-0C41-3A42-3923-4657DC08AED7}"/>
              </a:ext>
            </a:extLst>
          </p:cNvPr>
          <p:cNvSpPr>
            <a:spLocks noGrp="1"/>
          </p:cNvSpPr>
          <p:nvPr>
            <p:ph type="title"/>
          </p:nvPr>
        </p:nvSpPr>
        <p:spPr>
          <a:xfrm>
            <a:off x="946151" y="578201"/>
            <a:ext cx="10299700" cy="844826"/>
          </a:xfrm>
        </p:spPr>
        <p:txBody>
          <a:bodyPr/>
          <a:lstStyle/>
          <a:p>
            <a:r>
              <a:rPr lang="en-US" dirty="0"/>
              <a:t>Eye diagram - RTL</a:t>
            </a:r>
          </a:p>
        </p:txBody>
      </p:sp>
      <p:sp>
        <p:nvSpPr>
          <p:cNvPr id="3" name="Text Placeholder 2">
            <a:extLst>
              <a:ext uri="{FF2B5EF4-FFF2-40B4-BE49-F238E27FC236}">
                <a16:creationId xmlns:a16="http://schemas.microsoft.com/office/drawing/2014/main" xmlns="" id="{0020558F-6134-8A36-5D0A-58069D8690E3}"/>
              </a:ext>
            </a:extLst>
          </p:cNvPr>
          <p:cNvSpPr>
            <a:spLocks noGrp="1"/>
          </p:cNvSpPr>
          <p:nvPr>
            <p:ph type="body" idx="1"/>
          </p:nvPr>
        </p:nvSpPr>
        <p:spPr>
          <a:xfrm>
            <a:off x="914400" y="5650869"/>
            <a:ext cx="9855200" cy="844826"/>
          </a:xfrm>
        </p:spPr>
        <p:txBody>
          <a:bodyPr/>
          <a:lstStyle/>
          <a:p>
            <a:pPr marL="101600" indent="0">
              <a:buNone/>
            </a:pPr>
            <a:r>
              <a:rPr lang="en-US" b="0" dirty="0">
                <a:solidFill>
                  <a:schemeClr val="tx1">
                    <a:lumMod val="75000"/>
                    <a:lumOff val="25000"/>
                  </a:schemeClr>
                </a:solidFill>
              </a:rPr>
              <a:t>Eye diagram minimum frequency are 206 and max around 256KHz</a:t>
            </a:r>
          </a:p>
          <a:p>
            <a:pPr marL="101600" indent="0">
              <a:buNone/>
            </a:pPr>
            <a:r>
              <a:rPr lang="en-US" b="0" dirty="0">
                <a:solidFill>
                  <a:schemeClr val="tx1">
                    <a:lumMod val="75000"/>
                    <a:lumOff val="25000"/>
                  </a:schemeClr>
                </a:solidFill>
              </a:rPr>
              <a:t>From BLE specification maximum should be between 225 to 275 and minimum &gt; 185 </a:t>
            </a:r>
            <a:r>
              <a:rPr lang="en-US" b="0" dirty="0" err="1">
                <a:solidFill>
                  <a:schemeClr val="tx1">
                    <a:lumMod val="75000"/>
                    <a:lumOff val="25000"/>
                  </a:schemeClr>
                </a:solidFill>
              </a:rPr>
              <a:t>KHz</a:t>
            </a:r>
            <a:r>
              <a:rPr lang="en-US" b="0" dirty="0">
                <a:solidFill>
                  <a:schemeClr val="tx1">
                    <a:lumMod val="75000"/>
                    <a:lumOff val="25000"/>
                  </a:schemeClr>
                </a:solidFill>
              </a:rPr>
              <a:t> </a:t>
            </a:r>
          </a:p>
        </p:txBody>
      </p:sp>
      <p:pic>
        <p:nvPicPr>
          <p:cNvPr id="12" name="Picture 11">
            <a:extLst>
              <a:ext uri="{FF2B5EF4-FFF2-40B4-BE49-F238E27FC236}">
                <a16:creationId xmlns:a16="http://schemas.microsoft.com/office/drawing/2014/main" xmlns="" id="{1633D7A0-B120-50E3-4C7E-568A81BABF87}"/>
              </a:ext>
            </a:extLst>
          </p:cNvPr>
          <p:cNvPicPr>
            <a:picLocks noChangeAspect="1"/>
          </p:cNvPicPr>
          <p:nvPr/>
        </p:nvPicPr>
        <p:blipFill>
          <a:blip r:embed="rId2"/>
          <a:stretch>
            <a:fillRect/>
          </a:stretch>
        </p:blipFill>
        <p:spPr>
          <a:xfrm>
            <a:off x="1701800" y="1439794"/>
            <a:ext cx="8577614" cy="3978411"/>
          </a:xfrm>
          <a:prstGeom prst="rect">
            <a:avLst/>
          </a:prstGeom>
        </p:spPr>
      </p:pic>
    </p:spTree>
    <p:extLst>
      <p:ext uri="{BB962C8B-B14F-4D97-AF65-F5344CB8AC3E}">
        <p14:creationId xmlns:p14="http://schemas.microsoft.com/office/powerpoint/2010/main" val="245532732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C3E12A7-1D84-05C5-463C-8DC687C2B0AB}"/>
              </a:ext>
            </a:extLst>
          </p:cNvPr>
          <p:cNvSpPr>
            <a:spLocks noGrp="1"/>
          </p:cNvSpPr>
          <p:nvPr>
            <p:ph type="title"/>
          </p:nvPr>
        </p:nvSpPr>
        <p:spPr/>
        <p:txBody>
          <a:bodyPr/>
          <a:lstStyle/>
          <a:p>
            <a:r>
              <a:rPr lang="en-US" dirty="0"/>
              <a:t>CDC Report : </a:t>
            </a:r>
          </a:p>
        </p:txBody>
      </p:sp>
      <p:sp>
        <p:nvSpPr>
          <p:cNvPr id="4" name="Text Placeholder 2">
            <a:extLst>
              <a:ext uri="{FF2B5EF4-FFF2-40B4-BE49-F238E27FC236}">
                <a16:creationId xmlns:a16="http://schemas.microsoft.com/office/drawing/2014/main" xmlns="" id="{5BA10B9E-B4F6-8C67-C1A5-D56FCB1157CE}"/>
              </a:ext>
            </a:extLst>
          </p:cNvPr>
          <p:cNvSpPr txBox="1">
            <a:spLocks noGrp="1"/>
          </p:cNvSpPr>
          <p:nvPr>
            <p:ph type="body" idx="1"/>
          </p:nvPr>
        </p:nvSpPr>
        <p:spPr>
          <a:xfrm>
            <a:off x="914400" y="1511300"/>
            <a:ext cx="10363200" cy="498475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55600" algn="l" rtl="0">
              <a:lnSpc>
                <a:spcPct val="100000"/>
              </a:lnSpc>
              <a:spcBef>
                <a:spcPts val="400"/>
              </a:spcBef>
              <a:spcAft>
                <a:spcPts val="0"/>
              </a:spcAft>
              <a:buClr>
                <a:srgbClr val="5D5D5E"/>
              </a:buClr>
              <a:buSzPts val="2000"/>
              <a:buFont typeface="Arial"/>
              <a:buChar char="•"/>
              <a:defRPr sz="2000" b="1" i="0" u="none" strike="noStrike" cap="none">
                <a:solidFill>
                  <a:srgbClr val="0B5F9F"/>
                </a:solidFill>
                <a:latin typeface="Calibri"/>
                <a:ea typeface="Calibri"/>
                <a:cs typeface="Calibri"/>
                <a:sym typeface="Calibri"/>
              </a:defRPr>
            </a:lvl1pPr>
            <a:lvl2pPr marL="914400" marR="0" lvl="1" indent="-355600" algn="l" rtl="0">
              <a:lnSpc>
                <a:spcPct val="100000"/>
              </a:lnSpc>
              <a:spcBef>
                <a:spcPts val="400"/>
              </a:spcBef>
              <a:spcAft>
                <a:spcPts val="0"/>
              </a:spcAft>
              <a:buClr>
                <a:srgbClr val="5D5D5E"/>
              </a:buClr>
              <a:buSzPts val="2000"/>
              <a:buFont typeface="Courier New"/>
              <a:buChar char="o"/>
              <a:defRPr sz="2000" b="1" i="0" u="none" strike="noStrike" cap="none">
                <a:solidFill>
                  <a:srgbClr val="0B5F9F"/>
                </a:solidFill>
                <a:latin typeface="Calibri"/>
                <a:ea typeface="Calibri"/>
                <a:cs typeface="Calibri"/>
                <a:sym typeface="Calibri"/>
              </a:defRPr>
            </a:lvl2pPr>
            <a:lvl3pPr marL="1371600" marR="0" lvl="2" indent="-330200" algn="l" rtl="0">
              <a:lnSpc>
                <a:spcPct val="100000"/>
              </a:lnSpc>
              <a:spcBef>
                <a:spcPts val="400"/>
              </a:spcBef>
              <a:spcAft>
                <a:spcPts val="0"/>
              </a:spcAft>
              <a:buClr>
                <a:srgbClr val="5D5D5E"/>
              </a:buClr>
              <a:buSzPts val="1600"/>
              <a:buFont typeface="Arial"/>
              <a:buChar char="•"/>
              <a:defRPr sz="2000" b="1" i="0" u="none" strike="noStrike" cap="none">
                <a:solidFill>
                  <a:srgbClr val="0B5F9F"/>
                </a:solidFill>
                <a:latin typeface="Calibri"/>
                <a:ea typeface="Calibri"/>
                <a:cs typeface="Calibri"/>
                <a:sym typeface="Calibri"/>
              </a:defRPr>
            </a:lvl3pPr>
            <a:lvl4pPr marL="1828800" marR="0" lvl="3" indent="-342900" algn="l" rtl="0">
              <a:lnSpc>
                <a:spcPct val="100000"/>
              </a:lnSpc>
              <a:spcBef>
                <a:spcPts val="360"/>
              </a:spcBef>
              <a:spcAft>
                <a:spcPts val="0"/>
              </a:spcAft>
              <a:buClr>
                <a:srgbClr val="5D5D5E"/>
              </a:buClr>
              <a:buSzPts val="1800"/>
              <a:buFont typeface="Arial"/>
              <a:buChar char="•"/>
              <a:defRPr sz="1800" b="1" i="0" u="none" strike="noStrike" cap="none">
                <a:solidFill>
                  <a:srgbClr val="0B5F9F"/>
                </a:solidFill>
                <a:latin typeface="Calibri"/>
                <a:ea typeface="Calibri"/>
                <a:cs typeface="Calibri"/>
                <a:sym typeface="Calibri"/>
              </a:defRPr>
            </a:lvl4pPr>
            <a:lvl5pPr marL="2286000" marR="0" lvl="4" indent="-342900" algn="l" rtl="0">
              <a:lnSpc>
                <a:spcPct val="100000"/>
              </a:lnSpc>
              <a:spcBef>
                <a:spcPts val="360"/>
              </a:spcBef>
              <a:spcAft>
                <a:spcPts val="0"/>
              </a:spcAft>
              <a:buClr>
                <a:srgbClr val="5D5D5E"/>
              </a:buClr>
              <a:buSzPts val="1800"/>
              <a:buFont typeface="Arial"/>
              <a:buChar char="•"/>
              <a:defRPr sz="1800" b="1" i="0" u="none" strike="noStrike" cap="none">
                <a:solidFill>
                  <a:srgbClr val="0B5F9F"/>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Garamond"/>
              <a:buChar char="»"/>
              <a:defRPr sz="1800" b="1" i="0" u="none" strike="noStrike" cap="none">
                <a:solidFill>
                  <a:schemeClr val="dk1"/>
                </a:solidFill>
                <a:latin typeface="Garamond"/>
                <a:ea typeface="Garamond"/>
                <a:cs typeface="Garamond"/>
                <a:sym typeface="Garamond"/>
              </a:defRPr>
            </a:lvl6pPr>
            <a:lvl7pPr marL="3200400" marR="0" lvl="6" indent="-342900" algn="l" rtl="0">
              <a:lnSpc>
                <a:spcPct val="100000"/>
              </a:lnSpc>
              <a:spcBef>
                <a:spcPts val="360"/>
              </a:spcBef>
              <a:spcAft>
                <a:spcPts val="0"/>
              </a:spcAft>
              <a:buClr>
                <a:schemeClr val="dk1"/>
              </a:buClr>
              <a:buSzPts val="1800"/>
              <a:buFont typeface="Garamond"/>
              <a:buChar char="»"/>
              <a:defRPr sz="1800" b="1" i="0" u="none" strike="noStrike" cap="none">
                <a:solidFill>
                  <a:schemeClr val="dk1"/>
                </a:solidFill>
                <a:latin typeface="Garamond"/>
                <a:ea typeface="Garamond"/>
                <a:cs typeface="Garamond"/>
                <a:sym typeface="Garamond"/>
              </a:defRPr>
            </a:lvl7pPr>
            <a:lvl8pPr marL="3657600" marR="0" lvl="7" indent="-342900" algn="l" rtl="0">
              <a:lnSpc>
                <a:spcPct val="100000"/>
              </a:lnSpc>
              <a:spcBef>
                <a:spcPts val="360"/>
              </a:spcBef>
              <a:spcAft>
                <a:spcPts val="0"/>
              </a:spcAft>
              <a:buClr>
                <a:schemeClr val="dk1"/>
              </a:buClr>
              <a:buSzPts val="1800"/>
              <a:buFont typeface="Garamond"/>
              <a:buChar char="»"/>
              <a:defRPr sz="1800" b="1" i="0" u="none" strike="noStrike" cap="none">
                <a:solidFill>
                  <a:schemeClr val="dk1"/>
                </a:solidFill>
                <a:latin typeface="Garamond"/>
                <a:ea typeface="Garamond"/>
                <a:cs typeface="Garamond"/>
                <a:sym typeface="Garamond"/>
              </a:defRPr>
            </a:lvl8pPr>
            <a:lvl9pPr marL="4114800" marR="0" lvl="8" indent="-342900" algn="l" rtl="0">
              <a:lnSpc>
                <a:spcPct val="100000"/>
              </a:lnSpc>
              <a:spcBef>
                <a:spcPts val="360"/>
              </a:spcBef>
              <a:spcAft>
                <a:spcPts val="0"/>
              </a:spcAft>
              <a:buClr>
                <a:schemeClr val="dk1"/>
              </a:buClr>
              <a:buSzPts val="1800"/>
              <a:buFont typeface="Garamond"/>
              <a:buChar char="»"/>
              <a:defRPr sz="1800" b="1" i="0" u="none" strike="noStrike" cap="none">
                <a:solidFill>
                  <a:schemeClr val="dk1"/>
                </a:solidFill>
                <a:latin typeface="Garamond"/>
                <a:ea typeface="Garamond"/>
                <a:cs typeface="Garamond"/>
                <a:sym typeface="Garamond"/>
              </a:defRPr>
            </a:lvl9pPr>
          </a:lstStyle>
          <a:p>
            <a:r>
              <a:rPr lang="en-US" dirty="0">
                <a:solidFill>
                  <a:schemeClr val="tx1">
                    <a:lumMod val="75000"/>
                    <a:lumOff val="25000"/>
                  </a:schemeClr>
                </a:solidFill>
              </a:rPr>
              <a:t>CDC summary :</a:t>
            </a:r>
          </a:p>
          <a:p>
            <a:r>
              <a:rPr lang="en-US" b="0" dirty="0">
                <a:solidFill>
                  <a:schemeClr val="tx1">
                    <a:lumMod val="75000"/>
                    <a:lumOff val="25000"/>
                  </a:schemeClr>
                </a:solidFill>
              </a:rPr>
              <a:t>Register file configured before operation start so it’s signals are static signals </a:t>
            </a:r>
          </a:p>
          <a:p>
            <a:r>
              <a:rPr lang="en-US" b="0" dirty="0">
                <a:solidFill>
                  <a:schemeClr val="tx1">
                    <a:lumMod val="75000"/>
                    <a:lumOff val="25000"/>
                  </a:schemeClr>
                </a:solidFill>
              </a:rPr>
              <a:t>The relation between SD clock and retimed cock has no constant phase relation synchronizer is needed because the frequency ratio between them 9.375 to 9.6875</a:t>
            </a:r>
          </a:p>
          <a:p>
            <a:r>
              <a:rPr lang="en-US" b="0" dirty="0">
                <a:solidFill>
                  <a:schemeClr val="tx1">
                    <a:lumMod val="75000"/>
                    <a:lumOff val="25000"/>
                  </a:schemeClr>
                </a:solidFill>
              </a:rPr>
              <a:t>Solve all RDC between reference domain and SD domain</a:t>
            </a:r>
          </a:p>
          <a:p>
            <a:pPr marL="101600" indent="0">
              <a:buNone/>
            </a:pPr>
            <a:endParaRPr lang="en-US" dirty="0"/>
          </a:p>
          <a:p>
            <a:pPr marL="101600" indent="0">
              <a:buFont typeface="Arial"/>
              <a:buNone/>
            </a:pPr>
            <a:endParaRPr lang="en-US" dirty="0"/>
          </a:p>
          <a:p>
            <a:pPr marL="101600" indent="0">
              <a:buFont typeface="Arial"/>
              <a:buNone/>
            </a:pPr>
            <a:endParaRPr lang="en-US" dirty="0"/>
          </a:p>
        </p:txBody>
      </p:sp>
      <p:pic>
        <p:nvPicPr>
          <p:cNvPr id="5" name="Picture 4">
            <a:extLst>
              <a:ext uri="{FF2B5EF4-FFF2-40B4-BE49-F238E27FC236}">
                <a16:creationId xmlns:a16="http://schemas.microsoft.com/office/drawing/2014/main" xmlns="" id="{26531E6F-87CD-AB5A-921E-F542815CF2E4}"/>
              </a:ext>
            </a:extLst>
          </p:cNvPr>
          <p:cNvPicPr>
            <a:picLocks noChangeAspect="1"/>
          </p:cNvPicPr>
          <p:nvPr/>
        </p:nvPicPr>
        <p:blipFill>
          <a:blip r:embed="rId2"/>
          <a:stretch>
            <a:fillRect/>
          </a:stretch>
        </p:blipFill>
        <p:spPr>
          <a:xfrm>
            <a:off x="1333500" y="3530599"/>
            <a:ext cx="9935060" cy="2774599"/>
          </a:xfrm>
          <a:prstGeom prst="rect">
            <a:avLst/>
          </a:prstGeom>
        </p:spPr>
      </p:pic>
    </p:spTree>
    <p:extLst>
      <p:ext uri="{BB962C8B-B14F-4D97-AF65-F5344CB8AC3E}">
        <p14:creationId xmlns:p14="http://schemas.microsoft.com/office/powerpoint/2010/main" val="360425337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2BB03E8-3672-F42F-E3CA-CCBB412291A7}"/>
              </a:ext>
            </a:extLst>
          </p:cNvPr>
          <p:cNvSpPr>
            <a:spLocks noGrp="1"/>
          </p:cNvSpPr>
          <p:nvPr>
            <p:ph type="title"/>
          </p:nvPr>
        </p:nvSpPr>
        <p:spPr/>
        <p:txBody>
          <a:bodyPr/>
          <a:lstStyle/>
          <a:p>
            <a:r>
              <a:rPr lang="en-US" dirty="0"/>
              <a:t>Data Qualifier Synchronizer</a:t>
            </a:r>
          </a:p>
        </p:txBody>
      </p:sp>
      <p:sp>
        <p:nvSpPr>
          <p:cNvPr id="3" name="Text Placeholder 2">
            <a:extLst>
              <a:ext uri="{FF2B5EF4-FFF2-40B4-BE49-F238E27FC236}">
                <a16:creationId xmlns:a16="http://schemas.microsoft.com/office/drawing/2014/main" xmlns="" id="{F98F1380-2FF1-DE80-E4AA-7CDEBB0CB049}"/>
              </a:ext>
            </a:extLst>
          </p:cNvPr>
          <p:cNvSpPr>
            <a:spLocks noGrp="1"/>
          </p:cNvSpPr>
          <p:nvPr>
            <p:ph type="body" idx="1"/>
          </p:nvPr>
        </p:nvSpPr>
        <p:spPr/>
        <p:txBody>
          <a:bodyPr/>
          <a:lstStyle/>
          <a:p>
            <a:r>
              <a:rPr lang="en-US" dirty="0"/>
              <a:t>Data Qualifier Synchronizer solve CDC between SD clock and retimed clock </a:t>
            </a:r>
          </a:p>
        </p:txBody>
      </p:sp>
      <p:sp>
        <p:nvSpPr>
          <p:cNvPr id="6" name="TextBox 5">
            <a:extLst>
              <a:ext uri="{FF2B5EF4-FFF2-40B4-BE49-F238E27FC236}">
                <a16:creationId xmlns:a16="http://schemas.microsoft.com/office/drawing/2014/main" xmlns="" id="{22D03ED1-9167-4F13-2803-F566B5D08B6C}"/>
              </a:ext>
            </a:extLst>
          </p:cNvPr>
          <p:cNvSpPr txBox="1"/>
          <p:nvPr/>
        </p:nvSpPr>
        <p:spPr>
          <a:xfrm>
            <a:off x="882652" y="4460897"/>
            <a:ext cx="10363199" cy="2149050"/>
          </a:xfrm>
          <a:prstGeom prst="rect">
            <a:avLst/>
          </a:prstGeom>
          <a:noFill/>
        </p:spPr>
        <p:txBody>
          <a:bodyPr wrap="square">
            <a:spAutoFit/>
          </a:bodyPr>
          <a:lstStyle/>
          <a:p>
            <a:pPr marL="0" marR="0">
              <a:lnSpc>
                <a:spcPct val="115000"/>
              </a:lnSpc>
              <a:spcAft>
                <a:spcPts val="800"/>
              </a:spcAft>
              <a:buNone/>
            </a:pPr>
            <a:r>
              <a:rPr lang="en-US" sz="2000" dirty="0">
                <a:solidFill>
                  <a:schemeClr val="tx1">
                    <a:lumMod val="75000"/>
                    <a:lumOff val="25000"/>
                  </a:schemeClr>
                </a:solidFill>
                <a:latin typeface="Calibri"/>
                <a:ea typeface="Calibri"/>
                <a:cs typeface="Calibri"/>
                <a:sym typeface="Calibri"/>
              </a:rPr>
              <a:t>CDC structural check was performed on the synthesized netlist.</a:t>
            </a:r>
          </a:p>
          <a:p>
            <a:pPr marL="0" marR="0">
              <a:lnSpc>
                <a:spcPct val="115000"/>
              </a:lnSpc>
              <a:spcAft>
                <a:spcPts val="800"/>
              </a:spcAft>
              <a:buNone/>
            </a:pPr>
            <a:r>
              <a:rPr lang="en-US" sz="2000" dirty="0">
                <a:solidFill>
                  <a:schemeClr val="tx1">
                    <a:lumMod val="75000"/>
                    <a:lumOff val="25000"/>
                  </a:schemeClr>
                </a:solidFill>
                <a:latin typeface="Calibri"/>
                <a:ea typeface="Calibri"/>
                <a:cs typeface="Calibri"/>
                <a:sym typeface="Calibri"/>
              </a:rPr>
              <a:t>Fatal Errors: 0</a:t>
            </a:r>
          </a:p>
          <a:p>
            <a:pPr marL="0" marR="0">
              <a:lnSpc>
                <a:spcPct val="115000"/>
              </a:lnSpc>
              <a:spcAft>
                <a:spcPts val="800"/>
              </a:spcAft>
              <a:buNone/>
            </a:pPr>
            <a:r>
              <a:rPr lang="en-US" sz="2000" dirty="0">
                <a:solidFill>
                  <a:schemeClr val="tx1">
                    <a:lumMod val="75000"/>
                    <a:lumOff val="25000"/>
                  </a:schemeClr>
                </a:solidFill>
                <a:latin typeface="Calibri"/>
                <a:ea typeface="Calibri"/>
                <a:cs typeface="Calibri"/>
                <a:sym typeface="Calibri"/>
              </a:rPr>
              <a:t>CDC Violations: 0</a:t>
            </a:r>
          </a:p>
          <a:p>
            <a:pPr marL="0" marR="0">
              <a:lnSpc>
                <a:spcPct val="115000"/>
              </a:lnSpc>
              <a:spcAft>
                <a:spcPts val="800"/>
              </a:spcAft>
              <a:buNone/>
            </a:pPr>
            <a:r>
              <a:rPr lang="en-US" sz="2000" dirty="0">
                <a:solidFill>
                  <a:schemeClr val="tx1">
                    <a:lumMod val="75000"/>
                    <a:lumOff val="25000"/>
                  </a:schemeClr>
                </a:solidFill>
                <a:latin typeface="Calibri"/>
                <a:ea typeface="Calibri"/>
                <a:cs typeface="Calibri"/>
                <a:sym typeface="Calibri"/>
              </a:rPr>
              <a:t>Status: Clean. The design handles asynchronous crossings safely with no structural CDC violations detected</a:t>
            </a:r>
          </a:p>
        </p:txBody>
      </p:sp>
      <p:pic>
        <p:nvPicPr>
          <p:cNvPr id="4100" name="Picture 4">
            <a:extLst>
              <a:ext uri="{FF2B5EF4-FFF2-40B4-BE49-F238E27FC236}">
                <a16:creationId xmlns:a16="http://schemas.microsoft.com/office/drawing/2014/main" xmlns="" id="{56AEFEC5-9B82-7188-523A-88166315D4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3113" y="1965325"/>
            <a:ext cx="7164387" cy="26098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210243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739C727-709A-EB68-35AF-48661CDAA187}"/>
              </a:ext>
            </a:extLst>
          </p:cNvPr>
          <p:cNvSpPr>
            <a:spLocks noGrp="1"/>
          </p:cNvSpPr>
          <p:nvPr>
            <p:ph type="title"/>
          </p:nvPr>
        </p:nvSpPr>
        <p:spPr/>
        <p:txBody>
          <a:bodyPr/>
          <a:lstStyle/>
          <a:p>
            <a:r>
              <a:rPr lang="en-US" dirty="0"/>
              <a:t>Synthesis summary </a:t>
            </a:r>
          </a:p>
        </p:txBody>
      </p:sp>
      <p:sp>
        <p:nvSpPr>
          <p:cNvPr id="3" name="Text Placeholder 2">
            <a:extLst>
              <a:ext uri="{FF2B5EF4-FFF2-40B4-BE49-F238E27FC236}">
                <a16:creationId xmlns:a16="http://schemas.microsoft.com/office/drawing/2014/main" xmlns="" id="{63FC3984-58A9-B5A2-B408-084899FBA43E}"/>
              </a:ext>
            </a:extLst>
          </p:cNvPr>
          <p:cNvSpPr>
            <a:spLocks noGrp="1"/>
          </p:cNvSpPr>
          <p:nvPr>
            <p:ph type="body" idx="1"/>
          </p:nvPr>
        </p:nvSpPr>
        <p:spPr>
          <a:xfrm>
            <a:off x="914400" y="1510748"/>
            <a:ext cx="10363200" cy="2629452"/>
          </a:xfrm>
        </p:spPr>
        <p:txBody>
          <a:bodyPr/>
          <a:lstStyle/>
          <a:p>
            <a:pPr marL="0" indent="0">
              <a:lnSpc>
                <a:spcPct val="115000"/>
              </a:lnSpc>
              <a:spcBef>
                <a:spcPts val="0"/>
              </a:spcBef>
              <a:spcAft>
                <a:spcPts val="800"/>
              </a:spcAft>
              <a:buClr>
                <a:srgbClr val="000000"/>
              </a:buClr>
              <a:buNone/>
            </a:pPr>
            <a:r>
              <a:rPr lang="en-US" b="0" dirty="0">
                <a:solidFill>
                  <a:schemeClr val="tx1">
                    <a:lumMod val="75000"/>
                    <a:lumOff val="25000"/>
                  </a:schemeClr>
                </a:solidFill>
                <a:sym typeface="Arial"/>
              </a:rPr>
              <a:t>Synthesis summary:</a:t>
            </a:r>
          </a:p>
          <a:p>
            <a:pPr marL="0" indent="0">
              <a:lnSpc>
                <a:spcPct val="115000"/>
              </a:lnSpc>
              <a:spcBef>
                <a:spcPts val="0"/>
              </a:spcBef>
              <a:spcAft>
                <a:spcPts val="800"/>
              </a:spcAft>
              <a:buClr>
                <a:srgbClr val="000000"/>
              </a:buClr>
              <a:buNone/>
            </a:pPr>
            <a:r>
              <a:rPr lang="en-US" b="0" dirty="0">
                <a:solidFill>
                  <a:schemeClr val="tx1">
                    <a:lumMod val="75000"/>
                    <a:lumOff val="25000"/>
                  </a:schemeClr>
                </a:solidFill>
                <a:sym typeface="Arial"/>
              </a:rPr>
              <a:t>Synthesis timing was validated at worst-case PVT corners: SS (125°C, 0.95V) for setup and FF (40°C, 1.16V) for hold."</a:t>
            </a:r>
          </a:p>
          <a:p>
            <a:pPr marL="0" indent="0">
              <a:lnSpc>
                <a:spcPct val="115000"/>
              </a:lnSpc>
              <a:spcBef>
                <a:spcPts val="0"/>
              </a:spcBef>
              <a:spcAft>
                <a:spcPts val="800"/>
              </a:spcAft>
              <a:buClr>
                <a:srgbClr val="000000"/>
              </a:buClr>
              <a:buNone/>
            </a:pPr>
            <a:r>
              <a:rPr lang="en-US" b="0" dirty="0">
                <a:solidFill>
                  <a:schemeClr val="tx1">
                    <a:lumMod val="75000"/>
                    <a:lumOff val="25000"/>
                  </a:schemeClr>
                </a:solidFill>
                <a:sym typeface="Arial"/>
              </a:rPr>
              <a:t>Total area : 18.3K NAND gates on 32nm process . </a:t>
            </a:r>
          </a:p>
          <a:p>
            <a:pPr marL="0" indent="0">
              <a:lnSpc>
                <a:spcPct val="115000"/>
              </a:lnSpc>
              <a:spcBef>
                <a:spcPts val="0"/>
              </a:spcBef>
              <a:spcAft>
                <a:spcPts val="800"/>
              </a:spcAft>
              <a:buClr>
                <a:srgbClr val="000000"/>
              </a:buClr>
              <a:buNone/>
            </a:pPr>
            <a:r>
              <a:rPr lang="en-US" b="0" dirty="0">
                <a:solidFill>
                  <a:schemeClr val="tx1">
                    <a:lumMod val="75000"/>
                    <a:lumOff val="25000"/>
                  </a:schemeClr>
                </a:solidFill>
                <a:sym typeface="Arial"/>
              </a:rPr>
              <a:t>Zero Setup violation </a:t>
            </a:r>
          </a:p>
          <a:p>
            <a:pPr marL="0" indent="0">
              <a:lnSpc>
                <a:spcPct val="115000"/>
              </a:lnSpc>
              <a:spcBef>
                <a:spcPts val="0"/>
              </a:spcBef>
              <a:spcAft>
                <a:spcPts val="800"/>
              </a:spcAft>
              <a:buClr>
                <a:srgbClr val="000000"/>
              </a:buClr>
              <a:buNone/>
            </a:pPr>
            <a:r>
              <a:rPr lang="en-US" b="0" dirty="0">
                <a:solidFill>
                  <a:schemeClr val="tx1">
                    <a:lumMod val="75000"/>
                    <a:lumOff val="25000"/>
                  </a:schemeClr>
                </a:solidFill>
                <a:sym typeface="Arial"/>
              </a:rPr>
              <a:t>Hold violation on retimed clock domain can solved easily by insert buffer but usually ignored in Synthesis and solve after placement and routing </a:t>
            </a:r>
          </a:p>
          <a:p>
            <a:pPr marL="101600" indent="0">
              <a:buNone/>
            </a:pPr>
            <a:endParaRPr lang="en-US" dirty="0"/>
          </a:p>
          <a:p>
            <a:pPr marL="101600" indent="0">
              <a:buNone/>
            </a:pPr>
            <a:endParaRPr lang="en-US" dirty="0"/>
          </a:p>
        </p:txBody>
      </p:sp>
    </p:spTree>
    <p:extLst>
      <p:ext uri="{BB962C8B-B14F-4D97-AF65-F5344CB8AC3E}">
        <p14:creationId xmlns:p14="http://schemas.microsoft.com/office/powerpoint/2010/main" val="95427161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1766"/>
        <p:cNvGrpSpPr/>
        <p:nvPr/>
      </p:nvGrpSpPr>
      <p:grpSpPr>
        <a:xfrm>
          <a:off x="0" y="0"/>
          <a:ext cx="0" cy="0"/>
          <a:chOff x="0" y="0"/>
          <a:chExt cx="0" cy="0"/>
        </a:xfrm>
      </p:grpSpPr>
      <p:sp>
        <p:nvSpPr>
          <p:cNvPr id="1767" name="Google Shape;1767;p162"/>
          <p:cNvSpPr txBox="1">
            <a:spLocks noGrp="1"/>
          </p:cNvSpPr>
          <p:nvPr>
            <p:ph type="ctrTitle"/>
          </p:nvPr>
        </p:nvSpPr>
        <p:spPr>
          <a:xfrm>
            <a:off x="1219200" y="2708392"/>
            <a:ext cx="9753600" cy="144122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5400" i="0" dirty="0">
                <a:latin typeface="Calibri"/>
                <a:ea typeface="Calibri"/>
                <a:cs typeface="Calibri"/>
                <a:sym typeface="Calibri"/>
              </a:rPr>
              <a:t>Thanks</a:t>
            </a:r>
            <a:endParaRPr lang="en-US" dirty="0"/>
          </a:p>
        </p:txBody>
      </p:sp>
    </p:spTree>
  </p:cSld>
  <p:clrMapOvr>
    <a:masterClrMapping/>
  </p:clrMapOvr>
</p:sld>
</file>

<file path=ppt/theme/theme1.xml><?xml version="1.0" encoding="utf-8"?>
<a:theme xmlns:a="http://schemas.openxmlformats.org/drawingml/2006/main" name="Cactus">
  <a:themeElements>
    <a:clrScheme name="Cactus 7">
      <a:dk1>
        <a:srgbClr val="000000"/>
      </a:dk1>
      <a:lt1>
        <a:srgbClr val="FFFFFF"/>
      </a:lt1>
      <a:dk2>
        <a:srgbClr val="000000"/>
      </a:dk2>
      <a:lt2>
        <a:srgbClr val="006600"/>
      </a:lt2>
      <a:accent1>
        <a:srgbClr val="F5EBC1"/>
      </a:accent1>
      <a:accent2>
        <a:srgbClr val="FFCC00"/>
      </a:accent2>
      <a:accent3>
        <a:srgbClr val="FFFFFF"/>
      </a:accent3>
      <a:accent4>
        <a:srgbClr val="000000"/>
      </a:accent4>
      <a:accent5>
        <a:srgbClr val="F9F3DD"/>
      </a:accent5>
      <a:accent6>
        <a:srgbClr val="E7B900"/>
      </a:accent6>
      <a:hlink>
        <a:srgbClr val="0066FF"/>
      </a:hlink>
      <a:folHlink>
        <a:srgbClr val="B2B2B2"/>
      </a:folHlink>
    </a:clrScheme>
    <a:fontScheme name="Custom 1">
      <a:majorFont>
        <a:latin typeface="Times New Roman"/>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actus 7">
    <a:dk1>
      <a:srgbClr val="000000"/>
    </a:dk1>
    <a:lt1>
      <a:srgbClr val="FFFFFF"/>
    </a:lt1>
    <a:dk2>
      <a:srgbClr val="000000"/>
    </a:dk2>
    <a:lt2>
      <a:srgbClr val="006600"/>
    </a:lt2>
    <a:accent1>
      <a:srgbClr val="F5EBC1"/>
    </a:accent1>
    <a:accent2>
      <a:srgbClr val="FFCC00"/>
    </a:accent2>
    <a:accent3>
      <a:srgbClr val="FFFFFF"/>
    </a:accent3>
    <a:accent4>
      <a:srgbClr val="000000"/>
    </a:accent4>
    <a:accent5>
      <a:srgbClr val="F9F3DD"/>
    </a:accent5>
    <a:accent6>
      <a:srgbClr val="E7B900"/>
    </a:accent6>
    <a:hlink>
      <a:srgbClr val="0066FF"/>
    </a:hlink>
    <a:folHlink>
      <a:srgbClr val="B2B2B2"/>
    </a:folHlink>
  </a:clrScheme>
</a:themeOverride>
</file>

<file path=docProps/app.xml><?xml version="1.0" encoding="utf-8"?>
<Properties xmlns="http://schemas.openxmlformats.org/officeDocument/2006/extended-properties" xmlns:vt="http://schemas.openxmlformats.org/officeDocument/2006/docPropsVTypes">
  <Template/>
  <TotalTime>3355</TotalTime>
  <Words>3008</Words>
  <Application>Microsoft Office PowerPoint</Application>
  <PresentationFormat>Widescreen</PresentationFormat>
  <Paragraphs>469</Paragraphs>
  <Slides>86</Slides>
  <Notes>15</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86</vt:i4>
      </vt:variant>
    </vt:vector>
  </HeadingPairs>
  <TitlesOfParts>
    <vt:vector size="98" baseType="lpstr">
      <vt:lpstr>Aptos</vt:lpstr>
      <vt:lpstr>Arial</vt:lpstr>
      <vt:lpstr>Bell MT</vt:lpstr>
      <vt:lpstr>Calibri</vt:lpstr>
      <vt:lpstr>Calibri </vt:lpstr>
      <vt:lpstr>Cambria Math</vt:lpstr>
      <vt:lpstr>Courier New</vt:lpstr>
      <vt:lpstr>Garamond</vt:lpstr>
      <vt:lpstr>Times New Roman</vt:lpstr>
      <vt:lpstr>Times New Roman (Headings)</vt:lpstr>
      <vt:lpstr>Wingdings</vt:lpstr>
      <vt:lpstr>Cactus</vt:lpstr>
      <vt:lpstr>BLE Digital Transmitter </vt:lpstr>
      <vt:lpstr>Presented by </vt:lpstr>
      <vt:lpstr>Introduction</vt:lpstr>
      <vt:lpstr>BLE 5.4 Specification and Modulation </vt:lpstr>
      <vt:lpstr>BLE core system architecture</vt:lpstr>
      <vt:lpstr>System Overview </vt:lpstr>
      <vt:lpstr>ADPLL Architecture </vt:lpstr>
      <vt:lpstr>ADPLL Linear Model</vt:lpstr>
      <vt:lpstr>One Point Modulation at Reference Accumulator</vt:lpstr>
      <vt:lpstr>One Point Modulation at DCO Input</vt:lpstr>
      <vt:lpstr>Two Point Modulation</vt:lpstr>
      <vt:lpstr>ADPLL Stability Criteria</vt:lpstr>
      <vt:lpstr>ADPLL Stability Region</vt:lpstr>
      <vt:lpstr>System Block Diagram</vt:lpstr>
      <vt:lpstr>NRZ Block</vt:lpstr>
      <vt:lpstr>System Block Diagram</vt:lpstr>
      <vt:lpstr>Upsampling Block</vt:lpstr>
      <vt:lpstr>Upsampling Block</vt:lpstr>
      <vt:lpstr>System Block Diagram</vt:lpstr>
      <vt:lpstr>Gaussian Filter as FIR Filter</vt:lpstr>
      <vt:lpstr>Gaussian Filter as FIR Filter</vt:lpstr>
      <vt:lpstr>Parameters (span/sps)</vt:lpstr>
      <vt:lpstr>Simulation Results</vt:lpstr>
      <vt:lpstr>Direct VS Transposed Form</vt:lpstr>
      <vt:lpstr>MATLAB: Symmetry Realization for Direct Form</vt:lpstr>
      <vt:lpstr>MATLAB Simulation Results</vt:lpstr>
      <vt:lpstr>RTL Implementation/Optimization</vt:lpstr>
      <vt:lpstr>RTL Implementation</vt:lpstr>
      <vt:lpstr>RTL/MATLAB Simulation Result</vt:lpstr>
      <vt:lpstr>System Block Diagram</vt:lpstr>
      <vt:lpstr>Comparison between Multipliers</vt:lpstr>
      <vt:lpstr>RTL:Radix 4 Booth Recoding Multiplier</vt:lpstr>
      <vt:lpstr>Radix 4 Booth Recoding Multiplier Example</vt:lpstr>
      <vt:lpstr>PowerPoint Presentation</vt:lpstr>
      <vt:lpstr>TDC Block Diagram &amp; Operation</vt:lpstr>
      <vt:lpstr>TDC Core</vt:lpstr>
      <vt:lpstr>Pseudo-Thermometer-Code Edge Detector Implementation</vt:lpstr>
      <vt:lpstr>TDC Core</vt:lpstr>
      <vt:lpstr>Accounting for Random Phase Start</vt:lpstr>
      <vt:lpstr>MATLAB Simulation Setup</vt:lpstr>
      <vt:lpstr>MATLAB Simulation Results</vt:lpstr>
      <vt:lpstr>RTL Verification &amp; Coverage</vt:lpstr>
      <vt:lpstr>Digital loop filter </vt:lpstr>
      <vt:lpstr>Digital loop filter </vt:lpstr>
      <vt:lpstr>Digital loop filter </vt:lpstr>
      <vt:lpstr>Digital loop filter </vt:lpstr>
      <vt:lpstr>Digital loop filter </vt:lpstr>
      <vt:lpstr>Digital loop filter </vt:lpstr>
      <vt:lpstr>Digital loop filter </vt:lpstr>
      <vt:lpstr>Digital loop filter </vt:lpstr>
      <vt:lpstr>Digital loop filter </vt:lpstr>
      <vt:lpstr>Digital loop filter </vt:lpstr>
      <vt:lpstr>Gain Estimation </vt:lpstr>
      <vt:lpstr>Gain Estimation </vt:lpstr>
      <vt:lpstr>LMS</vt:lpstr>
      <vt:lpstr>LMS</vt:lpstr>
      <vt:lpstr>LMS</vt:lpstr>
      <vt:lpstr>LMS</vt:lpstr>
      <vt:lpstr>LMS Before optimization </vt:lpstr>
      <vt:lpstr>LMS optimization </vt:lpstr>
      <vt:lpstr>IIR implementation </vt:lpstr>
      <vt:lpstr>LMS optimized response </vt:lpstr>
      <vt:lpstr>DCO operation </vt:lpstr>
      <vt:lpstr>DCO on high level</vt:lpstr>
      <vt:lpstr>Gain normalizer </vt:lpstr>
      <vt:lpstr>DCO interface implementation </vt:lpstr>
      <vt:lpstr>Behavioral model  of DCO</vt:lpstr>
      <vt:lpstr>Sigma Delta</vt:lpstr>
      <vt:lpstr>Why Sigma Delta </vt:lpstr>
      <vt:lpstr>First order MASH Sigma Delta Analysis </vt:lpstr>
      <vt:lpstr>3rd order MASH Implementation</vt:lpstr>
      <vt:lpstr>Sigma delta and DCO interface </vt:lpstr>
      <vt:lpstr>Simulation Results </vt:lpstr>
      <vt:lpstr>Sigma delta Simulation results </vt:lpstr>
      <vt:lpstr>RTL vs MATLAB Verification</vt:lpstr>
      <vt:lpstr>Control Unit </vt:lpstr>
      <vt:lpstr>Control unit Architecture</vt:lpstr>
      <vt:lpstr>Main Control Unit FSM </vt:lpstr>
      <vt:lpstr>PowerPoint Presentation</vt:lpstr>
      <vt:lpstr>Modulation RTL Vs MATLAB </vt:lpstr>
      <vt:lpstr>Multi packet modulation </vt:lpstr>
      <vt:lpstr>Eye diagram - RTL</vt:lpstr>
      <vt:lpstr>CDC Report : </vt:lpstr>
      <vt:lpstr>Data Qualifier Synchronizer</vt:lpstr>
      <vt:lpstr>Synthesis summary </vt:lpstr>
      <vt:lpstr>Thanks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BLE Digital Transmitter</dc:title>
  <dc:creator>2101434</dc:creator>
  <cp:lastModifiedBy>2101434</cp:lastModifiedBy>
  <cp:revision>78</cp:revision>
  <dcterms:created xsi:type="dcterms:W3CDTF">2026-06-22T05:47:52Z</dcterms:created>
  <dcterms:modified xsi:type="dcterms:W3CDTF">2026-06-30T19:07:42Z</dcterms:modified>
</cp:coreProperties>
</file>