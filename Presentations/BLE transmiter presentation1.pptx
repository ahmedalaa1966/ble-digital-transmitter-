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4"/>
  </p:sldMasterIdLst>
  <p:notesMasterIdLst>
    <p:notesMasterId r:id="rId79"/>
  </p:notesMasterIdLst>
  <p:sldIdLst>
    <p:sldId id="256" r:id="rId5"/>
    <p:sldId id="257" r:id="rId6"/>
    <p:sldId id="275" r:id="rId7"/>
    <p:sldId id="276" r:id="rId8"/>
    <p:sldId id="273" r:id="rId9"/>
    <p:sldId id="272" r:id="rId10"/>
    <p:sldId id="260" r:id="rId11"/>
    <p:sldId id="261" r:id="rId12"/>
    <p:sldId id="262" r:id="rId13"/>
    <p:sldId id="264" r:id="rId14"/>
    <p:sldId id="274" r:id="rId15"/>
    <p:sldId id="290" r:id="rId16"/>
    <p:sldId id="291" r:id="rId17"/>
    <p:sldId id="289" r:id="rId18"/>
    <p:sldId id="279" r:id="rId19"/>
    <p:sldId id="287" r:id="rId20"/>
    <p:sldId id="280" r:id="rId21"/>
    <p:sldId id="281" r:id="rId22"/>
    <p:sldId id="282" r:id="rId23"/>
    <p:sldId id="283" r:id="rId24"/>
    <p:sldId id="419" r:id="rId25"/>
    <p:sldId id="420" r:id="rId26"/>
    <p:sldId id="421" r:id="rId27"/>
    <p:sldId id="278" r:id="rId28"/>
    <p:sldId id="422" r:id="rId29"/>
    <p:sldId id="423" r:id="rId30"/>
    <p:sldId id="285" r:id="rId31"/>
    <p:sldId id="424" r:id="rId32"/>
    <p:sldId id="425" r:id="rId33"/>
    <p:sldId id="270" r:id="rId34"/>
    <p:sldId id="426" r:id="rId35"/>
    <p:sldId id="427" r:id="rId36"/>
    <p:sldId id="428" r:id="rId37"/>
    <p:sldId id="429" r:id="rId38"/>
    <p:sldId id="277" r:id="rId39"/>
    <p:sldId id="284" r:id="rId40"/>
    <p:sldId id="431" r:id="rId41"/>
    <p:sldId id="432" r:id="rId42"/>
    <p:sldId id="433" r:id="rId43"/>
    <p:sldId id="267" r:id="rId44"/>
    <p:sldId id="269" r:id="rId45"/>
    <p:sldId id="434" r:id="rId46"/>
    <p:sldId id="435" r:id="rId47"/>
    <p:sldId id="271" r:id="rId48"/>
    <p:sldId id="259" r:id="rId49"/>
    <p:sldId id="266" r:id="rId50"/>
    <p:sldId id="265" r:id="rId51"/>
    <p:sldId id="437" r:id="rId52"/>
    <p:sldId id="449" r:id="rId53"/>
    <p:sldId id="438" r:id="rId54"/>
    <p:sldId id="439" r:id="rId55"/>
    <p:sldId id="440" r:id="rId56"/>
    <p:sldId id="268" r:id="rId57"/>
    <p:sldId id="441" r:id="rId58"/>
    <p:sldId id="263" r:id="rId59"/>
    <p:sldId id="442" r:id="rId60"/>
    <p:sldId id="443" r:id="rId61"/>
    <p:sldId id="444" r:id="rId62"/>
    <p:sldId id="445" r:id="rId63"/>
    <p:sldId id="446" r:id="rId64"/>
    <p:sldId id="447" r:id="rId65"/>
    <p:sldId id="448" r:id="rId66"/>
    <p:sldId id="450" r:id="rId67"/>
    <p:sldId id="451" r:id="rId68"/>
    <p:sldId id="452" r:id="rId69"/>
    <p:sldId id="453" r:id="rId70"/>
    <p:sldId id="454" r:id="rId71"/>
    <p:sldId id="455" r:id="rId72"/>
    <p:sldId id="456" r:id="rId73"/>
    <p:sldId id="457" r:id="rId74"/>
    <p:sldId id="458" r:id="rId75"/>
    <p:sldId id="459" r:id="rId76"/>
    <p:sldId id="460" r:id="rId77"/>
    <p:sldId id="417" r:id="rId78"/>
  </p:sldIdLst>
  <p:sldSz cx="12192000" cy="6858000"/>
  <p:notesSz cx="7099300" cy="10234613"/>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040">
          <p15:clr>
            <a:srgbClr val="A4A3A4"/>
          </p15:clr>
        </p15:guide>
        <p15:guide id="2" pos="4029">
          <p15:clr>
            <a:srgbClr val="A4A3A4"/>
          </p15:clr>
        </p15:guide>
      </p15:sldGuideLst>
    </p:ext>
    <p:ext uri="{2D200454-40CA-4A62-9FC3-DE9A4176ACB9}">
      <p15:notesGuideLst xmlns:p15="http://schemas.microsoft.com/office/powerpoint/2012/main">
        <p15:guide id="1" orient="horz" pos="3224">
          <p15:clr>
            <a:srgbClr val="A4A3A4"/>
          </p15:clr>
        </p15:guide>
        <p15:guide id="2" pos="2237">
          <p15:clr>
            <a:srgbClr val="A4A3A4"/>
          </p15:clr>
        </p15:guide>
      </p15:notes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90" roundtripDataSignature="AMtx7mh+VtKbA3YO8RE6hlW7Sb6vn+giy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DFF25F5-4B56-4CBB-A7B8-94C91A707BEC}">
  <a:tblStyle styleId="{8DFF25F5-4B56-4CBB-A7B8-94C91A707BEC}" styleName="Table_0">
    <a:wholeTbl>
      <a:tcTxStyle b="off" i="off">
        <a:font>
          <a:latin typeface="Garamond"/>
          <a:ea typeface="Garamond"/>
          <a:cs typeface="Garamond"/>
        </a:font>
        <a:schemeClr val="dk1"/>
      </a:tcTxStyle>
      <a:tcStyle>
        <a:tcBdr>
          <a:left>
            <a:ln w="12700" cap="flat" cmpd="sng">
              <a:solidFill>
                <a:schemeClr val="dk1"/>
              </a:solidFill>
              <a:prstDash val="solid"/>
              <a:round/>
              <a:headEnd type="none" w="sm" len="sm"/>
              <a:tailEnd type="none" w="sm" len="sm"/>
            </a:ln>
          </a:left>
          <a:right>
            <a:ln w="12700" cap="flat" cmpd="sng">
              <a:solidFill>
                <a:schemeClr val="dk1"/>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12700" cap="flat" cmpd="sng">
              <a:solidFill>
                <a:schemeClr val="dk1"/>
              </a:solidFill>
              <a:prstDash val="solid"/>
              <a:round/>
              <a:headEnd type="none" w="sm" len="sm"/>
              <a:tailEnd type="none" w="sm" len="sm"/>
            </a:ln>
          </a:insideH>
          <a:insideV>
            <a:ln w="12700" cap="flat" cmpd="sng">
              <a:solidFill>
                <a:schemeClr val="dk1"/>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AFAA6F7A-1187-4A60-89DA-5E8C72C62729}" styleName="Table_1">
    <a:wholeTbl>
      <a:tcTxStyle b="off" i="off">
        <a:font>
          <a:latin typeface="Garamond"/>
          <a:ea typeface="Garamond"/>
          <a:cs typeface="Garamond"/>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FDFBF4"/>
          </a:solidFill>
        </a:fill>
      </a:tcStyle>
    </a:wholeTbl>
    <a:band1H>
      <a:tcTxStyle/>
      <a:tcStyle>
        <a:tcBdr/>
        <a:fill>
          <a:solidFill>
            <a:srgbClr val="FBF7E9"/>
          </a:solidFill>
        </a:fill>
      </a:tcStyle>
    </a:band1H>
    <a:band2H>
      <a:tcTxStyle/>
      <a:tcStyle>
        <a:tcBdr/>
      </a:tcStyle>
    </a:band2H>
    <a:band1V>
      <a:tcTxStyle/>
      <a:tcStyle>
        <a:tcBdr/>
        <a:fill>
          <a:solidFill>
            <a:srgbClr val="FBF7E9"/>
          </a:solidFill>
        </a:fill>
      </a:tcStyle>
    </a:band1V>
    <a:band2V>
      <a:tcTxStyle/>
      <a:tcStyle>
        <a:tcBdr/>
      </a:tcStyle>
    </a:band2V>
    <a:lastCol>
      <a:tcTxStyle b="on" i="off">
        <a:font>
          <a:latin typeface="Garamond"/>
          <a:ea typeface="Garamond"/>
          <a:cs typeface="Garamond"/>
        </a:font>
        <a:schemeClr val="lt1"/>
      </a:tcTxStyle>
      <a:tcStyle>
        <a:tcBdr/>
        <a:fill>
          <a:solidFill>
            <a:schemeClr val="accent1"/>
          </a:solidFill>
        </a:fill>
      </a:tcStyle>
    </a:lastCol>
    <a:firstCol>
      <a:tcTxStyle b="on" i="off">
        <a:font>
          <a:latin typeface="Garamond"/>
          <a:ea typeface="Garamond"/>
          <a:cs typeface="Garamond"/>
        </a:font>
        <a:schemeClr val="lt1"/>
      </a:tcTxStyle>
      <a:tcStyle>
        <a:tcBdr/>
        <a:fill>
          <a:solidFill>
            <a:schemeClr val="accent1"/>
          </a:solidFill>
        </a:fill>
      </a:tcStyle>
    </a:firstCol>
    <a:lastRow>
      <a:tcTxStyle b="on" i="off">
        <a:font>
          <a:latin typeface="Garamond"/>
          <a:ea typeface="Garamond"/>
          <a:cs typeface="Garamond"/>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Garamond"/>
          <a:ea typeface="Garamond"/>
          <a:cs typeface="Garamond"/>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13" autoAdjust="0"/>
    <p:restoredTop sz="93164" autoAdjust="0"/>
  </p:normalViewPr>
  <p:slideViewPr>
    <p:cSldViewPr snapToGrid="0">
      <p:cViewPr varScale="1">
        <p:scale>
          <a:sx n="78" d="100"/>
          <a:sy n="78" d="100"/>
        </p:scale>
        <p:origin x="850" y="48"/>
      </p:cViewPr>
      <p:guideLst>
        <p:guide orient="horz" pos="2040"/>
        <p:guide pos="4029"/>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3224"/>
        <p:guide pos="2237"/>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191" Type="http://schemas.openxmlformats.org/officeDocument/2006/relationships/presProps" Target="presProps.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notesMaster" Target="notesMasters/notesMaster1.xml"/><Relationship Id="rId5" Type="http://schemas.openxmlformats.org/officeDocument/2006/relationships/slide" Target="slides/slide1.xml"/><Relationship Id="rId61" Type="http://schemas.openxmlformats.org/officeDocument/2006/relationships/slide" Target="slides/slide57.xml"/><Relationship Id="rId194" Type="http://schemas.openxmlformats.org/officeDocument/2006/relationships/tableStyles" Target="tableStyle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192"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1" Type="http://schemas.openxmlformats.org/officeDocument/2006/relationships/customXml" Target="../customXml/item1.xml"/><Relationship Id="rId6" Type="http://schemas.openxmlformats.org/officeDocument/2006/relationships/slide" Target="slides/slide2.xml"/><Relationship Id="rId190" Type="http://customschemas.google.com/relationships/presentationmetadata" Target="metadata"/><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4" Type="http://schemas.openxmlformats.org/officeDocument/2006/relationships/slideMaster" Target="slideMasters/slideMaster1.xml"/><Relationship Id="rId9" Type="http://schemas.openxmlformats.org/officeDocument/2006/relationships/slide" Target="slides/slide5.xml"/><Relationship Id="rId193" Type="http://schemas.openxmlformats.org/officeDocument/2006/relationships/theme" Target="theme/theme1.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7T21:03:56.384"/>
    </inkml:context>
    <inkml:brush xml:id="br0">
      <inkml:brushProperty name="width" value="0.35" units="cm"/>
      <inkml:brushProperty name="height" value="0.35" units="cm"/>
      <inkml:brushProperty name="color" value="#FFFFFF"/>
    </inkml:brush>
  </inkml:definitions>
  <inkml:trace contextRef="#ctx0" brushRef="#br0">1 1 24575</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7T21:04:25.704"/>
    </inkml:context>
    <inkml:brush xml:id="br0">
      <inkml:brushProperty name="width" value="0.2" units="cm"/>
      <inkml:brushProperty name="height" value="0.2" units="cm"/>
      <inkml:brushProperty name="color" value="#FFFFFF"/>
    </inkml:brush>
  </inkml:definitions>
  <inkml:trace contextRef="#ctx0" brushRef="#br0">0 0 24575,'0'0'-8191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7T21:04:26.896"/>
    </inkml:context>
    <inkml:brush xml:id="br0">
      <inkml:brushProperty name="width" value="0.2" units="cm"/>
      <inkml:brushProperty name="height" value="0.2" units="cm"/>
      <inkml:brushProperty name="color" value="#FFFFFF"/>
    </inkml:brush>
  </inkml:definitions>
  <inkml:trace contextRef="#ctx0" brushRef="#br0">1 0 24575,'0'0'-8191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7T21:04:27.830"/>
    </inkml:context>
    <inkml:brush xml:id="br0">
      <inkml:brushProperty name="width" value="0.2" units="cm"/>
      <inkml:brushProperty name="height" value="0.2" units="cm"/>
      <inkml:brushProperty name="color" value="#FFFFFF"/>
    </inkml:brush>
  </inkml:definitions>
  <inkml:trace contextRef="#ctx0" brushRef="#br0">0 0 24575,'0'0'-8191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7T21:04:29.539"/>
    </inkml:context>
    <inkml:brush xml:id="br0">
      <inkml:brushProperty name="width" value="0.2" units="cm"/>
      <inkml:brushProperty name="height" value="0.2" units="cm"/>
      <inkml:brushProperty name="color" value="#FFFFFF"/>
    </inkml:brush>
  </inkml:definitions>
  <inkml:trace contextRef="#ctx0" brushRef="#br0">1 1 24575,'0'0'-8191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7T21:05:09.113"/>
    </inkml:context>
    <inkml:brush xml:id="br0">
      <inkml:brushProperty name="width" value="0.2" units="cm"/>
      <inkml:brushProperty name="height" value="0.2" units="cm"/>
      <inkml:brushProperty name="color" value="#FFFFFF"/>
    </inkml:brush>
  </inkml:definitions>
  <inkml:trace contextRef="#ctx0" brushRef="#br0">0 0 24575,'0'0'-8191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7T21:04:05.788"/>
    </inkml:context>
    <inkml:brush xml:id="br0">
      <inkml:brushProperty name="width" value="0.1" units="cm"/>
      <inkml:brushProperty name="height" value="0.1" units="cm"/>
      <inkml:brushProperty name="color" value="#FFFFFF"/>
    </inkml:brush>
  </inkml:definitions>
  <inkml:trace contextRef="#ctx0" brushRef="#br0">0 0 24575,'0'0'-8191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7T19:00:59.811"/>
    </inkml:context>
    <inkml:brush xml:id="br0">
      <inkml:brushProperty name="width" value="0.35" units="cm"/>
      <inkml:brushProperty name="height" value="0.35" units="cm"/>
      <inkml:brushProperty name="color" value="#FFFFFF"/>
    </inkml:brush>
  </inkml:definitions>
  <inkml:trace contextRef="#ctx0" brushRef="#br0">0 74 24575,'13'0'0,"14"0"0,6 0 0,2 0 0,-1 0 0,-1 0 0,2-5 0,0 0 0,-2-1 0,-2 2 0,-1-4 0,2 0 0,0-3 0,-1 0 0,0 2 0,-3 3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7T19:01:01.632"/>
    </inkml:context>
    <inkml:brush xml:id="br0">
      <inkml:brushProperty name="width" value="0.35" units="cm"/>
      <inkml:brushProperty name="height" value="0.35" units="cm"/>
      <inkml:brushProperty name="color" value="#FFFFFF"/>
    </inkml:brush>
  </inkml:definitions>
  <inkml:trace contextRef="#ctx0" brushRef="#br0">2181 1 24575,'10'0'0,"-11"0"0,-22 0 0,11 0 0,-24 0 0,1 1 0,-1 2 0,-45 8 0,-50 26 0,91-24 0,-1-1 0,0-2 0,0-2 0,-1-2 0,-59 1 0,-682-11 0,492 5 0,128 12 0,17 0 0,0-13-1365</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7T19:01:46.482"/>
    </inkml:context>
    <inkml:brush xml:id="br0">
      <inkml:brushProperty name="width" value="0.35" units="cm"/>
      <inkml:brushProperty name="height" value="0.35" units="cm"/>
      <inkml:brushProperty name="color" value="#FFFFFF"/>
    </inkml:brush>
  </inkml:definitions>
  <inkml:trace contextRef="#ctx0" brushRef="#br0">1 0 24575,'3370'0'0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074988" cy="51117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2400" b="0" i="0" u="none" strike="noStrike" cap="none">
                <a:solidFill>
                  <a:schemeClr val="dk1"/>
                </a:solidFill>
                <a:latin typeface="Meddon"/>
                <a:ea typeface="Meddon"/>
                <a:cs typeface="Meddon"/>
                <a:sym typeface="Meddon"/>
              </a:defRPr>
            </a:lvl2pPr>
            <a:lvl3pPr marR="0" lvl="2" algn="l" rtl="0">
              <a:spcBef>
                <a:spcPts val="0"/>
              </a:spcBef>
              <a:spcAft>
                <a:spcPts val="0"/>
              </a:spcAft>
              <a:buSzPts val="1400"/>
              <a:buNone/>
              <a:defRPr sz="2400" b="0" i="0" u="none" strike="noStrike" cap="none">
                <a:solidFill>
                  <a:schemeClr val="dk1"/>
                </a:solidFill>
                <a:latin typeface="Meddon"/>
                <a:ea typeface="Meddon"/>
                <a:cs typeface="Meddon"/>
                <a:sym typeface="Meddon"/>
              </a:defRPr>
            </a:lvl3pPr>
            <a:lvl4pPr marR="0" lvl="3" algn="l" rtl="0">
              <a:spcBef>
                <a:spcPts val="0"/>
              </a:spcBef>
              <a:spcAft>
                <a:spcPts val="0"/>
              </a:spcAft>
              <a:buSzPts val="1400"/>
              <a:buNone/>
              <a:defRPr sz="2400" b="0" i="0" u="none" strike="noStrike" cap="none">
                <a:solidFill>
                  <a:schemeClr val="dk1"/>
                </a:solidFill>
                <a:latin typeface="Meddon"/>
                <a:ea typeface="Meddon"/>
                <a:cs typeface="Meddon"/>
                <a:sym typeface="Meddon"/>
              </a:defRPr>
            </a:lvl4pPr>
            <a:lvl5pPr marR="0" lvl="4" algn="l" rtl="0">
              <a:spcBef>
                <a:spcPts val="0"/>
              </a:spcBef>
              <a:spcAft>
                <a:spcPts val="0"/>
              </a:spcAft>
              <a:buSzPts val="1400"/>
              <a:buNone/>
              <a:defRPr sz="2400" b="0" i="0" u="none" strike="noStrike" cap="none">
                <a:solidFill>
                  <a:schemeClr val="dk1"/>
                </a:solidFill>
                <a:latin typeface="Meddon"/>
                <a:ea typeface="Meddon"/>
                <a:cs typeface="Meddon"/>
                <a:sym typeface="Meddon"/>
              </a:defRPr>
            </a:lvl5pPr>
            <a:lvl6pPr marR="0" lvl="5" algn="l" rtl="0">
              <a:spcBef>
                <a:spcPts val="0"/>
              </a:spcBef>
              <a:spcAft>
                <a:spcPts val="0"/>
              </a:spcAft>
              <a:buSzPts val="1400"/>
              <a:buNone/>
              <a:defRPr sz="2400" b="0" i="0" u="none" strike="noStrike" cap="none">
                <a:solidFill>
                  <a:schemeClr val="dk1"/>
                </a:solidFill>
                <a:latin typeface="Meddon"/>
                <a:ea typeface="Meddon"/>
                <a:cs typeface="Meddon"/>
                <a:sym typeface="Meddon"/>
              </a:defRPr>
            </a:lvl6pPr>
            <a:lvl7pPr marR="0" lvl="6" algn="l" rtl="0">
              <a:spcBef>
                <a:spcPts val="0"/>
              </a:spcBef>
              <a:spcAft>
                <a:spcPts val="0"/>
              </a:spcAft>
              <a:buSzPts val="1400"/>
              <a:buNone/>
              <a:defRPr sz="2400" b="0" i="0" u="none" strike="noStrike" cap="none">
                <a:solidFill>
                  <a:schemeClr val="dk1"/>
                </a:solidFill>
                <a:latin typeface="Meddon"/>
                <a:ea typeface="Meddon"/>
                <a:cs typeface="Meddon"/>
                <a:sym typeface="Meddon"/>
              </a:defRPr>
            </a:lvl7pPr>
            <a:lvl8pPr marR="0" lvl="7" algn="l" rtl="0">
              <a:spcBef>
                <a:spcPts val="0"/>
              </a:spcBef>
              <a:spcAft>
                <a:spcPts val="0"/>
              </a:spcAft>
              <a:buSzPts val="1400"/>
              <a:buNone/>
              <a:defRPr sz="2400" b="0" i="0" u="none" strike="noStrike" cap="none">
                <a:solidFill>
                  <a:schemeClr val="dk1"/>
                </a:solidFill>
                <a:latin typeface="Meddon"/>
                <a:ea typeface="Meddon"/>
                <a:cs typeface="Meddon"/>
                <a:sym typeface="Meddon"/>
              </a:defRPr>
            </a:lvl8pPr>
            <a:lvl9pPr marR="0" lvl="8" algn="l" rtl="0">
              <a:spcBef>
                <a:spcPts val="0"/>
              </a:spcBef>
              <a:spcAft>
                <a:spcPts val="0"/>
              </a:spcAft>
              <a:buSzPts val="1400"/>
              <a:buNone/>
              <a:defRPr sz="2400" b="0" i="0" u="none" strike="noStrike" cap="none">
                <a:solidFill>
                  <a:schemeClr val="dk1"/>
                </a:solidFill>
                <a:latin typeface="Meddon"/>
                <a:ea typeface="Meddon"/>
                <a:cs typeface="Meddon"/>
                <a:sym typeface="Meddon"/>
              </a:defRPr>
            </a:lvl9pPr>
          </a:lstStyle>
          <a:p>
            <a:endParaRPr/>
          </a:p>
        </p:txBody>
      </p:sp>
      <p:sp>
        <p:nvSpPr>
          <p:cNvPr id="4" name="Google Shape;4;n"/>
          <p:cNvSpPr txBox="1">
            <a:spLocks noGrp="1"/>
          </p:cNvSpPr>
          <p:nvPr>
            <p:ph type="dt" idx="10"/>
          </p:nvPr>
        </p:nvSpPr>
        <p:spPr>
          <a:xfrm>
            <a:off x="4024313" y="0"/>
            <a:ext cx="3074987" cy="511175"/>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2400" b="0" i="0" u="none" strike="noStrike" cap="none">
                <a:solidFill>
                  <a:schemeClr val="dk1"/>
                </a:solidFill>
                <a:latin typeface="Meddon"/>
                <a:ea typeface="Meddon"/>
                <a:cs typeface="Meddon"/>
                <a:sym typeface="Meddon"/>
              </a:defRPr>
            </a:lvl2pPr>
            <a:lvl3pPr marR="0" lvl="2" algn="l" rtl="0">
              <a:spcBef>
                <a:spcPts val="0"/>
              </a:spcBef>
              <a:spcAft>
                <a:spcPts val="0"/>
              </a:spcAft>
              <a:buSzPts val="1400"/>
              <a:buNone/>
              <a:defRPr sz="2400" b="0" i="0" u="none" strike="noStrike" cap="none">
                <a:solidFill>
                  <a:schemeClr val="dk1"/>
                </a:solidFill>
                <a:latin typeface="Meddon"/>
                <a:ea typeface="Meddon"/>
                <a:cs typeface="Meddon"/>
                <a:sym typeface="Meddon"/>
              </a:defRPr>
            </a:lvl3pPr>
            <a:lvl4pPr marR="0" lvl="3" algn="l" rtl="0">
              <a:spcBef>
                <a:spcPts val="0"/>
              </a:spcBef>
              <a:spcAft>
                <a:spcPts val="0"/>
              </a:spcAft>
              <a:buSzPts val="1400"/>
              <a:buNone/>
              <a:defRPr sz="2400" b="0" i="0" u="none" strike="noStrike" cap="none">
                <a:solidFill>
                  <a:schemeClr val="dk1"/>
                </a:solidFill>
                <a:latin typeface="Meddon"/>
                <a:ea typeface="Meddon"/>
                <a:cs typeface="Meddon"/>
                <a:sym typeface="Meddon"/>
              </a:defRPr>
            </a:lvl4pPr>
            <a:lvl5pPr marR="0" lvl="4" algn="l" rtl="0">
              <a:spcBef>
                <a:spcPts val="0"/>
              </a:spcBef>
              <a:spcAft>
                <a:spcPts val="0"/>
              </a:spcAft>
              <a:buSzPts val="1400"/>
              <a:buNone/>
              <a:defRPr sz="2400" b="0" i="0" u="none" strike="noStrike" cap="none">
                <a:solidFill>
                  <a:schemeClr val="dk1"/>
                </a:solidFill>
                <a:latin typeface="Meddon"/>
                <a:ea typeface="Meddon"/>
                <a:cs typeface="Meddon"/>
                <a:sym typeface="Meddon"/>
              </a:defRPr>
            </a:lvl5pPr>
            <a:lvl6pPr marR="0" lvl="5" algn="l" rtl="0">
              <a:spcBef>
                <a:spcPts val="0"/>
              </a:spcBef>
              <a:spcAft>
                <a:spcPts val="0"/>
              </a:spcAft>
              <a:buSzPts val="1400"/>
              <a:buNone/>
              <a:defRPr sz="2400" b="0" i="0" u="none" strike="noStrike" cap="none">
                <a:solidFill>
                  <a:schemeClr val="dk1"/>
                </a:solidFill>
                <a:latin typeface="Meddon"/>
                <a:ea typeface="Meddon"/>
                <a:cs typeface="Meddon"/>
                <a:sym typeface="Meddon"/>
              </a:defRPr>
            </a:lvl6pPr>
            <a:lvl7pPr marR="0" lvl="6" algn="l" rtl="0">
              <a:spcBef>
                <a:spcPts val="0"/>
              </a:spcBef>
              <a:spcAft>
                <a:spcPts val="0"/>
              </a:spcAft>
              <a:buSzPts val="1400"/>
              <a:buNone/>
              <a:defRPr sz="2400" b="0" i="0" u="none" strike="noStrike" cap="none">
                <a:solidFill>
                  <a:schemeClr val="dk1"/>
                </a:solidFill>
                <a:latin typeface="Meddon"/>
                <a:ea typeface="Meddon"/>
                <a:cs typeface="Meddon"/>
                <a:sym typeface="Meddon"/>
              </a:defRPr>
            </a:lvl7pPr>
            <a:lvl8pPr marR="0" lvl="7" algn="l" rtl="0">
              <a:spcBef>
                <a:spcPts val="0"/>
              </a:spcBef>
              <a:spcAft>
                <a:spcPts val="0"/>
              </a:spcAft>
              <a:buSzPts val="1400"/>
              <a:buNone/>
              <a:defRPr sz="2400" b="0" i="0" u="none" strike="noStrike" cap="none">
                <a:solidFill>
                  <a:schemeClr val="dk1"/>
                </a:solidFill>
                <a:latin typeface="Meddon"/>
                <a:ea typeface="Meddon"/>
                <a:cs typeface="Meddon"/>
                <a:sym typeface="Meddon"/>
              </a:defRPr>
            </a:lvl8pPr>
            <a:lvl9pPr marR="0" lvl="8" algn="l" rtl="0">
              <a:spcBef>
                <a:spcPts val="0"/>
              </a:spcBef>
              <a:spcAft>
                <a:spcPts val="0"/>
              </a:spcAft>
              <a:buSzPts val="1400"/>
              <a:buNone/>
              <a:defRPr sz="2400" b="0" i="0" u="none" strike="noStrike" cap="none">
                <a:solidFill>
                  <a:schemeClr val="dk1"/>
                </a:solidFill>
                <a:latin typeface="Meddon"/>
                <a:ea typeface="Meddon"/>
                <a:cs typeface="Meddon"/>
                <a:sym typeface="Meddon"/>
              </a:defRPr>
            </a:lvl9pPr>
          </a:lstStyle>
          <a:p>
            <a:endParaRPr/>
          </a:p>
        </p:txBody>
      </p:sp>
      <p:sp>
        <p:nvSpPr>
          <p:cNvPr id="5" name="Google Shape;5;n"/>
          <p:cNvSpPr>
            <a:spLocks noGrp="1" noRot="1" noChangeAspect="1"/>
          </p:cNvSpPr>
          <p:nvPr>
            <p:ph type="sldImg" idx="3"/>
          </p:nvPr>
        </p:nvSpPr>
        <p:spPr>
          <a:xfrm>
            <a:off x="138113" y="766763"/>
            <a:ext cx="6823075" cy="383857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946150" y="4862513"/>
            <a:ext cx="5207000" cy="4605337"/>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Arial Narrow"/>
                <a:ea typeface="Arial Narrow"/>
                <a:cs typeface="Arial Narrow"/>
                <a:sym typeface="Arial Narrow"/>
              </a:defRPr>
            </a:lvl1pPr>
            <a:lvl2pPr marL="914400" marR="0" lvl="1" indent="-228600" algn="l" rtl="0">
              <a:spcBef>
                <a:spcPts val="360"/>
              </a:spcBef>
              <a:spcAft>
                <a:spcPts val="0"/>
              </a:spcAft>
              <a:buSzPts val="1400"/>
              <a:buNone/>
              <a:defRPr sz="1200" b="0" i="0" u="none" strike="noStrike" cap="none">
                <a:solidFill>
                  <a:schemeClr val="dk1"/>
                </a:solidFill>
                <a:latin typeface="Arial Narrow"/>
                <a:ea typeface="Arial Narrow"/>
                <a:cs typeface="Arial Narrow"/>
                <a:sym typeface="Arial Narrow"/>
              </a:defRPr>
            </a:lvl2pPr>
            <a:lvl3pPr marL="1371600" marR="0" lvl="2" indent="-228600" algn="l" rtl="0">
              <a:spcBef>
                <a:spcPts val="360"/>
              </a:spcBef>
              <a:spcAft>
                <a:spcPts val="0"/>
              </a:spcAft>
              <a:buSzPts val="1400"/>
              <a:buNone/>
              <a:defRPr sz="1200" b="0" i="0" u="none" strike="noStrike" cap="none">
                <a:solidFill>
                  <a:schemeClr val="dk1"/>
                </a:solidFill>
                <a:latin typeface="Arial Narrow"/>
                <a:ea typeface="Arial Narrow"/>
                <a:cs typeface="Arial Narrow"/>
                <a:sym typeface="Arial Narrow"/>
              </a:defRPr>
            </a:lvl3pPr>
            <a:lvl4pPr marL="1828800" marR="0" lvl="3" indent="-228600" algn="l" rtl="0">
              <a:spcBef>
                <a:spcPts val="360"/>
              </a:spcBef>
              <a:spcAft>
                <a:spcPts val="0"/>
              </a:spcAft>
              <a:buSzPts val="1400"/>
              <a:buNone/>
              <a:defRPr sz="1200" b="0" i="0" u="none" strike="noStrike" cap="none">
                <a:solidFill>
                  <a:schemeClr val="dk1"/>
                </a:solidFill>
                <a:latin typeface="Arial Narrow"/>
                <a:ea typeface="Arial Narrow"/>
                <a:cs typeface="Arial Narrow"/>
                <a:sym typeface="Arial Narrow"/>
              </a:defRPr>
            </a:lvl4pPr>
            <a:lvl5pPr marL="2286000" marR="0" lvl="4" indent="-228600" algn="l" rtl="0">
              <a:spcBef>
                <a:spcPts val="360"/>
              </a:spcBef>
              <a:spcAft>
                <a:spcPts val="0"/>
              </a:spcAft>
              <a:buSzPts val="1400"/>
              <a:buNone/>
              <a:defRPr sz="1200" b="0" i="0" u="none" strike="noStrike" cap="none">
                <a:solidFill>
                  <a:schemeClr val="dk1"/>
                </a:solidFill>
                <a:latin typeface="Arial Narrow"/>
                <a:ea typeface="Arial Narrow"/>
                <a:cs typeface="Arial Narrow"/>
                <a:sym typeface="Arial Narrow"/>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721850"/>
            <a:ext cx="3074988" cy="512763"/>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2400" b="0" i="0" u="none" strike="noStrike" cap="none">
                <a:solidFill>
                  <a:schemeClr val="dk1"/>
                </a:solidFill>
                <a:latin typeface="Meddon"/>
                <a:ea typeface="Meddon"/>
                <a:cs typeface="Meddon"/>
                <a:sym typeface="Meddon"/>
              </a:defRPr>
            </a:lvl2pPr>
            <a:lvl3pPr marR="0" lvl="2" algn="l" rtl="0">
              <a:spcBef>
                <a:spcPts val="0"/>
              </a:spcBef>
              <a:spcAft>
                <a:spcPts val="0"/>
              </a:spcAft>
              <a:buSzPts val="1400"/>
              <a:buNone/>
              <a:defRPr sz="2400" b="0" i="0" u="none" strike="noStrike" cap="none">
                <a:solidFill>
                  <a:schemeClr val="dk1"/>
                </a:solidFill>
                <a:latin typeface="Meddon"/>
                <a:ea typeface="Meddon"/>
                <a:cs typeface="Meddon"/>
                <a:sym typeface="Meddon"/>
              </a:defRPr>
            </a:lvl3pPr>
            <a:lvl4pPr marR="0" lvl="3" algn="l" rtl="0">
              <a:spcBef>
                <a:spcPts val="0"/>
              </a:spcBef>
              <a:spcAft>
                <a:spcPts val="0"/>
              </a:spcAft>
              <a:buSzPts val="1400"/>
              <a:buNone/>
              <a:defRPr sz="2400" b="0" i="0" u="none" strike="noStrike" cap="none">
                <a:solidFill>
                  <a:schemeClr val="dk1"/>
                </a:solidFill>
                <a:latin typeface="Meddon"/>
                <a:ea typeface="Meddon"/>
                <a:cs typeface="Meddon"/>
                <a:sym typeface="Meddon"/>
              </a:defRPr>
            </a:lvl4pPr>
            <a:lvl5pPr marR="0" lvl="4" algn="l" rtl="0">
              <a:spcBef>
                <a:spcPts val="0"/>
              </a:spcBef>
              <a:spcAft>
                <a:spcPts val="0"/>
              </a:spcAft>
              <a:buSzPts val="1400"/>
              <a:buNone/>
              <a:defRPr sz="2400" b="0" i="0" u="none" strike="noStrike" cap="none">
                <a:solidFill>
                  <a:schemeClr val="dk1"/>
                </a:solidFill>
                <a:latin typeface="Meddon"/>
                <a:ea typeface="Meddon"/>
                <a:cs typeface="Meddon"/>
                <a:sym typeface="Meddon"/>
              </a:defRPr>
            </a:lvl5pPr>
            <a:lvl6pPr marR="0" lvl="5" algn="l" rtl="0">
              <a:spcBef>
                <a:spcPts val="0"/>
              </a:spcBef>
              <a:spcAft>
                <a:spcPts val="0"/>
              </a:spcAft>
              <a:buSzPts val="1400"/>
              <a:buNone/>
              <a:defRPr sz="2400" b="0" i="0" u="none" strike="noStrike" cap="none">
                <a:solidFill>
                  <a:schemeClr val="dk1"/>
                </a:solidFill>
                <a:latin typeface="Meddon"/>
                <a:ea typeface="Meddon"/>
                <a:cs typeface="Meddon"/>
                <a:sym typeface="Meddon"/>
              </a:defRPr>
            </a:lvl6pPr>
            <a:lvl7pPr marR="0" lvl="6" algn="l" rtl="0">
              <a:spcBef>
                <a:spcPts val="0"/>
              </a:spcBef>
              <a:spcAft>
                <a:spcPts val="0"/>
              </a:spcAft>
              <a:buSzPts val="1400"/>
              <a:buNone/>
              <a:defRPr sz="2400" b="0" i="0" u="none" strike="noStrike" cap="none">
                <a:solidFill>
                  <a:schemeClr val="dk1"/>
                </a:solidFill>
                <a:latin typeface="Meddon"/>
                <a:ea typeface="Meddon"/>
                <a:cs typeface="Meddon"/>
                <a:sym typeface="Meddon"/>
              </a:defRPr>
            </a:lvl7pPr>
            <a:lvl8pPr marR="0" lvl="7" algn="l" rtl="0">
              <a:spcBef>
                <a:spcPts val="0"/>
              </a:spcBef>
              <a:spcAft>
                <a:spcPts val="0"/>
              </a:spcAft>
              <a:buSzPts val="1400"/>
              <a:buNone/>
              <a:defRPr sz="2400" b="0" i="0" u="none" strike="noStrike" cap="none">
                <a:solidFill>
                  <a:schemeClr val="dk1"/>
                </a:solidFill>
                <a:latin typeface="Meddon"/>
                <a:ea typeface="Meddon"/>
                <a:cs typeface="Meddon"/>
                <a:sym typeface="Meddon"/>
              </a:defRPr>
            </a:lvl8pPr>
            <a:lvl9pPr marR="0" lvl="8" algn="l" rtl="0">
              <a:spcBef>
                <a:spcPts val="0"/>
              </a:spcBef>
              <a:spcAft>
                <a:spcPts val="0"/>
              </a:spcAft>
              <a:buSzPts val="1400"/>
              <a:buNone/>
              <a:defRPr sz="2400" b="0" i="0" u="none" strike="noStrike" cap="none">
                <a:solidFill>
                  <a:schemeClr val="dk1"/>
                </a:solidFill>
                <a:latin typeface="Meddon"/>
                <a:ea typeface="Meddon"/>
                <a:cs typeface="Meddon"/>
                <a:sym typeface="Meddon"/>
              </a:defRPr>
            </a:lvl9pPr>
          </a:lstStyle>
          <a:p>
            <a:endParaRPr/>
          </a:p>
        </p:txBody>
      </p:sp>
      <p:sp>
        <p:nvSpPr>
          <p:cNvPr id="8" name="Google Shape;8;n"/>
          <p:cNvSpPr txBox="1">
            <a:spLocks noGrp="1"/>
          </p:cNvSpPr>
          <p:nvPr>
            <p:ph type="sldNum" idx="12"/>
          </p:nvPr>
        </p:nvSpPr>
        <p:spPr>
          <a:xfrm>
            <a:off x="4024313" y="9721850"/>
            <a:ext cx="3074987" cy="512763"/>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t>‹#›</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199614531"/>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p1:notes"/>
          <p:cNvSpPr txBox="1">
            <a:spLocks noGrp="1"/>
          </p:cNvSpPr>
          <p:nvPr>
            <p:ph type="body" idx="1"/>
          </p:nvPr>
        </p:nvSpPr>
        <p:spPr>
          <a:xfrm>
            <a:off x="946150" y="4862513"/>
            <a:ext cx="5207000" cy="4605337"/>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dirty="0"/>
          </a:p>
        </p:txBody>
      </p:sp>
      <p:sp>
        <p:nvSpPr>
          <p:cNvPr id="72" name="Google Shape;72;p1:notes"/>
          <p:cNvSpPr>
            <a:spLocks noGrp="1" noRot="1" noChangeAspect="1"/>
          </p:cNvSpPr>
          <p:nvPr>
            <p:ph type="sldImg" idx="2"/>
          </p:nvPr>
        </p:nvSpPr>
        <p:spPr>
          <a:xfrm>
            <a:off x="138113" y="766763"/>
            <a:ext cx="6823075" cy="38385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092921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p2:notes"/>
          <p:cNvSpPr txBox="1">
            <a:spLocks noGrp="1"/>
          </p:cNvSpPr>
          <p:nvPr>
            <p:ph type="body" idx="1"/>
          </p:nvPr>
        </p:nvSpPr>
        <p:spPr>
          <a:xfrm>
            <a:off x="946150" y="4862513"/>
            <a:ext cx="5207000" cy="4605337"/>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81" name="Google Shape;81;p2:notes"/>
          <p:cNvSpPr>
            <a:spLocks noGrp="1" noRot="1" noChangeAspect="1"/>
          </p:cNvSpPr>
          <p:nvPr>
            <p:ph type="sldImg" idx="2"/>
          </p:nvPr>
        </p:nvSpPr>
        <p:spPr>
          <a:xfrm>
            <a:off x="138113" y="766763"/>
            <a:ext cx="6823075" cy="38385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685229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 xmlns:a16="http://schemas.microsoft.com/office/drawing/2014/main" id="{781A21E3-FDB6-403B-AD31-C8430AFE460F}"/>
            </a:ext>
          </a:extLst>
        </p:cNvPr>
        <p:cNvGrpSpPr/>
        <p:nvPr/>
      </p:nvGrpSpPr>
      <p:grpSpPr>
        <a:xfrm>
          <a:off x="0" y="0"/>
          <a:ext cx="0" cy="0"/>
          <a:chOff x="0" y="0"/>
          <a:chExt cx="0" cy="0"/>
        </a:xfrm>
      </p:grpSpPr>
      <p:sp>
        <p:nvSpPr>
          <p:cNvPr id="109" name="Google Shape;109;p2:notes">
            <a:extLst>
              <a:ext uri="{FF2B5EF4-FFF2-40B4-BE49-F238E27FC236}">
                <a16:creationId xmlns="" xmlns:a16="http://schemas.microsoft.com/office/drawing/2014/main" id="{42BAEC36-3994-873E-0AAB-AF5C28AA005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 name="Google Shape;110;p2:notes">
            <a:extLst>
              <a:ext uri="{FF2B5EF4-FFF2-40B4-BE49-F238E27FC236}">
                <a16:creationId xmlns="" xmlns:a16="http://schemas.microsoft.com/office/drawing/2014/main" id="{D95DF228-03AD-81C5-6A89-8394AFB4ACB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818942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 xmlns:a16="http://schemas.microsoft.com/office/drawing/2014/main" id="{F064ACF3-E7C1-50D7-D5E1-6CFF24B99A6D}"/>
            </a:ext>
          </a:extLst>
        </p:cNvPr>
        <p:cNvGrpSpPr/>
        <p:nvPr/>
      </p:nvGrpSpPr>
      <p:grpSpPr>
        <a:xfrm>
          <a:off x="0" y="0"/>
          <a:ext cx="0" cy="0"/>
          <a:chOff x="0" y="0"/>
          <a:chExt cx="0" cy="0"/>
        </a:xfrm>
      </p:grpSpPr>
      <p:sp>
        <p:nvSpPr>
          <p:cNvPr id="109" name="Google Shape;109;p2:notes">
            <a:extLst>
              <a:ext uri="{FF2B5EF4-FFF2-40B4-BE49-F238E27FC236}">
                <a16:creationId xmlns="" xmlns:a16="http://schemas.microsoft.com/office/drawing/2014/main" id="{20FDB859-5BAC-E865-6692-EABAB5C2CCE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 name="Google Shape;110;p2:notes">
            <a:extLst>
              <a:ext uri="{FF2B5EF4-FFF2-40B4-BE49-F238E27FC236}">
                <a16:creationId xmlns="" xmlns:a16="http://schemas.microsoft.com/office/drawing/2014/main" id="{6D532CE5-2774-EDC9-BC87-92600ACE2C3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272823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 xmlns:a16="http://schemas.microsoft.com/office/drawing/2014/main" id="{737D8DF5-FADD-DC6B-4004-019C21EE1E7B}"/>
            </a:ext>
          </a:extLst>
        </p:cNvPr>
        <p:cNvGrpSpPr/>
        <p:nvPr/>
      </p:nvGrpSpPr>
      <p:grpSpPr>
        <a:xfrm>
          <a:off x="0" y="0"/>
          <a:ext cx="0" cy="0"/>
          <a:chOff x="0" y="0"/>
          <a:chExt cx="0" cy="0"/>
        </a:xfrm>
      </p:grpSpPr>
      <p:sp>
        <p:nvSpPr>
          <p:cNvPr id="109" name="Google Shape;109;p2:notes">
            <a:extLst>
              <a:ext uri="{FF2B5EF4-FFF2-40B4-BE49-F238E27FC236}">
                <a16:creationId xmlns="" xmlns:a16="http://schemas.microsoft.com/office/drawing/2014/main" id="{FE0902FA-AAB7-A55C-CEBE-DD8475C6A1C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 name="Google Shape;110;p2:notes">
            <a:extLst>
              <a:ext uri="{FF2B5EF4-FFF2-40B4-BE49-F238E27FC236}">
                <a16:creationId xmlns="" xmlns:a16="http://schemas.microsoft.com/office/drawing/2014/main" id="{626FD20D-2C4A-ECAF-632B-5AE6629E541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596853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 xmlns:a16="http://schemas.microsoft.com/office/drawing/2014/main" id="{78FBC222-19FE-3345-150A-933132204993}"/>
            </a:ext>
          </a:extLst>
        </p:cNvPr>
        <p:cNvGrpSpPr/>
        <p:nvPr/>
      </p:nvGrpSpPr>
      <p:grpSpPr>
        <a:xfrm>
          <a:off x="0" y="0"/>
          <a:ext cx="0" cy="0"/>
          <a:chOff x="0" y="0"/>
          <a:chExt cx="0" cy="0"/>
        </a:xfrm>
      </p:grpSpPr>
      <p:sp>
        <p:nvSpPr>
          <p:cNvPr id="109" name="Google Shape;109;p2:notes">
            <a:extLst>
              <a:ext uri="{FF2B5EF4-FFF2-40B4-BE49-F238E27FC236}">
                <a16:creationId xmlns="" xmlns:a16="http://schemas.microsoft.com/office/drawing/2014/main" id="{8E55C1F9-148E-33D7-DA0B-F4FA64D8D10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 name="Google Shape;110;p2:notes">
            <a:extLst>
              <a:ext uri="{FF2B5EF4-FFF2-40B4-BE49-F238E27FC236}">
                <a16:creationId xmlns="" xmlns:a16="http://schemas.microsoft.com/office/drawing/2014/main" id="{70CDFD47-9C43-D121-83E9-7369EE34935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292492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 xmlns:a16="http://schemas.microsoft.com/office/drawing/2014/main" id="{AEB65A26-1F78-7C74-E81B-0A9D8C742034}"/>
            </a:ext>
          </a:extLst>
        </p:cNvPr>
        <p:cNvGrpSpPr/>
        <p:nvPr/>
      </p:nvGrpSpPr>
      <p:grpSpPr>
        <a:xfrm>
          <a:off x="0" y="0"/>
          <a:ext cx="0" cy="0"/>
          <a:chOff x="0" y="0"/>
          <a:chExt cx="0" cy="0"/>
        </a:xfrm>
      </p:grpSpPr>
      <p:sp>
        <p:nvSpPr>
          <p:cNvPr id="109" name="Google Shape;109;p2:notes">
            <a:extLst>
              <a:ext uri="{FF2B5EF4-FFF2-40B4-BE49-F238E27FC236}">
                <a16:creationId xmlns="" xmlns:a16="http://schemas.microsoft.com/office/drawing/2014/main" id="{4DAD8980-D30F-3363-2FCF-AF6EF1A576C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 name="Google Shape;110;p2:notes">
            <a:extLst>
              <a:ext uri="{FF2B5EF4-FFF2-40B4-BE49-F238E27FC236}">
                <a16:creationId xmlns="" xmlns:a16="http://schemas.microsoft.com/office/drawing/2014/main" id="{30CACAF5-2329-36B3-FA94-39496081C8C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477860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Google Shape;109;p2:notes">
            <a:extLst>
              <a:ext uri="{FF2B5EF4-FFF2-40B4-BE49-F238E27FC236}">
                <a16:creationId xmlns="" xmlns:a16="http://schemas.microsoft.com/office/drawing/2014/main" id="{97968588-0C50-3800-9BAA-4DF263A908CC}"/>
              </a:ext>
            </a:extLst>
          </p:cNvPr>
          <p:cNvSpPr txBox="1">
            <a:spLocks noGrp="1"/>
          </p:cNvSpPr>
          <p:nvPr>
            <p:ph type="body" sz="quarter" idx="1"/>
          </p:nvPr>
        </p:nvSpPr>
        <p:spPr/>
        <p:txBody>
          <a:bodyPr/>
          <a:lstStyle/>
          <a:p>
            <a:endParaRPr lang="en-US"/>
          </a:p>
        </p:txBody>
      </p:sp>
      <p:sp>
        <p:nvSpPr>
          <p:cNvPr id="3" name="Google Shape;110;p2:notes">
            <a:extLst>
              <a:ext uri="{FF2B5EF4-FFF2-40B4-BE49-F238E27FC236}">
                <a16:creationId xmlns="" xmlns:a16="http://schemas.microsoft.com/office/drawing/2014/main" id="{2A1A2CAE-0C3A-5E19-DD6D-A05F7D2B7615}"/>
              </a:ext>
            </a:extLst>
          </p:cNvPr>
          <p:cNvSpPr>
            <a:spLocks noGrp="1" noRot="1" noChangeAspect="1"/>
          </p:cNvSpPr>
          <p:nvPr>
            <p:ph type="sldImg"/>
          </p:nvPr>
        </p:nvSpPr>
        <p:spPr/>
      </p:sp>
    </p:spTree>
    <p:extLst>
      <p:ext uri="{BB962C8B-B14F-4D97-AF65-F5344CB8AC3E}">
        <p14:creationId xmlns:p14="http://schemas.microsoft.com/office/powerpoint/2010/main" val="10385081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 name="Google Shape;11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374321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 name="Google Shape;11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374321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3"/>
        <p:cNvGrpSpPr/>
        <p:nvPr/>
      </p:nvGrpSpPr>
      <p:grpSpPr>
        <a:xfrm>
          <a:off x="0" y="0"/>
          <a:ext cx="0" cy="0"/>
          <a:chOff x="0" y="0"/>
          <a:chExt cx="0" cy="0"/>
        </a:xfrm>
      </p:grpSpPr>
      <p:sp>
        <p:nvSpPr>
          <p:cNvPr id="1764" name="Google Shape;1764;p162:notes"/>
          <p:cNvSpPr txBox="1">
            <a:spLocks noGrp="1"/>
          </p:cNvSpPr>
          <p:nvPr>
            <p:ph type="body" idx="1"/>
          </p:nvPr>
        </p:nvSpPr>
        <p:spPr>
          <a:xfrm>
            <a:off x="946150" y="4862513"/>
            <a:ext cx="5207000" cy="4605337"/>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765" name="Google Shape;1765;p162:notes"/>
          <p:cNvSpPr>
            <a:spLocks noGrp="1" noRot="1" noChangeAspect="1"/>
          </p:cNvSpPr>
          <p:nvPr>
            <p:ph type="sldImg" idx="2"/>
          </p:nvPr>
        </p:nvSpPr>
        <p:spPr>
          <a:xfrm>
            <a:off x="138113" y="766763"/>
            <a:ext cx="6823075" cy="38385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2224107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English Title Slide">
  <p:cSld name="English Title Slide">
    <p:spTree>
      <p:nvGrpSpPr>
        <p:cNvPr id="1" name="Shape 12"/>
        <p:cNvGrpSpPr/>
        <p:nvPr/>
      </p:nvGrpSpPr>
      <p:grpSpPr>
        <a:xfrm>
          <a:off x="0" y="0"/>
          <a:ext cx="0" cy="0"/>
          <a:chOff x="0" y="0"/>
          <a:chExt cx="0" cy="0"/>
        </a:xfrm>
      </p:grpSpPr>
      <p:pic>
        <p:nvPicPr>
          <p:cNvPr id="13" name="Google Shape;13;p164"/>
          <p:cNvPicPr preferRelativeResize="0"/>
          <p:nvPr/>
        </p:nvPicPr>
        <p:blipFill rotWithShape="1">
          <a:blip r:embed="rId2">
            <a:alphaModFix/>
          </a:blip>
          <a:srcRect/>
          <a:stretch/>
        </p:blipFill>
        <p:spPr>
          <a:xfrm>
            <a:off x="0" y="0"/>
            <a:ext cx="12192000" cy="6858000"/>
          </a:xfrm>
          <a:prstGeom prst="rect">
            <a:avLst/>
          </a:prstGeom>
          <a:noFill/>
          <a:ln>
            <a:noFill/>
          </a:ln>
        </p:spPr>
      </p:pic>
      <p:pic>
        <p:nvPicPr>
          <p:cNvPr id="14" name="Google Shape;14;p164" descr="A close up of a logo&#10;&#10;Description automatically generated"/>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5" name="Google Shape;15;p164" descr="A close up of a logo&#10;&#10;Description automatically generated"/>
          <p:cNvPicPr preferRelativeResize="0"/>
          <p:nvPr/>
        </p:nvPicPr>
        <p:blipFill rotWithShape="1">
          <a:blip r:embed="rId4">
            <a:alphaModFix/>
          </a:blip>
          <a:srcRect/>
          <a:stretch/>
        </p:blipFill>
        <p:spPr>
          <a:xfrm>
            <a:off x="0" y="0"/>
            <a:ext cx="12192000" cy="6858000"/>
          </a:xfrm>
          <a:prstGeom prst="rect">
            <a:avLst/>
          </a:prstGeom>
          <a:noFill/>
          <a:ln>
            <a:noFill/>
          </a:ln>
        </p:spPr>
      </p:pic>
      <p:sp>
        <p:nvSpPr>
          <p:cNvPr id="16" name="Google Shape;16;p164"/>
          <p:cNvSpPr txBox="1">
            <a:spLocks noGrp="1"/>
          </p:cNvSpPr>
          <p:nvPr>
            <p:ph type="ctrTitle"/>
          </p:nvPr>
        </p:nvSpPr>
        <p:spPr>
          <a:xfrm>
            <a:off x="1219200" y="2904335"/>
            <a:ext cx="9753600" cy="104933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3600" b="1" i="1">
                <a:solidFill>
                  <a:schemeClr val="dk1"/>
                </a:solidFill>
                <a:latin typeface="Calibri"/>
                <a:ea typeface="Calibri"/>
                <a:cs typeface="Calibri"/>
                <a:sym typeface="Calibri"/>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7" name="Google Shape;17;p164"/>
          <p:cNvSpPr txBox="1">
            <a:spLocks noGrp="1"/>
          </p:cNvSpPr>
          <p:nvPr>
            <p:ph type="body" idx="1"/>
          </p:nvPr>
        </p:nvSpPr>
        <p:spPr>
          <a:xfrm>
            <a:off x="6861626" y="5459446"/>
            <a:ext cx="4144433" cy="307389"/>
          </a:xfrm>
          <a:prstGeom prst="rect">
            <a:avLst/>
          </a:prstGeom>
          <a:noFill/>
          <a:ln>
            <a:noFill/>
          </a:ln>
        </p:spPr>
        <p:txBody>
          <a:bodyPr spcFirstLastPara="1" wrap="square" lIns="91425" tIns="45700" rIns="91425" bIns="45700" anchor="t" anchorCtr="0">
            <a:noAutofit/>
          </a:bodyPr>
          <a:lstStyle>
            <a:lvl1pPr marL="457200" lvl="0" indent="-228600" algn="ctr">
              <a:spcBef>
                <a:spcPts val="320"/>
              </a:spcBef>
              <a:spcAft>
                <a:spcPts val="0"/>
              </a:spcAft>
              <a:buSzPts val="1600"/>
              <a:buNone/>
              <a:defRPr sz="1600" u="sng">
                <a:solidFill>
                  <a:srgbClr val="0B5F9F"/>
                </a:solidFill>
              </a:defRPr>
            </a:lvl1pPr>
            <a:lvl2pPr marL="914400" lvl="1" indent="-342900" algn="l">
              <a:spcBef>
                <a:spcPts val="360"/>
              </a:spcBef>
              <a:spcAft>
                <a:spcPts val="0"/>
              </a:spcAft>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360"/>
              </a:spcBef>
              <a:spcAft>
                <a:spcPts val="0"/>
              </a:spcAft>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8" name="Google Shape;18;p164"/>
          <p:cNvSpPr txBox="1">
            <a:spLocks noGrp="1"/>
          </p:cNvSpPr>
          <p:nvPr>
            <p:ph type="body" idx="2"/>
          </p:nvPr>
        </p:nvSpPr>
        <p:spPr>
          <a:xfrm>
            <a:off x="6384181" y="5084361"/>
            <a:ext cx="5099321" cy="375085"/>
          </a:xfrm>
          <a:prstGeom prst="rect">
            <a:avLst/>
          </a:prstGeom>
          <a:noFill/>
          <a:ln>
            <a:noFill/>
          </a:ln>
        </p:spPr>
        <p:txBody>
          <a:bodyPr spcFirstLastPara="1" wrap="square" lIns="91425" tIns="45700" rIns="91425" bIns="45700" anchor="t" anchorCtr="0">
            <a:noAutofit/>
          </a:bodyPr>
          <a:lstStyle>
            <a:lvl1pPr marL="457200" lvl="0" indent="-228600" algn="ctr">
              <a:spcBef>
                <a:spcPts val="400"/>
              </a:spcBef>
              <a:spcAft>
                <a:spcPts val="0"/>
              </a:spcAft>
              <a:buSzPts val="2000"/>
              <a:buNone/>
              <a:defRPr i="1" u="none">
                <a:solidFill>
                  <a:srgbClr val="0B5F9F"/>
                </a:solidFill>
              </a:defRPr>
            </a:lvl1pPr>
            <a:lvl2pPr marL="914400" lvl="1" indent="-342900" algn="l">
              <a:spcBef>
                <a:spcPts val="360"/>
              </a:spcBef>
              <a:spcAft>
                <a:spcPts val="0"/>
              </a:spcAft>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360"/>
              </a:spcBef>
              <a:spcAft>
                <a:spcPts val="0"/>
              </a:spcAft>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pic>
        <p:nvPicPr>
          <p:cNvPr id="19" name="Google Shape;19;p164" descr="A close up of a sign&#10;&#10;Description automatically generated"/>
          <p:cNvPicPr preferRelativeResize="0"/>
          <p:nvPr/>
        </p:nvPicPr>
        <p:blipFill rotWithShape="1">
          <a:blip r:embed="rId5">
            <a:alphaModFix/>
          </a:blip>
          <a:srcRect/>
          <a:stretch/>
        </p:blipFill>
        <p:spPr>
          <a:xfrm>
            <a:off x="5318760" y="130343"/>
            <a:ext cx="1554480" cy="155448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English Slide" type="obj">
  <p:cSld name="OBJECT">
    <p:spTree>
      <p:nvGrpSpPr>
        <p:cNvPr id="1" name="Shape 20"/>
        <p:cNvGrpSpPr/>
        <p:nvPr/>
      </p:nvGrpSpPr>
      <p:grpSpPr>
        <a:xfrm>
          <a:off x="0" y="0"/>
          <a:ext cx="0" cy="0"/>
          <a:chOff x="0" y="0"/>
          <a:chExt cx="0" cy="0"/>
        </a:xfrm>
      </p:grpSpPr>
      <p:pic>
        <p:nvPicPr>
          <p:cNvPr id="21" name="Google Shape;21;p165" descr="A close up of a logo&#10;&#10;Description automatically generated"/>
          <p:cNvPicPr preferRelativeResize="0"/>
          <p:nvPr/>
        </p:nvPicPr>
        <p:blipFill rotWithShape="1">
          <a:blip r:embed="rId2">
            <a:alphaModFix/>
          </a:blip>
          <a:srcRect/>
          <a:stretch/>
        </p:blipFill>
        <p:spPr>
          <a:xfrm>
            <a:off x="0" y="0"/>
            <a:ext cx="12192000" cy="6858000"/>
          </a:xfrm>
          <a:prstGeom prst="rect">
            <a:avLst/>
          </a:prstGeom>
          <a:noFill/>
          <a:ln>
            <a:noFill/>
          </a:ln>
        </p:spPr>
      </p:pic>
      <p:pic>
        <p:nvPicPr>
          <p:cNvPr id="22" name="Google Shape;22;p165" descr="A close up of a logo&#10;&#10;Description automatically generated"/>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3" name="Google Shape;23;p165"/>
          <p:cNvSpPr txBox="1">
            <a:spLocks noGrp="1"/>
          </p:cNvSpPr>
          <p:nvPr>
            <p:ph type="title"/>
          </p:nvPr>
        </p:nvSpPr>
        <p:spPr>
          <a:xfrm>
            <a:off x="946151" y="578201"/>
            <a:ext cx="10299700" cy="730762"/>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3200">
                <a:solidFill>
                  <a:schemeClr val="dk1"/>
                </a:solidFill>
                <a:latin typeface="Times New Roman (Headings)"/>
                <a:cs typeface="Times New Roman" panose="02020603050405020304" pitchFamily="18" charset="0"/>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dirty="0"/>
          </a:p>
        </p:txBody>
      </p:sp>
      <p:sp>
        <p:nvSpPr>
          <p:cNvPr id="24" name="Google Shape;24;p165"/>
          <p:cNvSpPr txBox="1">
            <a:spLocks noGrp="1"/>
          </p:cNvSpPr>
          <p:nvPr>
            <p:ph type="body" idx="1"/>
          </p:nvPr>
        </p:nvSpPr>
        <p:spPr>
          <a:xfrm>
            <a:off x="914400" y="1510748"/>
            <a:ext cx="10363200" cy="4984947"/>
          </a:xfrm>
          <a:prstGeom prst="rect">
            <a:avLst/>
          </a:prstGeom>
          <a:noFill/>
          <a:ln>
            <a:noFill/>
          </a:ln>
        </p:spPr>
        <p:txBody>
          <a:bodyPr spcFirstLastPara="1" wrap="square" lIns="91425" tIns="45700" rIns="91425" bIns="45700" anchor="t" anchorCtr="0">
            <a:noAutofit/>
          </a:bodyPr>
          <a:lstStyle>
            <a:lvl1pPr marL="457200" lvl="0" indent="-355600" algn="l">
              <a:spcBef>
                <a:spcPts val="400"/>
              </a:spcBef>
              <a:spcAft>
                <a:spcPts val="0"/>
              </a:spcAft>
              <a:buSzPts val="2000"/>
              <a:buChar char="•"/>
              <a:defRPr sz="2000">
                <a:solidFill>
                  <a:srgbClr val="0B5F9F"/>
                </a:solidFill>
              </a:defRPr>
            </a:lvl1pPr>
            <a:lvl2pPr marL="914400" lvl="1" indent="-355600" algn="l">
              <a:spcBef>
                <a:spcPts val="400"/>
              </a:spcBef>
              <a:spcAft>
                <a:spcPts val="0"/>
              </a:spcAft>
              <a:buClr>
                <a:srgbClr val="5D5D5E"/>
              </a:buClr>
              <a:buSzPts val="2000"/>
              <a:buFont typeface="Courier New"/>
              <a:buChar char="o"/>
              <a:defRPr>
                <a:solidFill>
                  <a:srgbClr val="0B5F9F"/>
                </a:solidFill>
              </a:defRPr>
            </a:lvl2pPr>
            <a:lvl3pPr marL="1371600" lvl="2" indent="-330200" algn="l">
              <a:spcBef>
                <a:spcPts val="400"/>
              </a:spcBef>
              <a:spcAft>
                <a:spcPts val="0"/>
              </a:spcAft>
              <a:buClr>
                <a:srgbClr val="5D5D5E"/>
              </a:buClr>
              <a:buSzPts val="1600"/>
              <a:buFont typeface="Arial"/>
              <a:buChar char="•"/>
              <a:defRPr>
                <a:solidFill>
                  <a:srgbClr val="0B5F9F"/>
                </a:solidFill>
              </a:defRPr>
            </a:lvl3pPr>
            <a:lvl4pPr marL="1828800" lvl="3" indent="-342900" algn="l">
              <a:spcBef>
                <a:spcPts val="360"/>
              </a:spcBef>
              <a:spcAft>
                <a:spcPts val="0"/>
              </a:spcAft>
              <a:buClr>
                <a:srgbClr val="5D5D5E"/>
              </a:buClr>
              <a:buSzPts val="1800"/>
              <a:buFont typeface="Arial"/>
              <a:buChar char="•"/>
              <a:defRPr>
                <a:solidFill>
                  <a:srgbClr val="0B5F9F"/>
                </a:solidFill>
              </a:defRPr>
            </a:lvl4pPr>
            <a:lvl5pPr marL="2286000" lvl="4" indent="-342900" algn="l">
              <a:spcBef>
                <a:spcPts val="360"/>
              </a:spcBef>
              <a:spcAft>
                <a:spcPts val="0"/>
              </a:spcAft>
              <a:buClr>
                <a:srgbClr val="5D5D5E"/>
              </a:buClr>
              <a:buSzPts val="1800"/>
              <a:buFont typeface="Arial"/>
              <a:buChar char="•"/>
              <a:defRPr>
                <a:solidFill>
                  <a:srgbClr val="0B5F9F"/>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lang="en-US" dirty="0"/>
          </a:p>
        </p:txBody>
      </p:sp>
      <p:sp>
        <p:nvSpPr>
          <p:cNvPr id="25" name="Google Shape;25;p165"/>
          <p:cNvSpPr txBox="1"/>
          <p:nvPr/>
        </p:nvSpPr>
        <p:spPr>
          <a:xfrm>
            <a:off x="9331036" y="6414871"/>
            <a:ext cx="2743200"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800" b="0" i="0" u="none" strike="noStrike" cap="none">
                <a:solidFill>
                  <a:srgbClr val="5D5D5E"/>
                </a:solidFill>
                <a:latin typeface="Calibri"/>
                <a:ea typeface="Calibri"/>
                <a:cs typeface="Calibri"/>
                <a:sym typeface="Calibri"/>
              </a:rPr>
              <a:t>‹#›</a:t>
            </a:fld>
            <a:endParaRPr sz="1800" b="0" i="0" u="none" strike="noStrike" cap="none">
              <a:solidFill>
                <a:srgbClr val="5D5D5E"/>
              </a:solidFill>
              <a:latin typeface="Calibri"/>
              <a:ea typeface="Calibri"/>
              <a:cs typeface="Calibri"/>
              <a:sym typeface="Calibri"/>
            </a:endParaRPr>
          </a:p>
        </p:txBody>
      </p:sp>
      <p:pic>
        <p:nvPicPr>
          <p:cNvPr id="26" name="Google Shape;26;p165"/>
          <p:cNvPicPr preferRelativeResize="0"/>
          <p:nvPr/>
        </p:nvPicPr>
        <p:blipFill rotWithShape="1">
          <a:blip r:embed="rId4">
            <a:alphaModFix/>
          </a:blip>
          <a:srcRect/>
          <a:stretch/>
        </p:blipFill>
        <p:spPr>
          <a:xfrm>
            <a:off x="165347" y="92358"/>
            <a:ext cx="1049894" cy="1049894"/>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Arabic Slide 2 columns">
  <p:cSld name="Arabic Slide 2 columns">
    <p:spTree>
      <p:nvGrpSpPr>
        <p:cNvPr id="1" name="Shape 62"/>
        <p:cNvGrpSpPr/>
        <p:nvPr/>
      </p:nvGrpSpPr>
      <p:grpSpPr>
        <a:xfrm>
          <a:off x="0" y="0"/>
          <a:ext cx="0" cy="0"/>
          <a:chOff x="0" y="0"/>
          <a:chExt cx="0" cy="0"/>
        </a:xfrm>
      </p:grpSpPr>
      <p:pic>
        <p:nvPicPr>
          <p:cNvPr id="63" name="Google Shape;63;p172" descr="A close up of a logo&#10;&#10;Description automatically generated"/>
          <p:cNvPicPr preferRelativeResize="0"/>
          <p:nvPr/>
        </p:nvPicPr>
        <p:blipFill rotWithShape="1">
          <a:blip r:embed="rId2">
            <a:alphaModFix/>
          </a:blip>
          <a:srcRect/>
          <a:stretch/>
        </p:blipFill>
        <p:spPr>
          <a:xfrm>
            <a:off x="0" y="0"/>
            <a:ext cx="12192000" cy="6858000"/>
          </a:xfrm>
          <a:prstGeom prst="rect">
            <a:avLst/>
          </a:prstGeom>
          <a:noFill/>
          <a:ln>
            <a:noFill/>
          </a:ln>
        </p:spPr>
      </p:pic>
      <p:pic>
        <p:nvPicPr>
          <p:cNvPr id="64" name="Google Shape;64;p172" descr="A close up of a logo&#10;&#10;Description automatically generated"/>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65" name="Google Shape;65;p172"/>
          <p:cNvSpPr txBox="1">
            <a:spLocks noGrp="1"/>
          </p:cNvSpPr>
          <p:nvPr>
            <p:ph type="body" idx="1"/>
          </p:nvPr>
        </p:nvSpPr>
        <p:spPr>
          <a:xfrm>
            <a:off x="6198363" y="1508759"/>
            <a:ext cx="5047488" cy="4983480"/>
          </a:xfrm>
          <a:prstGeom prst="rect">
            <a:avLst/>
          </a:prstGeom>
          <a:noFill/>
          <a:ln>
            <a:noFill/>
          </a:ln>
        </p:spPr>
        <p:txBody>
          <a:bodyPr spcFirstLastPara="1" wrap="square" lIns="91425" tIns="45700" rIns="91425" bIns="45700" anchor="t" anchorCtr="0">
            <a:noAutofit/>
          </a:bodyPr>
          <a:lstStyle>
            <a:lvl1pPr marL="457200" lvl="0" indent="-355600" algn="r" rtl="1">
              <a:spcBef>
                <a:spcPts val="400"/>
              </a:spcBef>
              <a:spcAft>
                <a:spcPts val="0"/>
              </a:spcAft>
              <a:buClr>
                <a:srgbClr val="5D5D5E"/>
              </a:buClr>
              <a:buSzPts val="2000"/>
              <a:buFont typeface="Arial"/>
              <a:buChar char="•"/>
              <a:defRPr sz="2000">
                <a:solidFill>
                  <a:srgbClr val="0B5F9F"/>
                </a:solidFill>
                <a:latin typeface="Calibri"/>
                <a:ea typeface="Calibri"/>
                <a:cs typeface="Calibri"/>
                <a:sym typeface="Calibri"/>
              </a:defRPr>
            </a:lvl1pPr>
            <a:lvl2pPr marL="914400" lvl="1" indent="-355600" algn="r" rtl="1">
              <a:spcBef>
                <a:spcPts val="400"/>
              </a:spcBef>
              <a:spcAft>
                <a:spcPts val="0"/>
              </a:spcAft>
              <a:buClr>
                <a:srgbClr val="5D5D5E"/>
              </a:buClr>
              <a:buSzPts val="2000"/>
              <a:buFont typeface="Courier New"/>
              <a:buChar char="o"/>
              <a:defRPr>
                <a:solidFill>
                  <a:srgbClr val="0B5F9F"/>
                </a:solidFill>
                <a:latin typeface="Calibri"/>
                <a:ea typeface="Calibri"/>
                <a:cs typeface="Calibri"/>
                <a:sym typeface="Calibri"/>
              </a:defRPr>
            </a:lvl2pPr>
            <a:lvl3pPr marL="1371600" lvl="2" indent="-330200" algn="r" rtl="1">
              <a:spcBef>
                <a:spcPts val="400"/>
              </a:spcBef>
              <a:spcAft>
                <a:spcPts val="0"/>
              </a:spcAft>
              <a:buClr>
                <a:srgbClr val="5D5D5E"/>
              </a:buClr>
              <a:buSzPts val="1600"/>
              <a:buFont typeface="Arial"/>
              <a:buChar char="•"/>
              <a:defRPr>
                <a:solidFill>
                  <a:srgbClr val="0B5F9F"/>
                </a:solidFill>
                <a:latin typeface="Calibri"/>
                <a:ea typeface="Calibri"/>
                <a:cs typeface="Calibri"/>
                <a:sym typeface="Calibri"/>
              </a:defRPr>
            </a:lvl3pPr>
            <a:lvl4pPr marL="1828800" lvl="3" indent="-342900" algn="r" rtl="1">
              <a:spcBef>
                <a:spcPts val="360"/>
              </a:spcBef>
              <a:spcAft>
                <a:spcPts val="0"/>
              </a:spcAft>
              <a:buClr>
                <a:srgbClr val="5D5D5E"/>
              </a:buClr>
              <a:buSzPts val="1800"/>
              <a:buFont typeface="Arial"/>
              <a:buChar char="•"/>
              <a:defRPr>
                <a:solidFill>
                  <a:srgbClr val="0B5F9F"/>
                </a:solidFill>
                <a:latin typeface="Calibri"/>
                <a:ea typeface="Calibri"/>
                <a:cs typeface="Calibri"/>
                <a:sym typeface="Calibri"/>
              </a:defRPr>
            </a:lvl4pPr>
            <a:lvl5pPr marL="2286000" lvl="4" indent="-342900" algn="r" rtl="1">
              <a:spcBef>
                <a:spcPts val="360"/>
              </a:spcBef>
              <a:spcAft>
                <a:spcPts val="0"/>
              </a:spcAft>
              <a:buClr>
                <a:srgbClr val="5D5D5E"/>
              </a:buClr>
              <a:buSzPts val="1800"/>
              <a:buFont typeface="Arial"/>
              <a:buChar char="•"/>
              <a:defRPr>
                <a:solidFill>
                  <a:srgbClr val="0B5F9F"/>
                </a:solidFill>
                <a:latin typeface="Calibri"/>
                <a:ea typeface="Calibri"/>
                <a:cs typeface="Calibri"/>
                <a:sym typeface="Calibri"/>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66" name="Google Shape;66;p172"/>
          <p:cNvSpPr txBox="1">
            <a:spLocks noGrp="1"/>
          </p:cNvSpPr>
          <p:nvPr>
            <p:ph type="title"/>
          </p:nvPr>
        </p:nvSpPr>
        <p:spPr>
          <a:xfrm>
            <a:off x="946151" y="576072"/>
            <a:ext cx="10299700" cy="73076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i="0">
                <a:solidFill>
                  <a:schemeClr val="dk1"/>
                </a:solidFill>
                <a:latin typeface="Calibri"/>
                <a:ea typeface="Calibri"/>
                <a:cs typeface="Calibri"/>
                <a:sym typeface="Calibri"/>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dirty="0"/>
          </a:p>
        </p:txBody>
      </p:sp>
      <p:sp>
        <p:nvSpPr>
          <p:cNvPr id="67" name="Google Shape;67;p172"/>
          <p:cNvSpPr txBox="1"/>
          <p:nvPr/>
        </p:nvSpPr>
        <p:spPr>
          <a:xfrm>
            <a:off x="9331036" y="6414871"/>
            <a:ext cx="2743200"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800">
                <a:solidFill>
                  <a:srgbClr val="5D5D5E"/>
                </a:solidFill>
                <a:latin typeface="Calibri"/>
                <a:ea typeface="Calibri"/>
                <a:cs typeface="Calibri"/>
                <a:sym typeface="Calibri"/>
              </a:rPr>
              <a:t>‹#›</a:t>
            </a:fld>
            <a:endParaRPr sz="1800">
              <a:solidFill>
                <a:srgbClr val="5D5D5E"/>
              </a:solidFill>
              <a:latin typeface="Calibri"/>
              <a:ea typeface="Calibri"/>
              <a:cs typeface="Calibri"/>
              <a:sym typeface="Calibri"/>
            </a:endParaRPr>
          </a:p>
        </p:txBody>
      </p:sp>
      <p:pic>
        <p:nvPicPr>
          <p:cNvPr id="68" name="Google Shape;68;p172"/>
          <p:cNvPicPr preferRelativeResize="0"/>
          <p:nvPr/>
        </p:nvPicPr>
        <p:blipFill rotWithShape="1">
          <a:blip r:embed="rId4">
            <a:alphaModFix/>
          </a:blip>
          <a:srcRect/>
          <a:stretch/>
        </p:blipFill>
        <p:spPr>
          <a:xfrm>
            <a:off x="165347" y="92358"/>
            <a:ext cx="1049894" cy="1049894"/>
          </a:xfrm>
          <a:prstGeom prst="rect">
            <a:avLst/>
          </a:prstGeom>
          <a:noFill/>
          <a:ln>
            <a:noFill/>
          </a:ln>
        </p:spPr>
      </p:pic>
      <p:sp>
        <p:nvSpPr>
          <p:cNvPr id="69" name="Google Shape;69;p172"/>
          <p:cNvSpPr txBox="1">
            <a:spLocks noGrp="1"/>
          </p:cNvSpPr>
          <p:nvPr>
            <p:ph type="body" idx="2"/>
          </p:nvPr>
        </p:nvSpPr>
        <p:spPr>
          <a:xfrm>
            <a:off x="946150" y="1508386"/>
            <a:ext cx="5047488" cy="4983480"/>
          </a:xfrm>
          <a:prstGeom prst="rect">
            <a:avLst/>
          </a:prstGeom>
          <a:noFill/>
          <a:ln>
            <a:noFill/>
          </a:ln>
        </p:spPr>
        <p:txBody>
          <a:bodyPr spcFirstLastPara="1" wrap="square" lIns="91425" tIns="45700" rIns="91425" bIns="45700" anchor="t" anchorCtr="0">
            <a:noAutofit/>
          </a:bodyPr>
          <a:lstStyle>
            <a:lvl1pPr marL="457200" lvl="0" indent="-355600" algn="r" rtl="1">
              <a:spcBef>
                <a:spcPts val="400"/>
              </a:spcBef>
              <a:spcAft>
                <a:spcPts val="0"/>
              </a:spcAft>
              <a:buClr>
                <a:srgbClr val="5D5D5E"/>
              </a:buClr>
              <a:buSzPts val="2000"/>
              <a:buFont typeface="Arial"/>
              <a:buChar char="•"/>
              <a:defRPr sz="2000">
                <a:solidFill>
                  <a:srgbClr val="0B5F9F"/>
                </a:solidFill>
                <a:latin typeface="Calibri"/>
                <a:ea typeface="Calibri"/>
                <a:cs typeface="Calibri"/>
                <a:sym typeface="Calibri"/>
              </a:defRPr>
            </a:lvl1pPr>
            <a:lvl2pPr marL="914400" lvl="1" indent="-355600" algn="r" rtl="1">
              <a:spcBef>
                <a:spcPts val="400"/>
              </a:spcBef>
              <a:spcAft>
                <a:spcPts val="0"/>
              </a:spcAft>
              <a:buClr>
                <a:srgbClr val="5D5D5E"/>
              </a:buClr>
              <a:buSzPts val="2000"/>
              <a:buFont typeface="Courier New"/>
              <a:buChar char="o"/>
              <a:defRPr>
                <a:solidFill>
                  <a:srgbClr val="0B5F9F"/>
                </a:solidFill>
                <a:latin typeface="Calibri"/>
                <a:ea typeface="Calibri"/>
                <a:cs typeface="Calibri"/>
                <a:sym typeface="Calibri"/>
              </a:defRPr>
            </a:lvl2pPr>
            <a:lvl3pPr marL="1371600" lvl="2" indent="-330200" algn="r" rtl="1">
              <a:spcBef>
                <a:spcPts val="400"/>
              </a:spcBef>
              <a:spcAft>
                <a:spcPts val="0"/>
              </a:spcAft>
              <a:buClr>
                <a:srgbClr val="5D5D5E"/>
              </a:buClr>
              <a:buSzPts val="1600"/>
              <a:buFont typeface="Arial"/>
              <a:buChar char="•"/>
              <a:defRPr>
                <a:solidFill>
                  <a:srgbClr val="0B5F9F"/>
                </a:solidFill>
                <a:latin typeface="Calibri"/>
                <a:ea typeface="Calibri"/>
                <a:cs typeface="Calibri"/>
                <a:sym typeface="Calibri"/>
              </a:defRPr>
            </a:lvl3pPr>
            <a:lvl4pPr marL="1828800" lvl="3" indent="-342900" algn="r" rtl="1">
              <a:spcBef>
                <a:spcPts val="360"/>
              </a:spcBef>
              <a:spcAft>
                <a:spcPts val="0"/>
              </a:spcAft>
              <a:buClr>
                <a:srgbClr val="5D5D5E"/>
              </a:buClr>
              <a:buSzPts val="1800"/>
              <a:buFont typeface="Arial"/>
              <a:buChar char="•"/>
              <a:defRPr>
                <a:solidFill>
                  <a:srgbClr val="0B5F9F"/>
                </a:solidFill>
                <a:latin typeface="Calibri"/>
                <a:ea typeface="Calibri"/>
                <a:cs typeface="Calibri"/>
                <a:sym typeface="Calibri"/>
              </a:defRPr>
            </a:lvl4pPr>
            <a:lvl5pPr marL="2286000" lvl="4" indent="-342900" algn="r" rtl="1">
              <a:spcBef>
                <a:spcPts val="360"/>
              </a:spcBef>
              <a:spcAft>
                <a:spcPts val="0"/>
              </a:spcAft>
              <a:buClr>
                <a:srgbClr val="5D5D5E"/>
              </a:buClr>
              <a:buSzPts val="1800"/>
              <a:buFont typeface="Arial"/>
              <a:buChar char="•"/>
              <a:defRPr>
                <a:solidFill>
                  <a:srgbClr val="0B5F9F"/>
                </a:solidFill>
                <a:latin typeface="Calibri"/>
                <a:ea typeface="Calibri"/>
                <a:cs typeface="Calibri"/>
                <a:sym typeface="Calibri"/>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ubtitle and Content">
  <p:cSld name="Title Subtitle and Content">
    <p:spTree>
      <p:nvGrpSpPr>
        <p:cNvPr id="1" name="Shape 35"/>
        <p:cNvGrpSpPr/>
        <p:nvPr/>
      </p:nvGrpSpPr>
      <p:grpSpPr>
        <a:xfrm>
          <a:off x="0" y="0"/>
          <a:ext cx="0" cy="0"/>
          <a:chOff x="0" y="0"/>
          <a:chExt cx="0" cy="0"/>
        </a:xfrm>
      </p:grpSpPr>
      <p:sp>
        <p:nvSpPr>
          <p:cNvPr id="36" name="Google Shape;36;p8"/>
          <p:cNvSpPr txBox="1">
            <a:spLocks noGrp="1"/>
          </p:cNvSpPr>
          <p:nvPr>
            <p:ph type="title"/>
          </p:nvPr>
        </p:nvSpPr>
        <p:spPr>
          <a:xfrm>
            <a:off x="609600" y="-1"/>
            <a:ext cx="10972800" cy="100584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rgbClr val="15559F"/>
              </a:buClr>
              <a:buSzPts val="3600"/>
              <a:buFont typeface="Calibri"/>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 name="Google Shape;37;p8"/>
          <p:cNvSpPr txBox="1">
            <a:spLocks noGrp="1"/>
          </p:cNvSpPr>
          <p:nvPr>
            <p:ph type="body" idx="1"/>
          </p:nvPr>
        </p:nvSpPr>
        <p:spPr>
          <a:xfrm>
            <a:off x="609600" y="1484802"/>
            <a:ext cx="10972800" cy="4848225"/>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SzPts val="2400"/>
              <a:buChar char="•"/>
              <a:defRPr sz="2400"/>
            </a:lvl1pPr>
            <a:lvl2pPr marL="914400" lvl="1" indent="-342900" algn="l">
              <a:spcBef>
                <a:spcPts val="400"/>
              </a:spcBef>
              <a:spcAft>
                <a:spcPts val="0"/>
              </a:spcAft>
              <a:buSzPts val="1800"/>
              <a:buChar char="–"/>
              <a:defRPr sz="2000"/>
            </a:lvl2pPr>
            <a:lvl3pPr marL="1371600" lvl="2" indent="-342900" algn="l">
              <a:spcBef>
                <a:spcPts val="360"/>
              </a:spcBef>
              <a:spcAft>
                <a:spcPts val="0"/>
              </a:spcAft>
              <a:buSzPts val="1800"/>
              <a:buChar char="–"/>
              <a:defRPr sz="1800"/>
            </a:lvl3pPr>
            <a:lvl4pPr marL="1828800" lvl="3" indent="-330200" algn="l">
              <a:lnSpc>
                <a:spcPct val="100000"/>
              </a:lnSpc>
              <a:spcBef>
                <a:spcPts val="336"/>
              </a:spcBef>
              <a:spcAft>
                <a:spcPts val="0"/>
              </a:spcAft>
              <a:buSzPts val="1600"/>
              <a:buChar char="–"/>
              <a:defRPr sz="1600"/>
            </a:lvl4pPr>
            <a:lvl5pPr marL="2286000" lvl="4" indent="-330200" algn="l">
              <a:lnSpc>
                <a:spcPct val="100000"/>
              </a:lnSpc>
              <a:spcBef>
                <a:spcPts val="336"/>
              </a:spcBef>
              <a:spcAft>
                <a:spcPts val="0"/>
              </a:spcAft>
              <a:buSzPts val="1600"/>
              <a:buChar char="–"/>
              <a:defRPr sz="1600"/>
            </a:lvl5pPr>
            <a:lvl6pPr marL="2743200" lvl="5" indent="-355600" algn="l">
              <a:spcBef>
                <a:spcPts val="400"/>
              </a:spcBef>
              <a:spcAft>
                <a:spcPts val="0"/>
              </a:spcAft>
              <a:buClr>
                <a:schemeClr val="dk1"/>
              </a:buClr>
              <a:buSzPts val="20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8" name="Google Shape;38;p8"/>
          <p:cNvSpPr txBox="1">
            <a:spLocks noGrp="1"/>
          </p:cNvSpPr>
          <p:nvPr>
            <p:ph type="body" idx="2"/>
          </p:nvPr>
        </p:nvSpPr>
        <p:spPr>
          <a:xfrm>
            <a:off x="609600" y="1005839"/>
            <a:ext cx="10972800" cy="365760"/>
          </a:xfrm>
          <a:prstGeom prst="rect">
            <a:avLst/>
          </a:prstGeom>
          <a:noFill/>
          <a:ln>
            <a:noFill/>
          </a:ln>
        </p:spPr>
        <p:txBody>
          <a:bodyPr spcFirstLastPara="1" wrap="square" lIns="91425" tIns="45700" rIns="91425" bIns="45700" anchor="t" anchorCtr="0">
            <a:normAutofit/>
          </a:bodyPr>
          <a:lstStyle>
            <a:lvl1pPr marL="457200" lvl="0" indent="-228600" algn="l">
              <a:spcBef>
                <a:spcPts val="480"/>
              </a:spcBef>
              <a:spcAft>
                <a:spcPts val="0"/>
              </a:spcAft>
              <a:buSzPts val="2400"/>
              <a:buNone/>
              <a:defRPr sz="2400" i="1">
                <a:solidFill>
                  <a:srgbClr val="15559F"/>
                </a:solidFill>
              </a:defRPr>
            </a:lvl1pPr>
            <a:lvl2pPr marL="914400" lvl="1" indent="-331469" algn="l">
              <a:spcBef>
                <a:spcPts val="360"/>
              </a:spcBef>
              <a:spcAft>
                <a:spcPts val="0"/>
              </a:spcAft>
              <a:buSzPts val="1620"/>
              <a:buChar char="–"/>
              <a:defRPr/>
            </a:lvl2pPr>
            <a:lvl3pPr marL="1371600" lvl="2" indent="-342900" algn="l">
              <a:spcBef>
                <a:spcPts val="360"/>
              </a:spcBef>
              <a:spcAft>
                <a:spcPts val="0"/>
              </a:spcAft>
              <a:buSzPts val="1800"/>
              <a:buChar char="–"/>
              <a:defRPr/>
            </a:lvl3pPr>
            <a:lvl4pPr marL="1828800" lvl="3" indent="-342900" algn="l">
              <a:lnSpc>
                <a:spcPct val="100000"/>
              </a:lnSpc>
              <a:spcBef>
                <a:spcPts val="336"/>
              </a:spcBef>
              <a:spcAft>
                <a:spcPts val="0"/>
              </a:spcAft>
              <a:buSzPts val="1800"/>
              <a:buChar char="–"/>
              <a:defRPr/>
            </a:lvl4pPr>
            <a:lvl5pPr marL="2286000" lvl="4" indent="-342900" algn="l">
              <a:lnSpc>
                <a:spcPct val="100000"/>
              </a:lnSpc>
              <a:spcBef>
                <a:spcPts val="336"/>
              </a:spcBef>
              <a:spcAft>
                <a:spcPts val="0"/>
              </a:spcAft>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19813117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cSld name="1_Title Sub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766247172"/>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63"/>
          <p:cNvSpPr txBox="1">
            <a:spLocks noGrp="1"/>
          </p:cNvSpPr>
          <p:nvPr>
            <p:ph type="title"/>
          </p:nvPr>
        </p:nvSpPr>
        <p:spPr>
          <a:xfrm>
            <a:off x="946151" y="943501"/>
            <a:ext cx="10299700" cy="776287"/>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2800" b="1" i="1" u="none" strike="noStrike" cap="none">
                <a:solidFill>
                  <a:srgbClr val="5D5D5E"/>
                </a:solidFill>
                <a:latin typeface="Calibri"/>
                <a:ea typeface="Calibri"/>
                <a:cs typeface="Calibri"/>
                <a:sym typeface="Calibri"/>
              </a:defRPr>
            </a:lvl1pPr>
            <a:lvl2pPr marR="0" lvl="1" algn="ctr" rtl="0">
              <a:spcBef>
                <a:spcPts val="0"/>
              </a:spcBef>
              <a:spcAft>
                <a:spcPts val="0"/>
              </a:spcAft>
              <a:buSzPts val="1400"/>
              <a:buNone/>
              <a:defRPr sz="2800" b="1" i="1" u="none" strike="noStrike" cap="none">
                <a:solidFill>
                  <a:schemeClr val="dk2"/>
                </a:solidFill>
                <a:latin typeface="Times New Roman"/>
                <a:ea typeface="Times New Roman"/>
                <a:cs typeface="Times New Roman"/>
                <a:sym typeface="Times New Roman"/>
              </a:defRPr>
            </a:lvl2pPr>
            <a:lvl3pPr marR="0" lvl="2" algn="ctr" rtl="0">
              <a:spcBef>
                <a:spcPts val="0"/>
              </a:spcBef>
              <a:spcAft>
                <a:spcPts val="0"/>
              </a:spcAft>
              <a:buSzPts val="1400"/>
              <a:buNone/>
              <a:defRPr sz="2800" b="1" i="1" u="none" strike="noStrike" cap="none">
                <a:solidFill>
                  <a:schemeClr val="dk2"/>
                </a:solidFill>
                <a:latin typeface="Times New Roman"/>
                <a:ea typeface="Times New Roman"/>
                <a:cs typeface="Times New Roman"/>
                <a:sym typeface="Times New Roman"/>
              </a:defRPr>
            </a:lvl3pPr>
            <a:lvl4pPr marR="0" lvl="3" algn="ctr" rtl="0">
              <a:spcBef>
                <a:spcPts val="0"/>
              </a:spcBef>
              <a:spcAft>
                <a:spcPts val="0"/>
              </a:spcAft>
              <a:buSzPts val="1400"/>
              <a:buNone/>
              <a:defRPr sz="2800" b="1" i="1" u="none" strike="noStrike" cap="none">
                <a:solidFill>
                  <a:schemeClr val="dk2"/>
                </a:solidFill>
                <a:latin typeface="Times New Roman"/>
                <a:ea typeface="Times New Roman"/>
                <a:cs typeface="Times New Roman"/>
                <a:sym typeface="Times New Roman"/>
              </a:defRPr>
            </a:lvl4pPr>
            <a:lvl5pPr marR="0" lvl="4" algn="ctr" rtl="0">
              <a:spcBef>
                <a:spcPts val="0"/>
              </a:spcBef>
              <a:spcAft>
                <a:spcPts val="0"/>
              </a:spcAft>
              <a:buSzPts val="1400"/>
              <a:buNone/>
              <a:defRPr sz="2800" b="1" i="1" u="none" strike="noStrike" cap="none">
                <a:solidFill>
                  <a:schemeClr val="dk2"/>
                </a:solidFill>
                <a:latin typeface="Times New Roman"/>
                <a:ea typeface="Times New Roman"/>
                <a:cs typeface="Times New Roman"/>
                <a:sym typeface="Times New Roman"/>
              </a:defRPr>
            </a:lvl5pPr>
            <a:lvl6pPr marR="0" lvl="5" algn="ctr" rtl="0">
              <a:spcBef>
                <a:spcPts val="0"/>
              </a:spcBef>
              <a:spcAft>
                <a:spcPts val="0"/>
              </a:spcAft>
              <a:buSzPts val="1400"/>
              <a:buNone/>
              <a:defRPr sz="2800" b="1" i="1" u="none" strike="noStrike" cap="none">
                <a:solidFill>
                  <a:schemeClr val="dk2"/>
                </a:solidFill>
                <a:latin typeface="Times New Roman"/>
                <a:ea typeface="Times New Roman"/>
                <a:cs typeface="Times New Roman"/>
                <a:sym typeface="Times New Roman"/>
              </a:defRPr>
            </a:lvl6pPr>
            <a:lvl7pPr marR="0" lvl="6" algn="ctr" rtl="0">
              <a:spcBef>
                <a:spcPts val="0"/>
              </a:spcBef>
              <a:spcAft>
                <a:spcPts val="0"/>
              </a:spcAft>
              <a:buSzPts val="1400"/>
              <a:buNone/>
              <a:defRPr sz="2800" b="1" i="1" u="none" strike="noStrike" cap="none">
                <a:solidFill>
                  <a:schemeClr val="dk2"/>
                </a:solidFill>
                <a:latin typeface="Times New Roman"/>
                <a:ea typeface="Times New Roman"/>
                <a:cs typeface="Times New Roman"/>
                <a:sym typeface="Times New Roman"/>
              </a:defRPr>
            </a:lvl7pPr>
            <a:lvl8pPr marR="0" lvl="7" algn="ctr" rtl="0">
              <a:spcBef>
                <a:spcPts val="0"/>
              </a:spcBef>
              <a:spcAft>
                <a:spcPts val="0"/>
              </a:spcAft>
              <a:buSzPts val="1400"/>
              <a:buNone/>
              <a:defRPr sz="2800" b="1" i="1" u="none" strike="noStrike" cap="none">
                <a:solidFill>
                  <a:schemeClr val="dk2"/>
                </a:solidFill>
                <a:latin typeface="Times New Roman"/>
                <a:ea typeface="Times New Roman"/>
                <a:cs typeface="Times New Roman"/>
                <a:sym typeface="Times New Roman"/>
              </a:defRPr>
            </a:lvl8pPr>
            <a:lvl9pPr marR="0" lvl="8" algn="ctr" rtl="0">
              <a:spcBef>
                <a:spcPts val="0"/>
              </a:spcBef>
              <a:spcAft>
                <a:spcPts val="0"/>
              </a:spcAft>
              <a:buSzPts val="1400"/>
              <a:buNone/>
              <a:defRPr sz="2800" b="1" i="1" u="none" strike="noStrike" cap="none">
                <a:solidFill>
                  <a:schemeClr val="dk2"/>
                </a:solidFill>
                <a:latin typeface="Times New Roman"/>
                <a:ea typeface="Times New Roman"/>
                <a:cs typeface="Times New Roman"/>
                <a:sym typeface="Times New Roman"/>
              </a:defRPr>
            </a:lvl9pPr>
          </a:lstStyle>
          <a:p>
            <a:endParaRPr/>
          </a:p>
        </p:txBody>
      </p:sp>
      <p:sp>
        <p:nvSpPr>
          <p:cNvPr id="11" name="Google Shape;11;p163"/>
          <p:cNvSpPr txBox="1">
            <a:spLocks noGrp="1"/>
          </p:cNvSpPr>
          <p:nvPr>
            <p:ph type="body" idx="1"/>
          </p:nvPr>
        </p:nvSpPr>
        <p:spPr>
          <a:xfrm>
            <a:off x="914400" y="1855286"/>
            <a:ext cx="10363200" cy="4640409"/>
          </a:xfrm>
          <a:prstGeom prst="rect">
            <a:avLst/>
          </a:prstGeom>
          <a:noFill/>
          <a:ln>
            <a:noFill/>
          </a:ln>
        </p:spPr>
        <p:txBody>
          <a:bodyPr spcFirstLastPara="1" wrap="square" lIns="91425" tIns="45700" rIns="91425" bIns="45700" anchor="t" anchorCtr="0">
            <a:noAutofit/>
          </a:bodyPr>
          <a:lstStyle>
            <a:lvl1pPr marL="457200" marR="0" lvl="0" indent="-355600" algn="l" rtl="0">
              <a:spcBef>
                <a:spcPts val="400"/>
              </a:spcBef>
              <a:spcAft>
                <a:spcPts val="0"/>
              </a:spcAft>
              <a:buClr>
                <a:srgbClr val="5D5D5E"/>
              </a:buClr>
              <a:buSzPts val="2000"/>
              <a:buFont typeface="Arial"/>
              <a:buChar char="•"/>
              <a:defRPr sz="2000" b="1" i="0" u="none" strike="noStrike" cap="none">
                <a:solidFill>
                  <a:srgbClr val="0B5F9F"/>
                </a:solidFill>
                <a:latin typeface="Calibri"/>
                <a:ea typeface="Calibri"/>
                <a:cs typeface="Calibri"/>
                <a:sym typeface="Calibri"/>
              </a:defRPr>
            </a:lvl1pPr>
            <a:lvl2pPr marL="914400" marR="0" lvl="1" indent="-355600" algn="l" rtl="0">
              <a:spcBef>
                <a:spcPts val="400"/>
              </a:spcBef>
              <a:spcAft>
                <a:spcPts val="0"/>
              </a:spcAft>
              <a:buClr>
                <a:srgbClr val="5D5D5E"/>
              </a:buClr>
              <a:buSzPts val="2000"/>
              <a:buFont typeface="Arial"/>
              <a:buChar char="•"/>
              <a:defRPr sz="2000" b="1" i="0" u="none" strike="noStrike" cap="none">
                <a:solidFill>
                  <a:srgbClr val="0B5F9F"/>
                </a:solidFill>
                <a:latin typeface="Calibri"/>
                <a:ea typeface="Calibri"/>
                <a:cs typeface="Calibri"/>
                <a:sym typeface="Calibri"/>
              </a:defRPr>
            </a:lvl2pPr>
            <a:lvl3pPr marL="1371600" marR="0" lvl="2" indent="-355600" algn="l" rtl="0">
              <a:spcBef>
                <a:spcPts val="400"/>
              </a:spcBef>
              <a:spcAft>
                <a:spcPts val="0"/>
              </a:spcAft>
              <a:buClr>
                <a:srgbClr val="5D5D5E"/>
              </a:buClr>
              <a:buSzPts val="2000"/>
              <a:buFont typeface="Arial"/>
              <a:buChar char="•"/>
              <a:defRPr sz="2000" b="1" i="0" u="none" strike="noStrike" cap="none">
                <a:solidFill>
                  <a:srgbClr val="0B5F9F"/>
                </a:solidFill>
                <a:latin typeface="Calibri"/>
                <a:ea typeface="Calibri"/>
                <a:cs typeface="Calibri"/>
                <a:sym typeface="Calibri"/>
              </a:defRPr>
            </a:lvl3pPr>
            <a:lvl4pPr marL="1828800" marR="0" lvl="3" indent="-342900" algn="l" rtl="0">
              <a:spcBef>
                <a:spcPts val="360"/>
              </a:spcBef>
              <a:spcAft>
                <a:spcPts val="0"/>
              </a:spcAft>
              <a:buClr>
                <a:srgbClr val="5D5D5E"/>
              </a:buClr>
              <a:buSzPts val="1800"/>
              <a:buFont typeface="Arial"/>
              <a:buChar char="•"/>
              <a:defRPr sz="1800" b="1" i="0" u="none" strike="noStrike" cap="none">
                <a:solidFill>
                  <a:srgbClr val="0B5F9F"/>
                </a:solidFill>
                <a:latin typeface="Calibri"/>
                <a:ea typeface="Calibri"/>
                <a:cs typeface="Calibri"/>
                <a:sym typeface="Calibri"/>
              </a:defRPr>
            </a:lvl4pPr>
            <a:lvl5pPr marL="2286000" marR="0" lvl="4" indent="-342900" algn="l" rtl="0">
              <a:spcBef>
                <a:spcPts val="360"/>
              </a:spcBef>
              <a:spcAft>
                <a:spcPts val="0"/>
              </a:spcAft>
              <a:buClr>
                <a:srgbClr val="5D5D5E"/>
              </a:buClr>
              <a:buSzPts val="1800"/>
              <a:buFont typeface="Arial"/>
              <a:buChar char="•"/>
              <a:defRPr sz="1800" b="1" i="0" u="none" strike="noStrike" cap="none">
                <a:solidFill>
                  <a:srgbClr val="0B5F9F"/>
                </a:solidFill>
                <a:latin typeface="Calibri"/>
                <a:ea typeface="Calibri"/>
                <a:cs typeface="Calibri"/>
                <a:sym typeface="Calibri"/>
              </a:defRPr>
            </a:lvl5pPr>
            <a:lvl6pPr marL="2743200" marR="0" lvl="5" indent="-342900" algn="l" rtl="0">
              <a:spcBef>
                <a:spcPts val="360"/>
              </a:spcBef>
              <a:spcAft>
                <a:spcPts val="0"/>
              </a:spcAft>
              <a:buClr>
                <a:schemeClr val="dk1"/>
              </a:buClr>
              <a:buSzPts val="1800"/>
              <a:buFont typeface="Garamond"/>
              <a:buChar char="»"/>
              <a:defRPr sz="1800" b="1" i="0" u="none" strike="noStrike" cap="none">
                <a:solidFill>
                  <a:schemeClr val="dk1"/>
                </a:solidFill>
                <a:latin typeface="Garamond"/>
                <a:ea typeface="Garamond"/>
                <a:cs typeface="Garamond"/>
                <a:sym typeface="Garamond"/>
              </a:defRPr>
            </a:lvl6pPr>
            <a:lvl7pPr marL="3200400" marR="0" lvl="6" indent="-342900" algn="l" rtl="0">
              <a:spcBef>
                <a:spcPts val="360"/>
              </a:spcBef>
              <a:spcAft>
                <a:spcPts val="0"/>
              </a:spcAft>
              <a:buClr>
                <a:schemeClr val="dk1"/>
              </a:buClr>
              <a:buSzPts val="1800"/>
              <a:buFont typeface="Garamond"/>
              <a:buChar char="»"/>
              <a:defRPr sz="1800" b="1" i="0" u="none" strike="noStrike" cap="none">
                <a:solidFill>
                  <a:schemeClr val="dk1"/>
                </a:solidFill>
                <a:latin typeface="Garamond"/>
                <a:ea typeface="Garamond"/>
                <a:cs typeface="Garamond"/>
                <a:sym typeface="Garamond"/>
              </a:defRPr>
            </a:lvl7pPr>
            <a:lvl8pPr marL="3657600" marR="0" lvl="7" indent="-342900" algn="l" rtl="0">
              <a:spcBef>
                <a:spcPts val="360"/>
              </a:spcBef>
              <a:spcAft>
                <a:spcPts val="0"/>
              </a:spcAft>
              <a:buClr>
                <a:schemeClr val="dk1"/>
              </a:buClr>
              <a:buSzPts val="1800"/>
              <a:buFont typeface="Garamond"/>
              <a:buChar char="»"/>
              <a:defRPr sz="1800" b="1" i="0" u="none" strike="noStrike" cap="none">
                <a:solidFill>
                  <a:schemeClr val="dk1"/>
                </a:solidFill>
                <a:latin typeface="Garamond"/>
                <a:ea typeface="Garamond"/>
                <a:cs typeface="Garamond"/>
                <a:sym typeface="Garamond"/>
              </a:defRPr>
            </a:lvl8pPr>
            <a:lvl9pPr marL="4114800" marR="0" lvl="8" indent="-342900" algn="l" rtl="0">
              <a:spcBef>
                <a:spcPts val="360"/>
              </a:spcBef>
              <a:spcAft>
                <a:spcPts val="0"/>
              </a:spcAft>
              <a:buClr>
                <a:schemeClr val="dk1"/>
              </a:buClr>
              <a:buSzPts val="1800"/>
              <a:buFont typeface="Garamond"/>
              <a:buChar char="»"/>
              <a:defRPr sz="1800" b="1" i="0" u="none" strike="noStrike" cap="none">
                <a:solidFill>
                  <a:schemeClr val="dk1"/>
                </a:solidFill>
                <a:latin typeface="Garamond"/>
                <a:ea typeface="Garamond"/>
                <a:cs typeface="Garamond"/>
                <a:sym typeface="Garamond"/>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7" r:id="rId3"/>
    <p:sldLayoutId id="2147483658" r:id="rId4"/>
    <p:sldLayoutId id="2147483659"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1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2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2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2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 Id="rId5" Type="http://schemas.openxmlformats.org/officeDocument/2006/relationships/image" Target="../media/image50.png"/><Relationship Id="rId4" Type="http://schemas.openxmlformats.org/officeDocument/2006/relationships/image" Target="../media/image49.png"/></Relationships>
</file>

<file path=ppt/slides/_rels/slide27.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64.png"/><Relationship Id="rId4" Type="http://schemas.openxmlformats.org/officeDocument/2006/relationships/image" Target="../media/image63.png"/></Relationships>
</file>

<file path=ppt/slides/_rels/slide39.xml.rels><?xml version="1.0" encoding="UTF-8" standalone="yes"?>
<Relationships xmlns="http://schemas.openxmlformats.org/package/2006/relationships"><Relationship Id="rId8" Type="http://schemas.openxmlformats.org/officeDocument/2006/relationships/customXml" Target="../ink/ink4.xml"/><Relationship Id="rId13" Type="http://schemas.openxmlformats.org/officeDocument/2006/relationships/image" Target="../media/image260.png"/><Relationship Id="rId3" Type="http://schemas.openxmlformats.org/officeDocument/2006/relationships/customXml" Target="../ink/ink1.xml"/><Relationship Id="rId7" Type="http://schemas.openxmlformats.org/officeDocument/2006/relationships/customXml" Target="../ink/ink3.xml"/><Relationship Id="rId12" Type="http://schemas.openxmlformats.org/officeDocument/2006/relationships/customXml" Target="../ink/ink7.xml"/><Relationship Id="rId2" Type="http://schemas.openxmlformats.org/officeDocument/2006/relationships/image" Target="../media/image65.png"/><Relationship Id="rId1" Type="http://schemas.openxmlformats.org/officeDocument/2006/relationships/slideLayout" Target="../slideLayouts/slideLayout2.xml"/><Relationship Id="rId6" Type="http://schemas.openxmlformats.org/officeDocument/2006/relationships/image" Target="../media/image240.png"/><Relationship Id="rId11" Type="http://schemas.openxmlformats.org/officeDocument/2006/relationships/image" Target="../media/image66.png"/><Relationship Id="rId5" Type="http://schemas.openxmlformats.org/officeDocument/2006/relationships/customXml" Target="../ink/ink2.xml"/><Relationship Id="rId10" Type="http://schemas.openxmlformats.org/officeDocument/2006/relationships/customXml" Target="../ink/ink6.xml"/><Relationship Id="rId4" Type="http://schemas.openxmlformats.org/officeDocument/2006/relationships/image" Target="../media/image230.png"/><Relationship Id="rId9" Type="http://schemas.openxmlformats.org/officeDocument/2006/relationships/customXml" Target="../ink/ink5.xml"/></Relationships>
</file>

<file path=ppt/slides/_rels/slide40.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2.xml"/><Relationship Id="rId5" Type="http://schemas.openxmlformats.org/officeDocument/2006/relationships/image" Target="../media/image70.png"/><Relationship Id="rId4" Type="http://schemas.openxmlformats.org/officeDocument/2006/relationships/image" Target="../media/image69.png"/></Relationships>
</file>

<file path=ppt/slides/_rels/slide41.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2.xml"/><Relationship Id="rId4" Type="http://schemas.openxmlformats.org/officeDocument/2006/relationships/image" Target="../media/image75.png"/></Relationships>
</file>

<file path=ppt/slides/_rels/slide43.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2.xml"/><Relationship Id="rId4" Type="http://schemas.openxmlformats.org/officeDocument/2006/relationships/image" Target="../media/image78.png"/></Relationships>
</file>

<file path=ppt/slides/_rels/slide44.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8" Type="http://schemas.openxmlformats.org/officeDocument/2006/relationships/image" Target="../media/image460.png"/><Relationship Id="rId3" Type="http://schemas.openxmlformats.org/officeDocument/2006/relationships/customXml" Target="../ink/ink8.xml"/><Relationship Id="rId7" Type="http://schemas.openxmlformats.org/officeDocument/2006/relationships/customXml" Target="../ink/ink10.xml"/><Relationship Id="rId2" Type="http://schemas.openxmlformats.org/officeDocument/2006/relationships/image" Target="../media/image83.png"/><Relationship Id="rId1" Type="http://schemas.openxmlformats.org/officeDocument/2006/relationships/slideLayout" Target="../slideLayouts/slideLayout2.xml"/><Relationship Id="rId6" Type="http://schemas.openxmlformats.org/officeDocument/2006/relationships/image" Target="../media/image450.png"/><Relationship Id="rId5" Type="http://schemas.openxmlformats.org/officeDocument/2006/relationships/customXml" Target="../ink/ink9.xml"/><Relationship Id="rId4" Type="http://schemas.openxmlformats.org/officeDocument/2006/relationships/image" Target="../media/image440.png"/><Relationship Id="rId9" Type="http://schemas.openxmlformats.org/officeDocument/2006/relationships/image" Target="../media/image84.png"/></Relationships>
</file>

<file path=ppt/slides/_rels/slide47.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slideLayout" Target="../slideLayouts/slideLayout2.xml"/><Relationship Id="rId4" Type="http://schemas.openxmlformats.org/officeDocument/2006/relationships/image" Target="../media/image87.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88.png"/><Relationship Id="rId1" Type="http://schemas.openxmlformats.org/officeDocument/2006/relationships/slideLayout" Target="../slideLayouts/slideLayout2.xml"/><Relationship Id="rId4" Type="http://schemas.openxmlformats.org/officeDocument/2006/relationships/image" Target="../media/image90.png"/></Relationships>
</file>

<file path=ppt/slides/_rels/slide51.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1.png"/><Relationship Id="rId1" Type="http://schemas.openxmlformats.org/officeDocument/2006/relationships/slideLayout" Target="../slideLayouts/slideLayout2.xml"/><Relationship Id="rId4" Type="http://schemas.openxmlformats.org/officeDocument/2006/relationships/image" Target="../media/image93.png"/></Relationships>
</file>

<file path=ppt/slides/_rels/slide52.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image" Target="../media/image102.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image" Target="../media/image105.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image" Target="../media/image111.png"/><Relationship Id="rId1" Type="http://schemas.openxmlformats.org/officeDocument/2006/relationships/slideLayout" Target="../slideLayouts/slideLayout2.xml"/><Relationship Id="rId4" Type="http://schemas.openxmlformats.org/officeDocument/2006/relationships/image" Target="../media/image113.png"/></Relationships>
</file>

<file path=ppt/slides/_rels/slide67.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image" Target="../media/image114.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image" Target="../media/image116.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image" Target="../media/image118.png"/><Relationship Id="rId1" Type="http://schemas.openxmlformats.org/officeDocument/2006/relationships/slideLayout" Target="../slideLayouts/slideLayout2.xml"/><Relationship Id="rId4" Type="http://schemas.openxmlformats.org/officeDocument/2006/relationships/image" Target="../media/image231.png"/></Relationships>
</file>

<file path=ppt/slides/_rels/slide71.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image" Target="../media/image120.png"/><Relationship Id="rId1" Type="http://schemas.openxmlformats.org/officeDocument/2006/relationships/slideLayout" Target="../slideLayouts/slideLayout2.xml"/><Relationship Id="rId4" Type="http://schemas.openxmlformats.org/officeDocument/2006/relationships/image" Target="../media/image122.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1"/>
          <p:cNvSpPr txBox="1">
            <a:spLocks noGrp="1"/>
          </p:cNvSpPr>
          <p:nvPr>
            <p:ph type="ctrTitle"/>
          </p:nvPr>
        </p:nvSpPr>
        <p:spPr>
          <a:xfrm>
            <a:off x="1219200" y="2708392"/>
            <a:ext cx="9753600" cy="1441222"/>
          </a:xfrm>
          <a:prstGeom prst="rect">
            <a:avLst/>
          </a:prstGeom>
          <a:noFill/>
          <a:ln>
            <a:noFill/>
          </a:ln>
        </p:spPr>
        <p:txBody>
          <a:bodyPr spcFirstLastPara="1" wrap="square" lIns="91425" tIns="45700" rIns="91425" bIns="45700" anchor="ctr" anchorCtr="0">
            <a:noAutofit/>
          </a:bodyPr>
          <a:lstStyle/>
          <a:p>
            <a:r>
              <a:rPr lang="en-US" sz="4000"/>
              <a:t>BLE Digital Transmitter </a:t>
            </a:r>
            <a:endParaRPr lang="en-US" sz="4000" dirty="0">
              <a:latin typeface="Times New Roman" panose="02020603050405020304" pitchFamily="18" charset="0"/>
              <a:cs typeface="Times New Roman" panose="02020603050405020304" pitchFamily="18" charset="0"/>
            </a:endParaRPr>
          </a:p>
        </p:txBody>
      </p:sp>
      <p:sp>
        <p:nvSpPr>
          <p:cNvPr id="76" name="Google Shape;76;p1"/>
          <p:cNvSpPr txBox="1"/>
          <p:nvPr/>
        </p:nvSpPr>
        <p:spPr>
          <a:xfrm>
            <a:off x="1042264" y="4042306"/>
            <a:ext cx="2058680" cy="5847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i="1" u="none" strike="noStrike" cap="none" dirty="0">
                <a:solidFill>
                  <a:srgbClr val="2668AE"/>
                </a:solidFill>
                <a:latin typeface="Times New Roman"/>
                <a:ea typeface="Times New Roman"/>
                <a:cs typeface="Times New Roman"/>
                <a:sym typeface="Times New Roman"/>
              </a:rPr>
              <a:t>Sponsored</a:t>
            </a:r>
            <a:r>
              <a:rPr lang="en-US" sz="3200" b="1" i="1" u="none" strike="noStrike" cap="none" dirty="0">
                <a:solidFill>
                  <a:srgbClr val="3676B3"/>
                </a:solidFill>
                <a:latin typeface="Times New Roman"/>
                <a:ea typeface="Times New Roman"/>
                <a:cs typeface="Times New Roman"/>
                <a:sym typeface="Times New Roman"/>
              </a:rPr>
              <a:t> </a:t>
            </a:r>
            <a:r>
              <a:rPr lang="en-US" sz="2400" b="1" i="1" u="none" strike="noStrike" cap="none" dirty="0">
                <a:solidFill>
                  <a:srgbClr val="2668AE"/>
                </a:solidFill>
                <a:latin typeface="Times New Roman"/>
                <a:ea typeface="Times New Roman"/>
                <a:cs typeface="Times New Roman"/>
                <a:sym typeface="Times New Roman"/>
              </a:rPr>
              <a:t>by</a:t>
            </a:r>
            <a:endParaRPr dirty="0"/>
          </a:p>
        </p:txBody>
      </p:sp>
      <p:sp>
        <p:nvSpPr>
          <p:cNvPr id="77" name="Google Shape;77;p1"/>
          <p:cNvSpPr txBox="1"/>
          <p:nvPr/>
        </p:nvSpPr>
        <p:spPr>
          <a:xfrm>
            <a:off x="8107416" y="4247659"/>
            <a:ext cx="3679789" cy="461665"/>
          </a:xfrm>
          <a:prstGeom prst="rect">
            <a:avLst/>
          </a:prstGeom>
          <a:noFill/>
          <a:ln>
            <a:noFill/>
          </a:ln>
        </p:spPr>
        <p:txBody>
          <a:bodyPr spcFirstLastPara="1" wrap="square" lIns="91425" tIns="45700" rIns="91425" bIns="45700" anchor="t" anchorCtr="0">
            <a:spAutoFit/>
          </a:bodyPr>
          <a:lstStyle/>
          <a:p>
            <a:pPr algn="ctr"/>
            <a:r>
              <a:rPr lang="en-US" sz="2400" b="1" i="1" dirty="0">
                <a:solidFill>
                  <a:srgbClr val="2668AE"/>
                </a:solidFill>
                <a:latin typeface="Times New Roman"/>
                <a:cs typeface="Times New Roman"/>
                <a:sym typeface="Times New Roman"/>
              </a:rPr>
              <a:t>Supervisors</a:t>
            </a:r>
            <a:endParaRPr sz="2400" b="1" i="1" dirty="0">
              <a:solidFill>
                <a:srgbClr val="2668AE"/>
              </a:solidFill>
              <a:latin typeface="Times New Roman"/>
              <a:cs typeface="Times New Roman"/>
            </a:endParaRPr>
          </a:p>
        </p:txBody>
      </p:sp>
      <p:sp>
        <p:nvSpPr>
          <p:cNvPr id="78" name="Google Shape;78;p1"/>
          <p:cNvSpPr txBox="1"/>
          <p:nvPr/>
        </p:nvSpPr>
        <p:spPr>
          <a:xfrm>
            <a:off x="8502904" y="4709324"/>
            <a:ext cx="3191256" cy="40006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0" i="1" u="none" strike="noStrike" cap="none" dirty="0">
                <a:solidFill>
                  <a:srgbClr val="2668AE"/>
                </a:solidFill>
                <a:latin typeface="Times New Roman"/>
                <a:ea typeface="Times New Roman"/>
                <a:cs typeface="Times New Roman"/>
                <a:sym typeface="Times New Roman"/>
              </a:rPr>
              <a:t>Prof. Hani Fikry </a:t>
            </a:r>
            <a:r>
              <a:rPr lang="en-US" sz="2000" b="0" i="1" u="none" strike="noStrike" cap="none" dirty="0" err="1">
                <a:solidFill>
                  <a:srgbClr val="2668AE"/>
                </a:solidFill>
                <a:latin typeface="Times New Roman"/>
                <a:ea typeface="Times New Roman"/>
                <a:cs typeface="Times New Roman"/>
                <a:sym typeface="Times New Roman"/>
              </a:rPr>
              <a:t>Ragaai</a:t>
            </a:r>
            <a:endParaRPr dirty="0"/>
          </a:p>
        </p:txBody>
      </p:sp>
      <p:pic>
        <p:nvPicPr>
          <p:cNvPr id="3" name="Picture 2">
            <a:extLst>
              <a:ext uri="{FF2B5EF4-FFF2-40B4-BE49-F238E27FC236}">
                <a16:creationId xmlns="" xmlns:a16="http://schemas.microsoft.com/office/drawing/2014/main" id="{DFF83D0D-3394-1794-AE18-7566C405978A}"/>
              </a:ext>
            </a:extLst>
          </p:cNvPr>
          <p:cNvPicPr>
            <a:picLocks noChangeAspect="1"/>
          </p:cNvPicPr>
          <p:nvPr/>
        </p:nvPicPr>
        <p:blipFill>
          <a:blip r:embed="rId3"/>
          <a:stretch>
            <a:fillRect/>
          </a:stretch>
        </p:blipFill>
        <p:spPr>
          <a:xfrm>
            <a:off x="1052049" y="4709324"/>
            <a:ext cx="2048895" cy="639200"/>
          </a:xfrm>
          <a:prstGeom prst="rect">
            <a:avLst/>
          </a:prstGeom>
        </p:spPr>
      </p:pic>
      <p:sp>
        <p:nvSpPr>
          <p:cNvPr id="6" name="Google Shape;77;p1">
            <a:extLst>
              <a:ext uri="{FF2B5EF4-FFF2-40B4-BE49-F238E27FC236}">
                <a16:creationId xmlns="" xmlns:a16="http://schemas.microsoft.com/office/drawing/2014/main" id="{69B5FD2D-4B4E-B3B0-F313-50EB67BFDDBA}"/>
              </a:ext>
            </a:extLst>
          </p:cNvPr>
          <p:cNvSpPr txBox="1"/>
          <p:nvPr/>
        </p:nvSpPr>
        <p:spPr>
          <a:xfrm>
            <a:off x="4256104" y="4147007"/>
            <a:ext cx="3679789" cy="461665"/>
          </a:xfrm>
          <a:prstGeom prst="rect">
            <a:avLst/>
          </a:prstGeom>
          <a:noFill/>
          <a:ln>
            <a:noFill/>
          </a:ln>
        </p:spPr>
        <p:txBody>
          <a:bodyPr spcFirstLastPara="1" wrap="square" lIns="91425" tIns="45700" rIns="91425" bIns="45700" anchor="t" anchorCtr="0">
            <a:spAutoFit/>
          </a:bodyPr>
          <a:lstStyle/>
          <a:p>
            <a:pPr algn="ctr"/>
            <a:r>
              <a:rPr lang="en-US" sz="2400" b="1" i="1" dirty="0">
                <a:solidFill>
                  <a:srgbClr val="2668AE"/>
                </a:solidFill>
                <a:latin typeface="Times New Roman"/>
                <a:cs typeface="Times New Roman"/>
                <a:sym typeface="Times New Roman"/>
              </a:rPr>
              <a:t>Mentors </a:t>
            </a:r>
            <a:endParaRPr sz="2400" b="1" i="1" dirty="0">
              <a:solidFill>
                <a:srgbClr val="2668AE"/>
              </a:solidFill>
              <a:latin typeface="Times New Roman"/>
              <a:cs typeface="Times New Roman"/>
            </a:endParaRPr>
          </a:p>
        </p:txBody>
      </p:sp>
      <p:sp>
        <p:nvSpPr>
          <p:cNvPr id="7" name="Google Shape;77;p1">
            <a:extLst>
              <a:ext uri="{FF2B5EF4-FFF2-40B4-BE49-F238E27FC236}">
                <a16:creationId xmlns="" xmlns:a16="http://schemas.microsoft.com/office/drawing/2014/main" id="{CA6790E5-7E61-F816-5779-6F9B54C60D9E}"/>
              </a:ext>
            </a:extLst>
          </p:cNvPr>
          <p:cNvSpPr txBox="1"/>
          <p:nvPr/>
        </p:nvSpPr>
        <p:spPr>
          <a:xfrm>
            <a:off x="4238914" y="4580481"/>
            <a:ext cx="3679789" cy="400069"/>
          </a:xfrm>
          <a:prstGeom prst="rect">
            <a:avLst/>
          </a:prstGeom>
          <a:noFill/>
          <a:ln>
            <a:noFill/>
          </a:ln>
        </p:spPr>
        <p:txBody>
          <a:bodyPr spcFirstLastPara="1" wrap="square" lIns="91425" tIns="45700" rIns="91425" bIns="45700" anchor="t" anchorCtr="0">
            <a:spAutoFit/>
          </a:bodyPr>
          <a:lstStyle/>
          <a:p>
            <a:pPr algn="ctr"/>
            <a:r>
              <a:rPr lang="en-US" sz="2000" i="1" dirty="0">
                <a:solidFill>
                  <a:srgbClr val="2668AE"/>
                </a:solidFill>
                <a:latin typeface="Times New Roman"/>
                <a:cs typeface="Times New Roman"/>
              </a:rPr>
              <a:t>Eng. Ahmed Hany</a:t>
            </a:r>
            <a:endParaRPr sz="2000" i="1" dirty="0">
              <a:solidFill>
                <a:srgbClr val="2668AE"/>
              </a:solidFill>
              <a:latin typeface="Times New Roman"/>
              <a:cs typeface="Times New Roman"/>
            </a:endParaRPr>
          </a:p>
        </p:txBody>
      </p:sp>
      <p:sp>
        <p:nvSpPr>
          <p:cNvPr id="8" name="Google Shape;77;p1">
            <a:extLst>
              <a:ext uri="{FF2B5EF4-FFF2-40B4-BE49-F238E27FC236}">
                <a16:creationId xmlns="" xmlns:a16="http://schemas.microsoft.com/office/drawing/2014/main" id="{1795FFA4-BF32-388D-A8D9-09DC4BC8F815}"/>
              </a:ext>
            </a:extLst>
          </p:cNvPr>
          <p:cNvSpPr txBox="1"/>
          <p:nvPr/>
        </p:nvSpPr>
        <p:spPr>
          <a:xfrm>
            <a:off x="4230705" y="4950639"/>
            <a:ext cx="3679789" cy="400069"/>
          </a:xfrm>
          <a:prstGeom prst="rect">
            <a:avLst/>
          </a:prstGeom>
          <a:noFill/>
          <a:ln>
            <a:noFill/>
          </a:ln>
        </p:spPr>
        <p:txBody>
          <a:bodyPr spcFirstLastPara="1" wrap="square" lIns="91425" tIns="45700" rIns="91425" bIns="45700" anchor="t" anchorCtr="0">
            <a:spAutoFit/>
          </a:bodyPr>
          <a:lstStyle/>
          <a:p>
            <a:pPr algn="ctr"/>
            <a:r>
              <a:rPr lang="en-US" sz="2000" i="1" dirty="0">
                <a:solidFill>
                  <a:srgbClr val="2668AE"/>
                </a:solidFill>
                <a:latin typeface="Times New Roman"/>
                <a:cs typeface="Times New Roman"/>
              </a:rPr>
              <a:t>Eng. Moaz Khaled</a:t>
            </a:r>
            <a:endParaRPr sz="2000" i="1" dirty="0">
              <a:solidFill>
                <a:srgbClr val="2668AE"/>
              </a:solidFill>
              <a:latin typeface="Times New Roman"/>
              <a:cs typeface="Times New Roman"/>
            </a:endParaRPr>
          </a:p>
        </p:txBody>
      </p:sp>
      <p:sp>
        <p:nvSpPr>
          <p:cNvPr id="9" name="Google Shape;77;p1">
            <a:extLst>
              <a:ext uri="{FF2B5EF4-FFF2-40B4-BE49-F238E27FC236}">
                <a16:creationId xmlns="" xmlns:a16="http://schemas.microsoft.com/office/drawing/2014/main" id="{E44960AC-DB99-5AAD-FCE3-24D17CA143F7}"/>
              </a:ext>
            </a:extLst>
          </p:cNvPr>
          <p:cNvSpPr txBox="1"/>
          <p:nvPr/>
        </p:nvSpPr>
        <p:spPr>
          <a:xfrm>
            <a:off x="4222496" y="5292606"/>
            <a:ext cx="3679789" cy="400069"/>
          </a:xfrm>
          <a:prstGeom prst="rect">
            <a:avLst/>
          </a:prstGeom>
          <a:noFill/>
          <a:ln>
            <a:noFill/>
          </a:ln>
        </p:spPr>
        <p:txBody>
          <a:bodyPr spcFirstLastPara="1" wrap="square" lIns="91425" tIns="45700" rIns="91425" bIns="45700" anchor="t" anchorCtr="0">
            <a:spAutoFit/>
          </a:bodyPr>
          <a:lstStyle/>
          <a:p>
            <a:pPr algn="ctr"/>
            <a:r>
              <a:rPr lang="en-US" sz="2000" i="1" dirty="0">
                <a:solidFill>
                  <a:srgbClr val="2668AE"/>
                </a:solidFill>
                <a:latin typeface="Times New Roman"/>
                <a:cs typeface="Times New Roman"/>
              </a:rPr>
              <a:t>Eng. Abdelrahman</a:t>
            </a:r>
            <a:endParaRPr sz="2000" i="1" dirty="0">
              <a:solidFill>
                <a:srgbClr val="2668AE"/>
              </a:solidFill>
              <a:latin typeface="Times New Roman"/>
              <a:cs typeface="Times New Roman"/>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2"/>
          <p:cNvSpPr txBox="1">
            <a:spLocks noGrp="1"/>
          </p:cNvSpPr>
          <p:nvPr>
            <p:ph type="title"/>
          </p:nvPr>
        </p:nvSpPr>
        <p:spPr>
          <a:xfrm>
            <a:off x="924380" y="578201"/>
            <a:ext cx="10354128" cy="752533"/>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3600" dirty="0">
                <a:latin typeface="Calibri"/>
                <a:ea typeface="Calibri"/>
                <a:cs typeface="Calibri"/>
                <a:sym typeface="Calibri"/>
              </a:rPr>
              <a:t>Presented by </a:t>
            </a:r>
            <a:endParaRPr lang="en-US" sz="3600" b="0" dirty="0">
              <a:latin typeface="Calibri"/>
              <a:ea typeface="Calibri"/>
              <a:cs typeface="Calibri"/>
              <a:sym typeface="Calibri"/>
            </a:endParaRPr>
          </a:p>
        </p:txBody>
      </p:sp>
      <p:sp>
        <p:nvSpPr>
          <p:cNvPr id="84" name="Google Shape;84;p2"/>
          <p:cNvSpPr txBox="1">
            <a:spLocks noGrp="1"/>
          </p:cNvSpPr>
          <p:nvPr>
            <p:ph type="body" idx="1"/>
          </p:nvPr>
        </p:nvSpPr>
        <p:spPr>
          <a:xfrm>
            <a:off x="925285" y="1325691"/>
            <a:ext cx="10504715" cy="4984947"/>
          </a:xfrm>
          <a:prstGeom prst="rect">
            <a:avLst/>
          </a:prstGeom>
          <a:noFill/>
          <a:ln>
            <a:noFill/>
          </a:ln>
        </p:spPr>
        <p:txBody>
          <a:bodyPr spcFirstLastPara="1" wrap="square" lIns="91425" tIns="45700" rIns="91425" bIns="45700" anchor="t" anchorCtr="0">
            <a:noAutofit/>
          </a:bodyPr>
          <a:lstStyle/>
          <a:p>
            <a:pPr marL="342900" lvl="0" indent="-190500" algn="l" rtl="0">
              <a:spcBef>
                <a:spcPts val="0"/>
              </a:spcBef>
              <a:spcAft>
                <a:spcPts val="0"/>
              </a:spcAft>
              <a:buSzPts val="2400"/>
              <a:buFont typeface="Arial"/>
              <a:buNone/>
            </a:pPr>
            <a:endParaRPr lang="en-US" sz="2400" b="0" dirty="0">
              <a:solidFill>
                <a:srgbClr val="000000"/>
              </a:solidFill>
            </a:endParaRPr>
          </a:p>
          <a:p>
            <a:pPr marL="342900" lvl="0" indent="-190500" algn="l" rtl="0">
              <a:spcBef>
                <a:spcPts val="480"/>
              </a:spcBef>
              <a:spcAft>
                <a:spcPts val="0"/>
              </a:spcAft>
              <a:buSzPts val="2400"/>
              <a:buNone/>
            </a:pPr>
            <a:endParaRPr lang="en-US" sz="2400" dirty="0"/>
          </a:p>
        </p:txBody>
      </p:sp>
      <p:graphicFrame>
        <p:nvGraphicFramePr>
          <p:cNvPr id="85" name="Google Shape;85;p2"/>
          <p:cNvGraphicFramePr/>
          <p:nvPr>
            <p:extLst>
              <p:ext uri="{D42A27DB-BD31-4B8C-83A1-F6EECF244321}">
                <p14:modId xmlns:p14="http://schemas.microsoft.com/office/powerpoint/2010/main" val="3432585939"/>
              </p:ext>
            </p:extLst>
          </p:nvPr>
        </p:nvGraphicFramePr>
        <p:xfrm>
          <a:off x="811763" y="2311173"/>
          <a:ext cx="10552923" cy="2743250"/>
        </p:xfrm>
        <a:graphic>
          <a:graphicData uri="http://schemas.openxmlformats.org/drawingml/2006/table">
            <a:tbl>
              <a:tblPr firstRow="1" bandRow="1">
                <a:noFill/>
                <a:tableStyleId>{8DFF25F5-4B56-4CBB-A7B8-94C91A707BEC}</a:tableStyleId>
              </a:tblPr>
              <a:tblGrid>
                <a:gridCol w="6223921">
                  <a:extLst>
                    <a:ext uri="{9D8B030D-6E8A-4147-A177-3AD203B41FA5}">
                      <a16:colId xmlns="" xmlns:a16="http://schemas.microsoft.com/office/drawing/2014/main" val="20000"/>
                    </a:ext>
                  </a:extLst>
                </a:gridCol>
                <a:gridCol w="4329002">
                  <a:extLst>
                    <a:ext uri="{9D8B030D-6E8A-4147-A177-3AD203B41FA5}">
                      <a16:colId xmlns="" xmlns:a16="http://schemas.microsoft.com/office/drawing/2014/main" val="20001"/>
                    </a:ext>
                  </a:extLst>
                </a:gridCol>
              </a:tblGrid>
              <a:tr h="548650">
                <a:tc>
                  <a:txBody>
                    <a:bodyPr/>
                    <a:lstStyle/>
                    <a:p>
                      <a:pPr marL="0" marR="0" lvl="0" indent="0" algn="ctr" rtl="0">
                        <a:lnSpc>
                          <a:spcPct val="100000"/>
                        </a:lnSpc>
                        <a:spcBef>
                          <a:spcPts val="0"/>
                        </a:spcBef>
                        <a:spcAft>
                          <a:spcPts val="0"/>
                        </a:spcAft>
                        <a:buClr>
                          <a:schemeClr val="dk1"/>
                        </a:buClr>
                        <a:buSzPts val="2400"/>
                        <a:buFont typeface="Garamond"/>
                        <a:buNone/>
                      </a:pPr>
                      <a:r>
                        <a:rPr lang="en-US" sz="2400" b="1" u="none" strike="noStrike" cap="none" dirty="0">
                          <a:solidFill>
                            <a:schemeClr val="dk1"/>
                          </a:solidFill>
                        </a:rPr>
                        <a:t>Ahmed Alaa Mohamed </a:t>
                      </a:r>
                      <a:r>
                        <a:rPr lang="en-US" sz="2400" b="1" u="none" strike="noStrike" cap="none" dirty="0" err="1">
                          <a:solidFill>
                            <a:schemeClr val="dk1"/>
                          </a:solidFill>
                        </a:rPr>
                        <a:t>Elsodany</a:t>
                      </a:r>
                      <a:endParaRPr sz="2400" b="1" u="none" strike="noStrike" cap="none" dirty="0">
                        <a:solidFill>
                          <a:schemeClr val="dk1"/>
                        </a:solidFill>
                        <a:latin typeface="Calibri"/>
                        <a:ea typeface="Calibri"/>
                        <a:cs typeface="Calibri"/>
                        <a:sym typeface="Calibri"/>
                      </a:endParaRPr>
                    </a:p>
                  </a:txBody>
                  <a:tcPr marL="68575" marR="68575" marT="0" marB="0" anchor="ctr">
                    <a:lnL w="12700" cap="flat" cmpd="sng">
                      <a:solidFill>
                        <a:srgbClr val="2668AE"/>
                      </a:solidFill>
                      <a:prstDash val="solid"/>
                      <a:round/>
                      <a:headEnd type="none" w="sm" len="sm"/>
                      <a:tailEnd type="none" w="sm" len="sm"/>
                    </a:lnL>
                    <a:lnR w="12700" cap="flat" cmpd="sng">
                      <a:solidFill>
                        <a:srgbClr val="2668AE"/>
                      </a:solidFill>
                      <a:prstDash val="solid"/>
                      <a:round/>
                      <a:headEnd type="none" w="sm" len="sm"/>
                      <a:tailEnd type="none" w="sm" len="sm"/>
                    </a:lnR>
                    <a:lnT w="12700" cap="flat" cmpd="sng">
                      <a:solidFill>
                        <a:srgbClr val="2668AE"/>
                      </a:solidFill>
                      <a:prstDash val="solid"/>
                      <a:round/>
                      <a:headEnd type="none" w="sm" len="sm"/>
                      <a:tailEnd type="none" w="sm" len="sm"/>
                    </a:lnT>
                    <a:lnB w="12700" cap="flat" cmpd="sng">
                      <a:solidFill>
                        <a:srgbClr val="2668AE"/>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400" b="1" u="none" strike="noStrike" cap="none" dirty="0">
                          <a:solidFill>
                            <a:schemeClr val="dk1"/>
                          </a:solidFill>
                        </a:rPr>
                        <a:t>2101434</a:t>
                      </a:r>
                      <a:endParaRPr sz="2400" u="none" strike="noStrike" cap="none" dirty="0">
                        <a:solidFill>
                          <a:schemeClr val="dk1"/>
                        </a:solidFill>
                        <a:latin typeface="Calibri"/>
                        <a:ea typeface="Calibri"/>
                        <a:cs typeface="Calibri"/>
                        <a:sym typeface="Calibri"/>
                      </a:endParaRPr>
                    </a:p>
                  </a:txBody>
                  <a:tcPr marL="91450" marR="91450" marT="45725" marB="45725" anchor="ctr">
                    <a:lnL w="12700" cap="flat" cmpd="sng">
                      <a:solidFill>
                        <a:srgbClr val="2668AE"/>
                      </a:solidFill>
                      <a:prstDash val="solid"/>
                      <a:round/>
                      <a:headEnd type="none" w="sm" len="sm"/>
                      <a:tailEnd type="none" w="sm" len="sm"/>
                    </a:lnL>
                    <a:lnR w="12700" cap="flat" cmpd="sng">
                      <a:solidFill>
                        <a:srgbClr val="2668AE"/>
                      </a:solidFill>
                      <a:prstDash val="solid"/>
                      <a:round/>
                      <a:headEnd type="none" w="sm" len="sm"/>
                      <a:tailEnd type="none" w="sm" len="sm"/>
                    </a:lnR>
                    <a:lnT w="12700" cap="flat" cmpd="sng">
                      <a:solidFill>
                        <a:srgbClr val="2668AE"/>
                      </a:solidFill>
                      <a:prstDash val="solid"/>
                      <a:round/>
                      <a:headEnd type="none" w="sm" len="sm"/>
                      <a:tailEnd type="none" w="sm" len="sm"/>
                    </a:lnT>
                    <a:lnB w="12700" cap="flat" cmpd="sng">
                      <a:solidFill>
                        <a:srgbClr val="2668AE"/>
                      </a:solidFill>
                      <a:prstDash val="solid"/>
                      <a:round/>
                      <a:headEnd type="none" w="sm" len="sm"/>
                      <a:tailEnd type="none" w="sm" len="sm"/>
                    </a:lnB>
                  </a:tcPr>
                </a:tc>
                <a:extLst>
                  <a:ext uri="{0D108BD9-81ED-4DB2-BD59-A6C34878D82A}">
                    <a16:rowId xmlns="" xmlns:a16="http://schemas.microsoft.com/office/drawing/2014/main" val="10000"/>
                  </a:ext>
                </a:extLst>
              </a:tr>
              <a:tr h="548650">
                <a:tc>
                  <a:txBody>
                    <a:bodyPr/>
                    <a:lstStyle/>
                    <a:p>
                      <a:pPr marL="0" marR="0" lvl="0" indent="0" algn="ctr" rtl="0">
                        <a:lnSpc>
                          <a:spcPct val="100000"/>
                        </a:lnSpc>
                        <a:spcBef>
                          <a:spcPts val="0"/>
                        </a:spcBef>
                        <a:spcAft>
                          <a:spcPts val="0"/>
                        </a:spcAft>
                        <a:buClr>
                          <a:schemeClr val="dk1"/>
                        </a:buClr>
                        <a:buSzPts val="2400"/>
                        <a:buFont typeface="Garamond"/>
                        <a:buNone/>
                      </a:pPr>
                      <a:r>
                        <a:rPr lang="en-US" sz="2400" b="1" u="none" strike="noStrike" cap="none" dirty="0">
                          <a:solidFill>
                            <a:schemeClr val="dk1"/>
                          </a:solidFill>
                        </a:rPr>
                        <a:t>Sarah Hamed Mahmoud Al Sayed</a:t>
                      </a:r>
                      <a:endParaRPr sz="2400" b="1" u="none" strike="noStrike" cap="none" dirty="0">
                        <a:solidFill>
                          <a:schemeClr val="dk1"/>
                        </a:solidFill>
                        <a:latin typeface="Calibri"/>
                        <a:ea typeface="Calibri"/>
                        <a:cs typeface="Calibri"/>
                        <a:sym typeface="Calibri"/>
                      </a:endParaRPr>
                    </a:p>
                  </a:txBody>
                  <a:tcPr marL="68575" marR="68575" marT="0" marB="0" anchor="ctr">
                    <a:lnL w="12700" cap="flat" cmpd="sng">
                      <a:solidFill>
                        <a:srgbClr val="2668AE"/>
                      </a:solidFill>
                      <a:prstDash val="solid"/>
                      <a:round/>
                      <a:headEnd type="none" w="sm" len="sm"/>
                      <a:tailEnd type="none" w="sm" len="sm"/>
                    </a:lnL>
                    <a:lnR w="12700" cap="flat" cmpd="sng">
                      <a:solidFill>
                        <a:srgbClr val="2668AE"/>
                      </a:solidFill>
                      <a:prstDash val="solid"/>
                      <a:round/>
                      <a:headEnd type="none" w="sm" len="sm"/>
                      <a:tailEnd type="none" w="sm" len="sm"/>
                    </a:lnR>
                    <a:lnT w="12700" cap="flat" cmpd="sng">
                      <a:solidFill>
                        <a:srgbClr val="2668AE"/>
                      </a:solidFill>
                      <a:prstDash val="solid"/>
                      <a:round/>
                      <a:headEnd type="none" w="sm" len="sm"/>
                      <a:tailEnd type="none" w="sm" len="sm"/>
                    </a:lnT>
                    <a:lnB w="12700" cap="flat" cmpd="sng">
                      <a:solidFill>
                        <a:srgbClr val="2668AE"/>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400" b="1" u="none" strike="noStrike" cap="none" dirty="0">
                          <a:solidFill>
                            <a:schemeClr val="dk1"/>
                          </a:solidFill>
                        </a:rPr>
                        <a:t>2101518</a:t>
                      </a:r>
                      <a:endParaRPr sz="2400" u="none" strike="noStrike" cap="none" dirty="0">
                        <a:solidFill>
                          <a:schemeClr val="dk1"/>
                        </a:solidFill>
                        <a:latin typeface="Calibri"/>
                        <a:ea typeface="Calibri"/>
                        <a:cs typeface="Calibri"/>
                        <a:sym typeface="Calibri"/>
                      </a:endParaRPr>
                    </a:p>
                  </a:txBody>
                  <a:tcPr marL="91450" marR="91450" marT="45725" marB="45725" anchor="ctr">
                    <a:lnL w="12700" cap="flat" cmpd="sng">
                      <a:solidFill>
                        <a:srgbClr val="2668AE"/>
                      </a:solidFill>
                      <a:prstDash val="solid"/>
                      <a:round/>
                      <a:headEnd type="none" w="sm" len="sm"/>
                      <a:tailEnd type="none" w="sm" len="sm"/>
                    </a:lnL>
                    <a:lnR w="12700" cap="flat" cmpd="sng">
                      <a:solidFill>
                        <a:srgbClr val="2668AE"/>
                      </a:solidFill>
                      <a:prstDash val="solid"/>
                      <a:round/>
                      <a:headEnd type="none" w="sm" len="sm"/>
                      <a:tailEnd type="none" w="sm" len="sm"/>
                    </a:lnR>
                    <a:lnT w="12700" cap="flat" cmpd="sng">
                      <a:solidFill>
                        <a:srgbClr val="2668AE"/>
                      </a:solidFill>
                      <a:prstDash val="solid"/>
                      <a:round/>
                      <a:headEnd type="none" w="sm" len="sm"/>
                      <a:tailEnd type="none" w="sm" len="sm"/>
                    </a:lnT>
                    <a:lnB w="12700" cap="flat" cmpd="sng">
                      <a:solidFill>
                        <a:srgbClr val="2668AE"/>
                      </a:solidFill>
                      <a:prstDash val="solid"/>
                      <a:round/>
                      <a:headEnd type="none" w="sm" len="sm"/>
                      <a:tailEnd type="none" w="sm" len="sm"/>
                    </a:lnB>
                  </a:tcPr>
                </a:tc>
                <a:extLst>
                  <a:ext uri="{0D108BD9-81ED-4DB2-BD59-A6C34878D82A}">
                    <a16:rowId xmlns="" xmlns:a16="http://schemas.microsoft.com/office/drawing/2014/main" val="10001"/>
                  </a:ext>
                </a:extLst>
              </a:tr>
              <a:tr h="548650">
                <a:tc>
                  <a:txBody>
                    <a:bodyPr/>
                    <a:lstStyle/>
                    <a:p>
                      <a:pPr marL="0" marR="0" lvl="0" indent="0" algn="ctr" rtl="0">
                        <a:lnSpc>
                          <a:spcPct val="100000"/>
                        </a:lnSpc>
                        <a:spcBef>
                          <a:spcPts val="0"/>
                        </a:spcBef>
                        <a:spcAft>
                          <a:spcPts val="0"/>
                        </a:spcAft>
                        <a:buClr>
                          <a:schemeClr val="dk1"/>
                        </a:buClr>
                        <a:buSzPts val="2400"/>
                        <a:buFont typeface="Garamond"/>
                        <a:buNone/>
                      </a:pPr>
                      <a:r>
                        <a:rPr lang="en-US" sz="2400" b="1" u="none" strike="noStrike" cap="none" dirty="0">
                          <a:solidFill>
                            <a:schemeClr val="dk1"/>
                          </a:solidFill>
                        </a:rPr>
                        <a:t>Habiba Essam Eldin </a:t>
                      </a:r>
                      <a:r>
                        <a:rPr lang="en-US" sz="2400" b="1" u="none" strike="noStrike" cap="none" dirty="0" err="1">
                          <a:solidFill>
                            <a:schemeClr val="dk1"/>
                          </a:solidFill>
                        </a:rPr>
                        <a:t>Abdelhamid</a:t>
                      </a:r>
                      <a:r>
                        <a:rPr lang="en-US" sz="2400" b="1" u="none" strike="noStrike" cap="none" dirty="0">
                          <a:solidFill>
                            <a:schemeClr val="dk1"/>
                          </a:solidFill>
                        </a:rPr>
                        <a:t> </a:t>
                      </a:r>
                      <a:r>
                        <a:rPr lang="en-US" sz="2400" b="1" u="none" strike="noStrike" cap="none" dirty="0" err="1" smtClean="0">
                          <a:solidFill>
                            <a:schemeClr val="dk1"/>
                          </a:solidFill>
                        </a:rPr>
                        <a:t>Foad</a:t>
                      </a:r>
                      <a:endParaRPr lang="en-US" sz="2400" b="1" u="none" strike="noStrike" cap="none" dirty="0">
                        <a:solidFill>
                          <a:schemeClr val="dk1"/>
                        </a:solidFill>
                      </a:endParaRPr>
                    </a:p>
                  </a:txBody>
                  <a:tcPr marL="68575" marR="68575" marT="0" marB="0" anchor="ctr">
                    <a:lnL w="12700" cap="flat" cmpd="sng">
                      <a:solidFill>
                        <a:srgbClr val="2668AE"/>
                      </a:solidFill>
                      <a:prstDash val="solid"/>
                      <a:round/>
                      <a:headEnd type="none" w="sm" len="sm"/>
                      <a:tailEnd type="none" w="sm" len="sm"/>
                    </a:lnL>
                    <a:lnR w="12700" cap="flat" cmpd="sng">
                      <a:solidFill>
                        <a:srgbClr val="2668AE"/>
                      </a:solidFill>
                      <a:prstDash val="solid"/>
                      <a:round/>
                      <a:headEnd type="none" w="sm" len="sm"/>
                      <a:tailEnd type="none" w="sm" len="sm"/>
                    </a:lnR>
                    <a:lnT w="12700" cap="flat" cmpd="sng">
                      <a:solidFill>
                        <a:srgbClr val="2668AE"/>
                      </a:solidFill>
                      <a:prstDash val="solid"/>
                      <a:round/>
                      <a:headEnd type="none" w="sm" len="sm"/>
                      <a:tailEnd type="none" w="sm" len="sm"/>
                    </a:lnT>
                    <a:lnB w="12700" cap="flat" cmpd="sng">
                      <a:solidFill>
                        <a:srgbClr val="2668AE"/>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400" b="1" u="none" strike="noStrike" cap="none" dirty="0">
                          <a:solidFill>
                            <a:schemeClr val="dk1"/>
                          </a:solidFill>
                        </a:rPr>
                        <a:t>2100321</a:t>
                      </a:r>
                      <a:endParaRPr sz="2400" u="none" strike="noStrike" cap="none" dirty="0">
                        <a:solidFill>
                          <a:schemeClr val="dk1"/>
                        </a:solidFill>
                        <a:latin typeface="Calibri"/>
                        <a:ea typeface="Calibri"/>
                        <a:cs typeface="Calibri"/>
                        <a:sym typeface="Calibri"/>
                      </a:endParaRPr>
                    </a:p>
                  </a:txBody>
                  <a:tcPr marL="91450" marR="91450" marT="45725" marB="45725" anchor="ctr">
                    <a:lnL w="12700" cap="flat" cmpd="sng">
                      <a:solidFill>
                        <a:srgbClr val="2668AE"/>
                      </a:solidFill>
                      <a:prstDash val="solid"/>
                      <a:round/>
                      <a:headEnd type="none" w="sm" len="sm"/>
                      <a:tailEnd type="none" w="sm" len="sm"/>
                    </a:lnL>
                    <a:lnR w="12700" cap="flat" cmpd="sng">
                      <a:solidFill>
                        <a:srgbClr val="2668AE"/>
                      </a:solidFill>
                      <a:prstDash val="solid"/>
                      <a:round/>
                      <a:headEnd type="none" w="sm" len="sm"/>
                      <a:tailEnd type="none" w="sm" len="sm"/>
                    </a:lnR>
                    <a:lnT w="12700" cap="flat" cmpd="sng">
                      <a:solidFill>
                        <a:srgbClr val="2668AE"/>
                      </a:solidFill>
                      <a:prstDash val="solid"/>
                      <a:round/>
                      <a:headEnd type="none" w="sm" len="sm"/>
                      <a:tailEnd type="none" w="sm" len="sm"/>
                    </a:lnT>
                    <a:lnB w="12700" cap="flat" cmpd="sng">
                      <a:solidFill>
                        <a:srgbClr val="2668AE"/>
                      </a:solidFill>
                      <a:prstDash val="solid"/>
                      <a:round/>
                      <a:headEnd type="none" w="sm" len="sm"/>
                      <a:tailEnd type="none" w="sm" len="sm"/>
                    </a:lnB>
                  </a:tcPr>
                </a:tc>
                <a:extLst>
                  <a:ext uri="{0D108BD9-81ED-4DB2-BD59-A6C34878D82A}">
                    <a16:rowId xmlns="" xmlns:a16="http://schemas.microsoft.com/office/drawing/2014/main" val="10002"/>
                  </a:ext>
                </a:extLst>
              </a:tr>
              <a:tr h="548650">
                <a:tc>
                  <a:txBody>
                    <a:bodyPr/>
                    <a:lstStyle/>
                    <a:p>
                      <a:pPr marL="0" marR="0" lvl="0" indent="0" algn="ctr" rtl="0">
                        <a:lnSpc>
                          <a:spcPct val="100000"/>
                        </a:lnSpc>
                        <a:spcBef>
                          <a:spcPts val="0"/>
                        </a:spcBef>
                        <a:spcAft>
                          <a:spcPts val="0"/>
                        </a:spcAft>
                        <a:buClr>
                          <a:schemeClr val="dk1"/>
                        </a:buClr>
                        <a:buSzPts val="2400"/>
                        <a:buFont typeface="Garamond"/>
                        <a:buNone/>
                      </a:pPr>
                      <a:r>
                        <a:rPr lang="en-US" sz="2400" b="1" u="none" strike="noStrike" cap="none" dirty="0">
                          <a:solidFill>
                            <a:schemeClr val="dk1"/>
                          </a:solidFill>
                        </a:rPr>
                        <a:t>Hanin Ahmed Abdelfattah Ahmed</a:t>
                      </a:r>
                    </a:p>
                  </a:txBody>
                  <a:tcPr marL="68575" marR="68575" marT="0" marB="0" anchor="ctr">
                    <a:lnL w="12700" cap="flat" cmpd="sng">
                      <a:solidFill>
                        <a:srgbClr val="2668AE"/>
                      </a:solidFill>
                      <a:prstDash val="solid"/>
                      <a:round/>
                      <a:headEnd type="none" w="sm" len="sm"/>
                      <a:tailEnd type="none" w="sm" len="sm"/>
                    </a:lnL>
                    <a:lnR w="12700" cap="flat" cmpd="sng">
                      <a:solidFill>
                        <a:srgbClr val="2668AE"/>
                      </a:solidFill>
                      <a:prstDash val="solid"/>
                      <a:round/>
                      <a:headEnd type="none" w="sm" len="sm"/>
                      <a:tailEnd type="none" w="sm" len="sm"/>
                    </a:lnR>
                    <a:lnT w="12700" cap="flat" cmpd="sng">
                      <a:solidFill>
                        <a:srgbClr val="2668AE"/>
                      </a:solidFill>
                      <a:prstDash val="solid"/>
                      <a:round/>
                      <a:headEnd type="none" w="sm" len="sm"/>
                      <a:tailEnd type="none" w="sm" len="sm"/>
                    </a:lnT>
                    <a:lnB w="12700" cap="flat" cmpd="sng">
                      <a:solidFill>
                        <a:srgbClr val="2668AE"/>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400" b="1" u="none" strike="noStrike" cap="none" dirty="0">
                          <a:solidFill>
                            <a:schemeClr val="dk1"/>
                          </a:solidFill>
                        </a:rPr>
                        <a:t>2100661</a:t>
                      </a:r>
                      <a:endParaRPr sz="2400" u="none" strike="noStrike" cap="none" dirty="0">
                        <a:solidFill>
                          <a:schemeClr val="dk1"/>
                        </a:solidFill>
                        <a:latin typeface="Calibri"/>
                        <a:ea typeface="Calibri"/>
                        <a:cs typeface="Calibri"/>
                        <a:sym typeface="Calibri"/>
                      </a:endParaRPr>
                    </a:p>
                  </a:txBody>
                  <a:tcPr marL="91450" marR="91450" marT="45725" marB="45725" anchor="ctr">
                    <a:lnL w="12700" cap="flat" cmpd="sng">
                      <a:solidFill>
                        <a:srgbClr val="2668AE"/>
                      </a:solidFill>
                      <a:prstDash val="solid"/>
                      <a:round/>
                      <a:headEnd type="none" w="sm" len="sm"/>
                      <a:tailEnd type="none" w="sm" len="sm"/>
                    </a:lnL>
                    <a:lnR w="12700" cap="flat" cmpd="sng">
                      <a:solidFill>
                        <a:srgbClr val="2668AE"/>
                      </a:solidFill>
                      <a:prstDash val="solid"/>
                      <a:round/>
                      <a:headEnd type="none" w="sm" len="sm"/>
                      <a:tailEnd type="none" w="sm" len="sm"/>
                    </a:lnR>
                    <a:lnT w="12700" cap="flat" cmpd="sng">
                      <a:solidFill>
                        <a:srgbClr val="2668AE"/>
                      </a:solidFill>
                      <a:prstDash val="solid"/>
                      <a:round/>
                      <a:headEnd type="none" w="sm" len="sm"/>
                      <a:tailEnd type="none" w="sm" len="sm"/>
                    </a:lnT>
                    <a:lnB w="12700" cap="flat" cmpd="sng">
                      <a:solidFill>
                        <a:srgbClr val="2668AE"/>
                      </a:solidFill>
                      <a:prstDash val="solid"/>
                      <a:round/>
                      <a:headEnd type="none" w="sm" len="sm"/>
                      <a:tailEnd type="none" w="sm" len="sm"/>
                    </a:lnB>
                  </a:tcPr>
                </a:tc>
                <a:extLst>
                  <a:ext uri="{0D108BD9-81ED-4DB2-BD59-A6C34878D82A}">
                    <a16:rowId xmlns="" xmlns:a16="http://schemas.microsoft.com/office/drawing/2014/main" val="10003"/>
                  </a:ext>
                </a:extLst>
              </a:tr>
              <a:tr h="548650">
                <a:tc>
                  <a:txBody>
                    <a:bodyPr/>
                    <a:lstStyle/>
                    <a:p>
                      <a:pPr marL="0" marR="0" lvl="0" indent="0" algn="ctr" rtl="0">
                        <a:lnSpc>
                          <a:spcPct val="100000"/>
                        </a:lnSpc>
                        <a:spcBef>
                          <a:spcPts val="0"/>
                        </a:spcBef>
                        <a:spcAft>
                          <a:spcPts val="0"/>
                        </a:spcAft>
                        <a:buClr>
                          <a:schemeClr val="dk1"/>
                        </a:buClr>
                        <a:buSzPts val="2400"/>
                        <a:buFont typeface="Garamond"/>
                        <a:buNone/>
                      </a:pPr>
                      <a:r>
                        <a:rPr lang="en-US" sz="2400" b="1" u="none" strike="noStrike" cap="none" dirty="0">
                          <a:solidFill>
                            <a:schemeClr val="dk1"/>
                          </a:solidFill>
                        </a:rPr>
                        <a:t>Mina Ayad Younan </a:t>
                      </a:r>
                      <a:r>
                        <a:rPr lang="en-US" sz="2400" b="1" u="none" strike="noStrike" cap="none" dirty="0" err="1">
                          <a:solidFill>
                            <a:schemeClr val="dk1"/>
                          </a:solidFill>
                        </a:rPr>
                        <a:t>Bebawi</a:t>
                      </a:r>
                      <a:endParaRPr lang="en-US" sz="2400" b="1" u="none" strike="noStrike" cap="none" dirty="0">
                        <a:solidFill>
                          <a:schemeClr val="dk1"/>
                        </a:solidFill>
                        <a:latin typeface="Calibri"/>
                        <a:ea typeface="Calibri"/>
                        <a:cs typeface="Calibri"/>
                        <a:sym typeface="Calibri"/>
                      </a:endParaRPr>
                    </a:p>
                  </a:txBody>
                  <a:tcPr marL="68575" marR="68575" marT="0" marB="0" anchor="ctr">
                    <a:lnL w="12700" cap="flat" cmpd="sng">
                      <a:solidFill>
                        <a:srgbClr val="2668AE"/>
                      </a:solidFill>
                      <a:prstDash val="solid"/>
                      <a:round/>
                      <a:headEnd type="none" w="sm" len="sm"/>
                      <a:tailEnd type="none" w="sm" len="sm"/>
                    </a:lnL>
                    <a:lnR w="12700" cap="flat" cmpd="sng">
                      <a:solidFill>
                        <a:srgbClr val="2668AE"/>
                      </a:solidFill>
                      <a:prstDash val="solid"/>
                      <a:round/>
                      <a:headEnd type="none" w="sm" len="sm"/>
                      <a:tailEnd type="none" w="sm" len="sm"/>
                    </a:lnR>
                    <a:lnT w="12700" cap="flat" cmpd="sng">
                      <a:solidFill>
                        <a:srgbClr val="2668AE"/>
                      </a:solidFill>
                      <a:prstDash val="solid"/>
                      <a:round/>
                      <a:headEnd type="none" w="sm" len="sm"/>
                      <a:tailEnd type="none" w="sm" len="sm"/>
                    </a:lnT>
                    <a:lnB w="12700" cap="flat" cmpd="sng">
                      <a:solidFill>
                        <a:srgbClr val="2668AE"/>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400" b="1" u="none" strike="noStrike" cap="none" dirty="0">
                          <a:solidFill>
                            <a:schemeClr val="dk1"/>
                          </a:solidFill>
                        </a:rPr>
                        <a:t>2100546</a:t>
                      </a:r>
                      <a:endParaRPr sz="2400" u="none" strike="noStrike" cap="none" dirty="0">
                        <a:solidFill>
                          <a:schemeClr val="dk1"/>
                        </a:solidFill>
                        <a:latin typeface="Calibri"/>
                        <a:ea typeface="Calibri"/>
                        <a:cs typeface="Calibri"/>
                        <a:sym typeface="Calibri"/>
                      </a:endParaRPr>
                    </a:p>
                  </a:txBody>
                  <a:tcPr marL="91450" marR="91450" marT="45725" marB="45725" anchor="ctr">
                    <a:lnL w="12700" cap="flat" cmpd="sng">
                      <a:solidFill>
                        <a:srgbClr val="2668AE"/>
                      </a:solidFill>
                      <a:prstDash val="solid"/>
                      <a:round/>
                      <a:headEnd type="none" w="sm" len="sm"/>
                      <a:tailEnd type="none" w="sm" len="sm"/>
                    </a:lnL>
                    <a:lnR w="12700" cap="flat" cmpd="sng">
                      <a:solidFill>
                        <a:srgbClr val="2668AE"/>
                      </a:solidFill>
                      <a:prstDash val="solid"/>
                      <a:round/>
                      <a:headEnd type="none" w="sm" len="sm"/>
                      <a:tailEnd type="none" w="sm" len="sm"/>
                    </a:lnR>
                    <a:lnT w="12700" cap="flat" cmpd="sng">
                      <a:solidFill>
                        <a:srgbClr val="2668AE"/>
                      </a:solidFill>
                      <a:prstDash val="solid"/>
                      <a:round/>
                      <a:headEnd type="none" w="sm" len="sm"/>
                      <a:tailEnd type="none" w="sm" len="sm"/>
                    </a:lnT>
                    <a:lnB w="12700" cap="flat" cmpd="sng">
                      <a:solidFill>
                        <a:srgbClr val="2668AE"/>
                      </a:solidFill>
                      <a:prstDash val="solid"/>
                      <a:round/>
                      <a:headEnd type="none" w="sm" len="sm"/>
                      <a:tailEnd type="none" w="sm" len="sm"/>
                    </a:lnB>
                  </a:tcPr>
                </a:tc>
                <a:extLst>
                  <a:ext uri="{0D108BD9-81ED-4DB2-BD59-A6C34878D82A}">
                    <a16:rowId xmlns="" xmlns:a16="http://schemas.microsoft.com/office/drawing/2014/main" val="10004"/>
                  </a:ext>
                </a:extLst>
              </a:tr>
            </a:tbl>
          </a:graphicData>
        </a:graphic>
      </p:graphicFrame>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 xmlns:a16="http://schemas.microsoft.com/office/drawing/2014/main" id="{1122D3CD-997B-DE97-532D-98576C3461E9}"/>
            </a:ext>
          </a:extLst>
        </p:cNvPr>
        <p:cNvGrpSpPr/>
        <p:nvPr/>
      </p:nvGrpSpPr>
      <p:grpSpPr>
        <a:xfrm>
          <a:off x="0" y="0"/>
          <a:ext cx="0" cy="0"/>
          <a:chOff x="0" y="0"/>
          <a:chExt cx="0" cy="0"/>
        </a:xfrm>
      </p:grpSpPr>
      <p:sp>
        <p:nvSpPr>
          <p:cNvPr id="6" name="Title 5">
            <a:extLst>
              <a:ext uri="{FF2B5EF4-FFF2-40B4-BE49-F238E27FC236}">
                <a16:creationId xmlns="" xmlns:a16="http://schemas.microsoft.com/office/drawing/2014/main" id="{65849C1E-D308-1E08-1A99-ECF5AF775C13}"/>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Table of Content</a:t>
            </a:r>
          </a:p>
        </p:txBody>
      </p:sp>
      <p:sp>
        <p:nvSpPr>
          <p:cNvPr id="3" name="Text Placeholder 2">
            <a:extLst>
              <a:ext uri="{FF2B5EF4-FFF2-40B4-BE49-F238E27FC236}">
                <a16:creationId xmlns="" xmlns:a16="http://schemas.microsoft.com/office/drawing/2014/main" id="{AE4D654D-119A-57BB-F7BA-CD575B681F9D}"/>
              </a:ext>
            </a:extLst>
          </p:cNvPr>
          <p:cNvSpPr>
            <a:spLocks noGrp="1"/>
          </p:cNvSpPr>
          <p:nvPr>
            <p:ph type="body" idx="1"/>
          </p:nvPr>
        </p:nvSpPr>
        <p:spPr/>
        <p:txBody>
          <a:bodyPr/>
          <a:lstStyle/>
          <a:p>
            <a:pPr>
              <a:buFont typeface="Arial" panose="020B0604020202020204" pitchFamily="34" charset="0"/>
              <a:buChar char="•"/>
            </a:pPr>
            <a:r>
              <a:rPr lang="en-US" b="1" dirty="0"/>
              <a:t>Introduction</a:t>
            </a:r>
          </a:p>
          <a:p>
            <a:pPr lvl="1">
              <a:buFont typeface="Arial" panose="020B0604020202020204" pitchFamily="34" charset="0"/>
              <a:buChar char="•"/>
            </a:pPr>
            <a:r>
              <a:rPr lang="en-US" dirty="0"/>
              <a:t>What is BLE</a:t>
            </a:r>
          </a:p>
          <a:p>
            <a:pPr lvl="1">
              <a:buFont typeface="Arial" panose="020B0604020202020204" pitchFamily="34" charset="0"/>
              <a:buChar char="•"/>
            </a:pPr>
            <a:r>
              <a:rPr lang="en-US" dirty="0"/>
              <a:t>System Block Diagram</a:t>
            </a:r>
          </a:p>
          <a:p>
            <a:pPr>
              <a:buFont typeface="Arial" panose="020B0604020202020204" pitchFamily="34" charset="0"/>
              <a:buChar char="•"/>
            </a:pPr>
            <a:r>
              <a:rPr lang="en-US" b="1" dirty="0"/>
              <a:t>GFSK</a:t>
            </a:r>
          </a:p>
          <a:p>
            <a:pPr lvl="1">
              <a:buFont typeface="Arial" panose="020B0604020202020204" pitchFamily="34" charset="0"/>
              <a:buChar char="•"/>
            </a:pPr>
            <a:r>
              <a:rPr lang="en-US" dirty="0"/>
              <a:t>Traditional FSK</a:t>
            </a:r>
          </a:p>
          <a:p>
            <a:pPr lvl="1">
              <a:buFont typeface="Arial" panose="020B0604020202020204" pitchFamily="34" charset="0"/>
              <a:buChar char="•"/>
            </a:pPr>
            <a:r>
              <a:rPr lang="en-US" dirty="0"/>
              <a:t>GFSK Modulation</a:t>
            </a:r>
          </a:p>
          <a:p>
            <a:pPr lvl="1">
              <a:buFont typeface="Arial" panose="020B0604020202020204" pitchFamily="34" charset="0"/>
              <a:buChar char="•"/>
            </a:pPr>
            <a:r>
              <a:rPr lang="en-US" dirty="0"/>
              <a:t>GFSK Advantages/Trade-offs</a:t>
            </a:r>
          </a:p>
          <a:p>
            <a:pPr lvl="1">
              <a:buFont typeface="Arial" panose="020B0604020202020204" pitchFamily="34" charset="0"/>
              <a:buChar char="•"/>
            </a:pPr>
            <a:r>
              <a:rPr lang="en-US" dirty="0"/>
              <a:t>GFSK Modulation Index</a:t>
            </a:r>
          </a:p>
          <a:p>
            <a:pPr lvl="1">
              <a:buFont typeface="Arial" panose="020B0604020202020204" pitchFamily="34" charset="0"/>
              <a:buChar char="•"/>
            </a:pPr>
            <a:r>
              <a:rPr lang="en-US" dirty="0"/>
              <a:t>GFSK BT Product</a:t>
            </a:r>
            <a:br>
              <a:rPr lang="en-US" dirty="0"/>
            </a:br>
            <a:endParaRPr lang="en-US" dirty="0"/>
          </a:p>
        </p:txBody>
      </p:sp>
    </p:spTree>
    <p:extLst>
      <p:ext uri="{BB962C8B-B14F-4D97-AF65-F5344CB8AC3E}">
        <p14:creationId xmlns:p14="http://schemas.microsoft.com/office/powerpoint/2010/main" val="407916128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 xmlns:a16="http://schemas.microsoft.com/office/drawing/2014/main" id="{F779CF06-CA9C-16C4-965F-F46C66119527}"/>
            </a:ext>
          </a:extLst>
        </p:cNvPr>
        <p:cNvGrpSpPr/>
        <p:nvPr/>
      </p:nvGrpSpPr>
      <p:grpSpPr>
        <a:xfrm>
          <a:off x="0" y="0"/>
          <a:ext cx="0" cy="0"/>
          <a:chOff x="0" y="0"/>
          <a:chExt cx="0" cy="0"/>
        </a:xfrm>
      </p:grpSpPr>
      <p:sp>
        <p:nvSpPr>
          <p:cNvPr id="6" name="Title 5">
            <a:extLst>
              <a:ext uri="{FF2B5EF4-FFF2-40B4-BE49-F238E27FC236}">
                <a16:creationId xmlns="" xmlns:a16="http://schemas.microsoft.com/office/drawing/2014/main" id="{479A10D6-A06B-5D6B-0209-CB832B4A644B}"/>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Table of Content</a:t>
            </a:r>
          </a:p>
        </p:txBody>
      </p:sp>
      <p:sp>
        <p:nvSpPr>
          <p:cNvPr id="3" name="Text Placeholder 2">
            <a:extLst>
              <a:ext uri="{FF2B5EF4-FFF2-40B4-BE49-F238E27FC236}">
                <a16:creationId xmlns="" xmlns:a16="http://schemas.microsoft.com/office/drawing/2014/main" id="{CA5B7A85-87BA-AC1D-3BD0-237DF71A8B7F}"/>
              </a:ext>
            </a:extLst>
          </p:cNvPr>
          <p:cNvSpPr>
            <a:spLocks noGrp="1"/>
          </p:cNvSpPr>
          <p:nvPr>
            <p:ph type="body" idx="1"/>
          </p:nvPr>
        </p:nvSpPr>
        <p:spPr/>
        <p:txBody>
          <a:bodyPr/>
          <a:lstStyle/>
          <a:p>
            <a:pPr>
              <a:buFont typeface="Arial" panose="020B0604020202020204" pitchFamily="34" charset="0"/>
              <a:buChar char="•"/>
            </a:pPr>
            <a:r>
              <a:rPr lang="en-US"/>
              <a:t>Gaussian Filter </a:t>
            </a:r>
          </a:p>
          <a:p>
            <a:pPr lvl="1">
              <a:buFont typeface="Arial" panose="020B0604020202020204" pitchFamily="34" charset="0"/>
              <a:buChar char="•"/>
            </a:pPr>
            <a:r>
              <a:rPr lang="en-US"/>
              <a:t>Gaussian Filter as FIR Filter</a:t>
            </a:r>
          </a:p>
          <a:p>
            <a:pPr lvl="1">
              <a:buFont typeface="Arial" panose="020B0604020202020204" pitchFamily="34" charset="0"/>
              <a:buChar char="•"/>
            </a:pPr>
            <a:r>
              <a:rPr lang="en-US"/>
              <a:t>Parameters (span/sps)</a:t>
            </a:r>
          </a:p>
          <a:p>
            <a:pPr lvl="1">
              <a:buFont typeface="Arial" panose="020B0604020202020204" pitchFamily="34" charset="0"/>
              <a:buChar char="•"/>
            </a:pPr>
            <a:r>
              <a:rPr lang="en-US"/>
              <a:t>Direct VS Transposed Form</a:t>
            </a:r>
          </a:p>
          <a:p>
            <a:pPr lvl="1">
              <a:buFont typeface="Arial" panose="020B0604020202020204" pitchFamily="34" charset="0"/>
              <a:buChar char="•"/>
            </a:pPr>
            <a:r>
              <a:rPr lang="en-US"/>
              <a:t>Symmetry Realization for Direct Form</a:t>
            </a:r>
          </a:p>
          <a:p>
            <a:pPr lvl="1">
              <a:buFont typeface="Arial" panose="020B0604020202020204" pitchFamily="34" charset="0"/>
              <a:buChar char="•"/>
            </a:pPr>
            <a:r>
              <a:rPr lang="en-US"/>
              <a:t>Implemented Block Diagram</a:t>
            </a:r>
          </a:p>
          <a:p>
            <a:pPr lvl="1">
              <a:buFont typeface="Arial" panose="020B0604020202020204" pitchFamily="34" charset="0"/>
              <a:buChar char="•"/>
            </a:pPr>
            <a:r>
              <a:rPr lang="en-US"/>
              <a:t>Results and Observation </a:t>
            </a:r>
            <a:br>
              <a:rPr lang="en-US"/>
            </a:br>
            <a:endParaRPr lang="en-US" dirty="0"/>
          </a:p>
        </p:txBody>
      </p:sp>
    </p:spTree>
    <p:extLst>
      <p:ext uri="{BB962C8B-B14F-4D97-AF65-F5344CB8AC3E}">
        <p14:creationId xmlns:p14="http://schemas.microsoft.com/office/powerpoint/2010/main" val="6095296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 xmlns:a16="http://schemas.microsoft.com/office/drawing/2014/main" id="{BAF341A0-AA24-B8E8-25F2-9AD7DD7AA98E}"/>
            </a:ext>
          </a:extLst>
        </p:cNvPr>
        <p:cNvGrpSpPr/>
        <p:nvPr/>
      </p:nvGrpSpPr>
      <p:grpSpPr>
        <a:xfrm>
          <a:off x="0" y="0"/>
          <a:ext cx="0" cy="0"/>
          <a:chOff x="0" y="0"/>
          <a:chExt cx="0" cy="0"/>
        </a:xfrm>
      </p:grpSpPr>
      <p:sp>
        <p:nvSpPr>
          <p:cNvPr id="6" name="Title 5">
            <a:extLst>
              <a:ext uri="{FF2B5EF4-FFF2-40B4-BE49-F238E27FC236}">
                <a16:creationId xmlns="" xmlns:a16="http://schemas.microsoft.com/office/drawing/2014/main" id="{42A696DE-2464-C784-4F5D-41C47D3BB1DF}"/>
              </a:ext>
            </a:extLst>
          </p:cNvPr>
          <p:cNvSpPr>
            <a:spLocks noGrp="1"/>
          </p:cNvSpPr>
          <p:nvPr>
            <p:ph type="title"/>
          </p:nvPr>
        </p:nvSpPr>
        <p:spPr/>
        <p:txBody>
          <a:bodyPr/>
          <a:lstStyle/>
          <a:p>
            <a:r>
              <a:rPr lang="en-US" sz="3200" dirty="0">
                <a:latin typeface="Times New Roman" panose="02020603050405020304" pitchFamily="18" charset="0"/>
                <a:cs typeface="Times New Roman" panose="02020603050405020304" pitchFamily="18" charset="0"/>
              </a:rPr>
              <a:t>Introduction</a:t>
            </a:r>
          </a:p>
        </p:txBody>
      </p:sp>
      <p:sp>
        <p:nvSpPr>
          <p:cNvPr id="3" name="Text Placeholder 2">
            <a:extLst>
              <a:ext uri="{FF2B5EF4-FFF2-40B4-BE49-F238E27FC236}">
                <a16:creationId xmlns="" xmlns:a16="http://schemas.microsoft.com/office/drawing/2014/main" id="{E9A42B16-987C-293E-B5A3-484E68CC7103}"/>
              </a:ext>
            </a:extLst>
          </p:cNvPr>
          <p:cNvSpPr>
            <a:spLocks noGrp="1"/>
          </p:cNvSpPr>
          <p:nvPr>
            <p:ph type="body" idx="1"/>
          </p:nvPr>
        </p:nvSpPr>
        <p:spPr>
          <a:xfrm>
            <a:off x="914400" y="3086100"/>
            <a:ext cx="10363200" cy="3409595"/>
          </a:xfrm>
        </p:spPr>
        <p:txBody>
          <a:bodyPr/>
          <a:lstStyle/>
          <a:p>
            <a:r>
              <a:rPr lang="en-US" sz="2000" b="1" dirty="0">
                <a:solidFill>
                  <a:schemeClr val="tx1">
                    <a:lumMod val="75000"/>
                    <a:lumOff val="25000"/>
                  </a:schemeClr>
                </a:solidFill>
              </a:rPr>
              <a:t>Bluetooth Low Energy (BLE)</a:t>
            </a:r>
            <a:r>
              <a:rPr lang="en-US" sz="2000" b="0" dirty="0">
                <a:solidFill>
                  <a:schemeClr val="tx1">
                    <a:lumMod val="75000"/>
                    <a:lumOff val="25000"/>
                  </a:schemeClr>
                </a:solidFill>
              </a:rPr>
              <a:t> is a wireless standard created to complement Classic Bluetooth, but with a different priority: ultra-low power and low cost rather than high data rate. It’s widely used for short-range connections in IoT and battery-powered devices (wearables, sensors, beacons, smart home), where devices may need to run for months or years on small batteries.</a:t>
            </a:r>
            <a:endParaRPr lang="en-US" sz="2000" dirty="0">
              <a:solidFill>
                <a:schemeClr val="tx1">
                  <a:lumMod val="75000"/>
                  <a:lumOff val="25000"/>
                </a:schemeClr>
              </a:solidFill>
            </a:endParaRPr>
          </a:p>
          <a:p>
            <a:r>
              <a:rPr lang="en-US" sz="2000" dirty="0">
                <a:solidFill>
                  <a:schemeClr val="tx1">
                    <a:lumMod val="75000"/>
                    <a:lumOff val="25000"/>
                  </a:schemeClr>
                </a:solidFill>
              </a:rPr>
              <a:t>BLE is low-cost since it has:</a:t>
            </a:r>
          </a:p>
          <a:p>
            <a:pPr marL="76200" indent="0">
              <a:buNone/>
            </a:pPr>
            <a:r>
              <a:rPr lang="en-US" sz="2000" b="1" dirty="0">
                <a:solidFill>
                  <a:schemeClr val="tx1">
                    <a:lumMod val="75000"/>
                    <a:lumOff val="25000"/>
                  </a:schemeClr>
                </a:solidFill>
              </a:rPr>
              <a:t>	</a:t>
            </a:r>
            <a:r>
              <a:rPr lang="en-US" sz="2000" b="0" dirty="0">
                <a:solidFill>
                  <a:schemeClr val="tx1">
                    <a:lumMod val="75000"/>
                    <a:lumOff val="25000"/>
                  </a:schemeClr>
                </a:solidFill>
              </a:rPr>
              <a:t>License-free spectrum: BLE operates in the global 2.4 GHz ISM band, so there are no 	paid spectrum licenses.</a:t>
            </a:r>
          </a:p>
          <a:p>
            <a:pPr marL="76200" indent="0">
              <a:buNone/>
            </a:pPr>
            <a:endParaRPr lang="en-US" dirty="0"/>
          </a:p>
        </p:txBody>
      </p:sp>
      <p:pic>
        <p:nvPicPr>
          <p:cNvPr id="7" name="Picture 6">
            <a:extLst>
              <a:ext uri="{FF2B5EF4-FFF2-40B4-BE49-F238E27FC236}">
                <a16:creationId xmlns="" xmlns:a16="http://schemas.microsoft.com/office/drawing/2014/main" id="{AEE61FC9-D9AC-BDB0-A3A2-8B1FD763B5AE}"/>
              </a:ext>
            </a:extLst>
          </p:cNvPr>
          <p:cNvPicPr>
            <a:picLocks noChangeAspect="1"/>
          </p:cNvPicPr>
          <p:nvPr/>
        </p:nvPicPr>
        <p:blipFill>
          <a:blip r:embed="rId3"/>
          <a:stretch>
            <a:fillRect/>
          </a:stretch>
        </p:blipFill>
        <p:spPr>
          <a:xfrm>
            <a:off x="5394960" y="1275028"/>
            <a:ext cx="5882640" cy="1682202"/>
          </a:xfrm>
          <a:prstGeom prst="rect">
            <a:avLst/>
          </a:prstGeom>
        </p:spPr>
      </p:pic>
    </p:spTree>
    <p:extLst>
      <p:ext uri="{BB962C8B-B14F-4D97-AF65-F5344CB8AC3E}">
        <p14:creationId xmlns:p14="http://schemas.microsoft.com/office/powerpoint/2010/main" val="206523879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 xmlns:a16="http://schemas.microsoft.com/office/drawing/2014/main" id="{5D75BA14-BCD3-57E1-428A-5E56584EBF93}"/>
            </a:ext>
          </a:extLst>
        </p:cNvPr>
        <p:cNvGrpSpPr/>
        <p:nvPr/>
      </p:nvGrpSpPr>
      <p:grpSpPr>
        <a:xfrm>
          <a:off x="0" y="0"/>
          <a:ext cx="0" cy="0"/>
          <a:chOff x="0" y="0"/>
          <a:chExt cx="0" cy="0"/>
        </a:xfrm>
      </p:grpSpPr>
      <p:sp>
        <p:nvSpPr>
          <p:cNvPr id="6" name="Title 5">
            <a:extLst>
              <a:ext uri="{FF2B5EF4-FFF2-40B4-BE49-F238E27FC236}">
                <a16:creationId xmlns="" xmlns:a16="http://schemas.microsoft.com/office/drawing/2014/main" id="{356377AF-8E8C-05D1-0C01-D3A31AA2FD52}"/>
              </a:ext>
            </a:extLst>
          </p:cNvPr>
          <p:cNvSpPr>
            <a:spLocks noGrp="1"/>
          </p:cNvSpPr>
          <p:nvPr>
            <p:ph type="title"/>
          </p:nvPr>
        </p:nvSpPr>
        <p:spPr/>
        <p:txBody>
          <a:bodyPr/>
          <a:lstStyle/>
          <a:p>
            <a:r>
              <a:rPr lang="en-US" sz="3200" dirty="0">
                <a:latin typeface="Times New Roman" panose="02020603050405020304" pitchFamily="18" charset="0"/>
                <a:cs typeface="Times New Roman" panose="02020603050405020304" pitchFamily="18" charset="0"/>
              </a:rPr>
              <a:t>System Block Diagram</a:t>
            </a:r>
          </a:p>
        </p:txBody>
      </p:sp>
      <p:pic>
        <p:nvPicPr>
          <p:cNvPr id="8" name="Picture 7">
            <a:extLst>
              <a:ext uri="{FF2B5EF4-FFF2-40B4-BE49-F238E27FC236}">
                <a16:creationId xmlns="" xmlns:a16="http://schemas.microsoft.com/office/drawing/2014/main" id="{F5741A0C-EB26-808F-3B18-78FC950F6045}"/>
              </a:ext>
            </a:extLst>
          </p:cNvPr>
          <p:cNvPicPr>
            <a:picLocks noChangeAspect="1"/>
          </p:cNvPicPr>
          <p:nvPr/>
        </p:nvPicPr>
        <p:blipFill>
          <a:blip r:embed="rId3"/>
          <a:stretch>
            <a:fillRect/>
          </a:stretch>
        </p:blipFill>
        <p:spPr>
          <a:xfrm>
            <a:off x="765110" y="1455575"/>
            <a:ext cx="10487608" cy="4814595"/>
          </a:xfrm>
          <a:prstGeom prst="rect">
            <a:avLst/>
          </a:prstGeom>
        </p:spPr>
      </p:pic>
    </p:spTree>
    <p:extLst>
      <p:ext uri="{BB962C8B-B14F-4D97-AF65-F5344CB8AC3E}">
        <p14:creationId xmlns:p14="http://schemas.microsoft.com/office/powerpoint/2010/main" val="64259887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433DECBE-AD75-5E55-DC2C-7FEE0EFC54EE}"/>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6A7FE96E-31DA-B6F3-8010-3ADD878620BB}"/>
              </a:ext>
            </a:extLst>
          </p:cNvPr>
          <p:cNvSpPr>
            <a:spLocks noGrp="1"/>
          </p:cNvSpPr>
          <p:nvPr>
            <p:ph type="title"/>
          </p:nvPr>
        </p:nvSpPr>
        <p:spPr/>
        <p:txBody>
          <a:bodyPr/>
          <a:lstStyle/>
          <a:p>
            <a:r>
              <a:rPr lang="en-US" sz="3200" dirty="0">
                <a:latin typeface="Times New Roman" panose="02020603050405020304" pitchFamily="18" charset="0"/>
                <a:cs typeface="Times New Roman" panose="02020603050405020304" pitchFamily="18" charset="0"/>
              </a:rPr>
              <a:t>Traditional FSK Modulation</a:t>
            </a:r>
          </a:p>
        </p:txBody>
      </p:sp>
      <p:sp>
        <p:nvSpPr>
          <p:cNvPr id="3" name="Text Placeholder 2">
            <a:extLst>
              <a:ext uri="{FF2B5EF4-FFF2-40B4-BE49-F238E27FC236}">
                <a16:creationId xmlns="" xmlns:a16="http://schemas.microsoft.com/office/drawing/2014/main" id="{41A33A9F-791D-61B2-E42C-6B6308AA6DE6}"/>
              </a:ext>
            </a:extLst>
          </p:cNvPr>
          <p:cNvSpPr>
            <a:spLocks noGrp="1"/>
          </p:cNvSpPr>
          <p:nvPr>
            <p:ph type="body" idx="1"/>
          </p:nvPr>
        </p:nvSpPr>
        <p:spPr/>
        <p:txBody>
          <a:bodyPr/>
          <a:lstStyle/>
          <a:p>
            <a:pPr lvl="1">
              <a:buFont typeface="Wingdings" panose="05000000000000000000" pitchFamily="2" charset="2"/>
              <a:buChar char="q"/>
            </a:pPr>
            <a:r>
              <a:rPr lang="en-US" dirty="0">
                <a:solidFill>
                  <a:schemeClr val="tx1">
                    <a:lumMod val="75000"/>
                    <a:lumOff val="25000"/>
                  </a:schemeClr>
                </a:solidFill>
              </a:rPr>
              <a:t>In FSK, independent  oscillators generate separate in-phase and quadrature components.</a:t>
            </a:r>
          </a:p>
          <a:p>
            <a:pPr lvl="1">
              <a:buFont typeface="Wingdings" panose="05000000000000000000" pitchFamily="2" charset="2"/>
              <a:buChar char="q"/>
            </a:pPr>
            <a:r>
              <a:rPr lang="en-US" dirty="0">
                <a:solidFill>
                  <a:schemeClr val="tx1">
                    <a:lumMod val="75000"/>
                    <a:lumOff val="25000"/>
                  </a:schemeClr>
                </a:solidFill>
              </a:rPr>
              <a:t>These oscillators switch at the start of each symbol period to create the carrier frequency for modulation.</a:t>
            </a:r>
          </a:p>
          <a:p>
            <a:pPr lvl="1">
              <a:buFont typeface="Wingdings" panose="05000000000000000000" pitchFamily="2" charset="2"/>
              <a:buChar char="q"/>
            </a:pPr>
            <a:r>
              <a:rPr lang="en-US" dirty="0">
                <a:solidFill>
                  <a:schemeClr val="tx1">
                    <a:lumMod val="75000"/>
                    <a:lumOff val="25000"/>
                  </a:schemeClr>
                </a:solidFill>
              </a:rPr>
              <a:t>However, due to varying amplitudes and phases of the oscillators, abrupt frequency changes occur for every bit transition.</a:t>
            </a:r>
          </a:p>
          <a:p>
            <a:pPr lvl="1">
              <a:buFont typeface="Wingdings" panose="05000000000000000000" pitchFamily="2" charset="2"/>
              <a:buChar char="q"/>
            </a:pPr>
            <a:r>
              <a:rPr lang="en-US" dirty="0">
                <a:solidFill>
                  <a:schemeClr val="tx1">
                    <a:lumMod val="75000"/>
                    <a:lumOff val="25000"/>
                  </a:schemeClr>
                </a:solidFill>
              </a:rPr>
              <a:t>The modulated FSK signal has a wide spectrum (out of band energy) with non-negligible side-lobes.</a:t>
            </a:r>
          </a:p>
          <a:p>
            <a:pPr marL="76200" indent="0">
              <a:buNone/>
            </a:pPr>
            <a:endParaRPr lang="en-US" dirty="0"/>
          </a:p>
        </p:txBody>
      </p:sp>
      <p:pic>
        <p:nvPicPr>
          <p:cNvPr id="6" name="Picture 5" descr="A diagram of a machine&#10;&#10;AI-generated content may be incorrect.">
            <a:extLst>
              <a:ext uri="{FF2B5EF4-FFF2-40B4-BE49-F238E27FC236}">
                <a16:creationId xmlns="" xmlns:a16="http://schemas.microsoft.com/office/drawing/2014/main" id="{21FE2423-1F71-4D83-1277-C72A2F8CDB7C}"/>
              </a:ext>
            </a:extLst>
          </p:cNvPr>
          <p:cNvPicPr>
            <a:picLocks noChangeAspect="1"/>
          </p:cNvPicPr>
          <p:nvPr/>
        </p:nvPicPr>
        <p:blipFill>
          <a:blip r:embed="rId2"/>
          <a:stretch>
            <a:fillRect/>
          </a:stretch>
        </p:blipFill>
        <p:spPr>
          <a:xfrm>
            <a:off x="946151" y="4434840"/>
            <a:ext cx="4760591" cy="2083023"/>
          </a:xfrm>
          <a:prstGeom prst="rect">
            <a:avLst/>
          </a:prstGeom>
        </p:spPr>
      </p:pic>
      <p:pic>
        <p:nvPicPr>
          <p:cNvPr id="5" name="Picture 4">
            <a:extLst>
              <a:ext uri="{FF2B5EF4-FFF2-40B4-BE49-F238E27FC236}">
                <a16:creationId xmlns="" xmlns:a16="http://schemas.microsoft.com/office/drawing/2014/main" id="{FE063BE4-6328-F675-9D92-84FB2BC33C93}"/>
              </a:ext>
            </a:extLst>
          </p:cNvPr>
          <p:cNvPicPr>
            <a:picLocks noChangeAspect="1"/>
          </p:cNvPicPr>
          <p:nvPr/>
        </p:nvPicPr>
        <p:blipFill>
          <a:blip r:embed="rId3"/>
          <a:stretch>
            <a:fillRect/>
          </a:stretch>
        </p:blipFill>
        <p:spPr>
          <a:xfrm>
            <a:off x="6561881" y="4154472"/>
            <a:ext cx="4683968" cy="2341223"/>
          </a:xfrm>
          <a:prstGeom prst="rect">
            <a:avLst/>
          </a:prstGeom>
        </p:spPr>
      </p:pic>
    </p:spTree>
    <p:extLst>
      <p:ext uri="{BB962C8B-B14F-4D97-AF65-F5344CB8AC3E}">
        <p14:creationId xmlns:p14="http://schemas.microsoft.com/office/powerpoint/2010/main" val="206968905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0AD03939-4897-42CC-C816-883A825DBF61}"/>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6260E900-A814-F17D-4327-AE36F842E6BA}"/>
              </a:ext>
            </a:extLst>
          </p:cNvPr>
          <p:cNvSpPr>
            <a:spLocks noGrp="1"/>
          </p:cNvSpPr>
          <p:nvPr>
            <p:ph type="title"/>
          </p:nvPr>
        </p:nvSpPr>
        <p:spPr/>
        <p:txBody>
          <a:bodyPr/>
          <a:lstStyle/>
          <a:p>
            <a:r>
              <a:rPr lang="en-US" sz="3200" dirty="0">
                <a:latin typeface="Times New Roman" panose="02020603050405020304" pitchFamily="18" charset="0"/>
                <a:cs typeface="Times New Roman" panose="02020603050405020304" pitchFamily="18" charset="0"/>
              </a:rPr>
              <a:t>GFSK Modulation</a:t>
            </a:r>
          </a:p>
        </p:txBody>
      </p:sp>
      <p:sp>
        <p:nvSpPr>
          <p:cNvPr id="3" name="Text Placeholder 2">
            <a:extLst>
              <a:ext uri="{FF2B5EF4-FFF2-40B4-BE49-F238E27FC236}">
                <a16:creationId xmlns="" xmlns:a16="http://schemas.microsoft.com/office/drawing/2014/main" id="{9BF18308-C289-B991-0A5D-D6BA2CFB47DC}"/>
              </a:ext>
            </a:extLst>
          </p:cNvPr>
          <p:cNvSpPr>
            <a:spLocks noGrp="1"/>
          </p:cNvSpPr>
          <p:nvPr>
            <p:ph type="body" idx="1"/>
          </p:nvPr>
        </p:nvSpPr>
        <p:spPr/>
        <p:txBody>
          <a:bodyPr/>
          <a:lstStyle/>
          <a:p>
            <a:pPr>
              <a:buFont typeface="Wingdings" panose="05000000000000000000" pitchFamily="2" charset="2"/>
              <a:buChar char="q"/>
            </a:pPr>
            <a:r>
              <a:rPr lang="en-US" sz="2000" b="0" dirty="0">
                <a:solidFill>
                  <a:schemeClr val="tx1">
                    <a:lumMod val="85000"/>
                    <a:lumOff val="15000"/>
                  </a:schemeClr>
                </a:solidFill>
              </a:rPr>
              <a:t>GFSK uses a </a:t>
            </a:r>
            <a:r>
              <a:rPr lang="en-US" sz="2000" dirty="0">
                <a:solidFill>
                  <a:schemeClr val="tx1">
                    <a:lumMod val="85000"/>
                    <a:lumOff val="15000"/>
                  </a:schemeClr>
                </a:solidFill>
              </a:rPr>
              <a:t>Gaussian filter </a:t>
            </a:r>
            <a:r>
              <a:rPr lang="en-US" sz="2000" b="0" dirty="0">
                <a:solidFill>
                  <a:schemeClr val="tx1">
                    <a:lumMod val="85000"/>
                    <a:lumOff val="15000"/>
                  </a:schemeClr>
                </a:solidFill>
              </a:rPr>
              <a:t>(LPF) before modulating the baseband waveform signal (the data signal).</a:t>
            </a:r>
          </a:p>
          <a:p>
            <a:pPr>
              <a:buFont typeface="Wingdings" panose="05000000000000000000" pitchFamily="2" charset="2"/>
              <a:buChar char="q"/>
            </a:pPr>
            <a:r>
              <a:rPr lang="en-US" sz="2000" b="0" dirty="0">
                <a:solidFill>
                  <a:schemeClr val="tx1">
                    <a:lumMod val="85000"/>
                    <a:lumOff val="15000"/>
                  </a:schemeClr>
                </a:solidFill>
              </a:rPr>
              <a:t>The Gaussian filter smooths out the abrupt frequency changes in FSK(called pulse shaping).</a:t>
            </a:r>
          </a:p>
          <a:p>
            <a:pPr>
              <a:buFont typeface="Wingdings" panose="05000000000000000000" pitchFamily="2" charset="2"/>
              <a:buChar char="q"/>
            </a:pPr>
            <a:r>
              <a:rPr lang="en-US" sz="2000" b="0" dirty="0">
                <a:solidFill>
                  <a:schemeClr val="tx1">
                    <a:lumMod val="85000"/>
                    <a:lumOff val="15000"/>
                  </a:schemeClr>
                </a:solidFill>
              </a:rPr>
              <a:t>The filter’s impulse response follows a Gaussian function, which narrows the frequency response.</a:t>
            </a:r>
          </a:p>
          <a:p>
            <a:pPr>
              <a:buFont typeface="Wingdings" panose="05000000000000000000" pitchFamily="2" charset="2"/>
              <a:buChar char="q"/>
            </a:pPr>
            <a:r>
              <a:rPr lang="en-US" sz="2000" b="0" dirty="0">
                <a:solidFill>
                  <a:schemeClr val="tx1">
                    <a:lumMod val="85000"/>
                    <a:lumOff val="15000"/>
                  </a:schemeClr>
                </a:solidFill>
              </a:rPr>
              <a:t>As a result, any sudden frequency shifts are filtered out, making transitions smoother.</a:t>
            </a:r>
          </a:p>
          <a:p>
            <a:pPr>
              <a:buFont typeface="Wingdings" panose="05000000000000000000" pitchFamily="2" charset="2"/>
              <a:buChar char="q"/>
            </a:pPr>
            <a:r>
              <a:rPr lang="en-US" sz="2000" b="0" dirty="0">
                <a:solidFill>
                  <a:schemeClr val="tx1">
                    <a:lumMod val="85000"/>
                    <a:lumOff val="15000"/>
                  </a:schemeClr>
                </a:solidFill>
              </a:rPr>
              <a:t>The spectral width of the GFSK signal is reduced compared to unfiltered FSK.</a:t>
            </a:r>
          </a:p>
          <a:p>
            <a:endParaRPr lang="en-US" dirty="0">
              <a:solidFill>
                <a:schemeClr val="tx1">
                  <a:lumMod val="85000"/>
                  <a:lumOff val="15000"/>
                </a:schemeClr>
              </a:solidFill>
            </a:endParaRPr>
          </a:p>
        </p:txBody>
      </p:sp>
      <p:pic>
        <p:nvPicPr>
          <p:cNvPr id="6" name="Picture 5">
            <a:extLst>
              <a:ext uri="{FF2B5EF4-FFF2-40B4-BE49-F238E27FC236}">
                <a16:creationId xmlns="" xmlns:a16="http://schemas.microsoft.com/office/drawing/2014/main" id="{BCB0F44A-8E7E-7D51-67FE-2F8440F38916}"/>
              </a:ext>
            </a:extLst>
          </p:cNvPr>
          <p:cNvPicPr>
            <a:picLocks noChangeAspect="1"/>
          </p:cNvPicPr>
          <p:nvPr/>
        </p:nvPicPr>
        <p:blipFill>
          <a:blip r:embed="rId2"/>
          <a:stretch>
            <a:fillRect/>
          </a:stretch>
        </p:blipFill>
        <p:spPr>
          <a:xfrm>
            <a:off x="1349295" y="4037957"/>
            <a:ext cx="3670040" cy="1907845"/>
          </a:xfrm>
          <a:prstGeom prst="rect">
            <a:avLst/>
          </a:prstGeom>
        </p:spPr>
      </p:pic>
      <p:pic>
        <p:nvPicPr>
          <p:cNvPr id="8" name="Picture 7">
            <a:extLst>
              <a:ext uri="{FF2B5EF4-FFF2-40B4-BE49-F238E27FC236}">
                <a16:creationId xmlns="" xmlns:a16="http://schemas.microsoft.com/office/drawing/2014/main" id="{459FFE72-B3C6-D49F-DAC4-6E3359071389}"/>
              </a:ext>
            </a:extLst>
          </p:cNvPr>
          <p:cNvPicPr>
            <a:picLocks noChangeAspect="1"/>
          </p:cNvPicPr>
          <p:nvPr/>
        </p:nvPicPr>
        <p:blipFill>
          <a:blip r:embed="rId3"/>
          <a:stretch>
            <a:fillRect/>
          </a:stretch>
        </p:blipFill>
        <p:spPr>
          <a:xfrm>
            <a:off x="9960077" y="1"/>
            <a:ext cx="2231923" cy="1622322"/>
          </a:xfrm>
          <a:prstGeom prst="rect">
            <a:avLst/>
          </a:prstGeom>
        </p:spPr>
      </p:pic>
      <p:pic>
        <p:nvPicPr>
          <p:cNvPr id="5" name="Picture 4">
            <a:extLst>
              <a:ext uri="{FF2B5EF4-FFF2-40B4-BE49-F238E27FC236}">
                <a16:creationId xmlns="" xmlns:a16="http://schemas.microsoft.com/office/drawing/2014/main" id="{6D4FFC62-B54E-19CB-4174-35116AFF5993}"/>
              </a:ext>
            </a:extLst>
          </p:cNvPr>
          <p:cNvPicPr>
            <a:picLocks noChangeAspect="1"/>
          </p:cNvPicPr>
          <p:nvPr/>
        </p:nvPicPr>
        <p:blipFill>
          <a:blip r:embed="rId4"/>
          <a:stretch>
            <a:fillRect/>
          </a:stretch>
        </p:blipFill>
        <p:spPr>
          <a:xfrm>
            <a:off x="5453475" y="4037957"/>
            <a:ext cx="5592147" cy="1907844"/>
          </a:xfrm>
          <a:prstGeom prst="rect">
            <a:avLst/>
          </a:prstGeom>
        </p:spPr>
      </p:pic>
    </p:spTree>
    <p:extLst>
      <p:ext uri="{BB962C8B-B14F-4D97-AF65-F5344CB8AC3E}">
        <p14:creationId xmlns:p14="http://schemas.microsoft.com/office/powerpoint/2010/main" val="325950065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35BBC1F6-EA30-0CEF-13BF-ADA95B1D9072}"/>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CD93D616-D0D7-E99F-29F9-75206CB5C2A5}"/>
              </a:ext>
            </a:extLst>
          </p:cNvPr>
          <p:cNvSpPr>
            <a:spLocks noGrp="1"/>
          </p:cNvSpPr>
          <p:nvPr>
            <p:ph type="title"/>
          </p:nvPr>
        </p:nvSpPr>
        <p:spPr/>
        <p:txBody>
          <a:bodyPr/>
          <a:lstStyle/>
          <a:p>
            <a:r>
              <a:rPr lang="en-US" sz="3200" dirty="0">
                <a:latin typeface="Times New Roman" panose="02020603050405020304" pitchFamily="18" charset="0"/>
                <a:cs typeface="Times New Roman" panose="02020603050405020304" pitchFamily="18" charset="0"/>
              </a:rPr>
              <a:t>GFSK Advantages/Trade-offs</a:t>
            </a:r>
          </a:p>
        </p:txBody>
      </p:sp>
      <p:sp>
        <p:nvSpPr>
          <p:cNvPr id="3" name="Text Placeholder 2">
            <a:extLst>
              <a:ext uri="{FF2B5EF4-FFF2-40B4-BE49-F238E27FC236}">
                <a16:creationId xmlns="" xmlns:a16="http://schemas.microsoft.com/office/drawing/2014/main" id="{1356A926-CA84-ACAC-36B4-ABAF4981FB4D}"/>
              </a:ext>
            </a:extLst>
          </p:cNvPr>
          <p:cNvSpPr>
            <a:spLocks noGrp="1"/>
          </p:cNvSpPr>
          <p:nvPr>
            <p:ph type="body" idx="1"/>
          </p:nvPr>
        </p:nvSpPr>
        <p:spPr/>
        <p:txBody>
          <a:bodyPr/>
          <a:lstStyle/>
          <a:p>
            <a:pPr lvl="1">
              <a:buFont typeface="Wingdings" panose="05000000000000000000" pitchFamily="2" charset="2"/>
              <a:buChar char="q"/>
            </a:pPr>
            <a:r>
              <a:rPr lang="en-US" b="1" dirty="0">
                <a:solidFill>
                  <a:schemeClr val="tx1">
                    <a:lumMod val="85000"/>
                    <a:lumOff val="15000"/>
                  </a:schemeClr>
                </a:solidFill>
              </a:rPr>
              <a:t>Reduced side lobes</a:t>
            </a:r>
            <a:r>
              <a:rPr lang="en-US" dirty="0">
                <a:solidFill>
                  <a:schemeClr val="tx1">
                    <a:lumMod val="85000"/>
                    <a:lumOff val="15000"/>
                  </a:schemeClr>
                </a:solidFill>
              </a:rPr>
              <a:t>: GFSK minimizes sideband power and out-of-band spectrum.</a:t>
            </a:r>
          </a:p>
          <a:p>
            <a:pPr lvl="1">
              <a:buFont typeface="Wingdings" panose="05000000000000000000" pitchFamily="2" charset="2"/>
              <a:buChar char="q"/>
            </a:pPr>
            <a:r>
              <a:rPr lang="en-US" b="1" dirty="0">
                <a:solidFill>
                  <a:schemeClr val="tx1">
                    <a:lumMod val="85000"/>
                    <a:lumOff val="15000"/>
                  </a:schemeClr>
                </a:solidFill>
              </a:rPr>
              <a:t>Better spectral efficiency</a:t>
            </a:r>
            <a:r>
              <a:rPr lang="en-US" dirty="0">
                <a:solidFill>
                  <a:schemeClr val="tx1">
                    <a:lumMod val="85000"/>
                    <a:lumOff val="15000"/>
                  </a:schemeClr>
                </a:solidFill>
              </a:rPr>
              <a:t>: By shaping the pulses, GFSK achieves improved spectral utilization.</a:t>
            </a:r>
          </a:p>
          <a:p>
            <a:pPr lvl="1">
              <a:buFont typeface="Wingdings" panose="05000000000000000000" pitchFamily="2" charset="2"/>
              <a:buChar char="q"/>
            </a:pPr>
            <a:r>
              <a:rPr lang="en-US" b="1" dirty="0">
                <a:solidFill>
                  <a:schemeClr val="tx1">
                    <a:lumMod val="85000"/>
                    <a:lumOff val="15000"/>
                  </a:schemeClr>
                </a:solidFill>
              </a:rPr>
              <a:t>Constant Envelope:</a:t>
            </a:r>
            <a:r>
              <a:rPr lang="en-US" dirty="0">
                <a:solidFill>
                  <a:schemeClr val="tx1">
                    <a:lumMod val="85000"/>
                    <a:lumOff val="15000"/>
                  </a:schemeClr>
                </a:solidFill>
              </a:rPr>
              <a:t> GFSK/FSK modulates only the frequency and not the amplitude, the transmitted signal has a constant envelope. This allows the use of </a:t>
            </a:r>
            <a:r>
              <a:rPr lang="en-US" b="1" dirty="0">
                <a:solidFill>
                  <a:schemeClr val="tx1">
                    <a:lumMod val="85000"/>
                    <a:lumOff val="15000"/>
                  </a:schemeClr>
                </a:solidFill>
              </a:rPr>
              <a:t>nonlinear power amplifiers</a:t>
            </a:r>
            <a:r>
              <a:rPr lang="en-US" dirty="0">
                <a:solidFill>
                  <a:schemeClr val="tx1">
                    <a:lumMod val="85000"/>
                    <a:lumOff val="15000"/>
                  </a:schemeClr>
                </a:solidFill>
              </a:rPr>
              <a:t> (such as Class C or E), which are more energy-efficient — an essential feature for battery-powered devices.</a:t>
            </a:r>
          </a:p>
          <a:p>
            <a:pPr lvl="1">
              <a:buFont typeface="Arial" panose="020B0604020202020204" pitchFamily="34" charset="0"/>
              <a:buChar char="•"/>
            </a:pPr>
            <a:endParaRPr lang="en-US" dirty="0">
              <a:solidFill>
                <a:schemeClr val="tx1">
                  <a:lumMod val="85000"/>
                  <a:lumOff val="15000"/>
                </a:schemeClr>
              </a:solidFill>
            </a:endParaRPr>
          </a:p>
          <a:p>
            <a:pPr lvl="1">
              <a:buFont typeface="Arial" panose="020B0604020202020204" pitchFamily="34" charset="0"/>
              <a:buChar char="•"/>
            </a:pPr>
            <a:endParaRPr lang="en-US" dirty="0">
              <a:solidFill>
                <a:schemeClr val="tx1">
                  <a:lumMod val="85000"/>
                  <a:lumOff val="15000"/>
                </a:schemeClr>
              </a:solidFill>
            </a:endParaRPr>
          </a:p>
          <a:p>
            <a:pPr marL="571500" lvl="1" indent="0">
              <a:buNone/>
            </a:pPr>
            <a:r>
              <a:rPr lang="en-US" sz="2400" b="1" dirty="0">
                <a:solidFill>
                  <a:schemeClr val="tx1">
                    <a:lumMod val="85000"/>
                    <a:lumOff val="15000"/>
                  </a:schemeClr>
                </a:solidFill>
              </a:rPr>
              <a:t>But…</a:t>
            </a:r>
          </a:p>
          <a:p>
            <a:pPr marL="571500" lvl="1" indent="0">
              <a:buNone/>
            </a:pPr>
            <a:endParaRPr lang="en-US" dirty="0">
              <a:solidFill>
                <a:schemeClr val="tx1">
                  <a:lumMod val="85000"/>
                  <a:lumOff val="15000"/>
                </a:schemeClr>
              </a:solidFill>
            </a:endParaRPr>
          </a:p>
          <a:p>
            <a:pPr marL="571500" lvl="1" indent="0">
              <a:buNone/>
            </a:pPr>
            <a:endParaRPr lang="en-US" b="1" dirty="0">
              <a:solidFill>
                <a:schemeClr val="tx1">
                  <a:lumMod val="85000"/>
                  <a:lumOff val="15000"/>
                </a:schemeClr>
              </a:solidFill>
            </a:endParaRPr>
          </a:p>
          <a:p>
            <a:pPr lvl="1">
              <a:buFont typeface="Wingdings" panose="05000000000000000000" pitchFamily="2" charset="2"/>
              <a:buChar char="q"/>
            </a:pPr>
            <a:r>
              <a:rPr lang="en-US" dirty="0">
                <a:solidFill>
                  <a:schemeClr val="tx1">
                    <a:lumMod val="85000"/>
                    <a:lumOff val="15000"/>
                  </a:schemeClr>
                </a:solidFill>
              </a:rPr>
              <a:t>While GFSK reduces spectral width, it increases the likelihood of </a:t>
            </a:r>
            <a:r>
              <a:rPr lang="en-US" b="1" dirty="0" err="1">
                <a:solidFill>
                  <a:schemeClr val="tx1">
                    <a:lumMod val="85000"/>
                    <a:lumOff val="15000"/>
                  </a:schemeClr>
                </a:solidFill>
              </a:rPr>
              <a:t>intersymbol</a:t>
            </a:r>
            <a:r>
              <a:rPr lang="en-US" b="1" dirty="0">
                <a:solidFill>
                  <a:schemeClr val="tx1">
                    <a:lumMod val="85000"/>
                    <a:lumOff val="15000"/>
                  </a:schemeClr>
                </a:solidFill>
              </a:rPr>
              <a:t> interference (ISI)</a:t>
            </a:r>
            <a:r>
              <a:rPr lang="en-US" dirty="0">
                <a:solidFill>
                  <a:schemeClr val="tx1">
                    <a:lumMod val="85000"/>
                    <a:lumOff val="15000"/>
                  </a:schemeClr>
                </a:solidFill>
              </a:rPr>
              <a:t> due to spreading in the time domain.</a:t>
            </a:r>
          </a:p>
          <a:p>
            <a:pPr lvl="1">
              <a:buFont typeface="Wingdings" panose="05000000000000000000" pitchFamily="2" charset="2"/>
              <a:buChar char="q"/>
            </a:pPr>
            <a:endParaRPr lang="en-US" sz="1800" dirty="0">
              <a:solidFill>
                <a:schemeClr val="tx1">
                  <a:lumMod val="85000"/>
                  <a:lumOff val="15000"/>
                </a:schemeClr>
              </a:solidFill>
            </a:endParaRPr>
          </a:p>
          <a:p>
            <a:pPr marL="76200" indent="0">
              <a:buNone/>
            </a:pPr>
            <a:endParaRPr lang="en-US" dirty="0">
              <a:solidFill>
                <a:schemeClr val="tx1">
                  <a:lumMod val="85000"/>
                  <a:lumOff val="15000"/>
                </a:schemeClr>
              </a:solidFill>
            </a:endParaRPr>
          </a:p>
        </p:txBody>
      </p:sp>
      <p:pic>
        <p:nvPicPr>
          <p:cNvPr id="5" name="Picture 4">
            <a:extLst>
              <a:ext uri="{FF2B5EF4-FFF2-40B4-BE49-F238E27FC236}">
                <a16:creationId xmlns="" xmlns:a16="http://schemas.microsoft.com/office/drawing/2014/main" id="{605F5CBF-50A3-BC41-1AF3-A9FFF4BC39EA}"/>
              </a:ext>
            </a:extLst>
          </p:cNvPr>
          <p:cNvPicPr>
            <a:picLocks noChangeAspect="1"/>
          </p:cNvPicPr>
          <p:nvPr/>
        </p:nvPicPr>
        <p:blipFill>
          <a:blip r:embed="rId2"/>
          <a:stretch>
            <a:fillRect/>
          </a:stretch>
        </p:blipFill>
        <p:spPr>
          <a:xfrm>
            <a:off x="8554065" y="3520908"/>
            <a:ext cx="3637935" cy="2127380"/>
          </a:xfrm>
          <a:prstGeom prst="rect">
            <a:avLst/>
          </a:prstGeom>
        </p:spPr>
      </p:pic>
      <p:pic>
        <p:nvPicPr>
          <p:cNvPr id="7" name="Picture 6">
            <a:extLst>
              <a:ext uri="{FF2B5EF4-FFF2-40B4-BE49-F238E27FC236}">
                <a16:creationId xmlns="" xmlns:a16="http://schemas.microsoft.com/office/drawing/2014/main" id="{8E8E4C2A-28FF-E361-3F07-78A69D0C0BD7}"/>
              </a:ext>
            </a:extLst>
          </p:cNvPr>
          <p:cNvPicPr>
            <a:picLocks noChangeAspect="1"/>
          </p:cNvPicPr>
          <p:nvPr/>
        </p:nvPicPr>
        <p:blipFill>
          <a:blip r:embed="rId3"/>
          <a:stretch>
            <a:fillRect/>
          </a:stretch>
        </p:blipFill>
        <p:spPr>
          <a:xfrm>
            <a:off x="5394183" y="3586222"/>
            <a:ext cx="2967137" cy="1996752"/>
          </a:xfrm>
          <a:prstGeom prst="rect">
            <a:avLst/>
          </a:prstGeom>
        </p:spPr>
      </p:pic>
    </p:spTree>
    <p:extLst>
      <p:ext uri="{BB962C8B-B14F-4D97-AF65-F5344CB8AC3E}">
        <p14:creationId xmlns:p14="http://schemas.microsoft.com/office/powerpoint/2010/main" val="397516835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35F9C991-734E-EB5B-D22F-F959886E006F}"/>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BEAED974-49AA-8E19-1525-813F4AA6015A}"/>
              </a:ext>
            </a:extLst>
          </p:cNvPr>
          <p:cNvSpPr>
            <a:spLocks noGrp="1"/>
          </p:cNvSpPr>
          <p:nvPr>
            <p:ph type="title"/>
          </p:nvPr>
        </p:nvSpPr>
        <p:spPr/>
        <p:txBody>
          <a:bodyPr/>
          <a:lstStyle/>
          <a:p>
            <a:r>
              <a:rPr lang="en-US" sz="3200" dirty="0">
                <a:latin typeface="Times New Roman" panose="02020603050405020304" pitchFamily="18" charset="0"/>
                <a:cs typeface="Times New Roman" panose="02020603050405020304" pitchFamily="18" charset="0"/>
              </a:rPr>
              <a:t>GFSK Modulation index </a:t>
            </a:r>
          </a:p>
        </p:txBody>
      </p:sp>
      <p:sp>
        <p:nvSpPr>
          <p:cNvPr id="3" name="Text Placeholder 2">
            <a:extLst>
              <a:ext uri="{FF2B5EF4-FFF2-40B4-BE49-F238E27FC236}">
                <a16:creationId xmlns="" xmlns:a16="http://schemas.microsoft.com/office/drawing/2014/main" id="{64B9B395-7370-9A2B-78AA-A7397ED486E8}"/>
              </a:ext>
            </a:extLst>
          </p:cNvPr>
          <p:cNvSpPr>
            <a:spLocks noGrp="1"/>
          </p:cNvSpPr>
          <p:nvPr>
            <p:ph type="body" idx="1"/>
          </p:nvPr>
        </p:nvSpPr>
        <p:spPr>
          <a:xfrm>
            <a:off x="914400" y="1510749"/>
            <a:ext cx="10363200" cy="2201336"/>
          </a:xfrm>
        </p:spPr>
        <p:txBody>
          <a:bodyPr/>
          <a:lstStyle/>
          <a:p>
            <a:pPr>
              <a:buFont typeface="Wingdings" panose="05000000000000000000" pitchFamily="2" charset="2"/>
              <a:buChar char="q"/>
            </a:pPr>
            <a:r>
              <a:rPr lang="en-US" sz="2000" b="0" dirty="0">
                <a:solidFill>
                  <a:schemeClr val="tx1">
                    <a:lumMod val="95000"/>
                    <a:lumOff val="5000"/>
                  </a:schemeClr>
                </a:solidFill>
                <a:latin typeface="Calibri" panose="020F0502020204030204" pitchFamily="34" charset="0"/>
                <a:ea typeface="Calibri" panose="020F0502020204030204" pitchFamily="34" charset="0"/>
                <a:cs typeface="Calibri" panose="020F0502020204030204" pitchFamily="34" charset="0"/>
              </a:rPr>
              <a:t>Modulation index </a:t>
            </a:r>
            <a:r>
              <a:rPr lang="en-US" b="0" dirty="0">
                <a:solidFill>
                  <a:schemeClr val="tx1">
                    <a:lumMod val="95000"/>
                    <a:lumOff val="5000"/>
                  </a:schemeClr>
                </a:solidFill>
                <a:latin typeface="Calibri" panose="020F0502020204030204" pitchFamily="34" charset="0"/>
                <a:ea typeface="Calibri" panose="020F0502020204030204" pitchFamily="34" charset="0"/>
                <a:cs typeface="Calibri" panose="020F0502020204030204" pitchFamily="34" charset="0"/>
              </a:rPr>
              <a:t>describes</a:t>
            </a:r>
            <a:r>
              <a:rPr lang="en-US" sz="2000" b="0" dirty="0">
                <a:solidFill>
                  <a:schemeClr val="tx1">
                    <a:lumMod val="95000"/>
                    <a:lumOff val="5000"/>
                  </a:schemeClr>
                </a:solidFill>
                <a:latin typeface="Calibri" panose="020F0502020204030204" pitchFamily="34" charset="0"/>
                <a:ea typeface="Calibri" panose="020F0502020204030204" pitchFamily="34" charset="0"/>
                <a:cs typeface="Calibri" panose="020F0502020204030204" pitchFamily="34" charset="0"/>
              </a:rPr>
              <a:t> how close should 2 symbols (tones) be without creating ISI.</a:t>
            </a:r>
          </a:p>
          <a:p>
            <a:pPr marL="76200" indent="0">
              <a:buNone/>
            </a:pPr>
            <a:r>
              <a:rPr lang="en-US" sz="2000"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mathematically defined as:</a:t>
            </a:r>
          </a:p>
          <a:p>
            <a:pPr marL="76200" indent="0">
              <a:buNone/>
            </a:pPr>
            <a:r>
              <a:rPr lang="en-US" sz="2000" dirty="0">
                <a:latin typeface="Calibri" panose="020F0502020204030204" pitchFamily="34" charset="0"/>
                <a:ea typeface="Calibri" panose="020F0502020204030204" pitchFamily="34" charset="0"/>
                <a:cs typeface="Calibri" panose="020F0502020204030204" pitchFamily="34" charset="0"/>
              </a:rPr>
              <a:t> </a:t>
            </a:r>
          </a:p>
          <a:p>
            <a:pPr>
              <a:buFont typeface="Wingdings" panose="05000000000000000000" pitchFamily="2" charset="2"/>
              <a:buChar char="q"/>
            </a:pPr>
            <a:r>
              <a:rPr lang="en-US" sz="2000"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BLE Specification</a:t>
            </a:r>
          </a:p>
          <a:p>
            <a:pPr marL="76200" indent="0">
              <a:buNone/>
            </a:pPr>
            <a:r>
              <a:rPr lang="en-US" sz="2000" b="0"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For the standard BLE 1M PHY, the specification requires a tight range for h:   </a:t>
            </a:r>
          </a:p>
          <a:p>
            <a:pPr marL="76200" indent="0">
              <a:buNone/>
            </a:pPr>
            <a:r>
              <a:rPr lang="en-US" sz="2000" b="0"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                                                                            0.45≤h≤0.55</a:t>
            </a:r>
          </a:p>
          <a:p>
            <a:pPr marL="76200" indent="0">
              <a:buNone/>
            </a:pPr>
            <a:endParaRPr lang="en-US" sz="2000" b="1" dirty="0">
              <a:latin typeface="Calibri" panose="020F0502020204030204" pitchFamily="34" charset="0"/>
              <a:ea typeface="Calibri" panose="020F0502020204030204" pitchFamily="34" charset="0"/>
              <a:cs typeface="Calibri" panose="020F0502020204030204" pitchFamily="34" charset="0"/>
            </a:endParaRPr>
          </a:p>
          <a:p>
            <a:pPr>
              <a:buFont typeface="Arial" panose="020B0604020202020204" pitchFamily="34" charset="0"/>
              <a:buChar char="•"/>
            </a:pPr>
            <a:endParaRPr lang="en-US" sz="2000" dirty="0">
              <a:latin typeface="Calibri" panose="020F0502020204030204" pitchFamily="34" charset="0"/>
              <a:ea typeface="Calibri" panose="020F0502020204030204" pitchFamily="34" charset="0"/>
              <a:cs typeface="Calibri" panose="020F0502020204030204" pitchFamily="34" charset="0"/>
            </a:endParaRPr>
          </a:p>
          <a:p>
            <a:pPr>
              <a:buFont typeface="Wingdings" panose="05000000000000000000" pitchFamily="2" charset="2"/>
              <a:buChar char="q"/>
            </a:pPr>
            <a:endParaRPr lang="en-US" sz="2000" dirty="0">
              <a:latin typeface="Calibri" panose="020F0502020204030204" pitchFamily="34" charset="0"/>
              <a:ea typeface="Calibri" panose="020F0502020204030204" pitchFamily="34" charset="0"/>
              <a:cs typeface="Calibri" panose="020F0502020204030204" pitchFamily="34" charset="0"/>
            </a:endParaRPr>
          </a:p>
          <a:p>
            <a:pPr>
              <a:buFont typeface="Wingdings" panose="05000000000000000000" pitchFamily="2" charset="2"/>
              <a:buChar char="q"/>
            </a:pPr>
            <a:endParaRPr lang="en-US" sz="2200" b="1" dirty="0">
              <a:solidFill>
                <a:srgbClr val="15559F"/>
              </a:solidFill>
              <a:latin typeface="Calibri" panose="020F0502020204030204" pitchFamily="34" charset="0"/>
              <a:ea typeface="Calibri" panose="020F0502020204030204" pitchFamily="34" charset="0"/>
              <a:cs typeface="Calibri" panose="020F0502020204030204" pitchFamily="34" charset="0"/>
            </a:endParaRPr>
          </a:p>
        </p:txBody>
      </p:sp>
      <p:sp>
        <p:nvSpPr>
          <p:cNvPr id="9" name="TextBox 8">
            <a:extLst>
              <a:ext uri="{FF2B5EF4-FFF2-40B4-BE49-F238E27FC236}">
                <a16:creationId xmlns="" xmlns:a16="http://schemas.microsoft.com/office/drawing/2014/main" id="{28442112-1D91-D31A-879F-7A90A493F399}"/>
              </a:ext>
            </a:extLst>
          </p:cNvPr>
          <p:cNvSpPr txBox="1"/>
          <p:nvPr/>
        </p:nvSpPr>
        <p:spPr>
          <a:xfrm>
            <a:off x="946151" y="3712085"/>
            <a:ext cx="5620139" cy="2677656"/>
          </a:xfrm>
          <a:prstGeom prst="rect">
            <a:avLst/>
          </a:prstGeom>
          <a:noFill/>
        </p:spPr>
        <p:txBody>
          <a:bodyPr wrap="square" rtlCol="0">
            <a:spAutoFit/>
          </a:bodyPr>
          <a:lstStyle/>
          <a:p>
            <a:pPr>
              <a:buFont typeface="Arial" panose="020B0604020202020204" pitchFamily="34" charset="0"/>
              <a:buChar char="•"/>
            </a:pPr>
            <a:r>
              <a:rPr lang="en-US" dirty="0"/>
              <a:t>Too low modulation indices (&lt;0.3) → </a:t>
            </a:r>
            <a:r>
              <a:rPr lang="en-US" b="1" dirty="0"/>
              <a:t>narrowest possible bandwidth</a:t>
            </a:r>
            <a:r>
              <a:rPr lang="en-US" dirty="0"/>
              <a:t> (best spectral efficiency) but poor demodulation performance (receiver struggles to distinguish the tones).</a:t>
            </a:r>
          </a:p>
          <a:p>
            <a:pPr>
              <a:buFont typeface="Arial" panose="020B0604020202020204" pitchFamily="34" charset="0"/>
              <a:buChar char="•"/>
            </a:pPr>
            <a:endParaRPr lang="en-US" dirty="0"/>
          </a:p>
          <a:p>
            <a:pPr>
              <a:buFont typeface="Arial" panose="020B0604020202020204" pitchFamily="34" charset="0"/>
              <a:buChar char="•"/>
            </a:pPr>
            <a:r>
              <a:rPr lang="en-US" dirty="0"/>
              <a:t>Too high modulation indices (&gt;1) → </a:t>
            </a:r>
            <a:r>
              <a:rPr lang="en-US" b="1" dirty="0"/>
              <a:t>better noise immunity but </a:t>
            </a:r>
            <a:r>
              <a:rPr lang="en-US" dirty="0"/>
              <a:t>wider spectrum, more adjacent channel leakage (decreases spectral </a:t>
            </a:r>
            <a:r>
              <a:rPr lang="en-US" dirty="0" err="1"/>
              <a:t>effiency</a:t>
            </a:r>
            <a:r>
              <a:rPr lang="en-US" dirty="0"/>
              <a:t> of gaussian filter).</a:t>
            </a:r>
          </a:p>
          <a:p>
            <a:pPr>
              <a:buFont typeface="Arial" panose="020B0604020202020204" pitchFamily="34" charset="0"/>
              <a:buChar char="•"/>
            </a:pPr>
            <a:endParaRPr lang="en-US" dirty="0"/>
          </a:p>
          <a:p>
            <a:pPr>
              <a:buFont typeface="Arial" panose="020B0604020202020204" pitchFamily="34" charset="0"/>
              <a:buChar char="•"/>
            </a:pPr>
            <a:r>
              <a:rPr lang="en-US" dirty="0"/>
              <a:t>0.5 (GMSK) → sweet spot for BLE: achieves the best possible balance </a:t>
            </a:r>
            <a:r>
              <a:rPr lang="en-US" b="1" dirty="0"/>
              <a:t>maximum spectral efficiency</a:t>
            </a:r>
            <a:r>
              <a:rPr lang="en-US" dirty="0"/>
              <a:t> without compromising the required </a:t>
            </a:r>
            <a:r>
              <a:rPr lang="en-US" b="1" dirty="0"/>
              <a:t>noise immunity.</a:t>
            </a:r>
            <a:endParaRPr lang="en-US" dirty="0"/>
          </a:p>
          <a:p>
            <a:endParaRPr lang="en-US" dirty="0"/>
          </a:p>
        </p:txBody>
      </p:sp>
      <p:pic>
        <p:nvPicPr>
          <p:cNvPr id="11" name="Picture 10" descr="A group of graphs with numbers&#10;&#10;AI-generated content may be incorrect.">
            <a:extLst>
              <a:ext uri="{FF2B5EF4-FFF2-40B4-BE49-F238E27FC236}">
                <a16:creationId xmlns="" xmlns:a16="http://schemas.microsoft.com/office/drawing/2014/main" id="{B9E5B096-A8AB-C005-02C8-E9F4E2CBF54E}"/>
              </a:ext>
            </a:extLst>
          </p:cNvPr>
          <p:cNvPicPr>
            <a:picLocks noChangeAspect="1"/>
          </p:cNvPicPr>
          <p:nvPr/>
        </p:nvPicPr>
        <p:blipFill>
          <a:blip r:embed="rId2"/>
          <a:stretch>
            <a:fillRect/>
          </a:stretch>
        </p:blipFill>
        <p:spPr>
          <a:xfrm>
            <a:off x="6823587" y="3429000"/>
            <a:ext cx="5076209" cy="3096390"/>
          </a:xfrm>
          <a:prstGeom prst="rect">
            <a:avLst/>
          </a:prstGeom>
        </p:spPr>
      </p:pic>
      <p:pic>
        <p:nvPicPr>
          <p:cNvPr id="13" name="Picture 12">
            <a:extLst>
              <a:ext uri="{FF2B5EF4-FFF2-40B4-BE49-F238E27FC236}">
                <a16:creationId xmlns="" xmlns:a16="http://schemas.microsoft.com/office/drawing/2014/main" id="{BFE80E3B-9512-5483-9930-F9FE3350D1E6}"/>
              </a:ext>
            </a:extLst>
          </p:cNvPr>
          <p:cNvPicPr>
            <a:picLocks noChangeAspect="1"/>
          </p:cNvPicPr>
          <p:nvPr/>
        </p:nvPicPr>
        <p:blipFill>
          <a:blip r:embed="rId3"/>
          <a:stretch>
            <a:fillRect/>
          </a:stretch>
        </p:blipFill>
        <p:spPr>
          <a:xfrm>
            <a:off x="4212486" y="1821090"/>
            <a:ext cx="1209844" cy="809738"/>
          </a:xfrm>
          <a:prstGeom prst="rect">
            <a:avLst/>
          </a:prstGeom>
        </p:spPr>
      </p:pic>
    </p:spTree>
    <p:extLst>
      <p:ext uri="{BB962C8B-B14F-4D97-AF65-F5344CB8AC3E}">
        <p14:creationId xmlns:p14="http://schemas.microsoft.com/office/powerpoint/2010/main" val="329838655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20034201-A170-D391-2C3A-6611E8967EC0}"/>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165D7F62-1390-F75E-E5DE-DF83007A0253}"/>
              </a:ext>
            </a:extLst>
          </p:cNvPr>
          <p:cNvSpPr>
            <a:spLocks noGrp="1"/>
          </p:cNvSpPr>
          <p:nvPr>
            <p:ph type="title"/>
          </p:nvPr>
        </p:nvSpPr>
        <p:spPr/>
        <p:txBody>
          <a:bodyPr/>
          <a:lstStyle/>
          <a:p>
            <a:r>
              <a:rPr lang="en-US" sz="3200" dirty="0">
                <a:latin typeface="Times New Roman" panose="02020603050405020304" pitchFamily="18" charset="0"/>
                <a:cs typeface="Times New Roman" panose="02020603050405020304" pitchFamily="18" charset="0"/>
              </a:rPr>
              <a:t>GFSK BT Product</a:t>
            </a:r>
          </a:p>
        </p:txBody>
      </p:sp>
      <p:pic>
        <p:nvPicPr>
          <p:cNvPr id="5" name="Picture 4">
            <a:extLst>
              <a:ext uri="{FF2B5EF4-FFF2-40B4-BE49-F238E27FC236}">
                <a16:creationId xmlns="" xmlns:a16="http://schemas.microsoft.com/office/drawing/2014/main" id="{1270157C-C88B-26B4-FE72-BF6116BAC8E6}"/>
              </a:ext>
            </a:extLst>
          </p:cNvPr>
          <p:cNvPicPr>
            <a:picLocks noChangeAspect="1"/>
          </p:cNvPicPr>
          <p:nvPr/>
        </p:nvPicPr>
        <p:blipFill>
          <a:blip r:embed="rId2"/>
          <a:stretch>
            <a:fillRect/>
          </a:stretch>
        </p:blipFill>
        <p:spPr>
          <a:xfrm>
            <a:off x="8014995" y="1573161"/>
            <a:ext cx="4177005" cy="4286463"/>
          </a:xfrm>
          <a:prstGeom prst="rect">
            <a:avLst/>
          </a:prstGeom>
        </p:spPr>
      </p:pic>
      <mc:AlternateContent xmlns:mc="http://schemas.openxmlformats.org/markup-compatibility/2006" xmlns:a14="http://schemas.microsoft.com/office/drawing/2010/main">
        <mc:Choice Requires="a14">
          <p:sp>
            <p:nvSpPr>
              <p:cNvPr id="8" name="Text Placeholder 2">
                <a:extLst>
                  <a:ext uri="{FF2B5EF4-FFF2-40B4-BE49-F238E27FC236}">
                    <a16:creationId xmlns="" xmlns:a16="http://schemas.microsoft.com/office/drawing/2014/main" id="{48681BB8-7FEB-3504-3938-B5528416EF5C}"/>
                  </a:ext>
                </a:extLst>
              </p:cNvPr>
              <p:cNvSpPr txBox="1">
                <a:spLocks/>
              </p:cNvSpPr>
              <p:nvPr/>
            </p:nvSpPr>
            <p:spPr>
              <a:xfrm>
                <a:off x="609600" y="1390260"/>
                <a:ext cx="7665720" cy="470263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1pPr>
                <a:lvl2pPr marL="914400" marR="0" lvl="1" indent="-342900" algn="l" rtl="0">
                  <a:lnSpc>
                    <a:spcPct val="100000"/>
                  </a:lnSpc>
                  <a:spcBef>
                    <a:spcPts val="400"/>
                  </a:spcBef>
                  <a:spcAft>
                    <a:spcPts val="0"/>
                  </a:spcAft>
                  <a:buClr>
                    <a:schemeClr val="dk1"/>
                  </a:buClr>
                  <a:buSzPts val="1800"/>
                  <a:buFont typeface="Calibri"/>
                  <a:buChar char="–"/>
                  <a:defRPr sz="20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360"/>
                  </a:spcBef>
                  <a:spcAft>
                    <a:spcPts val="0"/>
                  </a:spcAft>
                  <a:buClr>
                    <a:schemeClr val="dk1"/>
                  </a:buClr>
                  <a:buSzPts val="1800"/>
                  <a:buFont typeface="Calibri"/>
                  <a:buChar char="–"/>
                  <a:defRPr sz="1800" b="0" i="0" u="none" strike="noStrike" cap="none">
                    <a:solidFill>
                      <a:schemeClr val="dk1"/>
                    </a:solidFill>
                    <a:latin typeface="Calibri"/>
                    <a:ea typeface="Calibri"/>
                    <a:cs typeface="Calibri"/>
                    <a:sym typeface="Calibri"/>
                  </a:defRPr>
                </a:lvl3pPr>
                <a:lvl4pPr marL="1828800" marR="0" lvl="3" indent="-330200" algn="l" rtl="0">
                  <a:lnSpc>
                    <a:spcPct val="100000"/>
                  </a:lnSpc>
                  <a:spcBef>
                    <a:spcPts val="336"/>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4pPr>
                <a:lvl5pPr marL="2286000" marR="0" lvl="4" indent="-330200" algn="l" rtl="0">
                  <a:lnSpc>
                    <a:spcPct val="100000"/>
                  </a:lnSpc>
                  <a:spcBef>
                    <a:spcPts val="336"/>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9pPr>
              </a:lstStyle>
              <a:p>
                <a:pPr marL="457200" marR="0" lvl="0" indent="-381000" algn="l" defTabSz="914400" rtl="0" eaLnBrk="1" fontAlgn="auto" latinLnBrk="0" hangingPunct="1">
                  <a:lnSpc>
                    <a:spcPct val="100000"/>
                  </a:lnSpc>
                  <a:spcBef>
                    <a:spcPts val="480"/>
                  </a:spcBef>
                  <a:spcAft>
                    <a:spcPts val="0"/>
                  </a:spcAft>
                  <a:buClr>
                    <a:srgbClr val="000000"/>
                  </a:buClr>
                  <a:buSzPts val="2400"/>
                  <a:buFont typeface="Arial"/>
                  <a:buChar char="•"/>
                  <a:tabLst/>
                  <a:defRPr/>
                </a:pPr>
                <a:r>
                  <a:rPr kumimoji="0" lang="en-US" sz="2000" b="1" i="0" u="none" strike="noStrike" kern="0" cap="none" spc="0" normalizeH="0" baseline="0" noProof="0" dirty="0">
                    <a:ln>
                      <a:noFill/>
                    </a:ln>
                    <a:solidFill>
                      <a:srgbClr val="000000"/>
                    </a:solidFill>
                    <a:effectLst/>
                    <a:uLnTx/>
                    <a:uFillTx/>
                    <a:sym typeface="Calibri"/>
                  </a:rPr>
                  <a:t>GFSK</a:t>
                </a:r>
                <a:r>
                  <a:rPr kumimoji="0" lang="en-US" sz="2000" b="0" i="0" u="none" strike="noStrike" kern="0" cap="none" spc="0" normalizeH="0" baseline="0" noProof="0" dirty="0">
                    <a:ln>
                      <a:noFill/>
                    </a:ln>
                    <a:solidFill>
                      <a:srgbClr val="000000"/>
                    </a:solidFill>
                    <a:effectLst/>
                    <a:uLnTx/>
                    <a:uFillTx/>
                    <a:sym typeface="Calibri"/>
                  </a:rPr>
                  <a:t> is characterized by the product </a:t>
                </a:r>
                <a14:m>
                  <m:oMath xmlns:m="http://schemas.openxmlformats.org/officeDocument/2006/math">
                    <m:sSub>
                      <m:sSubPr>
                        <m:ctrlPr>
                          <a:rPr kumimoji="0" lang="ar-EG" sz="2000" b="0" i="1" u="none" strike="noStrike" kern="0" cap="none" spc="0" normalizeH="0" baseline="0" noProof="0">
                            <a:ln>
                              <a:noFill/>
                            </a:ln>
                            <a:solidFill>
                              <a:srgbClr val="000000"/>
                            </a:solidFill>
                            <a:effectLst/>
                            <a:uLnTx/>
                            <a:uFillTx/>
                            <a:latin typeface="Cambria Math" panose="02040503050406030204" pitchFamily="18" charset="0"/>
                            <a:sym typeface="Calibri"/>
                          </a:rPr>
                        </m:ctrlPr>
                      </m:sSubPr>
                      <m:e>
                        <m:r>
                          <a:rPr kumimoji="0" lang="ar-EG" sz="2000" b="0" i="1" u="none" strike="noStrike" kern="0" cap="none" spc="0" normalizeH="0" baseline="0" noProof="0">
                            <a:ln>
                              <a:noFill/>
                            </a:ln>
                            <a:solidFill>
                              <a:srgbClr val="000000"/>
                            </a:solidFill>
                            <a:effectLst/>
                            <a:uLnTx/>
                            <a:uFillTx/>
                            <a:latin typeface="Cambria Math" panose="02040503050406030204" pitchFamily="18" charset="0"/>
                            <a:sym typeface="Calibri"/>
                          </a:rPr>
                          <m:t>𝐵</m:t>
                        </m:r>
                      </m:e>
                      <m:sub>
                        <m:r>
                          <a:rPr kumimoji="0" lang="ar-EG" sz="2000" b="0" i="1" u="none" strike="noStrike" kern="0" cap="none" spc="0" normalizeH="0" baseline="0" noProof="0">
                            <a:ln>
                              <a:noFill/>
                            </a:ln>
                            <a:solidFill>
                              <a:srgbClr val="000000"/>
                            </a:solidFill>
                            <a:effectLst/>
                            <a:uLnTx/>
                            <a:uFillTx/>
                            <a:latin typeface="Cambria Math" panose="02040503050406030204" pitchFamily="18" charset="0"/>
                            <a:sym typeface="Calibri"/>
                          </a:rPr>
                          <m:t>𝑏</m:t>
                        </m:r>
                      </m:sub>
                    </m:sSub>
                    <m:sSub>
                      <m:sSubPr>
                        <m:ctrlPr>
                          <a:rPr kumimoji="0" lang="ar-EG" sz="2000" b="0" i="1" u="none" strike="noStrike" kern="0" cap="none" spc="0" normalizeH="0" baseline="0" noProof="0">
                            <a:ln>
                              <a:noFill/>
                            </a:ln>
                            <a:solidFill>
                              <a:srgbClr val="000000"/>
                            </a:solidFill>
                            <a:effectLst/>
                            <a:uLnTx/>
                            <a:uFillTx/>
                            <a:latin typeface="Cambria Math" panose="02040503050406030204" pitchFamily="18" charset="0"/>
                            <a:sym typeface="Calibri"/>
                          </a:rPr>
                        </m:ctrlPr>
                      </m:sSubPr>
                      <m:e>
                        <m:r>
                          <a:rPr kumimoji="0" lang="ar-EG" sz="2000" b="0" i="1" u="none" strike="noStrike" kern="0" cap="none" spc="0" normalizeH="0" baseline="0" noProof="0">
                            <a:ln>
                              <a:noFill/>
                            </a:ln>
                            <a:solidFill>
                              <a:srgbClr val="000000"/>
                            </a:solidFill>
                            <a:effectLst/>
                            <a:uLnTx/>
                            <a:uFillTx/>
                            <a:latin typeface="Cambria Math" panose="02040503050406030204" pitchFamily="18" charset="0"/>
                            <a:sym typeface="Calibri"/>
                          </a:rPr>
                          <m:t>𝑇</m:t>
                        </m:r>
                      </m:e>
                      <m:sub>
                        <m:r>
                          <a:rPr kumimoji="0" lang="ar-EG" sz="2000" b="0" i="1" u="none" strike="noStrike" kern="0" cap="none" spc="0" normalizeH="0" baseline="0" noProof="0">
                            <a:ln>
                              <a:noFill/>
                            </a:ln>
                            <a:solidFill>
                              <a:srgbClr val="000000"/>
                            </a:solidFill>
                            <a:effectLst/>
                            <a:uLnTx/>
                            <a:uFillTx/>
                            <a:latin typeface="Cambria Math" panose="02040503050406030204" pitchFamily="18" charset="0"/>
                            <a:sym typeface="Calibri"/>
                          </a:rPr>
                          <m:t>𝑏</m:t>
                        </m:r>
                      </m:sub>
                    </m:sSub>
                  </m:oMath>
                </a14:m>
                <a:r>
                  <a:rPr kumimoji="0" lang="ar-EG" sz="2000" b="0" i="0" u="none" strike="noStrike" kern="0" cap="none" spc="0" normalizeH="0" baseline="0" noProof="0" dirty="0">
                    <a:ln>
                      <a:noFill/>
                    </a:ln>
                    <a:solidFill>
                      <a:srgbClr val="000000"/>
                    </a:solidFill>
                    <a:effectLst/>
                    <a:uLnTx/>
                    <a:uFillTx/>
                    <a:sym typeface="Calibri"/>
                  </a:rPr>
                  <a:t>, </a:t>
                </a:r>
                <a:r>
                  <a:rPr kumimoji="0" lang="en-US" sz="2000" b="0" i="0" u="none" strike="noStrike" kern="0" cap="none" spc="0" normalizeH="0" baseline="0" noProof="0" dirty="0">
                    <a:ln>
                      <a:noFill/>
                    </a:ln>
                    <a:solidFill>
                      <a:srgbClr val="000000"/>
                    </a:solidFill>
                    <a:effectLst/>
                    <a:uLnTx/>
                    <a:uFillTx/>
                    <a:sym typeface="Calibri"/>
                  </a:rPr>
                  <a:t>where </a:t>
                </a:r>
                <a14:m>
                  <m:oMath xmlns:m="http://schemas.openxmlformats.org/officeDocument/2006/math">
                    <m:sSub>
                      <m:sSubPr>
                        <m:ctrlPr>
                          <a:rPr kumimoji="0" lang="ar-EG" sz="2000" b="0" i="1" u="none" strike="noStrike" kern="0" cap="none" spc="0" normalizeH="0" baseline="0" noProof="0">
                            <a:ln>
                              <a:noFill/>
                            </a:ln>
                            <a:solidFill>
                              <a:srgbClr val="000000"/>
                            </a:solidFill>
                            <a:effectLst/>
                            <a:uLnTx/>
                            <a:uFillTx/>
                            <a:latin typeface="Cambria Math" panose="02040503050406030204" pitchFamily="18" charset="0"/>
                            <a:sym typeface="Calibri"/>
                          </a:rPr>
                        </m:ctrlPr>
                      </m:sSubPr>
                      <m:e>
                        <m:r>
                          <a:rPr kumimoji="0" lang="ar-EG" sz="2000" b="0" i="1" u="none" strike="noStrike" kern="0" cap="none" spc="0" normalizeH="0" baseline="0" noProof="0">
                            <a:ln>
                              <a:noFill/>
                            </a:ln>
                            <a:solidFill>
                              <a:srgbClr val="000000"/>
                            </a:solidFill>
                            <a:effectLst/>
                            <a:uLnTx/>
                            <a:uFillTx/>
                            <a:latin typeface="Cambria Math" panose="02040503050406030204" pitchFamily="18" charset="0"/>
                            <a:sym typeface="Calibri"/>
                          </a:rPr>
                          <m:t>𝐵</m:t>
                        </m:r>
                      </m:e>
                      <m:sub>
                        <m:r>
                          <a:rPr kumimoji="0" lang="ar-EG" sz="2000" b="0" i="1" u="none" strike="noStrike" kern="0" cap="none" spc="0" normalizeH="0" baseline="0" noProof="0">
                            <a:ln>
                              <a:noFill/>
                            </a:ln>
                            <a:solidFill>
                              <a:srgbClr val="000000"/>
                            </a:solidFill>
                            <a:effectLst/>
                            <a:uLnTx/>
                            <a:uFillTx/>
                            <a:latin typeface="Cambria Math" panose="02040503050406030204" pitchFamily="18" charset="0"/>
                            <a:sym typeface="Calibri"/>
                          </a:rPr>
                          <m:t>𝑏</m:t>
                        </m:r>
                      </m:sub>
                    </m:sSub>
                  </m:oMath>
                </a14:m>
                <a:r>
                  <a:rPr kumimoji="0" lang="en-US" sz="2000" b="0" i="0" u="none" strike="noStrike" kern="0" cap="none" spc="0" normalizeH="0" baseline="0" noProof="0" dirty="0">
                    <a:ln>
                      <a:noFill/>
                    </a:ln>
                    <a:solidFill>
                      <a:srgbClr val="000000"/>
                    </a:solidFill>
                    <a:effectLst/>
                    <a:uLnTx/>
                    <a:uFillTx/>
                    <a:sym typeface="Calibri"/>
                  </a:rPr>
                  <a:t>is the 3-dB bandwidth of the Gaussian filter and </a:t>
                </a:r>
                <a14:m>
                  <m:oMath xmlns:m="http://schemas.openxmlformats.org/officeDocument/2006/math">
                    <m:sSub>
                      <m:sSubPr>
                        <m:ctrlPr>
                          <a:rPr kumimoji="0" lang="ar-EG" sz="2000" b="0" i="1" u="none" strike="noStrike" kern="0" cap="none" spc="0" normalizeH="0" baseline="0" noProof="0">
                            <a:ln>
                              <a:noFill/>
                            </a:ln>
                            <a:solidFill>
                              <a:srgbClr val="000000"/>
                            </a:solidFill>
                            <a:effectLst/>
                            <a:uLnTx/>
                            <a:uFillTx/>
                            <a:latin typeface="Cambria Math" panose="02040503050406030204" pitchFamily="18" charset="0"/>
                            <a:sym typeface="Calibri"/>
                          </a:rPr>
                        </m:ctrlPr>
                      </m:sSubPr>
                      <m:e>
                        <m:r>
                          <a:rPr kumimoji="0" lang="ar-EG" sz="2000" b="0" i="1" u="none" strike="noStrike" kern="0" cap="none" spc="0" normalizeH="0" baseline="0" noProof="0">
                            <a:ln>
                              <a:noFill/>
                            </a:ln>
                            <a:solidFill>
                              <a:srgbClr val="000000"/>
                            </a:solidFill>
                            <a:effectLst/>
                            <a:uLnTx/>
                            <a:uFillTx/>
                            <a:latin typeface="Cambria Math" panose="02040503050406030204" pitchFamily="18" charset="0"/>
                            <a:sym typeface="Calibri"/>
                          </a:rPr>
                          <m:t>𝑇</m:t>
                        </m:r>
                      </m:e>
                      <m:sub>
                        <m:r>
                          <a:rPr kumimoji="0" lang="ar-EG" sz="2000" b="0" i="1" u="none" strike="noStrike" kern="0" cap="none" spc="0" normalizeH="0" baseline="0" noProof="0">
                            <a:ln>
                              <a:noFill/>
                            </a:ln>
                            <a:solidFill>
                              <a:srgbClr val="000000"/>
                            </a:solidFill>
                            <a:effectLst/>
                            <a:uLnTx/>
                            <a:uFillTx/>
                            <a:latin typeface="Cambria Math" panose="02040503050406030204" pitchFamily="18" charset="0"/>
                            <a:sym typeface="Calibri"/>
                          </a:rPr>
                          <m:t>𝑏</m:t>
                        </m:r>
                      </m:sub>
                    </m:sSub>
                  </m:oMath>
                </a14:m>
                <a:r>
                  <a:rPr kumimoji="0" lang="en-US" sz="2000" b="0" i="0" u="none" strike="noStrike" kern="0" cap="none" spc="0" normalizeH="0" baseline="0" noProof="0" dirty="0">
                    <a:ln>
                      <a:noFill/>
                    </a:ln>
                    <a:solidFill>
                      <a:srgbClr val="000000"/>
                    </a:solidFill>
                    <a:effectLst/>
                    <a:uLnTx/>
                    <a:uFillTx/>
                    <a:sym typeface="Calibri"/>
                  </a:rPr>
                  <a:t>is the bit period.</a:t>
                </a:r>
              </a:p>
              <a:p>
                <a:pPr marL="457200" marR="0" lvl="0" indent="-381000" algn="l" defTabSz="914400" rtl="0" eaLnBrk="1" fontAlgn="auto" latinLnBrk="0" hangingPunct="1">
                  <a:lnSpc>
                    <a:spcPct val="100000"/>
                  </a:lnSpc>
                  <a:spcBef>
                    <a:spcPts val="480"/>
                  </a:spcBef>
                  <a:spcAft>
                    <a:spcPts val="0"/>
                  </a:spcAft>
                  <a:buClr>
                    <a:srgbClr val="000000"/>
                  </a:buClr>
                  <a:buSzPts val="2400"/>
                  <a:buFont typeface="Arial"/>
                  <a:buChar char="•"/>
                  <a:tabLst/>
                  <a:defRPr/>
                </a:pPr>
                <a:r>
                  <a:rPr kumimoji="0" lang="en-US" sz="2000" b="0" i="0" u="none" strike="noStrike" kern="0" cap="none" spc="0" normalizeH="0" baseline="0" noProof="0" dirty="0">
                    <a:ln>
                      <a:noFill/>
                    </a:ln>
                    <a:solidFill>
                      <a:srgbClr val="000000"/>
                    </a:solidFill>
                    <a:effectLst/>
                    <a:uLnTx/>
                    <a:uFillTx/>
                    <a:sym typeface="Calibri"/>
                  </a:rPr>
                  <a:t>Lower </a:t>
                </a:r>
                <a14:m>
                  <m:oMath xmlns:m="http://schemas.openxmlformats.org/officeDocument/2006/math">
                    <m:sSub>
                      <m:sSubPr>
                        <m:ctrlPr>
                          <a:rPr kumimoji="0" lang="ar-EG" sz="2000" b="0" i="1" u="none" strike="noStrike" kern="0" cap="none" spc="0" normalizeH="0" baseline="0" noProof="0">
                            <a:ln>
                              <a:noFill/>
                            </a:ln>
                            <a:solidFill>
                              <a:srgbClr val="000000"/>
                            </a:solidFill>
                            <a:effectLst/>
                            <a:uLnTx/>
                            <a:uFillTx/>
                            <a:latin typeface="Cambria Math" panose="02040503050406030204" pitchFamily="18" charset="0"/>
                            <a:sym typeface="Calibri"/>
                          </a:rPr>
                        </m:ctrlPr>
                      </m:sSubPr>
                      <m:e>
                        <m:r>
                          <a:rPr kumimoji="0" lang="ar-EG" sz="2000" b="0" i="1" u="none" strike="noStrike" kern="0" cap="none" spc="0" normalizeH="0" baseline="0" noProof="0">
                            <a:ln>
                              <a:noFill/>
                            </a:ln>
                            <a:solidFill>
                              <a:srgbClr val="000000"/>
                            </a:solidFill>
                            <a:effectLst/>
                            <a:uLnTx/>
                            <a:uFillTx/>
                            <a:latin typeface="Cambria Math" panose="02040503050406030204" pitchFamily="18" charset="0"/>
                            <a:sym typeface="Calibri"/>
                          </a:rPr>
                          <m:t>𝐵</m:t>
                        </m:r>
                      </m:e>
                      <m:sub>
                        <m:r>
                          <a:rPr kumimoji="0" lang="ar-EG" sz="2000" b="0" i="1" u="none" strike="noStrike" kern="0" cap="none" spc="0" normalizeH="0" baseline="0" noProof="0">
                            <a:ln>
                              <a:noFill/>
                            </a:ln>
                            <a:solidFill>
                              <a:srgbClr val="000000"/>
                            </a:solidFill>
                            <a:effectLst/>
                            <a:uLnTx/>
                            <a:uFillTx/>
                            <a:latin typeface="Cambria Math" panose="02040503050406030204" pitchFamily="18" charset="0"/>
                            <a:sym typeface="Calibri"/>
                          </a:rPr>
                          <m:t>𝑏</m:t>
                        </m:r>
                      </m:sub>
                    </m:sSub>
                    <m:sSub>
                      <m:sSubPr>
                        <m:ctrlPr>
                          <a:rPr kumimoji="0" lang="ar-EG" sz="2000" b="0" i="1" u="none" strike="noStrike" kern="0" cap="none" spc="0" normalizeH="0" baseline="0" noProof="0">
                            <a:ln>
                              <a:noFill/>
                            </a:ln>
                            <a:solidFill>
                              <a:srgbClr val="000000"/>
                            </a:solidFill>
                            <a:effectLst/>
                            <a:uLnTx/>
                            <a:uFillTx/>
                            <a:latin typeface="Cambria Math" panose="02040503050406030204" pitchFamily="18" charset="0"/>
                            <a:sym typeface="Calibri"/>
                          </a:rPr>
                        </m:ctrlPr>
                      </m:sSubPr>
                      <m:e>
                        <m:r>
                          <a:rPr kumimoji="0" lang="ar-EG" sz="2000" b="0" i="1" u="none" strike="noStrike" kern="0" cap="none" spc="0" normalizeH="0" baseline="0" noProof="0">
                            <a:ln>
                              <a:noFill/>
                            </a:ln>
                            <a:solidFill>
                              <a:srgbClr val="000000"/>
                            </a:solidFill>
                            <a:effectLst/>
                            <a:uLnTx/>
                            <a:uFillTx/>
                            <a:latin typeface="Cambria Math" panose="02040503050406030204" pitchFamily="18" charset="0"/>
                            <a:sym typeface="Calibri"/>
                          </a:rPr>
                          <m:t>𝑇</m:t>
                        </m:r>
                      </m:e>
                      <m:sub>
                        <m:r>
                          <a:rPr kumimoji="0" lang="ar-EG" sz="2000" b="0" i="1" u="none" strike="noStrike" kern="0" cap="none" spc="0" normalizeH="0" baseline="0" noProof="0">
                            <a:ln>
                              <a:noFill/>
                            </a:ln>
                            <a:solidFill>
                              <a:srgbClr val="000000"/>
                            </a:solidFill>
                            <a:effectLst/>
                            <a:uLnTx/>
                            <a:uFillTx/>
                            <a:latin typeface="Cambria Math" panose="02040503050406030204" pitchFamily="18" charset="0"/>
                            <a:sym typeface="Calibri"/>
                          </a:rPr>
                          <m:t>𝑏</m:t>
                        </m:r>
                      </m:sub>
                    </m:sSub>
                  </m:oMath>
                </a14:m>
                <a:r>
                  <a:rPr kumimoji="0" lang="en-US" sz="2000" b="0" i="0" u="none" strike="noStrike" kern="0" cap="none" spc="0" normalizeH="0" baseline="0" noProof="0" dirty="0">
                    <a:ln>
                      <a:noFill/>
                    </a:ln>
                    <a:solidFill>
                      <a:srgbClr val="000000"/>
                    </a:solidFill>
                    <a:effectLst/>
                    <a:uLnTx/>
                    <a:uFillTx/>
                    <a:sym typeface="Calibri"/>
                  </a:rPr>
                  <a:t>values lead to sharper attenuation of sidelobes, thereby reducing fractional out-of-band power and the 90% bandwidth.</a:t>
                </a:r>
              </a:p>
              <a:p>
                <a:pPr marL="457200" marR="0" lvl="0" indent="-381000" algn="l" defTabSz="914400" rtl="0" eaLnBrk="1" fontAlgn="auto" latinLnBrk="0" hangingPunct="1">
                  <a:lnSpc>
                    <a:spcPct val="100000"/>
                  </a:lnSpc>
                  <a:spcBef>
                    <a:spcPts val="480"/>
                  </a:spcBef>
                  <a:spcAft>
                    <a:spcPts val="0"/>
                  </a:spcAft>
                  <a:buClr>
                    <a:srgbClr val="000000"/>
                  </a:buClr>
                  <a:buSzPts val="2400"/>
                  <a:buFont typeface="Arial"/>
                  <a:buChar char="•"/>
                  <a:tabLst/>
                  <a:defRPr/>
                </a:pPr>
                <a:r>
                  <a:rPr kumimoji="0" lang="en-US" sz="2000" b="0" i="0" u="none" strike="noStrike" kern="0" cap="none" spc="0" normalizeH="0" baseline="0" noProof="0" dirty="0">
                    <a:ln>
                      <a:noFill/>
                    </a:ln>
                    <a:solidFill>
                      <a:srgbClr val="000000"/>
                    </a:solidFill>
                    <a:effectLst/>
                    <a:uLnTx/>
                    <a:uFillTx/>
                    <a:sym typeface="Calibri"/>
                  </a:rPr>
                  <a:t>Reducing </a:t>
                </a:r>
                <a14:m>
                  <m:oMath xmlns:m="http://schemas.openxmlformats.org/officeDocument/2006/math">
                    <m:sSub>
                      <m:sSubPr>
                        <m:ctrlPr>
                          <a:rPr kumimoji="0" lang="ar-EG" sz="2000" b="0" i="1" u="none" strike="noStrike" kern="0" cap="none" spc="0" normalizeH="0" baseline="0" noProof="0">
                            <a:ln>
                              <a:noFill/>
                            </a:ln>
                            <a:solidFill>
                              <a:srgbClr val="000000"/>
                            </a:solidFill>
                            <a:effectLst/>
                            <a:uLnTx/>
                            <a:uFillTx/>
                            <a:latin typeface="Cambria Math" panose="02040503050406030204" pitchFamily="18" charset="0"/>
                            <a:sym typeface="Calibri"/>
                          </a:rPr>
                        </m:ctrlPr>
                      </m:sSubPr>
                      <m:e>
                        <m:r>
                          <a:rPr kumimoji="0" lang="ar-EG" sz="2000" b="0" i="1" u="none" strike="noStrike" kern="0" cap="none" spc="0" normalizeH="0" baseline="0" noProof="0">
                            <a:ln>
                              <a:noFill/>
                            </a:ln>
                            <a:solidFill>
                              <a:srgbClr val="000000"/>
                            </a:solidFill>
                            <a:effectLst/>
                            <a:uLnTx/>
                            <a:uFillTx/>
                            <a:latin typeface="Cambria Math" panose="02040503050406030204" pitchFamily="18" charset="0"/>
                            <a:sym typeface="Calibri"/>
                          </a:rPr>
                          <m:t>𝐵</m:t>
                        </m:r>
                      </m:e>
                      <m:sub>
                        <m:r>
                          <a:rPr kumimoji="0" lang="ar-EG" sz="2000" b="0" i="1" u="none" strike="noStrike" kern="0" cap="none" spc="0" normalizeH="0" baseline="0" noProof="0">
                            <a:ln>
                              <a:noFill/>
                            </a:ln>
                            <a:solidFill>
                              <a:srgbClr val="000000"/>
                            </a:solidFill>
                            <a:effectLst/>
                            <a:uLnTx/>
                            <a:uFillTx/>
                            <a:latin typeface="Cambria Math" panose="02040503050406030204" pitchFamily="18" charset="0"/>
                            <a:sym typeface="Calibri"/>
                          </a:rPr>
                          <m:t>𝑏</m:t>
                        </m:r>
                      </m:sub>
                    </m:sSub>
                    <m:sSub>
                      <m:sSubPr>
                        <m:ctrlPr>
                          <a:rPr kumimoji="0" lang="ar-EG" sz="2000" b="0" i="1" u="none" strike="noStrike" kern="0" cap="none" spc="0" normalizeH="0" baseline="0" noProof="0">
                            <a:ln>
                              <a:noFill/>
                            </a:ln>
                            <a:solidFill>
                              <a:srgbClr val="000000"/>
                            </a:solidFill>
                            <a:effectLst/>
                            <a:uLnTx/>
                            <a:uFillTx/>
                            <a:latin typeface="Cambria Math" panose="02040503050406030204" pitchFamily="18" charset="0"/>
                            <a:sym typeface="Calibri"/>
                          </a:rPr>
                        </m:ctrlPr>
                      </m:sSubPr>
                      <m:e>
                        <m:r>
                          <a:rPr kumimoji="0" lang="ar-EG" sz="2000" b="0" i="1" u="none" strike="noStrike" kern="0" cap="none" spc="0" normalizeH="0" baseline="0" noProof="0">
                            <a:ln>
                              <a:noFill/>
                            </a:ln>
                            <a:solidFill>
                              <a:srgbClr val="000000"/>
                            </a:solidFill>
                            <a:effectLst/>
                            <a:uLnTx/>
                            <a:uFillTx/>
                            <a:latin typeface="Cambria Math" panose="02040503050406030204" pitchFamily="18" charset="0"/>
                            <a:sym typeface="Calibri"/>
                          </a:rPr>
                          <m:t>𝑇</m:t>
                        </m:r>
                      </m:e>
                      <m:sub>
                        <m:r>
                          <a:rPr kumimoji="0" lang="ar-EG" sz="2000" b="0" i="1" u="none" strike="noStrike" kern="0" cap="none" spc="0" normalizeH="0" baseline="0" noProof="0">
                            <a:ln>
                              <a:noFill/>
                            </a:ln>
                            <a:solidFill>
                              <a:srgbClr val="000000"/>
                            </a:solidFill>
                            <a:effectLst/>
                            <a:uLnTx/>
                            <a:uFillTx/>
                            <a:latin typeface="Cambria Math" panose="02040503050406030204" pitchFamily="18" charset="0"/>
                            <a:sym typeface="Calibri"/>
                          </a:rPr>
                          <m:t>𝑏</m:t>
                        </m:r>
                      </m:sub>
                    </m:sSub>
                  </m:oMath>
                </a14:m>
                <a:r>
                  <a:rPr kumimoji="0" lang="en-US" sz="2000" b="0" i="0" u="none" strike="noStrike" kern="0" cap="none" spc="0" normalizeH="0" baseline="0" noProof="0" dirty="0">
                    <a:ln>
                      <a:noFill/>
                    </a:ln>
                    <a:solidFill>
                      <a:srgbClr val="000000"/>
                    </a:solidFill>
                    <a:effectLst/>
                    <a:uLnTx/>
                    <a:uFillTx/>
                    <a:sym typeface="Calibri"/>
                  </a:rPr>
                  <a:t>also lengthens the symbol transition time and therefore increases </a:t>
                </a:r>
                <a:r>
                  <a:rPr kumimoji="0" lang="en-US" sz="2000" b="0" i="0" u="none" strike="noStrike" kern="0" cap="none" spc="0" normalizeH="0" baseline="0" noProof="0" dirty="0" err="1">
                    <a:ln>
                      <a:noFill/>
                    </a:ln>
                    <a:solidFill>
                      <a:srgbClr val="000000"/>
                    </a:solidFill>
                    <a:effectLst/>
                    <a:uLnTx/>
                    <a:uFillTx/>
                    <a:sym typeface="Calibri"/>
                  </a:rPr>
                  <a:t>intersymbol</a:t>
                </a:r>
                <a:r>
                  <a:rPr kumimoji="0" lang="en-US" sz="2000" b="0" i="0" u="none" strike="noStrike" kern="0" cap="none" spc="0" normalizeH="0" baseline="0" noProof="0" dirty="0">
                    <a:ln>
                      <a:noFill/>
                    </a:ln>
                    <a:solidFill>
                      <a:srgbClr val="000000"/>
                    </a:solidFill>
                    <a:effectLst/>
                    <a:uLnTx/>
                    <a:uFillTx/>
                    <a:sym typeface="Calibri"/>
                  </a:rPr>
                  <a:t> interference (ISI).</a:t>
                </a:r>
              </a:p>
              <a:p>
                <a:pPr marL="457200" marR="0" lvl="0" indent="-381000" algn="l" defTabSz="914400" rtl="0" eaLnBrk="1" fontAlgn="auto" latinLnBrk="0" hangingPunct="1">
                  <a:lnSpc>
                    <a:spcPct val="100000"/>
                  </a:lnSpc>
                  <a:spcBef>
                    <a:spcPts val="480"/>
                  </a:spcBef>
                  <a:spcAft>
                    <a:spcPts val="0"/>
                  </a:spcAft>
                  <a:buClr>
                    <a:srgbClr val="000000"/>
                  </a:buClr>
                  <a:buSzPts val="2400"/>
                  <a:buFont typeface="Arial"/>
                  <a:buChar char="•"/>
                  <a:tabLst/>
                  <a:defRPr/>
                </a:pPr>
                <a:r>
                  <a:rPr kumimoji="0" lang="en-US" sz="2000" b="0" i="0" u="none" strike="noStrike" kern="0" cap="none" spc="0" normalizeH="0" baseline="0" noProof="0" dirty="0">
                    <a:ln>
                      <a:noFill/>
                    </a:ln>
                    <a:solidFill>
                      <a:srgbClr val="000000"/>
                    </a:solidFill>
                    <a:effectLst/>
                    <a:uLnTx/>
                    <a:uFillTx/>
                    <a:sym typeface="Calibri"/>
                  </a:rPr>
                  <a:t>A smaller </a:t>
                </a:r>
                <a14:m>
                  <m:oMath xmlns:m="http://schemas.openxmlformats.org/officeDocument/2006/math">
                    <m:sSub>
                      <m:sSubPr>
                        <m:ctrlPr>
                          <a:rPr kumimoji="0" lang="ar-EG" sz="2000" b="0" i="1" u="none" strike="noStrike" kern="0" cap="none" spc="0" normalizeH="0" baseline="0" noProof="0">
                            <a:ln>
                              <a:noFill/>
                            </a:ln>
                            <a:solidFill>
                              <a:srgbClr val="000000"/>
                            </a:solidFill>
                            <a:effectLst/>
                            <a:uLnTx/>
                            <a:uFillTx/>
                            <a:latin typeface="Cambria Math" panose="02040503050406030204" pitchFamily="18" charset="0"/>
                            <a:sym typeface="Calibri"/>
                          </a:rPr>
                        </m:ctrlPr>
                      </m:sSubPr>
                      <m:e>
                        <m:r>
                          <a:rPr kumimoji="0" lang="ar-EG" sz="2000" b="0" i="1" u="none" strike="noStrike" kern="0" cap="none" spc="0" normalizeH="0" baseline="0" noProof="0">
                            <a:ln>
                              <a:noFill/>
                            </a:ln>
                            <a:solidFill>
                              <a:srgbClr val="000000"/>
                            </a:solidFill>
                            <a:effectLst/>
                            <a:uLnTx/>
                            <a:uFillTx/>
                            <a:latin typeface="Cambria Math" panose="02040503050406030204" pitchFamily="18" charset="0"/>
                            <a:sym typeface="Calibri"/>
                          </a:rPr>
                          <m:t>𝐵</m:t>
                        </m:r>
                      </m:e>
                      <m:sub>
                        <m:r>
                          <a:rPr kumimoji="0" lang="ar-EG" sz="2000" b="0" i="1" u="none" strike="noStrike" kern="0" cap="none" spc="0" normalizeH="0" baseline="0" noProof="0">
                            <a:ln>
                              <a:noFill/>
                            </a:ln>
                            <a:solidFill>
                              <a:srgbClr val="000000"/>
                            </a:solidFill>
                            <a:effectLst/>
                            <a:uLnTx/>
                            <a:uFillTx/>
                            <a:latin typeface="Cambria Math" panose="02040503050406030204" pitchFamily="18" charset="0"/>
                            <a:sym typeface="Calibri"/>
                          </a:rPr>
                          <m:t>𝑏</m:t>
                        </m:r>
                      </m:sub>
                    </m:sSub>
                    <m:sSub>
                      <m:sSubPr>
                        <m:ctrlPr>
                          <a:rPr kumimoji="0" lang="ar-EG" sz="2000" b="0" i="1" u="none" strike="noStrike" kern="0" cap="none" spc="0" normalizeH="0" baseline="0" noProof="0">
                            <a:ln>
                              <a:noFill/>
                            </a:ln>
                            <a:solidFill>
                              <a:srgbClr val="000000"/>
                            </a:solidFill>
                            <a:effectLst/>
                            <a:uLnTx/>
                            <a:uFillTx/>
                            <a:latin typeface="Cambria Math" panose="02040503050406030204" pitchFamily="18" charset="0"/>
                            <a:sym typeface="Calibri"/>
                          </a:rPr>
                        </m:ctrlPr>
                      </m:sSubPr>
                      <m:e>
                        <m:r>
                          <a:rPr kumimoji="0" lang="ar-EG" sz="2000" b="0" i="1" u="none" strike="noStrike" kern="0" cap="none" spc="0" normalizeH="0" baseline="0" noProof="0">
                            <a:ln>
                              <a:noFill/>
                            </a:ln>
                            <a:solidFill>
                              <a:srgbClr val="000000"/>
                            </a:solidFill>
                            <a:effectLst/>
                            <a:uLnTx/>
                            <a:uFillTx/>
                            <a:latin typeface="Cambria Math" panose="02040503050406030204" pitchFamily="18" charset="0"/>
                            <a:sym typeface="Calibri"/>
                          </a:rPr>
                          <m:t>𝑇</m:t>
                        </m:r>
                      </m:e>
                      <m:sub>
                        <m:r>
                          <a:rPr kumimoji="0" lang="ar-EG" sz="2000" b="0" i="1" u="none" strike="noStrike" kern="0" cap="none" spc="0" normalizeH="0" baseline="0" noProof="0">
                            <a:ln>
                              <a:noFill/>
                            </a:ln>
                            <a:solidFill>
                              <a:srgbClr val="000000"/>
                            </a:solidFill>
                            <a:effectLst/>
                            <a:uLnTx/>
                            <a:uFillTx/>
                            <a:latin typeface="Cambria Math" panose="02040503050406030204" pitchFamily="18" charset="0"/>
                            <a:sym typeface="Calibri"/>
                          </a:rPr>
                          <m:t>𝑏</m:t>
                        </m:r>
                      </m:sub>
                    </m:sSub>
                  </m:oMath>
                </a14:m>
                <a:r>
                  <a:rPr kumimoji="0" lang="en-US" sz="2000" b="0" i="0" u="none" strike="noStrike" kern="0" cap="none" spc="0" normalizeH="0" baseline="0" noProof="0" dirty="0">
                    <a:ln>
                      <a:noFill/>
                    </a:ln>
                    <a:solidFill>
                      <a:srgbClr val="000000"/>
                    </a:solidFill>
                    <a:effectLst/>
                    <a:uLnTx/>
                    <a:uFillTx/>
                    <a:sym typeface="Calibri"/>
                  </a:rPr>
                  <a:t>compresses the signal’s spectrum (narrower frequency occupancy) while stretching transitions in time, whereas larger </a:t>
                </a:r>
                <a14:m>
                  <m:oMath xmlns:m="http://schemas.openxmlformats.org/officeDocument/2006/math">
                    <m:sSub>
                      <m:sSubPr>
                        <m:ctrlPr>
                          <a:rPr kumimoji="0" lang="ar-EG" sz="2000" b="0" i="1" u="none" strike="noStrike" kern="0" cap="none" spc="0" normalizeH="0" baseline="0" noProof="0">
                            <a:ln>
                              <a:noFill/>
                            </a:ln>
                            <a:solidFill>
                              <a:srgbClr val="000000"/>
                            </a:solidFill>
                            <a:effectLst/>
                            <a:uLnTx/>
                            <a:uFillTx/>
                            <a:latin typeface="Cambria Math" panose="02040503050406030204" pitchFamily="18" charset="0"/>
                            <a:sym typeface="Calibri"/>
                          </a:rPr>
                        </m:ctrlPr>
                      </m:sSubPr>
                      <m:e>
                        <m:r>
                          <a:rPr kumimoji="0" lang="ar-EG" sz="2000" b="0" i="1" u="none" strike="noStrike" kern="0" cap="none" spc="0" normalizeH="0" baseline="0" noProof="0">
                            <a:ln>
                              <a:noFill/>
                            </a:ln>
                            <a:solidFill>
                              <a:srgbClr val="000000"/>
                            </a:solidFill>
                            <a:effectLst/>
                            <a:uLnTx/>
                            <a:uFillTx/>
                            <a:latin typeface="Cambria Math" panose="02040503050406030204" pitchFamily="18" charset="0"/>
                            <a:sym typeface="Calibri"/>
                          </a:rPr>
                          <m:t>𝐵</m:t>
                        </m:r>
                      </m:e>
                      <m:sub>
                        <m:r>
                          <a:rPr kumimoji="0" lang="ar-EG" sz="2000" b="0" i="1" u="none" strike="noStrike" kern="0" cap="none" spc="0" normalizeH="0" baseline="0" noProof="0">
                            <a:ln>
                              <a:noFill/>
                            </a:ln>
                            <a:solidFill>
                              <a:srgbClr val="000000"/>
                            </a:solidFill>
                            <a:effectLst/>
                            <a:uLnTx/>
                            <a:uFillTx/>
                            <a:latin typeface="Cambria Math" panose="02040503050406030204" pitchFamily="18" charset="0"/>
                            <a:sym typeface="Calibri"/>
                          </a:rPr>
                          <m:t>𝑏</m:t>
                        </m:r>
                      </m:sub>
                    </m:sSub>
                    <m:sSub>
                      <m:sSubPr>
                        <m:ctrlPr>
                          <a:rPr kumimoji="0" lang="ar-EG" sz="2000" b="0" i="1" u="none" strike="noStrike" kern="0" cap="none" spc="0" normalizeH="0" baseline="0" noProof="0">
                            <a:ln>
                              <a:noFill/>
                            </a:ln>
                            <a:solidFill>
                              <a:srgbClr val="000000"/>
                            </a:solidFill>
                            <a:effectLst/>
                            <a:uLnTx/>
                            <a:uFillTx/>
                            <a:latin typeface="Cambria Math" panose="02040503050406030204" pitchFamily="18" charset="0"/>
                            <a:sym typeface="Calibri"/>
                          </a:rPr>
                        </m:ctrlPr>
                      </m:sSubPr>
                      <m:e>
                        <m:r>
                          <a:rPr kumimoji="0" lang="ar-EG" sz="2000" b="0" i="1" u="none" strike="noStrike" kern="0" cap="none" spc="0" normalizeH="0" baseline="0" noProof="0">
                            <a:ln>
                              <a:noFill/>
                            </a:ln>
                            <a:solidFill>
                              <a:srgbClr val="000000"/>
                            </a:solidFill>
                            <a:effectLst/>
                            <a:uLnTx/>
                            <a:uFillTx/>
                            <a:latin typeface="Cambria Math" panose="02040503050406030204" pitchFamily="18" charset="0"/>
                            <a:sym typeface="Calibri"/>
                          </a:rPr>
                          <m:t>𝑇</m:t>
                        </m:r>
                      </m:e>
                      <m:sub>
                        <m:r>
                          <a:rPr kumimoji="0" lang="ar-EG" sz="2000" b="0" i="1" u="none" strike="noStrike" kern="0" cap="none" spc="0" normalizeH="0" baseline="0" noProof="0">
                            <a:ln>
                              <a:noFill/>
                            </a:ln>
                            <a:solidFill>
                              <a:srgbClr val="000000"/>
                            </a:solidFill>
                            <a:effectLst/>
                            <a:uLnTx/>
                            <a:uFillTx/>
                            <a:latin typeface="Cambria Math" panose="02040503050406030204" pitchFamily="18" charset="0"/>
                            <a:sym typeface="Calibri"/>
                          </a:rPr>
                          <m:t>𝑏</m:t>
                        </m:r>
                      </m:sub>
                    </m:sSub>
                  </m:oMath>
                </a14:m>
                <a:r>
                  <a:rPr kumimoji="0" lang="en-US" sz="2000" b="0" i="0" u="none" strike="noStrike" kern="0" cap="none" spc="0" normalizeH="0" baseline="0" noProof="0" dirty="0">
                    <a:ln>
                      <a:noFill/>
                    </a:ln>
                    <a:solidFill>
                      <a:srgbClr val="000000"/>
                    </a:solidFill>
                    <a:effectLst/>
                    <a:uLnTx/>
                    <a:uFillTx/>
                    <a:sym typeface="Calibri"/>
                  </a:rPr>
                  <a:t>values increase bandwidth but reduce symbol transition time.</a:t>
                </a:r>
              </a:p>
              <a:p>
                <a:pPr marL="457200" marR="0" lvl="0" indent="-381000" algn="l" defTabSz="914400" rtl="0" eaLnBrk="1" fontAlgn="auto" latinLnBrk="0" hangingPunct="1">
                  <a:lnSpc>
                    <a:spcPct val="100000"/>
                  </a:lnSpc>
                  <a:spcBef>
                    <a:spcPts val="480"/>
                  </a:spcBef>
                  <a:spcAft>
                    <a:spcPts val="0"/>
                  </a:spcAft>
                  <a:buClr>
                    <a:srgbClr val="000000"/>
                  </a:buClr>
                  <a:buSzPts val="2400"/>
                  <a:buFont typeface="Arial"/>
                  <a:buChar char="•"/>
                  <a:tabLst/>
                  <a:defRPr/>
                </a:pPr>
                <a:r>
                  <a:rPr kumimoji="0" lang="en-US" sz="2000" b="0" i="0" u="none" strike="noStrike" kern="0" cap="none" spc="0" normalizeH="0" baseline="0" noProof="0" dirty="0">
                    <a:ln>
                      <a:noFill/>
                    </a:ln>
                    <a:solidFill>
                      <a:srgbClr val="000000"/>
                    </a:solidFill>
                    <a:effectLst/>
                    <a:uLnTx/>
                    <a:uFillTx/>
                    <a:sym typeface="Calibri"/>
                  </a:rPr>
                  <a:t>The Bluetooth Low Energy 5.4 Core Specification requires a </a:t>
                </a:r>
                <a14:m>
                  <m:oMath xmlns:m="http://schemas.openxmlformats.org/officeDocument/2006/math">
                    <m:sSub>
                      <m:sSubPr>
                        <m:ctrlPr>
                          <a:rPr kumimoji="0" lang="ar-EG" sz="2000" b="0" i="1" u="none" strike="noStrike" kern="0" cap="none" spc="0" normalizeH="0" baseline="0" noProof="0">
                            <a:ln>
                              <a:noFill/>
                            </a:ln>
                            <a:solidFill>
                              <a:srgbClr val="000000"/>
                            </a:solidFill>
                            <a:effectLst/>
                            <a:uLnTx/>
                            <a:uFillTx/>
                            <a:latin typeface="Cambria Math" panose="02040503050406030204" pitchFamily="18" charset="0"/>
                            <a:sym typeface="Calibri"/>
                          </a:rPr>
                        </m:ctrlPr>
                      </m:sSubPr>
                      <m:e>
                        <m:r>
                          <a:rPr kumimoji="0" lang="ar-EG" sz="2000" b="0" i="1" u="none" strike="noStrike" kern="0" cap="none" spc="0" normalizeH="0" baseline="0" noProof="0">
                            <a:ln>
                              <a:noFill/>
                            </a:ln>
                            <a:solidFill>
                              <a:srgbClr val="000000"/>
                            </a:solidFill>
                            <a:effectLst/>
                            <a:uLnTx/>
                            <a:uFillTx/>
                            <a:latin typeface="Cambria Math" panose="02040503050406030204" pitchFamily="18" charset="0"/>
                            <a:sym typeface="Calibri"/>
                          </a:rPr>
                          <m:t>𝐵</m:t>
                        </m:r>
                      </m:e>
                      <m:sub>
                        <m:r>
                          <a:rPr kumimoji="0" lang="ar-EG" sz="2000" b="0" i="1" u="none" strike="noStrike" kern="0" cap="none" spc="0" normalizeH="0" baseline="0" noProof="0">
                            <a:ln>
                              <a:noFill/>
                            </a:ln>
                            <a:solidFill>
                              <a:srgbClr val="000000"/>
                            </a:solidFill>
                            <a:effectLst/>
                            <a:uLnTx/>
                            <a:uFillTx/>
                            <a:latin typeface="Cambria Math" panose="02040503050406030204" pitchFamily="18" charset="0"/>
                            <a:sym typeface="Calibri"/>
                          </a:rPr>
                          <m:t>𝑏</m:t>
                        </m:r>
                      </m:sub>
                    </m:sSub>
                    <m:sSub>
                      <m:sSubPr>
                        <m:ctrlPr>
                          <a:rPr kumimoji="0" lang="ar-EG" sz="2000" b="0" i="1" u="none" strike="noStrike" kern="0" cap="none" spc="0" normalizeH="0" baseline="0" noProof="0">
                            <a:ln>
                              <a:noFill/>
                            </a:ln>
                            <a:solidFill>
                              <a:srgbClr val="000000"/>
                            </a:solidFill>
                            <a:effectLst/>
                            <a:uLnTx/>
                            <a:uFillTx/>
                            <a:latin typeface="Cambria Math" panose="02040503050406030204" pitchFamily="18" charset="0"/>
                            <a:sym typeface="Calibri"/>
                          </a:rPr>
                        </m:ctrlPr>
                      </m:sSubPr>
                      <m:e>
                        <m:r>
                          <a:rPr kumimoji="0" lang="ar-EG" sz="2000" b="0" i="1" u="none" strike="noStrike" kern="0" cap="none" spc="0" normalizeH="0" baseline="0" noProof="0">
                            <a:ln>
                              <a:noFill/>
                            </a:ln>
                            <a:solidFill>
                              <a:srgbClr val="000000"/>
                            </a:solidFill>
                            <a:effectLst/>
                            <a:uLnTx/>
                            <a:uFillTx/>
                            <a:latin typeface="Cambria Math" panose="02040503050406030204" pitchFamily="18" charset="0"/>
                            <a:sym typeface="Calibri"/>
                          </a:rPr>
                          <m:t>𝑇</m:t>
                        </m:r>
                      </m:e>
                      <m:sub>
                        <m:r>
                          <a:rPr kumimoji="0" lang="ar-EG" sz="2000" b="0" i="1" u="none" strike="noStrike" kern="0" cap="none" spc="0" normalizeH="0" baseline="0" noProof="0">
                            <a:ln>
                              <a:noFill/>
                            </a:ln>
                            <a:solidFill>
                              <a:srgbClr val="000000"/>
                            </a:solidFill>
                            <a:effectLst/>
                            <a:uLnTx/>
                            <a:uFillTx/>
                            <a:latin typeface="Cambria Math" panose="02040503050406030204" pitchFamily="18" charset="0"/>
                            <a:sym typeface="Calibri"/>
                          </a:rPr>
                          <m:t>𝑏</m:t>
                        </m:r>
                      </m:sub>
                    </m:sSub>
                  </m:oMath>
                </a14:m>
                <a:r>
                  <a:rPr kumimoji="0" lang="en-US" sz="2000" b="0" i="0" u="none" strike="noStrike" kern="0" cap="none" spc="0" normalizeH="0" baseline="0" noProof="0" dirty="0">
                    <a:ln>
                      <a:noFill/>
                    </a:ln>
                    <a:solidFill>
                      <a:srgbClr val="000000"/>
                    </a:solidFill>
                    <a:effectLst/>
                    <a:uLnTx/>
                    <a:uFillTx/>
                    <a:sym typeface="Calibri"/>
                  </a:rPr>
                  <a:t>product of </a:t>
                </a:r>
                <a:r>
                  <a:rPr kumimoji="0" lang="en-US" sz="2000" b="1" i="0" u="none" strike="noStrike" kern="0" cap="none" spc="0" normalizeH="0" baseline="0" noProof="0" dirty="0">
                    <a:ln>
                      <a:noFill/>
                    </a:ln>
                    <a:solidFill>
                      <a:srgbClr val="000000"/>
                    </a:solidFill>
                    <a:effectLst/>
                    <a:uLnTx/>
                    <a:uFillTx/>
                    <a:sym typeface="Calibri"/>
                  </a:rPr>
                  <a:t>0.5</a:t>
                </a:r>
                <a:r>
                  <a:rPr kumimoji="0" lang="en-US" sz="2000" b="0" i="0" u="none" strike="noStrike" kern="0" cap="none" spc="0" normalizeH="0" baseline="0" noProof="0" dirty="0">
                    <a:ln>
                      <a:noFill/>
                    </a:ln>
                    <a:solidFill>
                      <a:srgbClr val="000000"/>
                    </a:solidFill>
                    <a:effectLst/>
                    <a:uLnTx/>
                    <a:uFillTx/>
                    <a:sym typeface="Calibri"/>
                  </a:rPr>
                  <a:t>.</a:t>
                </a:r>
              </a:p>
              <a:p>
                <a:pPr marL="457200" marR="0" lvl="0" indent="-381000" algn="l" defTabSz="914400" rtl="0" eaLnBrk="1" fontAlgn="auto" latinLnBrk="0" hangingPunct="1">
                  <a:lnSpc>
                    <a:spcPct val="100000"/>
                  </a:lnSpc>
                  <a:spcBef>
                    <a:spcPts val="480"/>
                  </a:spcBef>
                  <a:spcAft>
                    <a:spcPts val="0"/>
                  </a:spcAft>
                  <a:buClr>
                    <a:srgbClr val="000000"/>
                  </a:buClr>
                  <a:buSzPts val="2400"/>
                  <a:buFont typeface="Arial"/>
                  <a:buChar char="•"/>
                  <a:tabLst/>
                  <a:defRPr/>
                </a:pPr>
                <a:endParaRPr kumimoji="0" lang="en-US" sz="24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mc:Choice>
        <mc:Fallback xmlns="">
          <p:sp>
            <p:nvSpPr>
              <p:cNvPr id="8" name="Text Placeholder 2">
                <a:extLst>
                  <a:ext uri="{FF2B5EF4-FFF2-40B4-BE49-F238E27FC236}">
                    <a16:creationId xmlns:a16="http://schemas.microsoft.com/office/drawing/2014/main" id="{48681BB8-7FEB-3504-3938-B5528416EF5C}"/>
                  </a:ext>
                </a:extLst>
              </p:cNvPr>
              <p:cNvSpPr txBox="1">
                <a:spLocks noRot="1" noChangeAspect="1" noMove="1" noResize="1" noEditPoints="1" noAdjustHandles="1" noChangeArrowheads="1" noChangeShapeType="1" noTextEdit="1"/>
              </p:cNvSpPr>
              <p:nvPr/>
            </p:nvSpPr>
            <p:spPr>
              <a:xfrm>
                <a:off x="609600" y="1390260"/>
                <a:ext cx="7665720" cy="4702630"/>
              </a:xfrm>
              <a:prstGeom prst="rect">
                <a:avLst/>
              </a:prstGeom>
              <a:blipFill>
                <a:blip r:embed="rId3"/>
                <a:stretch>
                  <a:fillRect l="-79" t="-259" r="-1272"/>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376963379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 xmlns:a16="http://schemas.microsoft.com/office/drawing/2014/main" id="{A83454E7-4ABD-F1A0-C0C6-877C8E759678}"/>
            </a:ext>
          </a:extLst>
        </p:cNvPr>
        <p:cNvGrpSpPr/>
        <p:nvPr/>
      </p:nvGrpSpPr>
      <p:grpSpPr>
        <a:xfrm>
          <a:off x="0" y="0"/>
          <a:ext cx="0" cy="0"/>
          <a:chOff x="0" y="0"/>
          <a:chExt cx="0" cy="0"/>
        </a:xfrm>
      </p:grpSpPr>
      <p:sp>
        <p:nvSpPr>
          <p:cNvPr id="6" name="Title 5">
            <a:extLst>
              <a:ext uri="{FF2B5EF4-FFF2-40B4-BE49-F238E27FC236}">
                <a16:creationId xmlns="" xmlns:a16="http://schemas.microsoft.com/office/drawing/2014/main" id="{C583DAE2-3C9F-6200-BEBF-CAAAF4FD9835}"/>
              </a:ext>
            </a:extLst>
          </p:cNvPr>
          <p:cNvSpPr>
            <a:spLocks noGrp="1"/>
          </p:cNvSpPr>
          <p:nvPr>
            <p:ph type="title"/>
          </p:nvPr>
        </p:nvSpPr>
        <p:spPr/>
        <p:txBody>
          <a:bodyPr/>
          <a:lstStyle/>
          <a:p>
            <a:r>
              <a:rPr lang="en-US" sz="3200" dirty="0">
                <a:latin typeface="Times New Roman" panose="02020603050405020304" pitchFamily="18" charset="0"/>
                <a:cs typeface="Times New Roman" panose="02020603050405020304" pitchFamily="18" charset="0"/>
              </a:rPr>
              <a:t>System Block Diagram</a:t>
            </a:r>
          </a:p>
        </p:txBody>
      </p:sp>
      <p:pic>
        <p:nvPicPr>
          <p:cNvPr id="3" name="Picture 2">
            <a:extLst>
              <a:ext uri="{FF2B5EF4-FFF2-40B4-BE49-F238E27FC236}">
                <a16:creationId xmlns="" xmlns:a16="http://schemas.microsoft.com/office/drawing/2014/main" id="{33DFF995-250C-6CA5-84A7-BF5DCFB4E46A}"/>
              </a:ext>
            </a:extLst>
          </p:cNvPr>
          <p:cNvPicPr>
            <a:picLocks noChangeAspect="1"/>
          </p:cNvPicPr>
          <p:nvPr/>
        </p:nvPicPr>
        <p:blipFill>
          <a:blip r:embed="rId3"/>
          <a:stretch>
            <a:fillRect/>
          </a:stretch>
        </p:blipFill>
        <p:spPr>
          <a:xfrm>
            <a:off x="783772" y="1436914"/>
            <a:ext cx="10798628" cy="4644798"/>
          </a:xfrm>
          <a:prstGeom prst="rect">
            <a:avLst/>
          </a:prstGeom>
        </p:spPr>
      </p:pic>
      <p:sp>
        <p:nvSpPr>
          <p:cNvPr id="4" name="Rectangle 3">
            <a:extLst>
              <a:ext uri="{FF2B5EF4-FFF2-40B4-BE49-F238E27FC236}">
                <a16:creationId xmlns="" xmlns:a16="http://schemas.microsoft.com/office/drawing/2014/main" id="{45E65D93-0C51-FB7D-194B-D51E61440EB7}"/>
              </a:ext>
            </a:extLst>
          </p:cNvPr>
          <p:cNvSpPr/>
          <p:nvPr/>
        </p:nvSpPr>
        <p:spPr>
          <a:xfrm>
            <a:off x="3368351" y="2948473"/>
            <a:ext cx="1296955" cy="755780"/>
          </a:xfrm>
          <a:prstGeom prst="rect">
            <a:avLst/>
          </a:prstGeom>
          <a:noFill/>
          <a:ln>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42999407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2A87F594-60AD-7EB9-5067-72A0292DDF41}"/>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ED6B2F70-4B21-7430-2AAF-0D8BB926150D}"/>
              </a:ext>
            </a:extLst>
          </p:cNvPr>
          <p:cNvSpPr>
            <a:spLocks noGrp="1"/>
          </p:cNvSpPr>
          <p:nvPr>
            <p:ph type="title"/>
          </p:nvPr>
        </p:nvSpPr>
        <p:spPr/>
        <p:txBody>
          <a:bodyPr>
            <a:normAutofit/>
          </a:bodyPr>
          <a:lstStyle/>
          <a:p>
            <a:r>
              <a:rPr lang="en-US" sz="3200" dirty="0">
                <a:latin typeface="Times New Roman" panose="02020603050405020304" pitchFamily="18" charset="0"/>
                <a:cs typeface="Times New Roman" panose="02020603050405020304" pitchFamily="18" charset="0"/>
              </a:rPr>
              <a:t>Gaussian Filter as FIR Filter</a:t>
            </a:r>
          </a:p>
        </p:txBody>
      </p:sp>
      <mc:AlternateContent xmlns:mc="http://schemas.openxmlformats.org/markup-compatibility/2006" xmlns:a14="http://schemas.microsoft.com/office/drawing/2010/main">
        <mc:Choice Requires="a14">
          <p:sp>
            <p:nvSpPr>
              <p:cNvPr id="20" name="TextBox 19">
                <a:extLst>
                  <a:ext uri="{FF2B5EF4-FFF2-40B4-BE49-F238E27FC236}">
                    <a16:creationId xmlns="" xmlns:a16="http://schemas.microsoft.com/office/drawing/2014/main" id="{2E96E203-CCF0-61AB-0AED-B73395427875}"/>
                  </a:ext>
                </a:extLst>
              </p:cNvPr>
              <p:cNvSpPr txBox="1"/>
              <p:nvPr/>
            </p:nvSpPr>
            <p:spPr>
              <a:xfrm>
                <a:off x="529512" y="1372603"/>
                <a:ext cx="11319588" cy="1945533"/>
              </a:xfrm>
              <a:prstGeom prst="rect">
                <a:avLst/>
              </a:prstGeom>
              <a:noFill/>
            </p:spPr>
            <p:txBody>
              <a:bodyPr wrap="square">
                <a:spAutoFit/>
              </a:bodyPr>
              <a:lstStyle/>
              <a:p>
                <a:pPr marL="457200" marR="0" lvl="0" indent="-381000" algn="l" defTabSz="914400" rtl="0" eaLnBrk="1" fontAlgn="auto" latinLnBrk="0" hangingPunct="1">
                  <a:lnSpc>
                    <a:spcPct val="100000"/>
                  </a:lnSpc>
                  <a:spcBef>
                    <a:spcPts val="480"/>
                  </a:spcBef>
                  <a:spcAft>
                    <a:spcPts val="0"/>
                  </a:spcAft>
                  <a:buClr>
                    <a:srgbClr val="000000"/>
                  </a:buClr>
                  <a:buSzPts val="2400"/>
                  <a:buFont typeface="Arial"/>
                  <a:buChar char="•"/>
                  <a:tabLst/>
                  <a:defRPr/>
                </a:pPr>
                <a:r>
                  <a:rPr kumimoji="0" lang="en-US" sz="2000" b="0" i="0" u="none" strike="noStrike" kern="0" cap="none" spc="0" normalizeH="0" baseline="0" noProof="0" dirty="0">
                    <a:ln>
                      <a:noFill/>
                    </a:ln>
                    <a:solidFill>
                      <a:srgbClr val="000000"/>
                    </a:solidFill>
                    <a:effectLst/>
                    <a:uLnTx/>
                    <a:uFillTx/>
                    <a:latin typeface="Calibri"/>
                    <a:ea typeface="Calibri"/>
                    <a:cs typeface="Calibri"/>
                    <a:sym typeface="Calibri"/>
                  </a:rPr>
                  <a:t>The Gaussian pulse-shaping filter is implemented digitally as a </a:t>
                </a:r>
                <a:r>
                  <a:rPr kumimoji="0" lang="en-US" sz="2000" b="1" i="0" u="none" strike="noStrike" kern="0" cap="none" spc="0" normalizeH="0" baseline="0" noProof="0" dirty="0">
                    <a:ln>
                      <a:noFill/>
                    </a:ln>
                    <a:solidFill>
                      <a:srgbClr val="000000"/>
                    </a:solidFill>
                    <a:effectLst/>
                    <a:uLnTx/>
                    <a:uFillTx/>
                    <a:latin typeface="Calibri"/>
                    <a:ea typeface="Calibri"/>
                    <a:cs typeface="Calibri"/>
                    <a:sym typeface="Calibri"/>
                  </a:rPr>
                  <a:t>finite impulse response (FIR)</a:t>
                </a:r>
                <a:r>
                  <a:rPr kumimoji="0" lang="en-US" sz="2000" b="0" i="0" u="none" strike="noStrike" kern="0" cap="none" spc="0" normalizeH="0" baseline="0" noProof="0" dirty="0">
                    <a:ln>
                      <a:noFill/>
                    </a:ln>
                    <a:solidFill>
                      <a:srgbClr val="000000"/>
                    </a:solidFill>
                    <a:effectLst/>
                    <a:uLnTx/>
                    <a:uFillTx/>
                    <a:latin typeface="Calibri"/>
                    <a:ea typeface="Calibri"/>
                    <a:cs typeface="Calibri"/>
                    <a:sym typeface="Calibri"/>
                  </a:rPr>
                  <a:t> filter:</a:t>
                </a:r>
              </a:p>
              <a:p>
                <a:pPr marL="76200" marR="0" lvl="0" indent="0" algn="l" defTabSz="914400" rtl="0" eaLnBrk="1" fontAlgn="auto" latinLnBrk="0" hangingPunct="1">
                  <a:lnSpc>
                    <a:spcPct val="100000"/>
                  </a:lnSpc>
                  <a:spcBef>
                    <a:spcPts val="480"/>
                  </a:spcBef>
                  <a:spcAft>
                    <a:spcPts val="0"/>
                  </a:spcAft>
                  <a:buClr>
                    <a:srgbClr val="000000"/>
                  </a:buClr>
                  <a:buSzPts val="2400"/>
                  <a:buFont typeface="Arial"/>
                  <a:buNone/>
                  <a:tabLst/>
                  <a:defRPr/>
                </a:pPr>
                <a14:m>
                  <m:oMathPara xmlns:m="http://schemas.openxmlformats.org/officeDocument/2006/math">
                    <m:oMathParaPr>
                      <m:jc m:val="centerGroup"/>
                    </m:oMathParaPr>
                    <m:oMath xmlns:m="http://schemas.openxmlformats.org/officeDocument/2006/math">
                      <m:r>
                        <a:rPr kumimoji="0" lang="en-US" sz="2000" b="0" i="1" u="none" strike="noStrike" kern="0" cap="none" spc="0" normalizeH="0" baseline="0" noProof="0">
                          <a:ln>
                            <a:noFill/>
                          </a:ln>
                          <a:solidFill>
                            <a:srgbClr val="000000"/>
                          </a:solidFill>
                          <a:effectLst/>
                          <a:uLnTx/>
                          <a:uFillTx/>
                          <a:latin typeface="Cambria Math" panose="02040503050406030204" pitchFamily="18" charset="0"/>
                          <a:sym typeface="Calibri"/>
                        </a:rPr>
                        <m:t>𝑦</m:t>
                      </m:r>
                      <m:d>
                        <m:dPr>
                          <m:begChr m:val="["/>
                          <m:endChr m:val="]"/>
                          <m:ctrlPr>
                            <a:rPr kumimoji="0" lang="ar-EG" sz="2000" b="0" i="1" u="none" strike="noStrike" kern="0" cap="none" spc="0" normalizeH="0" baseline="0" noProof="0">
                              <a:ln>
                                <a:noFill/>
                              </a:ln>
                              <a:solidFill>
                                <a:srgbClr val="000000"/>
                              </a:solidFill>
                              <a:effectLst/>
                              <a:uLnTx/>
                              <a:uFillTx/>
                              <a:latin typeface="Cambria Math" panose="02040503050406030204" pitchFamily="18" charset="0"/>
                              <a:sym typeface="Calibri"/>
                            </a:rPr>
                          </m:ctrlPr>
                        </m:dPr>
                        <m:e>
                          <m:r>
                            <a:rPr kumimoji="0" lang="ar-EG" sz="2000" b="0" i="1" u="none" strike="noStrike" kern="0" cap="none" spc="0" normalizeH="0" baseline="0" noProof="0">
                              <a:ln>
                                <a:noFill/>
                              </a:ln>
                              <a:solidFill>
                                <a:srgbClr val="000000"/>
                              </a:solidFill>
                              <a:effectLst/>
                              <a:uLnTx/>
                              <a:uFillTx/>
                              <a:latin typeface="Cambria Math" panose="02040503050406030204" pitchFamily="18" charset="0"/>
                              <a:sym typeface="Calibri"/>
                            </a:rPr>
                            <m:t>𝑛</m:t>
                          </m:r>
                        </m:e>
                      </m:d>
                      <m:r>
                        <a:rPr kumimoji="0" lang="ar-EG" sz="2000" b="0" i="0" u="none" strike="noStrike" kern="0" cap="none" spc="0" normalizeH="0" baseline="0" noProof="0">
                          <a:ln>
                            <a:noFill/>
                          </a:ln>
                          <a:solidFill>
                            <a:srgbClr val="000000"/>
                          </a:solidFill>
                          <a:effectLst/>
                          <a:uLnTx/>
                          <a:uFillTx/>
                          <a:latin typeface="Cambria Math" panose="02040503050406030204" pitchFamily="18" charset="0"/>
                          <a:sym typeface="Calibri"/>
                        </a:rPr>
                        <m:t>=</m:t>
                      </m:r>
                      <m:nary>
                        <m:naryPr>
                          <m:chr m:val="∑"/>
                          <m:grow m:val="on"/>
                          <m:ctrlPr>
                            <a:rPr kumimoji="0" lang="ar-EG" sz="2000" b="0" i="1" u="none" strike="noStrike" kern="0" cap="none" spc="0" normalizeH="0" baseline="0" noProof="0">
                              <a:ln>
                                <a:noFill/>
                              </a:ln>
                              <a:solidFill>
                                <a:srgbClr val="000000"/>
                              </a:solidFill>
                              <a:effectLst/>
                              <a:uLnTx/>
                              <a:uFillTx/>
                              <a:latin typeface="Cambria Math" panose="02040503050406030204" pitchFamily="18" charset="0"/>
                              <a:sym typeface="Calibri"/>
                            </a:rPr>
                          </m:ctrlPr>
                        </m:naryPr>
                        <m:sub>
                          <m:r>
                            <a:rPr kumimoji="0" lang="ar-EG" sz="2000" b="0" i="1" u="none" strike="noStrike" kern="0" cap="none" spc="0" normalizeH="0" baseline="0" noProof="0">
                              <a:ln>
                                <a:noFill/>
                              </a:ln>
                              <a:solidFill>
                                <a:srgbClr val="000000"/>
                              </a:solidFill>
                              <a:effectLst/>
                              <a:uLnTx/>
                              <a:uFillTx/>
                              <a:latin typeface="Cambria Math" panose="02040503050406030204" pitchFamily="18" charset="0"/>
                              <a:sym typeface="Calibri"/>
                            </a:rPr>
                            <m:t>𝑘</m:t>
                          </m:r>
                          <m:r>
                            <a:rPr kumimoji="0" lang="ar-EG" sz="2000" b="0" i="0" u="none" strike="noStrike" kern="0" cap="none" spc="0" normalizeH="0" baseline="0" noProof="0">
                              <a:ln>
                                <a:noFill/>
                              </a:ln>
                              <a:solidFill>
                                <a:srgbClr val="000000"/>
                              </a:solidFill>
                              <a:effectLst/>
                              <a:uLnTx/>
                              <a:uFillTx/>
                              <a:latin typeface="Cambria Math" panose="02040503050406030204" pitchFamily="18" charset="0"/>
                              <a:sym typeface="Calibri"/>
                            </a:rPr>
                            <m:t>=</m:t>
                          </m:r>
                          <m:r>
                            <a:rPr kumimoji="0" lang="ar-EG" sz="2000" b="0" i="0" u="none" strike="noStrike" kern="0" cap="none" spc="0" normalizeH="0" baseline="0" noProof="0">
                              <a:ln>
                                <a:noFill/>
                              </a:ln>
                              <a:solidFill>
                                <a:srgbClr val="000000"/>
                              </a:solidFill>
                              <a:effectLst/>
                              <a:uLnTx/>
                              <a:uFillTx/>
                              <a:latin typeface="Cambria Math" panose="02040503050406030204" pitchFamily="18" charset="0"/>
                              <a:sym typeface="Calibri"/>
                            </a:rPr>
                            <m:t>0</m:t>
                          </m:r>
                        </m:sub>
                        <m:sup>
                          <m:r>
                            <a:rPr kumimoji="0" lang="ar-EG" sz="2000" b="0" i="1" u="none" strike="noStrike" kern="0" cap="none" spc="0" normalizeH="0" baseline="0" noProof="0">
                              <a:ln>
                                <a:noFill/>
                              </a:ln>
                              <a:solidFill>
                                <a:srgbClr val="000000"/>
                              </a:solidFill>
                              <a:effectLst/>
                              <a:uLnTx/>
                              <a:uFillTx/>
                              <a:latin typeface="Cambria Math" panose="02040503050406030204" pitchFamily="18" charset="0"/>
                              <a:sym typeface="Calibri"/>
                            </a:rPr>
                            <m:t>𝑁</m:t>
                          </m:r>
                          <m:r>
                            <a:rPr kumimoji="0" lang="ar-EG" sz="2000" b="0" i="0" u="none" strike="noStrike" kern="0" cap="none" spc="0" normalizeH="0" baseline="0" noProof="0">
                              <a:ln>
                                <a:noFill/>
                              </a:ln>
                              <a:solidFill>
                                <a:srgbClr val="000000"/>
                              </a:solidFill>
                              <a:effectLst/>
                              <a:uLnTx/>
                              <a:uFillTx/>
                              <a:latin typeface="Cambria Math" panose="02040503050406030204" pitchFamily="18" charset="0"/>
                              <a:sym typeface="Calibri"/>
                            </a:rPr>
                            <m:t>−</m:t>
                          </m:r>
                          <m:r>
                            <a:rPr kumimoji="0" lang="ar-EG" sz="2000" b="0" i="0" u="none" strike="noStrike" kern="0" cap="none" spc="0" normalizeH="0" baseline="0" noProof="0">
                              <a:ln>
                                <a:noFill/>
                              </a:ln>
                              <a:solidFill>
                                <a:srgbClr val="000000"/>
                              </a:solidFill>
                              <a:effectLst/>
                              <a:uLnTx/>
                              <a:uFillTx/>
                              <a:latin typeface="Cambria Math" panose="02040503050406030204" pitchFamily="18" charset="0"/>
                              <a:sym typeface="Calibri"/>
                            </a:rPr>
                            <m:t>1</m:t>
                          </m:r>
                        </m:sup>
                        <m:e>
                          <m:r>
                            <a:rPr kumimoji="0" lang="ar-EG" sz="2000" b="0" i="1" u="none" strike="noStrike" kern="0" cap="none" spc="0" normalizeH="0" baseline="0" noProof="0">
                              <a:ln>
                                <a:noFill/>
                              </a:ln>
                              <a:solidFill>
                                <a:srgbClr val="000000"/>
                              </a:solidFill>
                              <a:effectLst/>
                              <a:uLnTx/>
                              <a:uFillTx/>
                              <a:latin typeface="Cambria Math" panose="02040503050406030204" pitchFamily="18" charset="0"/>
                              <a:sym typeface="Calibri"/>
                            </a:rPr>
                            <m:t>h</m:t>
                          </m:r>
                        </m:e>
                      </m:nary>
                      <m:d>
                        <m:dPr>
                          <m:begChr m:val="["/>
                          <m:endChr m:val="]"/>
                          <m:ctrlPr>
                            <a:rPr kumimoji="0" lang="ar-EG" sz="2000" b="0" i="1" u="none" strike="noStrike" kern="0" cap="none" spc="0" normalizeH="0" baseline="0" noProof="0">
                              <a:ln>
                                <a:noFill/>
                              </a:ln>
                              <a:solidFill>
                                <a:srgbClr val="000000"/>
                              </a:solidFill>
                              <a:effectLst/>
                              <a:uLnTx/>
                              <a:uFillTx/>
                              <a:latin typeface="Cambria Math" panose="02040503050406030204" pitchFamily="18" charset="0"/>
                              <a:sym typeface="Calibri"/>
                            </a:rPr>
                          </m:ctrlPr>
                        </m:dPr>
                        <m:e>
                          <m:r>
                            <a:rPr kumimoji="0" lang="ar-EG" sz="2000" b="0" i="1" u="none" strike="noStrike" kern="0" cap="none" spc="0" normalizeH="0" baseline="0" noProof="0">
                              <a:ln>
                                <a:noFill/>
                              </a:ln>
                              <a:solidFill>
                                <a:srgbClr val="000000"/>
                              </a:solidFill>
                              <a:effectLst/>
                              <a:uLnTx/>
                              <a:uFillTx/>
                              <a:latin typeface="Cambria Math" panose="02040503050406030204" pitchFamily="18" charset="0"/>
                              <a:sym typeface="Calibri"/>
                            </a:rPr>
                            <m:t>𝑘</m:t>
                          </m:r>
                        </m:e>
                      </m:d>
                      <m:r>
                        <m:rPr>
                          <m:nor/>
                        </m:rPr>
                        <a:rPr kumimoji="0" lang="ar-EG" sz="2000" b="0" i="1" u="none" strike="noStrike" kern="0" cap="none" spc="0" normalizeH="0" baseline="0" noProof="0">
                          <a:ln>
                            <a:noFill/>
                          </a:ln>
                          <a:solidFill>
                            <a:srgbClr val="000000"/>
                          </a:solidFill>
                          <a:effectLst/>
                          <a:uLnTx/>
                          <a:uFillTx/>
                          <a:latin typeface="Calibri"/>
                          <a:ea typeface="Calibri"/>
                          <a:cs typeface="Calibri"/>
                          <a:sym typeface="Calibri"/>
                        </a:rPr>
                        <m:t> </m:t>
                      </m:r>
                      <m:r>
                        <a:rPr kumimoji="0" lang="ar-EG" sz="2000" b="0" i="1" u="none" strike="noStrike" kern="0" cap="none" spc="0" normalizeH="0" baseline="0" noProof="0">
                          <a:ln>
                            <a:noFill/>
                          </a:ln>
                          <a:solidFill>
                            <a:srgbClr val="000000"/>
                          </a:solidFill>
                          <a:effectLst/>
                          <a:uLnTx/>
                          <a:uFillTx/>
                          <a:latin typeface="Cambria Math" panose="02040503050406030204" pitchFamily="18" charset="0"/>
                          <a:sym typeface="Calibri"/>
                        </a:rPr>
                        <m:t>𝑥</m:t>
                      </m:r>
                      <m:d>
                        <m:dPr>
                          <m:begChr m:val="["/>
                          <m:endChr m:val="]"/>
                          <m:ctrlPr>
                            <a:rPr kumimoji="0" lang="ar-EG" sz="2000" b="0" i="1" u="none" strike="noStrike" kern="0" cap="none" spc="0" normalizeH="0" baseline="0" noProof="0">
                              <a:ln>
                                <a:noFill/>
                              </a:ln>
                              <a:solidFill>
                                <a:srgbClr val="000000"/>
                              </a:solidFill>
                              <a:effectLst/>
                              <a:uLnTx/>
                              <a:uFillTx/>
                              <a:latin typeface="Cambria Math" panose="02040503050406030204" pitchFamily="18" charset="0"/>
                              <a:sym typeface="Calibri"/>
                            </a:rPr>
                          </m:ctrlPr>
                        </m:dPr>
                        <m:e>
                          <m:r>
                            <a:rPr kumimoji="0" lang="ar-EG" sz="2000" b="0" i="1" u="none" strike="noStrike" kern="0" cap="none" spc="0" normalizeH="0" baseline="0" noProof="0">
                              <a:ln>
                                <a:noFill/>
                              </a:ln>
                              <a:solidFill>
                                <a:srgbClr val="000000"/>
                              </a:solidFill>
                              <a:effectLst/>
                              <a:uLnTx/>
                              <a:uFillTx/>
                              <a:latin typeface="Cambria Math" panose="02040503050406030204" pitchFamily="18" charset="0"/>
                              <a:sym typeface="Calibri"/>
                            </a:rPr>
                            <m:t>𝑛</m:t>
                          </m:r>
                          <m:r>
                            <a:rPr kumimoji="0" lang="ar-EG" sz="2000" b="0" i="0" u="none" strike="noStrike" kern="0" cap="none" spc="0" normalizeH="0" baseline="0" noProof="0">
                              <a:ln>
                                <a:noFill/>
                              </a:ln>
                              <a:solidFill>
                                <a:srgbClr val="000000"/>
                              </a:solidFill>
                              <a:effectLst/>
                              <a:uLnTx/>
                              <a:uFillTx/>
                              <a:latin typeface="Cambria Math" panose="02040503050406030204" pitchFamily="18" charset="0"/>
                              <a:sym typeface="Calibri"/>
                            </a:rPr>
                            <m:t>−</m:t>
                          </m:r>
                          <m:r>
                            <a:rPr kumimoji="0" lang="ar-EG" sz="2000" b="0" i="1" u="none" strike="noStrike" kern="0" cap="none" spc="0" normalizeH="0" baseline="0" noProof="0">
                              <a:ln>
                                <a:noFill/>
                              </a:ln>
                              <a:solidFill>
                                <a:srgbClr val="000000"/>
                              </a:solidFill>
                              <a:effectLst/>
                              <a:uLnTx/>
                              <a:uFillTx/>
                              <a:latin typeface="Cambria Math" panose="02040503050406030204" pitchFamily="18" charset="0"/>
                              <a:sym typeface="Calibri"/>
                            </a:rPr>
                            <m:t>𝑘</m:t>
                          </m:r>
                        </m:e>
                      </m:d>
                    </m:oMath>
                  </m:oMathPara>
                </a14:m>
                <a:endParaRPr kumimoji="0" lang="ar-EG" sz="2000" b="0" i="0" u="none" strike="noStrike" kern="0" cap="none" spc="0" normalizeH="0" baseline="0" noProof="0" dirty="0">
                  <a:ln>
                    <a:noFill/>
                  </a:ln>
                  <a:solidFill>
                    <a:srgbClr val="000000"/>
                  </a:solidFill>
                  <a:effectLst/>
                  <a:uLnTx/>
                  <a:uFillTx/>
                  <a:latin typeface="Calibri"/>
                  <a:ea typeface="Calibri"/>
                  <a:cs typeface="Calibri"/>
                  <a:sym typeface="Calibri"/>
                </a:endParaRPr>
              </a:p>
              <a:p>
                <a:pPr marL="457200" marR="0" lvl="0" indent="-381000" algn="l" defTabSz="914400" rtl="0" eaLnBrk="1" fontAlgn="auto" latinLnBrk="0" hangingPunct="1">
                  <a:lnSpc>
                    <a:spcPct val="100000"/>
                  </a:lnSpc>
                  <a:spcBef>
                    <a:spcPts val="480"/>
                  </a:spcBef>
                  <a:spcAft>
                    <a:spcPts val="0"/>
                  </a:spcAft>
                  <a:buClr>
                    <a:srgbClr val="000000"/>
                  </a:buClr>
                  <a:buSzPts val="2400"/>
                  <a:buFont typeface="Arial"/>
                  <a:buChar char="•"/>
                  <a:tabLst/>
                  <a:defRPr/>
                </a:pPr>
                <a:r>
                  <a:rPr kumimoji="0" lang="en-US" sz="2000" b="0" i="0" u="none" strike="noStrike" kern="0" cap="none" spc="0" normalizeH="0" baseline="0" noProof="0" dirty="0">
                    <a:ln>
                      <a:noFill/>
                    </a:ln>
                    <a:solidFill>
                      <a:srgbClr val="000000"/>
                    </a:solidFill>
                    <a:effectLst/>
                    <a:uLnTx/>
                    <a:uFillTx/>
                    <a:latin typeface="Calibri"/>
                    <a:ea typeface="Calibri"/>
                    <a:cs typeface="Calibri"/>
                    <a:sym typeface="Calibri"/>
                  </a:rPr>
                  <a:t>Once </a:t>
                </a:r>
                <a14:m>
                  <m:oMath xmlns:m="http://schemas.openxmlformats.org/officeDocument/2006/math">
                    <m:r>
                      <a:rPr kumimoji="0" lang="en-US" sz="2000" b="0" i="1" u="none" strike="noStrike" kern="0" cap="none" spc="0" normalizeH="0" baseline="0" noProof="0">
                        <a:ln>
                          <a:noFill/>
                        </a:ln>
                        <a:solidFill>
                          <a:srgbClr val="000000"/>
                        </a:solidFill>
                        <a:effectLst/>
                        <a:uLnTx/>
                        <a:uFillTx/>
                        <a:latin typeface="Cambria Math" panose="02040503050406030204" pitchFamily="18" charset="0"/>
                        <a:sym typeface="Calibri"/>
                      </a:rPr>
                      <m:t>𝐵𝑇</m:t>
                    </m:r>
                  </m:oMath>
                </a14:m>
                <a:r>
                  <a:rPr kumimoji="0" lang="en-US" sz="2000" b="0" i="0" u="none" strike="noStrike" kern="0" cap="none" spc="0" normalizeH="0" baseline="0" noProof="0" dirty="0">
                    <a:ln>
                      <a:noFill/>
                    </a:ln>
                    <a:solidFill>
                      <a:srgbClr val="000000"/>
                    </a:solidFill>
                    <a:effectLst/>
                    <a:uLnTx/>
                    <a:uFillTx/>
                    <a:latin typeface="Calibri"/>
                    <a:ea typeface="Calibri"/>
                    <a:cs typeface="Calibri"/>
                    <a:sym typeface="Calibri"/>
                  </a:rPr>
                  <a:t>, span, and SPS are selected, the coefficient set </a:t>
                </a:r>
                <a14:m>
                  <m:oMath xmlns:m="http://schemas.openxmlformats.org/officeDocument/2006/math">
                    <m:r>
                      <a:rPr kumimoji="0" lang="en-US" sz="2000" b="0" i="1" u="none" strike="noStrike" kern="0" cap="none" spc="0" normalizeH="0" baseline="0" noProof="0">
                        <a:ln>
                          <a:noFill/>
                        </a:ln>
                        <a:solidFill>
                          <a:srgbClr val="000000"/>
                        </a:solidFill>
                        <a:effectLst/>
                        <a:uLnTx/>
                        <a:uFillTx/>
                        <a:latin typeface="Cambria Math" panose="02040503050406030204" pitchFamily="18" charset="0"/>
                        <a:sym typeface="Calibri"/>
                      </a:rPr>
                      <m:t>h</m:t>
                    </m:r>
                    <m:d>
                      <m:dPr>
                        <m:begChr m:val="["/>
                        <m:endChr m:val="]"/>
                        <m:ctrlPr>
                          <a:rPr kumimoji="0" lang="ar-EG" sz="2000" b="0" i="1" u="none" strike="noStrike" kern="0" cap="none" spc="0" normalizeH="0" baseline="0" noProof="0">
                            <a:ln>
                              <a:noFill/>
                            </a:ln>
                            <a:solidFill>
                              <a:srgbClr val="000000"/>
                            </a:solidFill>
                            <a:effectLst/>
                            <a:uLnTx/>
                            <a:uFillTx/>
                            <a:latin typeface="Cambria Math" panose="02040503050406030204" pitchFamily="18" charset="0"/>
                            <a:sym typeface="Calibri"/>
                          </a:rPr>
                        </m:ctrlPr>
                      </m:dPr>
                      <m:e>
                        <m:r>
                          <a:rPr kumimoji="0" lang="ar-EG" sz="2000" b="0" i="1" u="none" strike="noStrike" kern="0" cap="none" spc="0" normalizeH="0" baseline="0" noProof="0">
                            <a:ln>
                              <a:noFill/>
                            </a:ln>
                            <a:solidFill>
                              <a:srgbClr val="000000"/>
                            </a:solidFill>
                            <a:effectLst/>
                            <a:uLnTx/>
                            <a:uFillTx/>
                            <a:latin typeface="Cambria Math" panose="02040503050406030204" pitchFamily="18" charset="0"/>
                            <a:sym typeface="Calibri"/>
                          </a:rPr>
                          <m:t>𝑘</m:t>
                        </m:r>
                      </m:e>
                    </m:d>
                  </m:oMath>
                </a14:m>
                <a:r>
                  <a:rPr kumimoji="0" lang="en-US" sz="2000" b="0" i="0" u="none" strike="noStrike" kern="0" cap="none" spc="0" normalizeH="0" baseline="0" noProof="0" dirty="0">
                    <a:ln>
                      <a:noFill/>
                    </a:ln>
                    <a:solidFill>
                      <a:srgbClr val="000000"/>
                    </a:solidFill>
                    <a:effectLst/>
                    <a:uLnTx/>
                    <a:uFillTx/>
                    <a:latin typeface="Calibri"/>
                    <a:ea typeface="Calibri"/>
                    <a:cs typeface="Calibri"/>
                    <a:sym typeface="Calibri"/>
                  </a:rPr>
                  <a:t>is fixed and can be stored in hardware (e.g., Register file).</a:t>
                </a:r>
              </a:p>
            </p:txBody>
          </p:sp>
        </mc:Choice>
        <mc:Fallback xmlns="">
          <p:sp>
            <p:nvSpPr>
              <p:cNvPr id="20" name="TextBox 19">
                <a:extLst>
                  <a:ext uri="{FF2B5EF4-FFF2-40B4-BE49-F238E27FC236}">
                    <a16:creationId xmlns:a16="http://schemas.microsoft.com/office/drawing/2014/main" id="{2E96E203-CCF0-61AB-0AED-B73395427875}"/>
                  </a:ext>
                </a:extLst>
              </p:cNvPr>
              <p:cNvSpPr txBox="1">
                <a:spLocks noRot="1" noChangeAspect="1" noMove="1" noResize="1" noEditPoints="1" noAdjustHandles="1" noChangeArrowheads="1" noChangeShapeType="1" noTextEdit="1"/>
              </p:cNvSpPr>
              <p:nvPr/>
            </p:nvSpPr>
            <p:spPr>
              <a:xfrm>
                <a:off x="529512" y="1372603"/>
                <a:ext cx="11319588" cy="1945533"/>
              </a:xfrm>
              <a:prstGeom prst="rect">
                <a:avLst/>
              </a:prstGeom>
              <a:blipFill>
                <a:blip r:embed="rId2"/>
                <a:stretch>
                  <a:fillRect l="-54" t="-4075" b="-4702"/>
                </a:stretch>
              </a:blipFill>
            </p:spPr>
            <p:txBody>
              <a:bodyPr/>
              <a:lstStyle/>
              <a:p>
                <a:r>
                  <a:rPr lang="en-US">
                    <a:noFill/>
                  </a:rPr>
                  <a:t> </a:t>
                </a:r>
              </a:p>
            </p:txBody>
          </p:sp>
        </mc:Fallback>
      </mc:AlternateContent>
      <p:pic>
        <p:nvPicPr>
          <p:cNvPr id="21" name="Picture 20">
            <a:extLst>
              <a:ext uri="{FF2B5EF4-FFF2-40B4-BE49-F238E27FC236}">
                <a16:creationId xmlns="" xmlns:a16="http://schemas.microsoft.com/office/drawing/2014/main" id="{F9664CE5-5672-86DF-516C-1BCAEB71C80C}"/>
              </a:ext>
            </a:extLst>
          </p:cNvPr>
          <p:cNvPicPr>
            <a:picLocks noChangeAspect="1"/>
          </p:cNvPicPr>
          <p:nvPr/>
        </p:nvPicPr>
        <p:blipFill>
          <a:blip r:embed="rId3"/>
          <a:stretch>
            <a:fillRect/>
          </a:stretch>
        </p:blipFill>
        <p:spPr>
          <a:xfrm>
            <a:off x="2841523" y="3727388"/>
            <a:ext cx="6558115" cy="2019366"/>
          </a:xfrm>
          <a:prstGeom prst="rect">
            <a:avLst/>
          </a:prstGeom>
        </p:spPr>
      </p:pic>
    </p:spTree>
    <p:extLst>
      <p:ext uri="{BB962C8B-B14F-4D97-AF65-F5344CB8AC3E}">
        <p14:creationId xmlns:p14="http://schemas.microsoft.com/office/powerpoint/2010/main" val="218839289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27464F0D-8D4A-F155-BC54-3DA826DC8DC6}"/>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21D8137D-BD22-A863-1081-0503654BB7CE}"/>
              </a:ext>
            </a:extLst>
          </p:cNvPr>
          <p:cNvSpPr>
            <a:spLocks noGrp="1"/>
          </p:cNvSpPr>
          <p:nvPr>
            <p:ph type="title"/>
          </p:nvPr>
        </p:nvSpPr>
        <p:spPr/>
        <p:txBody>
          <a:bodyPr/>
          <a:lstStyle/>
          <a:p>
            <a:r>
              <a:rPr lang="en-US" sz="3200" dirty="0">
                <a:latin typeface="Times New Roman" panose="02020603050405020304" pitchFamily="18" charset="0"/>
                <a:cs typeface="Times New Roman" panose="02020603050405020304" pitchFamily="18" charset="0"/>
              </a:rPr>
              <a:t>Gaussian Filter as FIR Filter</a:t>
            </a:r>
          </a:p>
        </p:txBody>
      </p:sp>
      <p:pic>
        <p:nvPicPr>
          <p:cNvPr id="4" name="Picture 3">
            <a:extLst>
              <a:ext uri="{FF2B5EF4-FFF2-40B4-BE49-F238E27FC236}">
                <a16:creationId xmlns="" xmlns:a16="http://schemas.microsoft.com/office/drawing/2014/main" id="{50BE23BB-C1BA-6282-46DF-A5CB106FFAB8}"/>
              </a:ext>
            </a:extLst>
          </p:cNvPr>
          <p:cNvPicPr>
            <a:picLocks noChangeAspect="1"/>
          </p:cNvPicPr>
          <p:nvPr/>
        </p:nvPicPr>
        <p:blipFill>
          <a:blip r:embed="rId2"/>
          <a:stretch>
            <a:fillRect/>
          </a:stretch>
        </p:blipFill>
        <p:spPr>
          <a:xfrm>
            <a:off x="6964137" y="1759974"/>
            <a:ext cx="5094513" cy="2653405"/>
          </a:xfrm>
          <a:prstGeom prst="rect">
            <a:avLst/>
          </a:prstGeom>
        </p:spPr>
      </p:pic>
      <mc:AlternateContent xmlns:mc="http://schemas.openxmlformats.org/markup-compatibility/2006" xmlns:a14="http://schemas.microsoft.com/office/drawing/2010/main">
        <mc:Choice Requires="a14">
          <p:sp>
            <p:nvSpPr>
              <p:cNvPr id="7" name="Text Placeholder 2">
                <a:extLst>
                  <a:ext uri="{FF2B5EF4-FFF2-40B4-BE49-F238E27FC236}">
                    <a16:creationId xmlns="" xmlns:a16="http://schemas.microsoft.com/office/drawing/2014/main" id="{05AE4904-0E88-6BDC-8B15-9D14699AA320}"/>
                  </a:ext>
                </a:extLst>
              </p:cNvPr>
              <p:cNvSpPr>
                <a:spLocks noGrp="1"/>
              </p:cNvSpPr>
              <p:nvPr>
                <p:ph type="body" idx="1"/>
              </p:nvPr>
            </p:nvSpPr>
            <p:spPr>
              <a:xfrm>
                <a:off x="609601" y="1676401"/>
                <a:ext cx="6743699" cy="3028950"/>
              </a:xfrm>
            </p:spPr>
            <p:txBody>
              <a:bodyPr/>
              <a:lstStyle/>
              <a:p>
                <a:r>
                  <a:rPr lang="en-US" sz="2000" b="0"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The Gaussian pulse-shaping filter is originally defined in continuous time by a Gaussian impulse response</a:t>
                </a:r>
              </a:p>
              <a:p>
                <a:pPr marL="76200" indent="0">
                  <a:buNone/>
                </a:pPr>
                <a14:m>
                  <m:oMathPara xmlns:m="http://schemas.openxmlformats.org/officeDocument/2006/math">
                    <m:oMathParaPr>
                      <m:jc m:val="centerGroup"/>
                    </m:oMathParaPr>
                    <m:oMath xmlns:m="http://schemas.openxmlformats.org/officeDocument/2006/math">
                      <m:r>
                        <a:rPr lang="en-US" sz="2000" i="1">
                          <a:solidFill>
                            <a:schemeClr val="tx1">
                              <a:lumMod val="85000"/>
                              <a:lumOff val="15000"/>
                            </a:schemeClr>
                          </a:solidFill>
                          <a:latin typeface="Cambria Math" panose="02040503050406030204" pitchFamily="18" charset="0"/>
                        </a:rPr>
                        <m:t>h</m:t>
                      </m:r>
                      <m:d>
                        <m:dPr>
                          <m:ctrlPr>
                            <a:rPr lang="ar-EG" sz="2000" i="1">
                              <a:solidFill>
                                <a:schemeClr val="tx1">
                                  <a:lumMod val="85000"/>
                                  <a:lumOff val="15000"/>
                                </a:schemeClr>
                              </a:solidFill>
                              <a:latin typeface="Cambria Math" panose="02040503050406030204" pitchFamily="18" charset="0"/>
                            </a:rPr>
                          </m:ctrlPr>
                        </m:dPr>
                        <m:e>
                          <m:r>
                            <a:rPr lang="ar-EG" sz="2000" i="1">
                              <a:solidFill>
                                <a:schemeClr val="tx1">
                                  <a:lumMod val="85000"/>
                                  <a:lumOff val="15000"/>
                                </a:schemeClr>
                              </a:solidFill>
                              <a:latin typeface="Cambria Math" panose="02040503050406030204" pitchFamily="18" charset="0"/>
                            </a:rPr>
                            <m:t>𝑡</m:t>
                          </m:r>
                        </m:e>
                      </m:d>
                      <m:r>
                        <a:rPr lang="ar-EG" sz="2000">
                          <a:solidFill>
                            <a:schemeClr val="tx1">
                              <a:lumMod val="85000"/>
                              <a:lumOff val="15000"/>
                            </a:schemeClr>
                          </a:solidFill>
                          <a:latin typeface="Cambria Math" panose="02040503050406030204" pitchFamily="18" charset="0"/>
                        </a:rPr>
                        <m:t>=</m:t>
                      </m:r>
                      <m:f>
                        <m:fPr>
                          <m:ctrlPr>
                            <a:rPr lang="ar-EG" sz="2000" i="1">
                              <a:solidFill>
                                <a:schemeClr val="tx1">
                                  <a:lumMod val="85000"/>
                                  <a:lumOff val="15000"/>
                                </a:schemeClr>
                              </a:solidFill>
                              <a:latin typeface="Cambria Math" panose="02040503050406030204" pitchFamily="18" charset="0"/>
                            </a:rPr>
                          </m:ctrlPr>
                        </m:fPr>
                        <m:num>
                          <m:rad>
                            <m:radPr>
                              <m:degHide m:val="on"/>
                              <m:ctrlPr>
                                <a:rPr lang="ar-EG" sz="2000" i="1">
                                  <a:solidFill>
                                    <a:schemeClr val="tx1">
                                      <a:lumMod val="85000"/>
                                      <a:lumOff val="15000"/>
                                    </a:schemeClr>
                                  </a:solidFill>
                                  <a:latin typeface="Cambria Math" panose="02040503050406030204" pitchFamily="18" charset="0"/>
                                </a:rPr>
                              </m:ctrlPr>
                            </m:radPr>
                            <m:deg/>
                            <m:e>
                              <m:r>
                                <a:rPr lang="ar-EG" sz="2000" i="1">
                                  <a:solidFill>
                                    <a:schemeClr val="tx1">
                                      <a:lumMod val="85000"/>
                                      <a:lumOff val="15000"/>
                                    </a:schemeClr>
                                  </a:solidFill>
                                  <a:latin typeface="Cambria Math" panose="02040503050406030204" pitchFamily="18" charset="0"/>
                                </a:rPr>
                                <m:t>𝜋</m:t>
                              </m:r>
                            </m:e>
                          </m:rad>
                        </m:num>
                        <m:den>
                          <m:r>
                            <a:rPr lang="ar-EG" sz="2000" i="1">
                              <a:solidFill>
                                <a:schemeClr val="tx1">
                                  <a:lumMod val="85000"/>
                                  <a:lumOff val="15000"/>
                                </a:schemeClr>
                              </a:solidFill>
                              <a:latin typeface="Cambria Math" panose="02040503050406030204" pitchFamily="18" charset="0"/>
                            </a:rPr>
                            <m:t>𝑎</m:t>
                          </m:r>
                        </m:den>
                      </m:f>
                      <m:r>
                        <m:rPr>
                          <m:nor/>
                        </m:rPr>
                        <a:rPr lang="ar-EG" sz="2000" i="1">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m:t> </m:t>
                      </m:r>
                      <m:sSup>
                        <m:sSupPr>
                          <m:ctrlPr>
                            <a:rPr lang="ar-EG" sz="2000" i="1">
                              <a:solidFill>
                                <a:schemeClr val="tx1">
                                  <a:lumMod val="85000"/>
                                  <a:lumOff val="15000"/>
                                </a:schemeClr>
                              </a:solidFill>
                              <a:latin typeface="Cambria Math" panose="02040503050406030204" pitchFamily="18" charset="0"/>
                            </a:rPr>
                          </m:ctrlPr>
                        </m:sSupPr>
                        <m:e>
                          <m:r>
                            <a:rPr lang="ar-EG" sz="2000" i="1">
                              <a:solidFill>
                                <a:schemeClr val="tx1">
                                  <a:lumMod val="85000"/>
                                  <a:lumOff val="15000"/>
                                </a:schemeClr>
                              </a:solidFill>
                              <a:latin typeface="Cambria Math" panose="02040503050406030204" pitchFamily="18" charset="0"/>
                            </a:rPr>
                            <m:t>𝑒</m:t>
                          </m:r>
                        </m:e>
                        <m:sup>
                          <m:r>
                            <a:rPr lang="ar-EG" sz="2000">
                              <a:solidFill>
                                <a:schemeClr val="tx1">
                                  <a:lumMod val="85000"/>
                                  <a:lumOff val="15000"/>
                                </a:schemeClr>
                              </a:solidFill>
                              <a:latin typeface="Cambria Math" panose="02040503050406030204" pitchFamily="18" charset="0"/>
                            </a:rPr>
                            <m:t>−</m:t>
                          </m:r>
                          <m:sSup>
                            <m:sSupPr>
                              <m:ctrlPr>
                                <a:rPr lang="ar-EG" sz="2000" i="1">
                                  <a:solidFill>
                                    <a:schemeClr val="tx1">
                                      <a:lumMod val="85000"/>
                                      <a:lumOff val="15000"/>
                                    </a:schemeClr>
                                  </a:solidFill>
                                  <a:latin typeface="Cambria Math" panose="02040503050406030204" pitchFamily="18" charset="0"/>
                                </a:rPr>
                              </m:ctrlPr>
                            </m:sSupPr>
                            <m:e>
                              <m:r>
                                <a:rPr lang="ar-EG" sz="2000" i="1">
                                  <a:solidFill>
                                    <a:schemeClr val="tx1">
                                      <a:lumMod val="85000"/>
                                      <a:lumOff val="15000"/>
                                    </a:schemeClr>
                                  </a:solidFill>
                                  <a:latin typeface="Cambria Math" panose="02040503050406030204" pitchFamily="18" charset="0"/>
                                </a:rPr>
                                <m:t>𝜋</m:t>
                              </m:r>
                            </m:e>
                            <m:sup>
                              <m:r>
                                <a:rPr lang="ar-EG" sz="2000">
                                  <a:solidFill>
                                    <a:schemeClr val="tx1">
                                      <a:lumMod val="85000"/>
                                      <a:lumOff val="15000"/>
                                    </a:schemeClr>
                                  </a:solidFill>
                                  <a:latin typeface="Cambria Math" panose="02040503050406030204" pitchFamily="18" charset="0"/>
                                </a:rPr>
                                <m:t>2</m:t>
                              </m:r>
                            </m:sup>
                          </m:sSup>
                          <m:sSup>
                            <m:sSupPr>
                              <m:ctrlPr>
                                <a:rPr lang="ar-EG" sz="2000" i="1">
                                  <a:solidFill>
                                    <a:schemeClr val="tx1">
                                      <a:lumMod val="85000"/>
                                      <a:lumOff val="15000"/>
                                    </a:schemeClr>
                                  </a:solidFill>
                                  <a:latin typeface="Cambria Math" panose="02040503050406030204" pitchFamily="18" charset="0"/>
                                </a:rPr>
                              </m:ctrlPr>
                            </m:sSupPr>
                            <m:e>
                              <m:r>
                                <a:rPr lang="ar-EG" sz="2000" i="1">
                                  <a:solidFill>
                                    <a:schemeClr val="tx1">
                                      <a:lumMod val="85000"/>
                                      <a:lumOff val="15000"/>
                                    </a:schemeClr>
                                  </a:solidFill>
                                  <a:latin typeface="Cambria Math" panose="02040503050406030204" pitchFamily="18" charset="0"/>
                                </a:rPr>
                                <m:t>𝑡</m:t>
                              </m:r>
                            </m:e>
                            <m:sup>
                              <m:r>
                                <a:rPr lang="ar-EG" sz="2000">
                                  <a:solidFill>
                                    <a:schemeClr val="tx1">
                                      <a:lumMod val="85000"/>
                                      <a:lumOff val="15000"/>
                                    </a:schemeClr>
                                  </a:solidFill>
                                  <a:latin typeface="Cambria Math" panose="02040503050406030204" pitchFamily="18" charset="0"/>
                                </a:rPr>
                                <m:t>2</m:t>
                              </m:r>
                            </m:sup>
                          </m:sSup>
                          <m:r>
                            <a:rPr lang="ar-EG" sz="2000">
                              <a:solidFill>
                                <a:schemeClr val="tx1">
                                  <a:lumMod val="85000"/>
                                  <a:lumOff val="15000"/>
                                </a:schemeClr>
                              </a:solidFill>
                              <a:latin typeface="Cambria Math" panose="02040503050406030204" pitchFamily="18" charset="0"/>
                            </a:rPr>
                            <m:t>/</m:t>
                          </m:r>
                          <m:sSup>
                            <m:sSupPr>
                              <m:ctrlPr>
                                <a:rPr lang="ar-EG" sz="2000" i="1">
                                  <a:solidFill>
                                    <a:schemeClr val="tx1">
                                      <a:lumMod val="85000"/>
                                      <a:lumOff val="15000"/>
                                    </a:schemeClr>
                                  </a:solidFill>
                                  <a:latin typeface="Cambria Math" panose="02040503050406030204" pitchFamily="18" charset="0"/>
                                </a:rPr>
                              </m:ctrlPr>
                            </m:sSupPr>
                            <m:e>
                              <m:r>
                                <a:rPr lang="ar-EG" sz="2000" i="1">
                                  <a:solidFill>
                                    <a:schemeClr val="tx1">
                                      <a:lumMod val="85000"/>
                                      <a:lumOff val="15000"/>
                                    </a:schemeClr>
                                  </a:solidFill>
                                  <a:latin typeface="Cambria Math" panose="02040503050406030204" pitchFamily="18" charset="0"/>
                                </a:rPr>
                                <m:t>𝑎</m:t>
                              </m:r>
                            </m:e>
                            <m:sup>
                              <m:r>
                                <a:rPr lang="ar-EG" sz="2000">
                                  <a:solidFill>
                                    <a:schemeClr val="tx1">
                                      <a:lumMod val="85000"/>
                                      <a:lumOff val="15000"/>
                                    </a:schemeClr>
                                  </a:solidFill>
                                  <a:latin typeface="Cambria Math" panose="02040503050406030204" pitchFamily="18" charset="0"/>
                                </a:rPr>
                                <m:t>2</m:t>
                              </m:r>
                            </m:sup>
                          </m:sSup>
                        </m:sup>
                      </m:sSup>
                      <m:r>
                        <a:rPr lang="ar-EG" sz="2000">
                          <a:solidFill>
                            <a:schemeClr val="tx1">
                              <a:lumMod val="85000"/>
                              <a:lumOff val="15000"/>
                            </a:schemeClr>
                          </a:solidFill>
                          <a:latin typeface="Cambria Math" panose="02040503050406030204" pitchFamily="18" charset="0"/>
                        </a:rPr>
                        <m:t>,</m:t>
                      </m:r>
                    </m:oMath>
                  </m:oMathPara>
                </a14:m>
                <a:endParaRPr lang="ar-EG" sz="2000"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endParaRPr>
              </a:p>
              <a:p>
                <a:r>
                  <a:rPr lang="en-US" sz="2000" b="0"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where the parameter </a:t>
                </a:r>
                <a14:m>
                  <m:oMath xmlns:m="http://schemas.openxmlformats.org/officeDocument/2006/math">
                    <m:r>
                      <a:rPr lang="en-US" sz="2000" b="0" i="1">
                        <a:solidFill>
                          <a:schemeClr val="tx1">
                            <a:lumMod val="85000"/>
                            <a:lumOff val="15000"/>
                          </a:schemeClr>
                        </a:solidFill>
                        <a:latin typeface="Cambria Math" panose="02040503050406030204" pitchFamily="18" charset="0"/>
                      </a:rPr>
                      <m:t>𝑎</m:t>
                    </m:r>
                  </m:oMath>
                </a14:m>
                <a:r>
                  <a:rPr lang="en-US" sz="2000" b="0"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is related to the bandwidth–time product </a:t>
                </a:r>
                <a14:m>
                  <m:oMath xmlns:m="http://schemas.openxmlformats.org/officeDocument/2006/math">
                    <m:r>
                      <a:rPr lang="en-US" sz="2000" b="0" i="1">
                        <a:solidFill>
                          <a:schemeClr val="tx1">
                            <a:lumMod val="85000"/>
                            <a:lumOff val="15000"/>
                          </a:schemeClr>
                        </a:solidFill>
                        <a:latin typeface="Cambria Math" panose="02040503050406030204" pitchFamily="18" charset="0"/>
                      </a:rPr>
                      <m:t>𝐵𝑇</m:t>
                    </m:r>
                  </m:oMath>
                </a14:m>
                <a:r>
                  <a:rPr lang="en-US" sz="2000" b="0"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and the sampling period </a:t>
                </a:r>
                <a14:m>
                  <m:oMath xmlns:m="http://schemas.openxmlformats.org/officeDocument/2006/math">
                    <m:sSub>
                      <m:sSubPr>
                        <m:ctrlPr>
                          <a:rPr lang="ar-EG" sz="2000" b="0" i="1">
                            <a:solidFill>
                              <a:schemeClr val="tx1">
                                <a:lumMod val="85000"/>
                                <a:lumOff val="15000"/>
                              </a:schemeClr>
                            </a:solidFill>
                            <a:latin typeface="Cambria Math" panose="02040503050406030204" pitchFamily="18" charset="0"/>
                          </a:rPr>
                        </m:ctrlPr>
                      </m:sSubPr>
                      <m:e>
                        <m:r>
                          <a:rPr lang="ar-EG" sz="2000" b="0" i="1">
                            <a:solidFill>
                              <a:schemeClr val="tx1">
                                <a:lumMod val="85000"/>
                                <a:lumOff val="15000"/>
                              </a:schemeClr>
                            </a:solidFill>
                            <a:latin typeface="Cambria Math" panose="02040503050406030204" pitchFamily="18" charset="0"/>
                          </a:rPr>
                          <m:t>𝑇</m:t>
                        </m:r>
                      </m:e>
                      <m:sub>
                        <m:r>
                          <a:rPr lang="ar-EG" sz="2000" b="0" i="1">
                            <a:solidFill>
                              <a:schemeClr val="tx1">
                                <a:lumMod val="85000"/>
                                <a:lumOff val="15000"/>
                              </a:schemeClr>
                            </a:solidFill>
                            <a:latin typeface="Cambria Math" panose="02040503050406030204" pitchFamily="18" charset="0"/>
                          </a:rPr>
                          <m:t>𝑠</m:t>
                        </m:r>
                      </m:sub>
                    </m:sSub>
                  </m:oMath>
                </a14:m>
                <a:r>
                  <a:rPr lang="en-US" sz="2000" b="0"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by</a:t>
                </a:r>
              </a:p>
              <a:p>
                <a:pPr marL="76200" indent="0">
                  <a:buNone/>
                </a:pPr>
                <a14:m>
                  <m:oMathPara xmlns:m="http://schemas.openxmlformats.org/officeDocument/2006/math">
                    <m:oMathParaPr>
                      <m:jc m:val="centerGroup"/>
                    </m:oMathParaPr>
                    <m:oMath xmlns:m="http://schemas.openxmlformats.org/officeDocument/2006/math">
                      <m:r>
                        <a:rPr lang="en-US" sz="2000" i="1">
                          <a:solidFill>
                            <a:schemeClr val="tx1">
                              <a:lumMod val="85000"/>
                              <a:lumOff val="15000"/>
                            </a:schemeClr>
                          </a:solidFill>
                          <a:latin typeface="Cambria Math" panose="02040503050406030204" pitchFamily="18" charset="0"/>
                        </a:rPr>
                        <m:t>𝑎</m:t>
                      </m:r>
                      <m:r>
                        <a:rPr lang="en-US" sz="2000">
                          <a:solidFill>
                            <a:schemeClr val="tx1">
                              <a:lumMod val="85000"/>
                              <a:lumOff val="15000"/>
                            </a:schemeClr>
                          </a:solidFill>
                          <a:latin typeface="Cambria Math" panose="02040503050406030204" pitchFamily="18" charset="0"/>
                        </a:rPr>
                        <m:t>=</m:t>
                      </m:r>
                      <m:f>
                        <m:fPr>
                          <m:ctrlPr>
                            <a:rPr lang="ar-EG" sz="2000" i="1">
                              <a:solidFill>
                                <a:schemeClr val="tx1">
                                  <a:lumMod val="85000"/>
                                  <a:lumOff val="15000"/>
                                </a:schemeClr>
                              </a:solidFill>
                              <a:latin typeface="Cambria Math" panose="02040503050406030204" pitchFamily="18" charset="0"/>
                            </a:rPr>
                          </m:ctrlPr>
                        </m:fPr>
                        <m:num>
                          <m:r>
                            <a:rPr lang="ar-EG" sz="2000">
                              <a:solidFill>
                                <a:schemeClr val="tx1">
                                  <a:lumMod val="85000"/>
                                  <a:lumOff val="15000"/>
                                </a:schemeClr>
                              </a:solidFill>
                              <a:latin typeface="Cambria Math" panose="02040503050406030204" pitchFamily="18" charset="0"/>
                            </a:rPr>
                            <m:t>1</m:t>
                          </m:r>
                        </m:num>
                        <m:den>
                          <m:r>
                            <a:rPr lang="ar-EG" sz="2000" i="1">
                              <a:solidFill>
                                <a:schemeClr val="tx1">
                                  <a:lumMod val="85000"/>
                                  <a:lumOff val="15000"/>
                                </a:schemeClr>
                              </a:solidFill>
                              <a:latin typeface="Cambria Math" panose="02040503050406030204" pitchFamily="18" charset="0"/>
                            </a:rPr>
                            <m:t>𝐵</m:t>
                          </m:r>
                          <m:sSub>
                            <m:sSubPr>
                              <m:ctrlPr>
                                <a:rPr lang="ar-EG" sz="2000" i="1">
                                  <a:solidFill>
                                    <a:schemeClr val="tx1">
                                      <a:lumMod val="85000"/>
                                      <a:lumOff val="15000"/>
                                    </a:schemeClr>
                                  </a:solidFill>
                                  <a:latin typeface="Cambria Math" panose="02040503050406030204" pitchFamily="18" charset="0"/>
                                </a:rPr>
                              </m:ctrlPr>
                            </m:sSubPr>
                            <m:e>
                              <m:r>
                                <a:rPr lang="ar-EG" sz="2000" i="1">
                                  <a:solidFill>
                                    <a:schemeClr val="tx1">
                                      <a:lumMod val="85000"/>
                                      <a:lumOff val="15000"/>
                                    </a:schemeClr>
                                  </a:solidFill>
                                  <a:latin typeface="Cambria Math" panose="02040503050406030204" pitchFamily="18" charset="0"/>
                                </a:rPr>
                                <m:t>𝑇</m:t>
                              </m:r>
                            </m:e>
                            <m:sub>
                              <m:r>
                                <a:rPr lang="ar-EG" sz="2000" i="1">
                                  <a:solidFill>
                                    <a:schemeClr val="tx1">
                                      <a:lumMod val="85000"/>
                                      <a:lumOff val="15000"/>
                                    </a:schemeClr>
                                  </a:solidFill>
                                  <a:latin typeface="Cambria Math" panose="02040503050406030204" pitchFamily="18" charset="0"/>
                                </a:rPr>
                                <m:t>𝑠</m:t>
                              </m:r>
                            </m:sub>
                          </m:sSub>
                        </m:den>
                      </m:f>
                      <m:rad>
                        <m:radPr>
                          <m:degHide m:val="on"/>
                          <m:ctrlPr>
                            <a:rPr lang="ar-EG" sz="2000" i="1">
                              <a:solidFill>
                                <a:schemeClr val="tx1">
                                  <a:lumMod val="85000"/>
                                  <a:lumOff val="15000"/>
                                </a:schemeClr>
                              </a:solidFill>
                              <a:latin typeface="Cambria Math" panose="02040503050406030204" pitchFamily="18" charset="0"/>
                            </a:rPr>
                          </m:ctrlPr>
                        </m:radPr>
                        <m:deg/>
                        <m:e>
                          <m:f>
                            <m:fPr>
                              <m:ctrlPr>
                                <a:rPr lang="ar-EG" sz="2000" i="1">
                                  <a:solidFill>
                                    <a:schemeClr val="tx1">
                                      <a:lumMod val="85000"/>
                                      <a:lumOff val="15000"/>
                                    </a:schemeClr>
                                  </a:solidFill>
                                  <a:latin typeface="Cambria Math" panose="02040503050406030204" pitchFamily="18" charset="0"/>
                                </a:rPr>
                              </m:ctrlPr>
                            </m:fPr>
                            <m:num>
                              <m:func>
                                <m:funcPr>
                                  <m:ctrlPr>
                                    <a:rPr lang="ar-EG" sz="2000" i="1">
                                      <a:solidFill>
                                        <a:schemeClr val="tx1">
                                          <a:lumMod val="85000"/>
                                          <a:lumOff val="15000"/>
                                        </a:schemeClr>
                                      </a:solidFill>
                                      <a:latin typeface="Cambria Math" panose="02040503050406030204" pitchFamily="18" charset="0"/>
                                    </a:rPr>
                                  </m:ctrlPr>
                                </m:funcPr>
                                <m:fName>
                                  <m:r>
                                    <m:rPr>
                                      <m:sty m:val="p"/>
                                    </m:rPr>
                                    <a:rPr lang="en-US" sz="2000">
                                      <a:solidFill>
                                        <a:schemeClr val="tx1">
                                          <a:lumMod val="85000"/>
                                          <a:lumOff val="15000"/>
                                        </a:schemeClr>
                                      </a:solidFill>
                                      <a:latin typeface="Cambria Math" panose="02040503050406030204" pitchFamily="18" charset="0"/>
                                    </a:rPr>
                                    <m:t>ln</m:t>
                                  </m:r>
                                </m:fName>
                                <m:e>
                                  <m:r>
                                    <a:rPr lang="ar-EG" sz="2000">
                                      <a:solidFill>
                                        <a:schemeClr val="tx1">
                                          <a:lumMod val="85000"/>
                                          <a:lumOff val="15000"/>
                                        </a:schemeClr>
                                      </a:solidFill>
                                      <a:latin typeface="Cambria Math" panose="02040503050406030204" pitchFamily="18" charset="0"/>
                                    </a:rPr>
                                    <m:t>2</m:t>
                                  </m:r>
                                </m:e>
                              </m:func>
                            </m:num>
                            <m:den>
                              <m:r>
                                <a:rPr lang="ar-EG" sz="2000">
                                  <a:solidFill>
                                    <a:schemeClr val="tx1">
                                      <a:lumMod val="85000"/>
                                      <a:lumOff val="15000"/>
                                    </a:schemeClr>
                                  </a:solidFill>
                                  <a:latin typeface="Cambria Math" panose="02040503050406030204" pitchFamily="18" charset="0"/>
                                </a:rPr>
                                <m:t>2</m:t>
                              </m:r>
                            </m:den>
                          </m:f>
                        </m:e>
                      </m:rad>
                      <m:r>
                        <a:rPr lang="ar-EG" sz="2000">
                          <a:solidFill>
                            <a:schemeClr val="tx1">
                              <a:lumMod val="85000"/>
                              <a:lumOff val="15000"/>
                            </a:schemeClr>
                          </a:solidFill>
                          <a:latin typeface="Cambria Math" panose="02040503050406030204" pitchFamily="18" charset="0"/>
                        </a:rPr>
                        <m:t>.</m:t>
                      </m:r>
                    </m:oMath>
                  </m:oMathPara>
                </a14:m>
                <a:endParaRPr lang="ar-EG" sz="2000"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endParaRPr>
              </a:p>
              <a:p>
                <a:endParaRPr lang="en-US" dirty="0"/>
              </a:p>
            </p:txBody>
          </p:sp>
        </mc:Choice>
        <mc:Fallback xmlns="">
          <p:sp>
            <p:nvSpPr>
              <p:cNvPr id="7" name="Text Placeholder 2">
                <a:extLst>
                  <a:ext uri="{FF2B5EF4-FFF2-40B4-BE49-F238E27FC236}">
                    <a16:creationId xmlns:a16="http://schemas.microsoft.com/office/drawing/2014/main" id="{05AE4904-0E88-6BDC-8B15-9D14699AA320}"/>
                  </a:ext>
                </a:extLst>
              </p:cNvPr>
              <p:cNvSpPr>
                <a:spLocks noGrp="1" noRot="1" noChangeAspect="1" noMove="1" noResize="1" noEditPoints="1" noAdjustHandles="1" noChangeArrowheads="1" noChangeShapeType="1" noTextEdit="1"/>
              </p:cNvSpPr>
              <p:nvPr>
                <p:ph type="body" idx="1"/>
              </p:nvPr>
            </p:nvSpPr>
            <p:spPr>
              <a:xfrm>
                <a:off x="609601" y="1676401"/>
                <a:ext cx="6743699" cy="3028950"/>
              </a:xfr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 xmlns:a16="http://schemas.microsoft.com/office/drawing/2014/main" id="{75D1A2A4-3412-EA77-9BC0-B7A3DB6BB889}"/>
                  </a:ext>
                </a:extLst>
              </p:cNvPr>
              <p:cNvSpPr txBox="1"/>
              <p:nvPr/>
            </p:nvSpPr>
            <p:spPr>
              <a:xfrm>
                <a:off x="609600" y="4705351"/>
                <a:ext cx="10972799" cy="1323439"/>
              </a:xfrm>
              <a:prstGeom prst="rect">
                <a:avLst/>
              </a:prstGeom>
              <a:noFill/>
            </p:spPr>
            <p:txBody>
              <a:bodyPr wrap="square">
                <a:sp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Smaller </a:t>
                </a:r>
                <a14:m>
                  <m:oMath xmlns:m="http://schemas.openxmlformats.org/officeDocument/2006/math">
                    <m:r>
                      <a:rPr lang="en-US" sz="2000" b="0" i="1">
                        <a:latin typeface="Cambria Math" panose="02040503050406030204" pitchFamily="18" charset="0"/>
                      </a:rPr>
                      <m:t>𝐵𝑇</m:t>
                    </m:r>
                  </m:oMath>
                </a14:m>
                <a:r>
                  <a:rPr lang="en-US" sz="2000" dirty="0">
                    <a:latin typeface="Calibri" panose="020F0502020204030204" pitchFamily="34" charset="0"/>
                    <a:ea typeface="Calibri" panose="020F0502020204030204" pitchFamily="34" charset="0"/>
                    <a:cs typeface="Calibri" panose="020F0502020204030204" pitchFamily="34" charset="0"/>
                  </a:rPr>
                  <a:t>produces a narrower frequency response and therefore a wider impulse response in time (longer transitions), while larger </a:t>
                </a:r>
                <a14:m>
                  <m:oMath xmlns:m="http://schemas.openxmlformats.org/officeDocument/2006/math">
                    <m:r>
                      <a:rPr lang="en-US" sz="2000" b="0" i="1">
                        <a:latin typeface="Cambria Math" panose="02040503050406030204" pitchFamily="18" charset="0"/>
                      </a:rPr>
                      <m:t>𝐵𝑇</m:t>
                    </m:r>
                  </m:oMath>
                </a14:m>
                <a:r>
                  <a:rPr lang="en-US" sz="2000" dirty="0">
                    <a:latin typeface="Calibri" panose="020F0502020204030204" pitchFamily="34" charset="0"/>
                    <a:ea typeface="Calibri" panose="020F0502020204030204" pitchFamily="34" charset="0"/>
                    <a:cs typeface="Calibri" panose="020F0502020204030204" pitchFamily="34" charset="0"/>
                  </a:rPr>
                  <a:t>produces the opposite trend. In digital implementation, this continuous-time impulse response is sampled and truncated to obtain FIR coefficients </a:t>
                </a:r>
                <a14:m>
                  <m:oMath xmlns:m="http://schemas.openxmlformats.org/officeDocument/2006/math">
                    <m:r>
                      <a:rPr lang="en-US" sz="2000" b="0" i="1">
                        <a:latin typeface="Cambria Math" panose="02040503050406030204" pitchFamily="18" charset="0"/>
                      </a:rPr>
                      <m:t>h</m:t>
                    </m:r>
                    <m:d>
                      <m:dPr>
                        <m:begChr m:val="["/>
                        <m:endChr m:val="]"/>
                        <m:ctrlPr>
                          <a:rPr lang="ar-EG" sz="2000" i="1">
                            <a:latin typeface="Cambria Math" panose="02040503050406030204" pitchFamily="18" charset="0"/>
                          </a:rPr>
                        </m:ctrlPr>
                      </m:dPr>
                      <m:e>
                        <m:r>
                          <a:rPr lang="ar-EG" sz="2000" b="0" i="1">
                            <a:latin typeface="Cambria Math" panose="02040503050406030204" pitchFamily="18" charset="0"/>
                          </a:rPr>
                          <m:t>𝑘</m:t>
                        </m:r>
                      </m:e>
                    </m:d>
                  </m:oMath>
                </a14:m>
                <a:r>
                  <a:rPr lang="ar-EG" sz="2000" dirty="0">
                    <a:latin typeface="Calibri" panose="020F0502020204030204" pitchFamily="34" charset="0"/>
                    <a:ea typeface="Calibri" panose="020F0502020204030204" pitchFamily="34" charset="0"/>
                    <a:cs typeface="Calibri" panose="020F0502020204030204" pitchFamily="34" charset="0"/>
                  </a:rPr>
                  <a:t>(</a:t>
                </a:r>
                <a:r>
                  <a:rPr lang="en-US" sz="2000" dirty="0">
                    <a:latin typeface="Calibri" panose="020F0502020204030204" pitchFamily="34" charset="0"/>
                    <a:ea typeface="Calibri" panose="020F0502020204030204" pitchFamily="34" charset="0"/>
                    <a:cs typeface="Calibri" panose="020F0502020204030204" pitchFamily="34" charset="0"/>
                  </a:rPr>
                  <a:t>span and SPS determine the truncation length and sampling density).</a:t>
                </a:r>
              </a:p>
            </p:txBody>
          </p:sp>
        </mc:Choice>
        <mc:Fallback xmlns="">
          <p:sp>
            <p:nvSpPr>
              <p:cNvPr id="9" name="TextBox 8">
                <a:extLst>
                  <a:ext uri="{FF2B5EF4-FFF2-40B4-BE49-F238E27FC236}">
                    <a16:creationId xmlns:a16="http://schemas.microsoft.com/office/drawing/2014/main" id="{75D1A2A4-3412-EA77-9BC0-B7A3DB6BB889}"/>
                  </a:ext>
                </a:extLst>
              </p:cNvPr>
              <p:cNvSpPr txBox="1">
                <a:spLocks noRot="1" noChangeAspect="1" noMove="1" noResize="1" noEditPoints="1" noAdjustHandles="1" noChangeArrowheads="1" noChangeShapeType="1" noTextEdit="1"/>
              </p:cNvSpPr>
              <p:nvPr/>
            </p:nvSpPr>
            <p:spPr>
              <a:xfrm>
                <a:off x="609600" y="4705351"/>
                <a:ext cx="10972799" cy="1323439"/>
              </a:xfrm>
              <a:prstGeom prst="rect">
                <a:avLst/>
              </a:prstGeom>
              <a:blipFill>
                <a:blip r:embed="rId4"/>
                <a:stretch>
                  <a:fillRect l="-556" t="-2765" b="-7373"/>
                </a:stretch>
              </a:blipFill>
            </p:spPr>
            <p:txBody>
              <a:bodyPr/>
              <a:lstStyle/>
              <a:p>
                <a:r>
                  <a:rPr lang="en-US">
                    <a:noFill/>
                  </a:rPr>
                  <a:t> </a:t>
                </a:r>
              </a:p>
            </p:txBody>
          </p:sp>
        </mc:Fallback>
      </mc:AlternateContent>
    </p:spTree>
    <p:extLst>
      <p:ext uri="{BB962C8B-B14F-4D97-AF65-F5344CB8AC3E}">
        <p14:creationId xmlns:p14="http://schemas.microsoft.com/office/powerpoint/2010/main" val="85996629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D73B1082-D862-0D81-11B5-7F8FB24A1091}"/>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40A3BDBB-6115-9B44-89AB-91E3FF92ACB2}"/>
              </a:ext>
            </a:extLst>
          </p:cNvPr>
          <p:cNvSpPr>
            <a:spLocks noGrp="1"/>
          </p:cNvSpPr>
          <p:nvPr>
            <p:ph type="title"/>
          </p:nvPr>
        </p:nvSpPr>
        <p:spPr/>
        <p:txBody>
          <a:bodyPr>
            <a:normAutofit/>
          </a:bodyPr>
          <a:lstStyle/>
          <a:p>
            <a:r>
              <a:rPr lang="en-US" sz="3200" dirty="0">
                <a:latin typeface="Times New Roman" panose="02020603050405020304" pitchFamily="18" charset="0"/>
                <a:cs typeface="Times New Roman" panose="02020603050405020304" pitchFamily="18" charset="0"/>
              </a:rPr>
              <a:t>Parameters (span/</a:t>
            </a:r>
            <a:r>
              <a:rPr lang="en-US" sz="3200" dirty="0" err="1">
                <a:latin typeface="Times New Roman" panose="02020603050405020304" pitchFamily="18" charset="0"/>
                <a:cs typeface="Times New Roman" panose="02020603050405020304" pitchFamily="18" charset="0"/>
              </a:rPr>
              <a:t>sps</a:t>
            </a:r>
            <a:r>
              <a:rPr lang="en-US" sz="3200" dirty="0">
                <a:latin typeface="Times New Roman" panose="02020603050405020304" pitchFamily="18" charset="0"/>
                <a:cs typeface="Times New Roman" panose="02020603050405020304" pitchFamily="18" charset="0"/>
              </a:rPr>
              <a:t>)</a:t>
            </a:r>
          </a:p>
        </p:txBody>
      </p:sp>
      <mc:AlternateContent xmlns:mc="http://schemas.openxmlformats.org/markup-compatibility/2006" xmlns:a14="http://schemas.microsoft.com/office/drawing/2010/main">
        <mc:Choice Requires="a14">
          <p:sp>
            <p:nvSpPr>
              <p:cNvPr id="7" name="Text Placeholder 2">
                <a:extLst>
                  <a:ext uri="{FF2B5EF4-FFF2-40B4-BE49-F238E27FC236}">
                    <a16:creationId xmlns="" xmlns:a16="http://schemas.microsoft.com/office/drawing/2014/main" id="{006BD8EA-E058-69E8-D568-871C66F41037}"/>
                  </a:ext>
                </a:extLst>
              </p:cNvPr>
              <p:cNvSpPr txBox="1">
                <a:spLocks/>
              </p:cNvSpPr>
              <p:nvPr/>
            </p:nvSpPr>
            <p:spPr>
              <a:xfrm>
                <a:off x="609600" y="1642189"/>
                <a:ext cx="10972800" cy="431074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1pPr>
                <a:lvl2pPr marL="914400" marR="0" lvl="1" indent="-342900" algn="l" rtl="0">
                  <a:lnSpc>
                    <a:spcPct val="100000"/>
                  </a:lnSpc>
                  <a:spcBef>
                    <a:spcPts val="400"/>
                  </a:spcBef>
                  <a:spcAft>
                    <a:spcPts val="0"/>
                  </a:spcAft>
                  <a:buClr>
                    <a:schemeClr val="dk1"/>
                  </a:buClr>
                  <a:buSzPts val="1800"/>
                  <a:buFont typeface="Calibri"/>
                  <a:buChar char="–"/>
                  <a:defRPr sz="20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360"/>
                  </a:spcBef>
                  <a:spcAft>
                    <a:spcPts val="0"/>
                  </a:spcAft>
                  <a:buClr>
                    <a:schemeClr val="dk1"/>
                  </a:buClr>
                  <a:buSzPts val="1800"/>
                  <a:buFont typeface="Calibri"/>
                  <a:buChar char="–"/>
                  <a:defRPr sz="1800" b="0" i="0" u="none" strike="noStrike" cap="none">
                    <a:solidFill>
                      <a:schemeClr val="dk1"/>
                    </a:solidFill>
                    <a:latin typeface="Calibri"/>
                    <a:ea typeface="Calibri"/>
                    <a:cs typeface="Calibri"/>
                    <a:sym typeface="Calibri"/>
                  </a:defRPr>
                </a:lvl3pPr>
                <a:lvl4pPr marL="1828800" marR="0" lvl="3" indent="-330200" algn="l" rtl="0">
                  <a:lnSpc>
                    <a:spcPct val="100000"/>
                  </a:lnSpc>
                  <a:spcBef>
                    <a:spcPts val="336"/>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4pPr>
                <a:lvl5pPr marL="2286000" marR="0" lvl="4" indent="-330200" algn="l" rtl="0">
                  <a:lnSpc>
                    <a:spcPct val="100000"/>
                  </a:lnSpc>
                  <a:spcBef>
                    <a:spcPts val="336"/>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9pPr>
              </a:lstStyle>
              <a:p>
                <a:pPr marL="457200" marR="0" lvl="0" indent="-381000" algn="l" defTabSz="914400" rtl="0" eaLnBrk="1" fontAlgn="auto" latinLnBrk="0" hangingPunct="1">
                  <a:lnSpc>
                    <a:spcPct val="100000"/>
                  </a:lnSpc>
                  <a:spcBef>
                    <a:spcPts val="480"/>
                  </a:spcBef>
                  <a:spcAft>
                    <a:spcPts val="0"/>
                  </a:spcAft>
                  <a:buClr>
                    <a:srgbClr val="000000"/>
                  </a:buClr>
                  <a:buSzPts val="2400"/>
                  <a:buFont typeface="Arial"/>
                  <a:buChar char="•"/>
                  <a:tabLst/>
                  <a:defRPr/>
                </a:pPr>
                <a:r>
                  <a:rPr kumimoji="0" lang="en-US" sz="2000" b="1" i="0" u="none" strike="noStrike" kern="0" cap="none" spc="0" normalizeH="0" baseline="0" noProof="0" dirty="0">
                    <a:ln>
                      <a:noFill/>
                    </a:ln>
                    <a:solidFill>
                      <a:srgbClr val="000000"/>
                    </a:solidFill>
                    <a:effectLst/>
                    <a:uLnTx/>
                    <a:uFillTx/>
                    <a:latin typeface="Calibri"/>
                    <a:ea typeface="Calibri"/>
                    <a:cs typeface="Calibri"/>
                    <a:sym typeface="Calibri"/>
                  </a:rPr>
                  <a:t>Span (symbols)</a:t>
                </a:r>
                <a:r>
                  <a:rPr kumimoji="0" lang="en-US" sz="2000" b="0" i="0" u="none" strike="noStrike" kern="0" cap="none" spc="0" normalizeH="0" baseline="0" noProof="0" dirty="0">
                    <a:ln>
                      <a:noFill/>
                    </a:ln>
                    <a:solidFill>
                      <a:srgbClr val="000000"/>
                    </a:solidFill>
                    <a:effectLst/>
                    <a:uLnTx/>
                    <a:uFillTx/>
                    <a:latin typeface="Calibri"/>
                    <a:ea typeface="Calibri"/>
                    <a:cs typeface="Calibri"/>
                    <a:sym typeface="Calibri"/>
                  </a:rPr>
                  <a:t> = how long the Gaussian impulse response lasts in time</a:t>
                </a:r>
              </a:p>
              <a:p>
                <a:pPr marL="76200" marR="0" lvl="0" indent="0" algn="l" defTabSz="914400" rtl="0" eaLnBrk="1" fontAlgn="auto" latinLnBrk="0" hangingPunct="1">
                  <a:lnSpc>
                    <a:spcPct val="100000"/>
                  </a:lnSpc>
                  <a:spcBef>
                    <a:spcPts val="480"/>
                  </a:spcBef>
                  <a:spcAft>
                    <a:spcPts val="0"/>
                  </a:spcAft>
                  <a:buClr>
                    <a:srgbClr val="000000"/>
                  </a:buClr>
                  <a:buSzPts val="2400"/>
                  <a:buFont typeface="Arial"/>
                  <a:buNone/>
                  <a:tabLst/>
                  <a:defRPr/>
                </a:pPr>
                <a:r>
                  <a:rPr kumimoji="0" lang="en-US" sz="2000" b="0" i="0" u="none" strike="noStrike" kern="0" cap="none" spc="0" normalizeH="0" baseline="0" noProof="0" dirty="0">
                    <a:ln>
                      <a:noFill/>
                    </a:ln>
                    <a:solidFill>
                      <a:srgbClr val="000000"/>
                    </a:solidFill>
                    <a:effectLst/>
                    <a:uLnTx/>
                    <a:uFillTx/>
                    <a:latin typeface="Calibri"/>
                    <a:ea typeface="Calibri"/>
                    <a:cs typeface="Calibri"/>
                    <a:sym typeface="Calibri"/>
                  </a:rPr>
                  <a:t>Larger span → captures more Gaussian “tails” → </a:t>
                </a:r>
                <a:r>
                  <a:rPr kumimoji="0" lang="en-US" sz="2000" b="1" i="0" u="none" strike="noStrike" kern="0" cap="none" spc="0" normalizeH="0" baseline="0" noProof="0" dirty="0">
                    <a:ln>
                      <a:noFill/>
                    </a:ln>
                    <a:solidFill>
                      <a:srgbClr val="000000"/>
                    </a:solidFill>
                    <a:effectLst/>
                    <a:uLnTx/>
                    <a:uFillTx/>
                    <a:latin typeface="Calibri"/>
                    <a:ea typeface="Calibri"/>
                    <a:cs typeface="Calibri"/>
                    <a:sym typeface="Calibri"/>
                  </a:rPr>
                  <a:t>less truncation error</a:t>
                </a:r>
                <a:endParaRPr kumimoji="0" lang="en-US" sz="2000" b="0" i="0" u="none" strike="noStrike" kern="0" cap="none" spc="0" normalizeH="0" baseline="0" noProof="0" dirty="0">
                  <a:ln>
                    <a:noFill/>
                  </a:ln>
                  <a:solidFill>
                    <a:srgbClr val="000000"/>
                  </a:solidFill>
                  <a:effectLst/>
                  <a:uLnTx/>
                  <a:uFillTx/>
                  <a:latin typeface="Calibri"/>
                  <a:ea typeface="Calibri"/>
                  <a:cs typeface="Calibri"/>
                  <a:sym typeface="Calibri"/>
                </a:endParaRPr>
              </a:p>
              <a:p>
                <a:pPr marL="76200" marR="0" lvl="0" indent="0" algn="l" defTabSz="914400" rtl="0" eaLnBrk="1" fontAlgn="auto" latinLnBrk="0" hangingPunct="1">
                  <a:lnSpc>
                    <a:spcPct val="100000"/>
                  </a:lnSpc>
                  <a:spcBef>
                    <a:spcPts val="480"/>
                  </a:spcBef>
                  <a:spcAft>
                    <a:spcPts val="0"/>
                  </a:spcAft>
                  <a:buClr>
                    <a:srgbClr val="000000"/>
                  </a:buClr>
                  <a:buSzPts val="2400"/>
                  <a:buFont typeface="Arial"/>
                  <a:buNone/>
                  <a:tabLst/>
                  <a:defRPr/>
                </a:pPr>
                <a:r>
                  <a:rPr kumimoji="0" lang="en-US" sz="2000" b="0" i="0" u="none" strike="noStrike" kern="0" cap="none" spc="0" normalizeH="0" baseline="0" noProof="0" dirty="0">
                    <a:ln>
                      <a:noFill/>
                    </a:ln>
                    <a:solidFill>
                      <a:srgbClr val="000000"/>
                    </a:solidFill>
                    <a:effectLst/>
                    <a:uLnTx/>
                    <a:uFillTx/>
                    <a:latin typeface="Calibri"/>
                    <a:ea typeface="Calibri"/>
                    <a:cs typeface="Calibri"/>
                    <a:sym typeface="Calibri"/>
                  </a:rPr>
                  <a:t>Tradeoff: more taps → more registers/latency/area</a:t>
                </a:r>
              </a:p>
              <a:p>
                <a:pPr marL="76200" marR="0" lvl="0" indent="0" algn="l" defTabSz="914400" rtl="0" eaLnBrk="1" fontAlgn="auto" latinLnBrk="0" hangingPunct="1">
                  <a:lnSpc>
                    <a:spcPct val="100000"/>
                  </a:lnSpc>
                  <a:spcBef>
                    <a:spcPts val="480"/>
                  </a:spcBef>
                  <a:spcAft>
                    <a:spcPts val="0"/>
                  </a:spcAft>
                  <a:buClr>
                    <a:srgbClr val="000000"/>
                  </a:buClr>
                  <a:buSzPts val="2400"/>
                  <a:buFont typeface="Arial"/>
                  <a:buNone/>
                  <a:tabLst/>
                  <a:defRPr/>
                </a:pPr>
                <a:endParaRPr kumimoji="0" lang="en-US" sz="2000" b="1" i="0" u="none" strike="noStrike" kern="0" cap="none" spc="0" normalizeH="0" baseline="0" noProof="0" dirty="0">
                  <a:ln>
                    <a:noFill/>
                  </a:ln>
                  <a:solidFill>
                    <a:srgbClr val="000000"/>
                  </a:solidFill>
                  <a:effectLst/>
                  <a:uLnTx/>
                  <a:uFillTx/>
                  <a:latin typeface="Calibri"/>
                  <a:ea typeface="Calibri"/>
                  <a:cs typeface="Calibri"/>
                  <a:sym typeface="Calibri"/>
                </a:endParaRPr>
              </a:p>
              <a:p>
                <a:pPr marL="457200" marR="0" lvl="0" indent="-381000" algn="l" defTabSz="914400" rtl="0" eaLnBrk="1" fontAlgn="auto" latinLnBrk="0" hangingPunct="1">
                  <a:lnSpc>
                    <a:spcPct val="100000"/>
                  </a:lnSpc>
                  <a:spcBef>
                    <a:spcPts val="480"/>
                  </a:spcBef>
                  <a:spcAft>
                    <a:spcPts val="0"/>
                  </a:spcAft>
                  <a:buClr>
                    <a:srgbClr val="000000"/>
                  </a:buClr>
                  <a:buSzPts val="2400"/>
                  <a:buFont typeface="Arial"/>
                  <a:buChar char="•"/>
                  <a:tabLst/>
                  <a:defRPr/>
                </a:pPr>
                <a:r>
                  <a:rPr kumimoji="0" lang="en-US" sz="2000" b="1" i="0" u="none" strike="noStrike" kern="0" cap="none" spc="0" normalizeH="0" baseline="0" noProof="0" dirty="0">
                    <a:ln>
                      <a:noFill/>
                    </a:ln>
                    <a:solidFill>
                      <a:srgbClr val="000000"/>
                    </a:solidFill>
                    <a:effectLst/>
                    <a:uLnTx/>
                    <a:uFillTx/>
                    <a:latin typeface="Calibri"/>
                    <a:ea typeface="Calibri"/>
                    <a:cs typeface="Calibri"/>
                    <a:sym typeface="Calibri"/>
                  </a:rPr>
                  <a:t>SPS (samples/symbol)</a:t>
                </a:r>
                <a:r>
                  <a:rPr kumimoji="0" lang="en-US" sz="2000" b="0" i="0" u="none" strike="noStrike" kern="0" cap="none" spc="0" normalizeH="0" baseline="0" noProof="0" dirty="0">
                    <a:ln>
                      <a:noFill/>
                    </a:ln>
                    <a:solidFill>
                      <a:srgbClr val="000000"/>
                    </a:solidFill>
                    <a:effectLst/>
                    <a:uLnTx/>
                    <a:uFillTx/>
                    <a:latin typeface="Calibri"/>
                    <a:ea typeface="Calibri"/>
                    <a:cs typeface="Calibri"/>
                    <a:sym typeface="Calibri"/>
                  </a:rPr>
                  <a:t> = time resolution of the discrete-time model</a:t>
                </a:r>
              </a:p>
              <a:p>
                <a:pPr marL="76200" marR="0" lvl="0" indent="0" algn="l" defTabSz="914400" rtl="0" eaLnBrk="1" fontAlgn="auto" latinLnBrk="0" hangingPunct="1">
                  <a:lnSpc>
                    <a:spcPct val="100000"/>
                  </a:lnSpc>
                  <a:spcBef>
                    <a:spcPts val="480"/>
                  </a:spcBef>
                  <a:spcAft>
                    <a:spcPts val="0"/>
                  </a:spcAft>
                  <a:buClr>
                    <a:srgbClr val="000000"/>
                  </a:buClr>
                  <a:buSzPts val="2400"/>
                  <a:buFont typeface="Arial"/>
                  <a:buNone/>
                  <a:tabLst/>
                  <a:defRPr/>
                </a:pPr>
                <a14:m>
                  <m:oMathPara xmlns:m="http://schemas.openxmlformats.org/officeDocument/2006/math">
                    <m:oMathParaPr>
                      <m:jc m:val="centerGroup"/>
                    </m:oMathParaPr>
                    <m:oMath xmlns:m="http://schemas.openxmlformats.org/officeDocument/2006/math">
                      <m:sSub>
                        <m:sSubPr>
                          <m:ctrlPr>
                            <a:rPr kumimoji="0" lang="ar-EG" sz="2000" b="0" i="1" u="none" strike="noStrike" kern="0" cap="none" spc="0" normalizeH="0" baseline="0" noProof="0" smtClean="0">
                              <a:ln>
                                <a:noFill/>
                              </a:ln>
                              <a:solidFill>
                                <a:srgbClr val="000000"/>
                              </a:solidFill>
                              <a:effectLst/>
                              <a:uLnTx/>
                              <a:uFillTx/>
                              <a:latin typeface="Cambria Math" panose="02040503050406030204" pitchFamily="18" charset="0"/>
                              <a:sym typeface="Calibri"/>
                            </a:rPr>
                          </m:ctrlPr>
                        </m:sSubPr>
                        <m:e>
                          <m:r>
                            <a:rPr kumimoji="0" lang="ar-EG" sz="2000" b="0" i="1" u="none" strike="noStrike" kern="0" cap="none" spc="0" normalizeH="0" baseline="0" noProof="0">
                              <a:ln>
                                <a:noFill/>
                              </a:ln>
                              <a:solidFill>
                                <a:srgbClr val="000000"/>
                              </a:solidFill>
                              <a:effectLst/>
                              <a:uLnTx/>
                              <a:uFillTx/>
                              <a:latin typeface="Cambria Math" panose="02040503050406030204" pitchFamily="18" charset="0"/>
                              <a:sym typeface="Calibri"/>
                            </a:rPr>
                            <m:t>𝑓</m:t>
                          </m:r>
                        </m:e>
                        <m:sub>
                          <m:r>
                            <a:rPr kumimoji="0" lang="ar-EG" sz="2000" b="0" i="1" u="none" strike="noStrike" kern="0" cap="none" spc="0" normalizeH="0" baseline="0" noProof="0">
                              <a:ln>
                                <a:noFill/>
                              </a:ln>
                              <a:solidFill>
                                <a:srgbClr val="000000"/>
                              </a:solidFill>
                              <a:effectLst/>
                              <a:uLnTx/>
                              <a:uFillTx/>
                              <a:latin typeface="Cambria Math" panose="02040503050406030204" pitchFamily="18" charset="0"/>
                              <a:sym typeface="Calibri"/>
                            </a:rPr>
                            <m:t>𝑠</m:t>
                          </m:r>
                        </m:sub>
                      </m:sSub>
                      <m:r>
                        <a:rPr kumimoji="0" lang="ar-EG" sz="2000" b="0" i="0" u="none" strike="noStrike" kern="0" cap="none" spc="0" normalizeH="0" baseline="0" noProof="0">
                          <a:ln>
                            <a:noFill/>
                          </a:ln>
                          <a:solidFill>
                            <a:srgbClr val="000000"/>
                          </a:solidFill>
                          <a:effectLst/>
                          <a:uLnTx/>
                          <a:uFillTx/>
                          <a:latin typeface="Cambria Math" panose="02040503050406030204" pitchFamily="18" charset="0"/>
                          <a:sym typeface="Calibri"/>
                        </a:rPr>
                        <m:t>=</m:t>
                      </m:r>
                      <m:r>
                        <m:rPr>
                          <m:nor/>
                        </m:rPr>
                        <a:rPr kumimoji="0" lang="en-US" sz="2000" b="0" i="1" u="none" strike="noStrike" kern="0" cap="none" spc="0" normalizeH="0" baseline="0" noProof="0">
                          <a:ln>
                            <a:noFill/>
                          </a:ln>
                          <a:solidFill>
                            <a:srgbClr val="000000"/>
                          </a:solidFill>
                          <a:effectLst/>
                          <a:uLnTx/>
                          <a:uFillTx/>
                          <a:latin typeface="Calibri"/>
                          <a:ea typeface="Calibri"/>
                          <a:cs typeface="Calibri"/>
                          <a:sym typeface="Calibri"/>
                        </a:rPr>
                        <m:t>SPS</m:t>
                      </m:r>
                      <m:r>
                        <a:rPr kumimoji="0" lang="en-US" sz="2000" b="0" i="0" u="none" strike="noStrike" kern="0" cap="none" spc="0" normalizeH="0" baseline="0" noProof="0">
                          <a:ln>
                            <a:noFill/>
                          </a:ln>
                          <a:solidFill>
                            <a:srgbClr val="000000"/>
                          </a:solidFill>
                          <a:effectLst/>
                          <a:uLnTx/>
                          <a:uFillTx/>
                          <a:latin typeface="Cambria Math" panose="02040503050406030204" pitchFamily="18" charset="0"/>
                          <a:sym typeface="Calibri"/>
                        </a:rPr>
                        <m:t>⋅</m:t>
                      </m:r>
                      <m:sSub>
                        <m:sSubPr>
                          <m:ctrlPr>
                            <a:rPr kumimoji="0" lang="ar-EG" sz="2000" b="0" i="1" u="none" strike="noStrike" kern="0" cap="none" spc="0" normalizeH="0" baseline="0" noProof="0">
                              <a:ln>
                                <a:noFill/>
                              </a:ln>
                              <a:solidFill>
                                <a:srgbClr val="000000"/>
                              </a:solidFill>
                              <a:effectLst/>
                              <a:uLnTx/>
                              <a:uFillTx/>
                              <a:latin typeface="Cambria Math" panose="02040503050406030204" pitchFamily="18" charset="0"/>
                              <a:sym typeface="Calibri"/>
                            </a:rPr>
                          </m:ctrlPr>
                        </m:sSubPr>
                        <m:e>
                          <m:r>
                            <a:rPr kumimoji="0" lang="ar-EG" sz="2000" b="0" i="1" u="none" strike="noStrike" kern="0" cap="none" spc="0" normalizeH="0" baseline="0" noProof="0">
                              <a:ln>
                                <a:noFill/>
                              </a:ln>
                              <a:solidFill>
                                <a:srgbClr val="000000"/>
                              </a:solidFill>
                              <a:effectLst/>
                              <a:uLnTx/>
                              <a:uFillTx/>
                              <a:latin typeface="Cambria Math" panose="02040503050406030204" pitchFamily="18" charset="0"/>
                              <a:sym typeface="Calibri"/>
                            </a:rPr>
                            <m:t>𝑅</m:t>
                          </m:r>
                        </m:e>
                        <m:sub>
                          <m:r>
                            <a:rPr kumimoji="0" lang="ar-EG" sz="2000" b="0" i="1" u="none" strike="noStrike" kern="0" cap="none" spc="0" normalizeH="0" baseline="0" noProof="0">
                              <a:ln>
                                <a:noFill/>
                              </a:ln>
                              <a:solidFill>
                                <a:srgbClr val="000000"/>
                              </a:solidFill>
                              <a:effectLst/>
                              <a:uLnTx/>
                              <a:uFillTx/>
                              <a:latin typeface="Cambria Math" panose="02040503050406030204" pitchFamily="18" charset="0"/>
                              <a:sym typeface="Calibri"/>
                            </a:rPr>
                            <m:t>𝑠</m:t>
                          </m:r>
                        </m:sub>
                      </m:sSub>
                    </m:oMath>
                  </m:oMathPara>
                </a14:m>
                <a:endParaRPr kumimoji="0" lang="ar-EG" sz="2000" b="0" i="0" u="none" strike="noStrike" kern="0" cap="none" spc="0" normalizeH="0" baseline="0" noProof="0" dirty="0">
                  <a:ln>
                    <a:noFill/>
                  </a:ln>
                  <a:solidFill>
                    <a:srgbClr val="000000"/>
                  </a:solidFill>
                  <a:effectLst/>
                  <a:uLnTx/>
                  <a:uFillTx/>
                  <a:latin typeface="Calibri"/>
                  <a:ea typeface="Calibri"/>
                  <a:cs typeface="Calibri"/>
                  <a:sym typeface="Calibri"/>
                </a:endParaRPr>
              </a:p>
              <a:p>
                <a:pPr marL="76200" marR="0" lvl="0" indent="0" algn="l" defTabSz="914400" rtl="0" eaLnBrk="1" fontAlgn="auto" latinLnBrk="0" hangingPunct="1">
                  <a:lnSpc>
                    <a:spcPct val="100000"/>
                  </a:lnSpc>
                  <a:spcBef>
                    <a:spcPts val="480"/>
                  </a:spcBef>
                  <a:spcAft>
                    <a:spcPts val="0"/>
                  </a:spcAft>
                  <a:buClr>
                    <a:srgbClr val="000000"/>
                  </a:buClr>
                  <a:buSzPts val="2400"/>
                  <a:buFont typeface="Arial"/>
                  <a:buNone/>
                  <a:tabLst/>
                  <a:defRPr/>
                </a:pPr>
                <a:r>
                  <a:rPr kumimoji="0" lang="en-US" sz="2000" b="0" i="0" u="none" strike="noStrike" kern="0" cap="none" spc="0" normalizeH="0" baseline="0" noProof="0" dirty="0">
                    <a:ln>
                      <a:noFill/>
                    </a:ln>
                    <a:solidFill>
                      <a:srgbClr val="000000"/>
                    </a:solidFill>
                    <a:effectLst/>
                    <a:uLnTx/>
                    <a:uFillTx/>
                    <a:latin typeface="Calibri"/>
                    <a:ea typeface="Calibri"/>
                    <a:cs typeface="Calibri"/>
                    <a:sym typeface="Calibri"/>
                  </a:rPr>
                  <a:t>Higher SPS → smoother, more accurate pulse shape (less discretization error)</a:t>
                </a:r>
              </a:p>
              <a:p>
                <a:pPr marL="76200" marR="0" lvl="0" indent="0" algn="l" defTabSz="914400" rtl="0" eaLnBrk="1" fontAlgn="auto" latinLnBrk="0" hangingPunct="1">
                  <a:lnSpc>
                    <a:spcPct val="100000"/>
                  </a:lnSpc>
                  <a:spcBef>
                    <a:spcPts val="480"/>
                  </a:spcBef>
                  <a:spcAft>
                    <a:spcPts val="0"/>
                  </a:spcAft>
                  <a:buClr>
                    <a:srgbClr val="000000"/>
                  </a:buClr>
                  <a:buSzPts val="2400"/>
                  <a:buFont typeface="Arial"/>
                  <a:buNone/>
                  <a:tabLst/>
                  <a:defRPr/>
                </a:pPr>
                <a:r>
                  <a:rPr kumimoji="0" lang="en-US" sz="2000" b="0" i="0" u="none" strike="noStrike" kern="0" cap="none" spc="0" normalizeH="0" baseline="0" noProof="0" dirty="0">
                    <a:ln>
                      <a:noFill/>
                    </a:ln>
                    <a:solidFill>
                      <a:srgbClr val="000000"/>
                    </a:solidFill>
                    <a:effectLst/>
                    <a:uLnTx/>
                    <a:uFillTx/>
                    <a:latin typeface="Calibri"/>
                    <a:ea typeface="Calibri"/>
                    <a:cs typeface="Calibri"/>
                    <a:sym typeface="Calibri"/>
                  </a:rPr>
                  <a:t>Tradeoff: more taps → more computations/hardware</a:t>
                </a:r>
              </a:p>
              <a:p>
                <a:pPr marL="457200" marR="0" lvl="0" indent="-381000" algn="l" defTabSz="914400" rtl="0" eaLnBrk="1" fontAlgn="auto" latinLnBrk="0" hangingPunct="1">
                  <a:lnSpc>
                    <a:spcPct val="100000"/>
                  </a:lnSpc>
                  <a:spcBef>
                    <a:spcPts val="480"/>
                  </a:spcBef>
                  <a:spcAft>
                    <a:spcPts val="0"/>
                  </a:spcAft>
                  <a:buClr>
                    <a:srgbClr val="000000"/>
                  </a:buClr>
                  <a:buSzPts val="2400"/>
                  <a:buFont typeface="Arial"/>
                  <a:buChar char="•"/>
                  <a:tabLst/>
                  <a:defRPr/>
                </a:pPr>
                <a:r>
                  <a:rPr kumimoji="0" lang="en-US" sz="2000" b="1" i="0" u="none" strike="noStrike" kern="0" cap="none" spc="0" normalizeH="0" baseline="0" noProof="0" dirty="0">
                    <a:ln>
                      <a:noFill/>
                    </a:ln>
                    <a:solidFill>
                      <a:srgbClr val="000000"/>
                    </a:solidFill>
                    <a:effectLst/>
                    <a:uLnTx/>
                    <a:uFillTx/>
                    <a:latin typeface="Calibri"/>
                    <a:ea typeface="Calibri"/>
                    <a:cs typeface="Calibri"/>
                    <a:sym typeface="Calibri"/>
                  </a:rPr>
                  <a:t>For Even-length (Type II):</a:t>
                </a:r>
                <a:endParaRPr kumimoji="0" lang="en-US" sz="2000" b="0" i="0" u="none" strike="noStrike" kern="0" cap="none" spc="0" normalizeH="0" baseline="0" noProof="0" dirty="0">
                  <a:ln>
                    <a:noFill/>
                  </a:ln>
                  <a:solidFill>
                    <a:srgbClr val="000000"/>
                  </a:solidFill>
                  <a:effectLst/>
                  <a:uLnTx/>
                  <a:uFillTx/>
                  <a:latin typeface="Calibri"/>
                  <a:ea typeface="Calibri"/>
                  <a:cs typeface="Calibri"/>
                  <a:sym typeface="Calibri"/>
                </a:endParaRPr>
              </a:p>
              <a:p>
                <a:pPr marL="76200" marR="0" lvl="0" indent="0" algn="l" defTabSz="914400" rtl="0" eaLnBrk="1" fontAlgn="auto" latinLnBrk="0" hangingPunct="1">
                  <a:lnSpc>
                    <a:spcPct val="100000"/>
                  </a:lnSpc>
                  <a:spcBef>
                    <a:spcPts val="480"/>
                  </a:spcBef>
                  <a:spcAft>
                    <a:spcPts val="0"/>
                  </a:spcAft>
                  <a:buClr>
                    <a:srgbClr val="000000"/>
                  </a:buClr>
                  <a:buSzPts val="2400"/>
                  <a:buFont typeface="Arial"/>
                  <a:buNone/>
                  <a:tabLst/>
                  <a:defRPr/>
                </a:pPr>
                <a14:m>
                  <m:oMathPara xmlns:m="http://schemas.openxmlformats.org/officeDocument/2006/math">
                    <m:oMathParaPr>
                      <m:jc m:val="centerGroup"/>
                    </m:oMathParaPr>
                    <m:oMath xmlns:m="http://schemas.openxmlformats.org/officeDocument/2006/math">
                      <m:r>
                        <a:rPr kumimoji="0" lang="en-US" sz="2000" b="0" i="1" u="none" strike="noStrike" kern="0" cap="none" spc="0" normalizeH="0" baseline="0" noProof="0">
                          <a:ln>
                            <a:noFill/>
                          </a:ln>
                          <a:solidFill>
                            <a:srgbClr val="000000"/>
                          </a:solidFill>
                          <a:effectLst/>
                          <a:uLnTx/>
                          <a:uFillTx/>
                          <a:latin typeface="Cambria Math" panose="02040503050406030204" pitchFamily="18" charset="0"/>
                          <a:sym typeface="Calibri"/>
                        </a:rPr>
                        <m:t>𝑁</m:t>
                      </m:r>
                      <m:r>
                        <a:rPr kumimoji="0" lang="en-US" sz="2000" b="0" i="0" u="none" strike="noStrike" kern="0" cap="none" spc="0" normalizeH="0" baseline="0" noProof="0">
                          <a:ln>
                            <a:noFill/>
                          </a:ln>
                          <a:solidFill>
                            <a:srgbClr val="000000"/>
                          </a:solidFill>
                          <a:effectLst/>
                          <a:uLnTx/>
                          <a:uFillTx/>
                          <a:latin typeface="Cambria Math" panose="02040503050406030204" pitchFamily="18" charset="0"/>
                          <a:sym typeface="Calibri"/>
                        </a:rPr>
                        <m:t>=</m:t>
                      </m:r>
                      <m:r>
                        <m:rPr>
                          <m:nor/>
                        </m:rPr>
                        <a:rPr kumimoji="0" lang="en-US" sz="2000" b="0" i="1" u="none" strike="noStrike" kern="0" cap="none" spc="0" normalizeH="0" baseline="0" noProof="0">
                          <a:ln>
                            <a:noFill/>
                          </a:ln>
                          <a:solidFill>
                            <a:srgbClr val="000000"/>
                          </a:solidFill>
                          <a:effectLst/>
                          <a:uLnTx/>
                          <a:uFillTx/>
                          <a:latin typeface="Calibri"/>
                          <a:ea typeface="Calibri"/>
                          <a:cs typeface="Calibri"/>
                          <a:sym typeface="Calibri"/>
                        </a:rPr>
                        <m:t>span</m:t>
                      </m:r>
                      <m:r>
                        <a:rPr kumimoji="0" lang="en-US" sz="2000" b="0" i="0" u="none" strike="noStrike" kern="0" cap="none" spc="0" normalizeH="0" baseline="0" noProof="0">
                          <a:ln>
                            <a:noFill/>
                          </a:ln>
                          <a:solidFill>
                            <a:srgbClr val="000000"/>
                          </a:solidFill>
                          <a:effectLst/>
                          <a:uLnTx/>
                          <a:uFillTx/>
                          <a:latin typeface="Cambria Math" panose="02040503050406030204" pitchFamily="18" charset="0"/>
                          <a:sym typeface="Calibri"/>
                        </a:rPr>
                        <m:t>⋅</m:t>
                      </m:r>
                      <m:r>
                        <m:rPr>
                          <m:nor/>
                        </m:rPr>
                        <a:rPr kumimoji="0" lang="en-US" sz="2000" b="0" i="1" u="none" strike="noStrike" kern="0" cap="none" spc="0" normalizeH="0" baseline="0" noProof="0">
                          <a:ln>
                            <a:noFill/>
                          </a:ln>
                          <a:solidFill>
                            <a:srgbClr val="000000"/>
                          </a:solidFill>
                          <a:effectLst/>
                          <a:uLnTx/>
                          <a:uFillTx/>
                          <a:latin typeface="Calibri"/>
                          <a:ea typeface="Calibri"/>
                          <a:cs typeface="Calibri"/>
                          <a:sym typeface="Calibri"/>
                        </a:rPr>
                        <m:t>SPS</m:t>
                      </m:r>
                    </m:oMath>
                  </m:oMathPara>
                </a14:m>
                <a:endParaRPr kumimoji="0" lang="en-US" sz="2000" b="0" i="0" u="none" strike="noStrike" kern="0" cap="none" spc="0" normalizeH="0" baseline="0" noProof="0" dirty="0">
                  <a:ln>
                    <a:noFill/>
                  </a:ln>
                  <a:solidFill>
                    <a:srgbClr val="000000"/>
                  </a:solidFill>
                  <a:effectLst/>
                  <a:uLnTx/>
                  <a:uFillTx/>
                  <a:latin typeface="Calibri"/>
                  <a:ea typeface="Calibri"/>
                  <a:cs typeface="Calibri"/>
                  <a:sym typeface="Calibri"/>
                </a:endParaRPr>
              </a:p>
              <a:p>
                <a:pPr marL="457200" marR="0" lvl="0" indent="-381000" algn="l" defTabSz="914400" rtl="0" eaLnBrk="1" fontAlgn="auto" latinLnBrk="0" hangingPunct="1">
                  <a:lnSpc>
                    <a:spcPct val="100000"/>
                  </a:lnSpc>
                  <a:spcBef>
                    <a:spcPts val="480"/>
                  </a:spcBef>
                  <a:spcAft>
                    <a:spcPts val="0"/>
                  </a:spcAft>
                  <a:buClr>
                    <a:srgbClr val="000000"/>
                  </a:buClr>
                  <a:buSzPts val="2400"/>
                  <a:buFont typeface="Arial"/>
                  <a:buChar char="•"/>
                  <a:tabLst/>
                  <a:defRPr/>
                </a:pPr>
                <a:endParaRPr kumimoji="0" lang="en-US" sz="24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mc:Choice>
        <mc:Fallback xmlns="">
          <p:sp>
            <p:nvSpPr>
              <p:cNvPr id="7" name="Text Placeholder 2">
                <a:extLst>
                  <a:ext uri="{FF2B5EF4-FFF2-40B4-BE49-F238E27FC236}">
                    <a16:creationId xmlns:a16="http://schemas.microsoft.com/office/drawing/2014/main" id="{006BD8EA-E058-69E8-D568-871C66F41037}"/>
                  </a:ext>
                </a:extLst>
              </p:cNvPr>
              <p:cNvSpPr txBox="1">
                <a:spLocks noRot="1" noChangeAspect="1" noMove="1" noResize="1" noEditPoints="1" noAdjustHandles="1" noChangeArrowheads="1" noChangeShapeType="1" noTextEdit="1"/>
              </p:cNvSpPr>
              <p:nvPr/>
            </p:nvSpPr>
            <p:spPr>
              <a:xfrm>
                <a:off x="609600" y="1642189"/>
                <a:ext cx="10972800" cy="4310742"/>
              </a:xfrm>
              <a:prstGeom prst="rect">
                <a:avLst/>
              </a:prstGeom>
              <a:blipFill>
                <a:blip r:embed="rId2"/>
                <a:stretch>
                  <a:fillRect l="-56" t="-424"/>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151636338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2A2026B4-4FFC-3AC3-A96C-D7C1873A0F28}"/>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7DD56275-51AE-AA17-89E9-3E71692AA9E8}"/>
              </a:ext>
            </a:extLst>
          </p:cNvPr>
          <p:cNvSpPr>
            <a:spLocks noGrp="1"/>
          </p:cNvSpPr>
          <p:nvPr>
            <p:ph type="title"/>
          </p:nvPr>
        </p:nvSpPr>
        <p:spPr/>
        <p:txBody>
          <a:bodyPr>
            <a:normAutofit/>
          </a:bodyPr>
          <a:lstStyle/>
          <a:p>
            <a:r>
              <a:rPr lang="en-US" sz="3200" dirty="0">
                <a:latin typeface="Times New Roman" panose="02020603050405020304" pitchFamily="18" charset="0"/>
                <a:cs typeface="Times New Roman" panose="02020603050405020304" pitchFamily="18" charset="0"/>
              </a:rPr>
              <a:t>Simulation</a:t>
            </a:r>
            <a:r>
              <a:rPr lang="en-US" dirty="0">
                <a:latin typeface="Times New Roman" panose="02020603050405020304" pitchFamily="18" charset="0"/>
                <a:cs typeface="Times New Roman" panose="02020603050405020304" pitchFamily="18" charset="0"/>
              </a:rPr>
              <a:t> Results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 xmlns:a16="http://schemas.microsoft.com/office/drawing/2014/main" id="{C33DB53A-84E6-7052-C923-C69AF5DD2B1D}"/>
                  </a:ext>
                </a:extLst>
              </p:cNvPr>
              <p:cNvSpPr>
                <a:spLocks noGrp="1"/>
              </p:cNvSpPr>
              <p:nvPr>
                <p:ph type="body" idx="1"/>
              </p:nvPr>
            </p:nvSpPr>
            <p:spPr/>
            <p:txBody>
              <a:bodyPr/>
              <a:lstStyle/>
              <a:p>
                <a:r>
                  <a:rPr lang="en-US" sz="2000"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Span 4 &gt; Span 3: </a:t>
                </a:r>
                <a:r>
                  <a:rPr lang="en-US" sz="2000" b="0"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better tail capture in time; cleaner/less truncated shaping</a:t>
                </a:r>
              </a:p>
              <a:p>
                <a:r>
                  <a:rPr lang="en-US" sz="2000"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SPS 16 &gt; SPS 8: </a:t>
                </a:r>
                <a:r>
                  <a:rPr lang="en-US" sz="2000" b="0"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finer sampling → smoother impulse response and more faithful discrete-time shaping</a:t>
                </a:r>
              </a:p>
              <a:p>
                <a:r>
                  <a:rPr lang="en-US" sz="2000"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Selected for primary model: span = 4, SPS = 16</a:t>
                </a:r>
                <a:r>
                  <a:rPr lang="en-US" sz="2000" b="0"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 , </a:t>
                </a:r>
                <a14:m>
                  <m:oMath xmlns:m="http://schemas.openxmlformats.org/officeDocument/2006/math">
                    <m:r>
                      <a:rPr lang="en-US" sz="2000" b="0" i="1" smtClean="0">
                        <a:solidFill>
                          <a:schemeClr val="tx1">
                            <a:lumMod val="85000"/>
                            <a:lumOff val="15000"/>
                          </a:schemeClr>
                        </a:solidFill>
                        <a:latin typeface="Cambria Math" panose="02040503050406030204" pitchFamily="18" charset="0"/>
                      </a:rPr>
                      <m:t>𝑁</m:t>
                    </m:r>
                    <m:r>
                      <a:rPr lang="en-US" sz="2000" b="0" smtClean="0">
                        <a:solidFill>
                          <a:schemeClr val="tx1">
                            <a:lumMod val="85000"/>
                            <a:lumOff val="15000"/>
                          </a:schemeClr>
                        </a:solidFill>
                        <a:latin typeface="Cambria Math" panose="02040503050406030204" pitchFamily="18" charset="0"/>
                      </a:rPr>
                      <m:t>=</m:t>
                    </m:r>
                    <m:r>
                      <m:rPr>
                        <m:nor/>
                      </m:rPr>
                      <a:rPr lang="en-US" sz="2000" b="0" i="1">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m:t>span</m:t>
                    </m:r>
                    <m:r>
                      <a:rPr lang="en-US" sz="2000" b="0" smtClean="0">
                        <a:solidFill>
                          <a:schemeClr val="tx1">
                            <a:lumMod val="85000"/>
                            <a:lumOff val="15000"/>
                          </a:schemeClr>
                        </a:solidFill>
                        <a:latin typeface="Cambria Math" panose="02040503050406030204" pitchFamily="18" charset="0"/>
                      </a:rPr>
                      <m:t>⋅</m:t>
                    </m:r>
                    <m:r>
                      <m:rPr>
                        <m:nor/>
                      </m:rPr>
                      <a:rPr lang="en-US" sz="2000" b="0" i="1">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m:t>SPS</m:t>
                    </m:r>
                  </m:oMath>
                </a14:m>
                <a:r>
                  <a:rPr lang="en-US" sz="2000" b="0"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 = 64 taps</a:t>
                </a:r>
              </a:p>
              <a:p>
                <a:endParaRPr lang="en-US" sz="2000" dirty="0"/>
              </a:p>
            </p:txBody>
          </p:sp>
        </mc:Choice>
        <mc:Fallback xmlns="">
          <p:sp>
            <p:nvSpPr>
              <p:cNvPr id="3" name="Text Placeholder 2">
                <a:extLst>
                  <a:ext uri="{FF2B5EF4-FFF2-40B4-BE49-F238E27FC236}">
                    <a16:creationId xmlns:a16="http://schemas.microsoft.com/office/drawing/2014/main" id="{C33DB53A-84E6-7052-C923-C69AF5DD2B1D}"/>
                  </a:ext>
                </a:extLst>
              </p:cNvPr>
              <p:cNvSpPr>
                <a:spLocks noGrp="1" noRot="1" noChangeAspect="1" noMove="1" noResize="1" noEditPoints="1" noAdjustHandles="1" noChangeArrowheads="1" noChangeShapeType="1" noTextEdit="1"/>
              </p:cNvSpPr>
              <p:nvPr>
                <p:ph type="body" idx="1"/>
              </p:nvPr>
            </p:nvSpPr>
            <p:spPr>
              <a:blipFill>
                <a:blip r:embed="rId2"/>
                <a:stretch>
                  <a:fillRect r="-59"/>
                </a:stretch>
              </a:blipFill>
            </p:spPr>
            <p:txBody>
              <a:bodyPr/>
              <a:lstStyle/>
              <a:p>
                <a:r>
                  <a:rPr lang="en-US">
                    <a:noFill/>
                  </a:rPr>
                  <a:t> </a:t>
                </a:r>
              </a:p>
            </p:txBody>
          </p:sp>
        </mc:Fallback>
      </mc:AlternateContent>
      <p:pic>
        <p:nvPicPr>
          <p:cNvPr id="4" name="Picture 3">
            <a:extLst>
              <a:ext uri="{FF2B5EF4-FFF2-40B4-BE49-F238E27FC236}">
                <a16:creationId xmlns="" xmlns:a16="http://schemas.microsoft.com/office/drawing/2014/main" id="{CE1F7043-4B1F-705B-E482-67177ACABD11}"/>
              </a:ext>
            </a:extLst>
          </p:cNvPr>
          <p:cNvPicPr>
            <a:picLocks noChangeAspect="1"/>
          </p:cNvPicPr>
          <p:nvPr/>
        </p:nvPicPr>
        <p:blipFill>
          <a:blip r:embed="rId3"/>
          <a:stretch>
            <a:fillRect/>
          </a:stretch>
        </p:blipFill>
        <p:spPr>
          <a:xfrm>
            <a:off x="721568" y="3153747"/>
            <a:ext cx="5268686" cy="2985796"/>
          </a:xfrm>
          <a:prstGeom prst="rect">
            <a:avLst/>
          </a:prstGeom>
        </p:spPr>
      </p:pic>
      <p:pic>
        <p:nvPicPr>
          <p:cNvPr id="5" name="Picture 4">
            <a:extLst>
              <a:ext uri="{FF2B5EF4-FFF2-40B4-BE49-F238E27FC236}">
                <a16:creationId xmlns="" xmlns:a16="http://schemas.microsoft.com/office/drawing/2014/main" id="{1CA2FC1C-8BE9-D5B5-E6D8-880EEC53498D}"/>
              </a:ext>
            </a:extLst>
          </p:cNvPr>
          <p:cNvPicPr>
            <a:picLocks noChangeAspect="1"/>
          </p:cNvPicPr>
          <p:nvPr/>
        </p:nvPicPr>
        <p:blipFill>
          <a:blip r:embed="rId4"/>
          <a:stretch>
            <a:fillRect/>
          </a:stretch>
        </p:blipFill>
        <p:spPr>
          <a:xfrm>
            <a:off x="5990254" y="3153747"/>
            <a:ext cx="5393093" cy="2985796"/>
          </a:xfrm>
          <a:prstGeom prst="rect">
            <a:avLst/>
          </a:prstGeom>
        </p:spPr>
      </p:pic>
    </p:spTree>
    <p:extLst>
      <p:ext uri="{BB962C8B-B14F-4D97-AF65-F5344CB8AC3E}">
        <p14:creationId xmlns:p14="http://schemas.microsoft.com/office/powerpoint/2010/main" val="397124718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C7FD7FEA-42B5-E6EB-C6FF-322FC25DF67C}"/>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A0E104B1-7C86-0AC7-5E0B-8C226DB62F4A}"/>
              </a:ext>
            </a:extLst>
          </p:cNvPr>
          <p:cNvSpPr>
            <a:spLocks noGrp="1"/>
          </p:cNvSpPr>
          <p:nvPr>
            <p:ph type="title"/>
          </p:nvPr>
        </p:nvSpPr>
        <p:spPr/>
        <p:txBody>
          <a:bodyPr>
            <a:normAutofit/>
          </a:bodyPr>
          <a:lstStyle/>
          <a:p>
            <a:r>
              <a:rPr lang="en-US" sz="3200" dirty="0">
                <a:latin typeface="Times New Roman" panose="02020603050405020304" pitchFamily="18" charset="0"/>
                <a:cs typeface="Times New Roman" panose="02020603050405020304" pitchFamily="18" charset="0"/>
              </a:rPr>
              <a:t>Direct VS Transposed Form</a:t>
            </a:r>
          </a:p>
        </p:txBody>
      </p:sp>
      <p:pic>
        <p:nvPicPr>
          <p:cNvPr id="4" name="Picture 3" descr="A diagram of a complex function&#10;&#10;AI-generated content may be incorrect.">
            <a:extLst>
              <a:ext uri="{FF2B5EF4-FFF2-40B4-BE49-F238E27FC236}">
                <a16:creationId xmlns="" xmlns:a16="http://schemas.microsoft.com/office/drawing/2014/main" id="{A86A5A11-1FA3-39BF-B51A-6B7B749DF109}"/>
              </a:ext>
            </a:extLst>
          </p:cNvPr>
          <p:cNvPicPr>
            <a:picLocks noChangeAspect="1"/>
          </p:cNvPicPr>
          <p:nvPr/>
        </p:nvPicPr>
        <p:blipFill>
          <a:blip r:embed="rId2"/>
          <a:stretch>
            <a:fillRect/>
          </a:stretch>
        </p:blipFill>
        <p:spPr>
          <a:xfrm>
            <a:off x="609600" y="1244282"/>
            <a:ext cx="5399314" cy="1765295"/>
          </a:xfrm>
          <a:prstGeom prst="rect">
            <a:avLst/>
          </a:prstGeom>
        </p:spPr>
      </p:pic>
      <p:pic>
        <p:nvPicPr>
          <p:cNvPr id="5" name="Picture 4" descr="A diagram of a complex function&#10;&#10;AI-generated content may be incorrect.">
            <a:extLst>
              <a:ext uri="{FF2B5EF4-FFF2-40B4-BE49-F238E27FC236}">
                <a16:creationId xmlns="" xmlns:a16="http://schemas.microsoft.com/office/drawing/2014/main" id="{04606107-7EEA-9D0C-1500-675909DA353D}"/>
              </a:ext>
            </a:extLst>
          </p:cNvPr>
          <p:cNvPicPr>
            <a:picLocks noChangeAspect="1"/>
          </p:cNvPicPr>
          <p:nvPr/>
        </p:nvPicPr>
        <p:blipFill>
          <a:blip r:embed="rId3"/>
          <a:stretch>
            <a:fillRect/>
          </a:stretch>
        </p:blipFill>
        <p:spPr>
          <a:xfrm>
            <a:off x="6079672" y="1369454"/>
            <a:ext cx="5431970" cy="1593747"/>
          </a:xfrm>
          <a:prstGeom prst="rect">
            <a:avLst/>
          </a:prstGeom>
        </p:spPr>
      </p:pic>
      <p:sp>
        <p:nvSpPr>
          <p:cNvPr id="9" name="Text Placeholder 2">
            <a:extLst>
              <a:ext uri="{FF2B5EF4-FFF2-40B4-BE49-F238E27FC236}">
                <a16:creationId xmlns="" xmlns:a16="http://schemas.microsoft.com/office/drawing/2014/main" id="{E851364A-A28B-4001-7336-2F6262790F06}"/>
              </a:ext>
            </a:extLst>
          </p:cNvPr>
          <p:cNvSpPr txBox="1">
            <a:spLocks/>
          </p:cNvSpPr>
          <p:nvPr/>
        </p:nvSpPr>
        <p:spPr>
          <a:xfrm>
            <a:off x="609600" y="3023118"/>
            <a:ext cx="10972800" cy="337768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1pPr>
            <a:lvl2pPr marL="914400" marR="0" lvl="1" indent="-342900" algn="l" rtl="0">
              <a:lnSpc>
                <a:spcPct val="100000"/>
              </a:lnSpc>
              <a:spcBef>
                <a:spcPts val="400"/>
              </a:spcBef>
              <a:spcAft>
                <a:spcPts val="0"/>
              </a:spcAft>
              <a:buClr>
                <a:schemeClr val="dk1"/>
              </a:buClr>
              <a:buSzPts val="1800"/>
              <a:buFont typeface="Calibri"/>
              <a:buChar char="–"/>
              <a:defRPr sz="20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360"/>
              </a:spcBef>
              <a:spcAft>
                <a:spcPts val="0"/>
              </a:spcAft>
              <a:buClr>
                <a:schemeClr val="dk1"/>
              </a:buClr>
              <a:buSzPts val="1800"/>
              <a:buFont typeface="Calibri"/>
              <a:buChar char="–"/>
              <a:defRPr sz="1800" b="0" i="0" u="none" strike="noStrike" cap="none">
                <a:solidFill>
                  <a:schemeClr val="dk1"/>
                </a:solidFill>
                <a:latin typeface="Calibri"/>
                <a:ea typeface="Calibri"/>
                <a:cs typeface="Calibri"/>
                <a:sym typeface="Calibri"/>
              </a:defRPr>
            </a:lvl3pPr>
            <a:lvl4pPr marL="1828800" marR="0" lvl="3" indent="-330200" algn="l" rtl="0">
              <a:lnSpc>
                <a:spcPct val="100000"/>
              </a:lnSpc>
              <a:spcBef>
                <a:spcPts val="336"/>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4pPr>
            <a:lvl5pPr marL="2286000" marR="0" lvl="4" indent="-330200" algn="l" rtl="0">
              <a:lnSpc>
                <a:spcPct val="100000"/>
              </a:lnSpc>
              <a:spcBef>
                <a:spcPts val="336"/>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9pPr>
          </a:lstStyle>
          <a:p>
            <a:pPr marL="457200" marR="0" lvl="0" indent="-381000" algn="l" defTabSz="914400" rtl="0" eaLnBrk="1" fontAlgn="auto" latinLnBrk="0" hangingPunct="1">
              <a:lnSpc>
                <a:spcPct val="100000"/>
              </a:lnSpc>
              <a:spcBef>
                <a:spcPts val="480"/>
              </a:spcBef>
              <a:spcAft>
                <a:spcPts val="0"/>
              </a:spcAft>
              <a:buClr>
                <a:srgbClr val="000000"/>
              </a:buClr>
              <a:buSzPts val="2400"/>
              <a:buFont typeface="Arial"/>
              <a:buChar char="•"/>
              <a:tabLst/>
              <a:defRPr/>
            </a:pPr>
            <a:r>
              <a:rPr kumimoji="0" lang="en-US" sz="1800" b="1" i="0" u="none" strike="noStrike" kern="0" cap="none" spc="0" normalizeH="0" baseline="0" noProof="0">
                <a:ln>
                  <a:noFill/>
                </a:ln>
                <a:solidFill>
                  <a:srgbClr val="000000"/>
                </a:solidFill>
                <a:effectLst/>
                <a:uLnTx/>
                <a:uFillTx/>
                <a:latin typeface="Calibri"/>
                <a:ea typeface="Calibri"/>
                <a:cs typeface="Calibri"/>
                <a:sym typeface="Calibri"/>
              </a:rPr>
              <a:t>Goal in BLE TX:</a:t>
            </a:r>
            <a:r>
              <a:rPr kumimoji="0" lang="en-US" sz="1800" b="0" i="0" u="none" strike="noStrike" kern="0" cap="none" spc="0" normalizeH="0" baseline="0" noProof="0">
                <a:ln>
                  <a:noFill/>
                </a:ln>
                <a:solidFill>
                  <a:srgbClr val="000000"/>
                </a:solidFill>
                <a:effectLst/>
                <a:uLnTx/>
                <a:uFillTx/>
                <a:latin typeface="Calibri"/>
                <a:ea typeface="Calibri"/>
                <a:cs typeface="Calibri"/>
                <a:sym typeface="Calibri"/>
              </a:rPr>
              <a:t> minimize </a:t>
            </a:r>
            <a:r>
              <a:rPr kumimoji="0" lang="en-US" sz="1800" b="1" i="0" u="none" strike="noStrike" kern="0" cap="none" spc="0" normalizeH="0" baseline="0" noProof="0">
                <a:ln>
                  <a:noFill/>
                </a:ln>
                <a:solidFill>
                  <a:srgbClr val="000000"/>
                </a:solidFill>
                <a:effectLst/>
                <a:uLnTx/>
                <a:uFillTx/>
                <a:latin typeface="Calibri"/>
                <a:ea typeface="Calibri"/>
                <a:cs typeface="Calibri"/>
                <a:sym typeface="Calibri"/>
              </a:rPr>
              <a:t>power</a:t>
            </a:r>
            <a:r>
              <a:rPr kumimoji="0" lang="en-US" sz="1800" b="0" i="0" u="none" strike="noStrike" kern="0" cap="none" spc="0" normalizeH="0" baseline="0" noProof="0">
                <a:ln>
                  <a:noFill/>
                </a:ln>
                <a:solidFill>
                  <a:srgbClr val="000000"/>
                </a:solidFill>
                <a:effectLst/>
                <a:uLnTx/>
                <a:uFillTx/>
                <a:latin typeface="Calibri"/>
                <a:ea typeface="Calibri"/>
                <a:cs typeface="Calibri"/>
                <a:sym typeface="Calibri"/>
              </a:rPr>
              <a:t> (not maximum throughput)</a:t>
            </a:r>
          </a:p>
          <a:p>
            <a:pPr marL="457200" marR="0" lvl="0" indent="-381000" algn="l" defTabSz="914400" rtl="0" eaLnBrk="1" fontAlgn="auto" latinLnBrk="0" hangingPunct="1">
              <a:lnSpc>
                <a:spcPct val="100000"/>
              </a:lnSpc>
              <a:spcBef>
                <a:spcPts val="480"/>
              </a:spcBef>
              <a:spcAft>
                <a:spcPts val="0"/>
              </a:spcAft>
              <a:buClr>
                <a:srgbClr val="000000"/>
              </a:buClr>
              <a:buSzPts val="2400"/>
              <a:buFont typeface="Arial"/>
              <a:buChar char="•"/>
              <a:tabLst/>
              <a:defRPr/>
            </a:pPr>
            <a:r>
              <a:rPr kumimoji="0" lang="en-US" sz="1800" b="1" i="0" u="none" strike="noStrike" kern="0" cap="none" spc="0" normalizeH="0" baseline="0" noProof="0">
                <a:ln>
                  <a:noFill/>
                </a:ln>
                <a:solidFill>
                  <a:srgbClr val="000000"/>
                </a:solidFill>
                <a:effectLst/>
                <a:uLnTx/>
                <a:uFillTx/>
                <a:latin typeface="Calibri"/>
                <a:ea typeface="Calibri"/>
                <a:cs typeface="Calibri"/>
                <a:sym typeface="Calibri"/>
              </a:rPr>
              <a:t>Direct Form</a:t>
            </a:r>
            <a:endParaRPr kumimoji="0" lang="en-US" sz="1800" b="0" i="0" u="none" strike="noStrike" kern="0" cap="none" spc="0" normalizeH="0" baseline="0" noProof="0">
              <a:ln>
                <a:noFill/>
              </a:ln>
              <a:solidFill>
                <a:srgbClr val="000000"/>
              </a:solidFill>
              <a:effectLst/>
              <a:uLnTx/>
              <a:uFillTx/>
              <a:latin typeface="Calibri"/>
              <a:ea typeface="Calibri"/>
              <a:cs typeface="Calibri"/>
              <a:sym typeface="Calibri"/>
            </a:endParaRPr>
          </a:p>
          <a:p>
            <a:pPr marL="76200" marR="0" lvl="0" indent="0" algn="l" defTabSz="914400" rtl="0" eaLnBrk="1" fontAlgn="auto" latinLnBrk="0" hangingPunct="1">
              <a:lnSpc>
                <a:spcPct val="100000"/>
              </a:lnSpc>
              <a:spcBef>
                <a:spcPts val="480"/>
              </a:spcBef>
              <a:spcAft>
                <a:spcPts val="0"/>
              </a:spcAft>
              <a:buClr>
                <a:srgbClr val="000000"/>
              </a:buClr>
              <a:buSzPts val="2400"/>
              <a:buFont typeface="Arial"/>
              <a:buNone/>
              <a:tabLst/>
              <a:defRPr/>
            </a:pPr>
            <a:r>
              <a:rPr kumimoji="0" lang="en-US" sz="1800" b="0" i="0" u="none" strike="noStrike" kern="0" cap="none" spc="0" normalizeH="0" baseline="0" noProof="0">
                <a:ln>
                  <a:noFill/>
                </a:ln>
                <a:solidFill>
                  <a:srgbClr val="000000"/>
                </a:solidFill>
                <a:effectLst/>
                <a:uLnTx/>
                <a:uFillTx/>
                <a:latin typeface="Calibri"/>
                <a:ea typeface="Calibri"/>
                <a:cs typeface="Calibri"/>
                <a:sym typeface="Calibri"/>
              </a:rPr>
              <a:t>Local dataflow (delay line → MAC) → </a:t>
            </a:r>
            <a:r>
              <a:rPr kumimoji="0" lang="en-US" sz="1800" b="1" i="0" u="none" strike="noStrike" kern="0" cap="none" spc="0" normalizeH="0" baseline="0" noProof="0">
                <a:ln>
                  <a:noFill/>
                </a:ln>
                <a:solidFill>
                  <a:srgbClr val="000000"/>
                </a:solidFill>
                <a:effectLst/>
                <a:uLnTx/>
                <a:uFillTx/>
                <a:latin typeface="Calibri"/>
                <a:ea typeface="Calibri"/>
                <a:cs typeface="Calibri"/>
                <a:sym typeface="Calibri"/>
              </a:rPr>
              <a:t>less switching / simpler routing</a:t>
            </a:r>
            <a:endParaRPr kumimoji="0" lang="en-US" sz="1800" b="0" i="0" u="none" strike="noStrike" kern="0" cap="none" spc="0" normalizeH="0" baseline="0" noProof="0">
              <a:ln>
                <a:noFill/>
              </a:ln>
              <a:solidFill>
                <a:srgbClr val="000000"/>
              </a:solidFill>
              <a:effectLst/>
              <a:uLnTx/>
              <a:uFillTx/>
              <a:latin typeface="Calibri"/>
              <a:ea typeface="Calibri"/>
              <a:cs typeface="Calibri"/>
              <a:sym typeface="Calibri"/>
            </a:endParaRPr>
          </a:p>
          <a:p>
            <a:pPr marL="76200" marR="0" lvl="0" indent="0" algn="l" defTabSz="914400" rtl="0" eaLnBrk="1" fontAlgn="auto" latinLnBrk="0" hangingPunct="1">
              <a:lnSpc>
                <a:spcPct val="100000"/>
              </a:lnSpc>
              <a:spcBef>
                <a:spcPts val="480"/>
              </a:spcBef>
              <a:spcAft>
                <a:spcPts val="0"/>
              </a:spcAft>
              <a:buClr>
                <a:srgbClr val="000000"/>
              </a:buClr>
              <a:buSzPts val="2400"/>
              <a:buFont typeface="Arial"/>
              <a:buNone/>
              <a:tabLst/>
              <a:defRPr/>
            </a:pPr>
            <a:r>
              <a:rPr kumimoji="0" lang="en-US" sz="1800" b="0" i="0" u="none" strike="noStrike" kern="0" cap="none" spc="0" normalizeH="0" baseline="0" noProof="0">
                <a:ln>
                  <a:noFill/>
                </a:ln>
                <a:solidFill>
                  <a:srgbClr val="000000"/>
                </a:solidFill>
                <a:effectLst/>
                <a:uLnTx/>
                <a:uFillTx/>
                <a:latin typeface="Calibri"/>
                <a:ea typeface="Calibri"/>
                <a:cs typeface="Calibri"/>
                <a:sym typeface="Calibri"/>
              </a:rPr>
              <a:t>No input broadcast → </a:t>
            </a:r>
            <a:r>
              <a:rPr kumimoji="0" lang="en-US" sz="1800" b="1" i="0" u="none" strike="noStrike" kern="0" cap="none" spc="0" normalizeH="0" baseline="0" noProof="0">
                <a:ln>
                  <a:noFill/>
                </a:ln>
                <a:solidFill>
                  <a:srgbClr val="000000"/>
                </a:solidFill>
                <a:effectLst/>
                <a:uLnTx/>
                <a:uFillTx/>
                <a:latin typeface="Calibri"/>
                <a:ea typeface="Calibri"/>
                <a:cs typeface="Calibri"/>
                <a:sym typeface="Calibri"/>
              </a:rPr>
              <a:t>lower fanout</a:t>
            </a:r>
            <a:endParaRPr kumimoji="0" lang="en-US" sz="1800" b="0" i="0" u="none" strike="noStrike" kern="0" cap="none" spc="0" normalizeH="0" baseline="0" noProof="0">
              <a:ln>
                <a:noFill/>
              </a:ln>
              <a:solidFill>
                <a:srgbClr val="000000"/>
              </a:solidFill>
              <a:effectLst/>
              <a:uLnTx/>
              <a:uFillTx/>
              <a:latin typeface="Calibri"/>
              <a:ea typeface="Calibri"/>
              <a:cs typeface="Calibri"/>
              <a:sym typeface="Calibri"/>
            </a:endParaRPr>
          </a:p>
          <a:p>
            <a:pPr marL="76200" marR="0" lvl="0" indent="0" algn="l" defTabSz="914400" rtl="0" eaLnBrk="1" fontAlgn="auto" latinLnBrk="0" hangingPunct="1">
              <a:lnSpc>
                <a:spcPct val="100000"/>
              </a:lnSpc>
              <a:spcBef>
                <a:spcPts val="480"/>
              </a:spcBef>
              <a:spcAft>
                <a:spcPts val="0"/>
              </a:spcAft>
              <a:buClr>
                <a:srgbClr val="000000"/>
              </a:buClr>
              <a:buSzPts val="2400"/>
              <a:buFont typeface="Arial"/>
              <a:buNone/>
              <a:tabLst/>
              <a:defRPr/>
            </a:pPr>
            <a:r>
              <a:rPr kumimoji="0" lang="en-US" sz="1800" b="0" i="0" u="none" strike="noStrike" kern="0" cap="none" spc="0" normalizeH="0" baseline="0" noProof="0">
                <a:ln>
                  <a:noFill/>
                </a:ln>
                <a:solidFill>
                  <a:srgbClr val="000000"/>
                </a:solidFill>
                <a:effectLst/>
                <a:uLnTx/>
                <a:uFillTx/>
                <a:latin typeface="Calibri"/>
                <a:ea typeface="Calibri"/>
                <a:cs typeface="Calibri"/>
                <a:sym typeface="Calibri"/>
              </a:rPr>
              <a:t>We implement </a:t>
            </a:r>
            <a:r>
              <a:rPr kumimoji="0" lang="en-US" sz="1800" b="1" i="0" u="none" strike="noStrike" kern="0" cap="none" spc="0" normalizeH="0" baseline="0" noProof="0">
                <a:ln>
                  <a:noFill/>
                </a:ln>
                <a:solidFill>
                  <a:srgbClr val="000000"/>
                </a:solidFill>
                <a:effectLst/>
                <a:uLnTx/>
                <a:uFillTx/>
                <a:latin typeface="Calibri"/>
                <a:ea typeface="Calibri"/>
                <a:cs typeface="Calibri"/>
                <a:sym typeface="Calibri"/>
              </a:rPr>
              <a:t>symmetric direct form</a:t>
            </a:r>
            <a:r>
              <a:rPr kumimoji="0" lang="en-US" sz="1800" b="0" i="0" u="none" strike="noStrike" kern="0" cap="none" spc="0" normalizeH="0" baseline="0" noProof="0">
                <a:ln>
                  <a:noFill/>
                </a:ln>
                <a:solidFill>
                  <a:srgbClr val="000000"/>
                </a:solidFill>
                <a:effectLst/>
                <a:uLnTx/>
                <a:uFillTx/>
                <a:latin typeface="Calibri"/>
                <a:ea typeface="Calibri"/>
                <a:cs typeface="Calibri"/>
                <a:sym typeface="Calibri"/>
              </a:rPr>
              <a:t> (folding) to cut hardware</a:t>
            </a:r>
          </a:p>
          <a:p>
            <a:pPr marL="457200" marR="0" lvl="0" indent="-381000" algn="l" defTabSz="914400" rtl="0" eaLnBrk="1" fontAlgn="auto" latinLnBrk="0" hangingPunct="1">
              <a:lnSpc>
                <a:spcPct val="100000"/>
              </a:lnSpc>
              <a:spcBef>
                <a:spcPts val="480"/>
              </a:spcBef>
              <a:spcAft>
                <a:spcPts val="0"/>
              </a:spcAft>
              <a:buClr>
                <a:srgbClr val="000000"/>
              </a:buClr>
              <a:buSzPts val="2400"/>
              <a:buFont typeface="Arial"/>
              <a:buChar char="•"/>
              <a:tabLst/>
              <a:defRPr/>
            </a:pPr>
            <a:r>
              <a:rPr kumimoji="0" lang="en-US" sz="1800" b="1" i="0" u="none" strike="noStrike" kern="0" cap="none" spc="0" normalizeH="0" baseline="0" noProof="0">
                <a:ln>
                  <a:noFill/>
                </a:ln>
                <a:solidFill>
                  <a:srgbClr val="000000"/>
                </a:solidFill>
                <a:effectLst/>
                <a:uLnTx/>
                <a:uFillTx/>
                <a:latin typeface="Calibri"/>
                <a:ea typeface="Calibri"/>
                <a:cs typeface="Calibri"/>
                <a:sym typeface="Calibri"/>
              </a:rPr>
              <a:t>Transposed Form </a:t>
            </a:r>
            <a:endParaRPr kumimoji="0" lang="en-US" sz="1800" b="0" i="0" u="none" strike="noStrike" kern="0" cap="none" spc="0" normalizeH="0" baseline="0" noProof="0">
              <a:ln>
                <a:noFill/>
              </a:ln>
              <a:solidFill>
                <a:srgbClr val="000000"/>
              </a:solidFill>
              <a:effectLst/>
              <a:uLnTx/>
              <a:uFillTx/>
              <a:latin typeface="Calibri"/>
              <a:ea typeface="Calibri"/>
              <a:cs typeface="Calibri"/>
              <a:sym typeface="Calibri"/>
            </a:endParaRPr>
          </a:p>
          <a:p>
            <a:pPr marL="76200" marR="0" lvl="0" indent="0" algn="l" defTabSz="914400" rtl="0" eaLnBrk="1" fontAlgn="auto" latinLnBrk="0" hangingPunct="1">
              <a:lnSpc>
                <a:spcPct val="100000"/>
              </a:lnSpc>
              <a:spcBef>
                <a:spcPts val="480"/>
              </a:spcBef>
              <a:spcAft>
                <a:spcPts val="0"/>
              </a:spcAft>
              <a:buClr>
                <a:srgbClr val="000000"/>
              </a:buClr>
              <a:buSzPts val="2400"/>
              <a:buFont typeface="Arial"/>
              <a:buNone/>
              <a:tabLst/>
              <a:defRPr/>
            </a:pPr>
            <a:r>
              <a:rPr kumimoji="0" lang="en-US" sz="1800" b="0" i="0" u="none" strike="noStrike" kern="0" cap="none" spc="0" normalizeH="0" baseline="0" noProof="0">
                <a:ln>
                  <a:noFill/>
                </a:ln>
                <a:solidFill>
                  <a:srgbClr val="000000"/>
                </a:solidFill>
                <a:effectLst/>
                <a:uLnTx/>
                <a:uFillTx/>
                <a:latin typeface="Calibri"/>
                <a:ea typeface="Calibri"/>
                <a:cs typeface="Calibri"/>
                <a:sym typeface="Calibri"/>
              </a:rPr>
              <a:t>High throughput (“self-pipelined”)</a:t>
            </a:r>
          </a:p>
          <a:p>
            <a:pPr marL="76200" marR="0" lvl="0" indent="0" algn="l" defTabSz="914400" rtl="0" eaLnBrk="1" fontAlgn="auto" latinLnBrk="0" hangingPunct="1">
              <a:lnSpc>
                <a:spcPct val="100000"/>
              </a:lnSpc>
              <a:spcBef>
                <a:spcPts val="480"/>
              </a:spcBef>
              <a:spcAft>
                <a:spcPts val="0"/>
              </a:spcAft>
              <a:buClr>
                <a:srgbClr val="000000"/>
              </a:buClr>
              <a:buSzPts val="2400"/>
              <a:buFont typeface="Arial"/>
              <a:buNone/>
              <a:tabLst/>
              <a:defRPr/>
            </a:pPr>
            <a:r>
              <a:rPr kumimoji="0" lang="en-US" sz="1800" b="0" i="0" u="none" strike="noStrike" kern="0" cap="none" spc="0" normalizeH="0" baseline="0" noProof="0">
                <a:ln>
                  <a:noFill/>
                </a:ln>
                <a:solidFill>
                  <a:srgbClr val="000000"/>
                </a:solidFill>
                <a:effectLst/>
                <a:uLnTx/>
                <a:uFillTx/>
                <a:latin typeface="Calibri"/>
                <a:ea typeface="Calibri"/>
                <a:cs typeface="Calibri"/>
                <a:sym typeface="Calibri"/>
              </a:rPr>
              <a:t>But input is </a:t>
            </a:r>
            <a:r>
              <a:rPr kumimoji="0" lang="en-US" sz="1800" b="1" i="0" u="none" strike="noStrike" kern="0" cap="none" spc="0" normalizeH="0" baseline="0" noProof="0">
                <a:ln>
                  <a:noFill/>
                </a:ln>
                <a:solidFill>
                  <a:srgbClr val="000000"/>
                </a:solidFill>
                <a:effectLst/>
                <a:uLnTx/>
                <a:uFillTx/>
                <a:latin typeface="Calibri"/>
                <a:ea typeface="Calibri"/>
                <a:cs typeface="Calibri"/>
                <a:sym typeface="Calibri"/>
              </a:rPr>
              <a:t>broadcast to all multipliers</a:t>
            </a:r>
            <a:r>
              <a:rPr kumimoji="0" lang="en-US" sz="1800" b="0" i="0" u="none" strike="noStrike" kern="0" cap="none" spc="0" normalizeH="0" baseline="0" noProof="0">
                <a:ln>
                  <a:noFill/>
                </a:ln>
                <a:solidFill>
                  <a:srgbClr val="000000"/>
                </a:solidFill>
                <a:effectLst/>
                <a:uLnTx/>
                <a:uFillTx/>
                <a:latin typeface="Calibri"/>
                <a:ea typeface="Calibri"/>
                <a:cs typeface="Calibri"/>
                <a:sym typeface="Calibri"/>
              </a:rPr>
              <a:t> → high fanout + more switching → </a:t>
            </a:r>
            <a:r>
              <a:rPr kumimoji="0" lang="en-US" sz="1800" b="1" i="0" u="none" strike="noStrike" kern="0" cap="none" spc="0" normalizeH="0" baseline="0" noProof="0">
                <a:ln>
                  <a:noFill/>
                </a:ln>
                <a:solidFill>
                  <a:srgbClr val="000000"/>
                </a:solidFill>
                <a:effectLst/>
                <a:uLnTx/>
                <a:uFillTx/>
                <a:latin typeface="Calibri"/>
                <a:ea typeface="Calibri"/>
                <a:cs typeface="Calibri"/>
                <a:sym typeface="Calibri"/>
              </a:rPr>
              <a:t>higher power risk</a:t>
            </a:r>
            <a:endParaRPr kumimoji="0" lang="en-US" sz="1800" b="0" i="0" u="none" strike="noStrike" kern="0" cap="none" spc="0" normalizeH="0" baseline="0" noProof="0">
              <a:ln>
                <a:noFill/>
              </a:ln>
              <a:solidFill>
                <a:srgbClr val="000000"/>
              </a:solidFill>
              <a:effectLst/>
              <a:uLnTx/>
              <a:uFillTx/>
              <a:latin typeface="Calibri"/>
              <a:ea typeface="Calibri"/>
              <a:cs typeface="Calibri"/>
              <a:sym typeface="Calibri"/>
            </a:endParaRPr>
          </a:p>
          <a:p>
            <a:pPr marL="457200" marR="0" lvl="0" indent="-381000" algn="l" defTabSz="914400" rtl="0" eaLnBrk="1" fontAlgn="auto" latinLnBrk="0" hangingPunct="1">
              <a:lnSpc>
                <a:spcPct val="100000"/>
              </a:lnSpc>
              <a:spcBef>
                <a:spcPts val="480"/>
              </a:spcBef>
              <a:spcAft>
                <a:spcPts val="0"/>
              </a:spcAft>
              <a:buClr>
                <a:srgbClr val="000000"/>
              </a:buClr>
              <a:buSzPts val="2400"/>
              <a:buFont typeface="Arial"/>
              <a:buChar char="•"/>
              <a:tabLst/>
              <a:defRPr/>
            </a:pPr>
            <a:r>
              <a:rPr kumimoji="0" lang="en-US" sz="1800" b="1" i="0" u="none" strike="noStrike" kern="0" cap="none" spc="0" normalizeH="0" baseline="0" noProof="0">
                <a:ln>
                  <a:noFill/>
                </a:ln>
                <a:solidFill>
                  <a:srgbClr val="000000"/>
                </a:solidFill>
                <a:effectLst/>
                <a:uLnTx/>
                <a:uFillTx/>
                <a:latin typeface="Calibri"/>
                <a:ea typeface="Calibri"/>
                <a:cs typeface="Calibri"/>
                <a:sym typeface="Calibri"/>
              </a:rPr>
              <a:t>Symmetric Direct-Form FIR</a:t>
            </a:r>
            <a:r>
              <a:rPr kumimoji="0" lang="en-US" sz="1800" b="0" i="0" u="none" strike="noStrike" kern="0" cap="none" spc="0" normalizeH="0" baseline="0" noProof="0">
                <a:ln>
                  <a:noFill/>
                </a:ln>
                <a:solidFill>
                  <a:srgbClr val="000000"/>
                </a:solidFill>
                <a:effectLst/>
                <a:uLnTx/>
                <a:uFillTx/>
                <a:latin typeface="Calibri"/>
                <a:ea typeface="Calibri"/>
                <a:cs typeface="Calibri"/>
                <a:sym typeface="Calibri"/>
              </a:rPr>
              <a:t> used in our implementation (enables multiplier reduction + our multiplier-free logic).</a:t>
            </a:r>
          </a:p>
          <a:p>
            <a:pPr marL="457200" marR="0" lvl="0" indent="-381000" algn="l" defTabSz="914400" rtl="0" eaLnBrk="1" fontAlgn="auto" latinLnBrk="0" hangingPunct="1">
              <a:lnSpc>
                <a:spcPct val="100000"/>
              </a:lnSpc>
              <a:spcBef>
                <a:spcPts val="480"/>
              </a:spcBef>
              <a:spcAft>
                <a:spcPts val="0"/>
              </a:spcAft>
              <a:buClr>
                <a:srgbClr val="000000"/>
              </a:buClr>
              <a:buSzPts val="2400"/>
              <a:buFont typeface="Arial"/>
              <a:buChar char="•"/>
              <a:tabLst/>
              <a:defRPr/>
            </a:pPr>
            <a:endParaRPr kumimoji="0" lang="en-US" sz="24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34929683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BDD5CE2E-6D1A-58C1-72DC-C29B85FBE167}"/>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0DC294FE-EBA1-4C74-3400-1031082978DC}"/>
              </a:ext>
            </a:extLst>
          </p:cNvPr>
          <p:cNvSpPr>
            <a:spLocks noGrp="1"/>
          </p:cNvSpPr>
          <p:nvPr>
            <p:ph type="title"/>
          </p:nvPr>
        </p:nvSpPr>
        <p:spPr/>
        <p:txBody>
          <a:bodyPr>
            <a:normAutofit/>
          </a:bodyPr>
          <a:lstStyle/>
          <a:p>
            <a:r>
              <a:rPr lang="en-US" sz="3200" dirty="0">
                <a:latin typeface="Times New Roman" panose="02020603050405020304" pitchFamily="18" charset="0"/>
                <a:cs typeface="Times New Roman" panose="02020603050405020304" pitchFamily="18" charset="0"/>
              </a:rPr>
              <a:t>Symmetry Realization for Direct Form</a:t>
            </a:r>
          </a:p>
        </p:txBody>
      </p:sp>
      <p:pic>
        <p:nvPicPr>
          <p:cNvPr id="5" name="Picture 4" descr="A diagram of a flowchart&#10;&#10;AI-generated content may be incorrect.">
            <a:extLst>
              <a:ext uri="{FF2B5EF4-FFF2-40B4-BE49-F238E27FC236}">
                <a16:creationId xmlns="" xmlns:a16="http://schemas.microsoft.com/office/drawing/2014/main" id="{8FDA903A-0B4B-6969-18BB-45C4B0694CC4}"/>
              </a:ext>
            </a:extLst>
          </p:cNvPr>
          <p:cNvPicPr>
            <a:picLocks noChangeAspect="1"/>
          </p:cNvPicPr>
          <p:nvPr/>
        </p:nvPicPr>
        <p:blipFill>
          <a:blip r:embed="rId2"/>
          <a:stretch>
            <a:fillRect/>
          </a:stretch>
        </p:blipFill>
        <p:spPr>
          <a:xfrm>
            <a:off x="5609563" y="3808184"/>
            <a:ext cx="6338596" cy="2938927"/>
          </a:xfrm>
          <a:prstGeom prst="rect">
            <a:avLst/>
          </a:prstGeom>
        </p:spPr>
      </p:pic>
      <mc:AlternateContent xmlns:mc="http://schemas.openxmlformats.org/markup-compatibility/2006" xmlns:a14="http://schemas.microsoft.com/office/drawing/2010/main">
        <mc:Choice Requires="a14">
          <p:sp>
            <p:nvSpPr>
              <p:cNvPr id="10" name="Text Placeholder 2">
                <a:extLst>
                  <a:ext uri="{FF2B5EF4-FFF2-40B4-BE49-F238E27FC236}">
                    <a16:creationId xmlns="" xmlns:a16="http://schemas.microsoft.com/office/drawing/2014/main" id="{E9C9C4F5-6294-1A6D-B7B6-9993B67DA602}"/>
                  </a:ext>
                </a:extLst>
              </p:cNvPr>
              <p:cNvSpPr>
                <a:spLocks noGrp="1"/>
              </p:cNvSpPr>
              <p:nvPr>
                <p:ph type="body" idx="1"/>
              </p:nvPr>
            </p:nvSpPr>
            <p:spPr>
              <a:xfrm>
                <a:off x="609600" y="1502229"/>
                <a:ext cx="10972800" cy="2305955"/>
              </a:xfrm>
            </p:spPr>
            <p:txBody>
              <a:bodyPr/>
              <a:lstStyle/>
              <a:p>
                <a:r>
                  <a:rPr lang="en-US" sz="1800"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Gaussian FIR coefficients are </a:t>
                </a:r>
                <a:r>
                  <a:rPr lang="en-US" sz="1800" b="1"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even-symmetric</a:t>
                </a:r>
                <a:r>
                  <a:rPr lang="en-US" sz="1800"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 (linear-phase): which enables efficient hardware optimization (folding/symmetry).</a:t>
                </a:r>
              </a:p>
              <a:p>
                <a:pPr marL="76200" indent="0">
                  <a:buNone/>
                </a:pPr>
                <a14:m>
                  <m:oMathPara xmlns:m="http://schemas.openxmlformats.org/officeDocument/2006/math">
                    <m:oMathParaPr>
                      <m:jc m:val="centerGroup"/>
                    </m:oMathParaPr>
                    <m:oMath xmlns:m="http://schemas.openxmlformats.org/officeDocument/2006/math">
                      <m:r>
                        <a:rPr lang="en-US" sz="1800" i="1">
                          <a:solidFill>
                            <a:schemeClr val="tx1">
                              <a:lumMod val="85000"/>
                              <a:lumOff val="15000"/>
                            </a:schemeClr>
                          </a:solidFill>
                          <a:latin typeface="Cambria Math" panose="02040503050406030204" pitchFamily="18" charset="0"/>
                        </a:rPr>
                        <m:t>h</m:t>
                      </m:r>
                      <m:d>
                        <m:dPr>
                          <m:begChr m:val="["/>
                          <m:endChr m:val="]"/>
                          <m:ctrlPr>
                            <a:rPr lang="ar-EG" sz="1800" i="1">
                              <a:solidFill>
                                <a:schemeClr val="tx1">
                                  <a:lumMod val="85000"/>
                                  <a:lumOff val="15000"/>
                                </a:schemeClr>
                              </a:solidFill>
                              <a:latin typeface="Cambria Math" panose="02040503050406030204" pitchFamily="18" charset="0"/>
                            </a:rPr>
                          </m:ctrlPr>
                        </m:dPr>
                        <m:e>
                          <m:r>
                            <a:rPr lang="ar-EG" sz="1800" i="1">
                              <a:solidFill>
                                <a:schemeClr val="tx1">
                                  <a:lumMod val="85000"/>
                                  <a:lumOff val="15000"/>
                                </a:schemeClr>
                              </a:solidFill>
                              <a:latin typeface="Cambria Math" panose="02040503050406030204" pitchFamily="18" charset="0"/>
                            </a:rPr>
                            <m:t>𝑘</m:t>
                          </m:r>
                        </m:e>
                      </m:d>
                      <m:r>
                        <a:rPr lang="ar-EG" sz="1800">
                          <a:solidFill>
                            <a:schemeClr val="tx1">
                              <a:lumMod val="85000"/>
                              <a:lumOff val="15000"/>
                            </a:schemeClr>
                          </a:solidFill>
                          <a:latin typeface="Cambria Math" panose="02040503050406030204" pitchFamily="18" charset="0"/>
                        </a:rPr>
                        <m:t>=</m:t>
                      </m:r>
                      <m:r>
                        <a:rPr lang="ar-EG" sz="1800" i="1">
                          <a:solidFill>
                            <a:schemeClr val="tx1">
                              <a:lumMod val="85000"/>
                              <a:lumOff val="15000"/>
                            </a:schemeClr>
                          </a:solidFill>
                          <a:latin typeface="Cambria Math" panose="02040503050406030204" pitchFamily="18" charset="0"/>
                        </a:rPr>
                        <m:t>h</m:t>
                      </m:r>
                      <m:d>
                        <m:dPr>
                          <m:begChr m:val="["/>
                          <m:endChr m:val="]"/>
                          <m:ctrlPr>
                            <a:rPr lang="ar-EG" sz="1800" i="1">
                              <a:solidFill>
                                <a:schemeClr val="tx1">
                                  <a:lumMod val="85000"/>
                                  <a:lumOff val="15000"/>
                                </a:schemeClr>
                              </a:solidFill>
                              <a:latin typeface="Cambria Math" panose="02040503050406030204" pitchFamily="18" charset="0"/>
                            </a:rPr>
                          </m:ctrlPr>
                        </m:dPr>
                        <m:e>
                          <m:r>
                            <a:rPr lang="ar-EG" sz="1800" i="1">
                              <a:solidFill>
                                <a:schemeClr val="tx1">
                                  <a:lumMod val="85000"/>
                                  <a:lumOff val="15000"/>
                                </a:schemeClr>
                              </a:solidFill>
                              <a:latin typeface="Cambria Math" panose="02040503050406030204" pitchFamily="18" charset="0"/>
                            </a:rPr>
                            <m:t>𝑁</m:t>
                          </m:r>
                          <m:r>
                            <a:rPr lang="ar-EG" sz="1800">
                              <a:solidFill>
                                <a:schemeClr val="tx1">
                                  <a:lumMod val="85000"/>
                                  <a:lumOff val="15000"/>
                                </a:schemeClr>
                              </a:solidFill>
                              <a:latin typeface="Cambria Math" panose="02040503050406030204" pitchFamily="18" charset="0"/>
                            </a:rPr>
                            <m:t>−</m:t>
                          </m:r>
                          <m:r>
                            <a:rPr lang="ar-EG" sz="1800">
                              <a:solidFill>
                                <a:schemeClr val="tx1">
                                  <a:lumMod val="85000"/>
                                  <a:lumOff val="15000"/>
                                </a:schemeClr>
                              </a:solidFill>
                              <a:latin typeface="Cambria Math" panose="02040503050406030204" pitchFamily="18" charset="0"/>
                            </a:rPr>
                            <m:t>1</m:t>
                          </m:r>
                          <m:r>
                            <a:rPr lang="ar-EG" sz="1800">
                              <a:solidFill>
                                <a:schemeClr val="tx1">
                                  <a:lumMod val="85000"/>
                                  <a:lumOff val="15000"/>
                                </a:schemeClr>
                              </a:solidFill>
                              <a:latin typeface="Cambria Math" panose="02040503050406030204" pitchFamily="18" charset="0"/>
                            </a:rPr>
                            <m:t>−</m:t>
                          </m:r>
                          <m:r>
                            <a:rPr lang="ar-EG" sz="1800" i="1">
                              <a:solidFill>
                                <a:schemeClr val="tx1">
                                  <a:lumMod val="85000"/>
                                  <a:lumOff val="15000"/>
                                </a:schemeClr>
                              </a:solidFill>
                              <a:latin typeface="Cambria Math" panose="02040503050406030204" pitchFamily="18" charset="0"/>
                            </a:rPr>
                            <m:t>𝑘</m:t>
                          </m:r>
                        </m:e>
                      </m:d>
                    </m:oMath>
                  </m:oMathPara>
                </a14:m>
                <a:endParaRPr lang="ar-EG" sz="1800"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endParaRPr>
              </a:p>
              <a:p>
                <a:r>
                  <a:rPr lang="en-US" sz="1800"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Instead of multiplying both taps separately, we </a:t>
                </a:r>
                <a:r>
                  <a:rPr lang="en-US" sz="1800" b="1"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pair symmetric samples</a:t>
                </a:r>
                <a:r>
                  <a:rPr lang="en-US" sz="1800"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 and use one coefficient per pair:</a:t>
                </a:r>
              </a:p>
              <a:p>
                <a:pPr marL="76200" indent="0">
                  <a:buNone/>
                </a:pPr>
                <a14:m>
                  <m:oMathPara xmlns:m="http://schemas.openxmlformats.org/officeDocument/2006/math">
                    <m:oMathParaPr>
                      <m:jc m:val="centerGroup"/>
                    </m:oMathParaPr>
                    <m:oMath xmlns:m="http://schemas.openxmlformats.org/officeDocument/2006/math">
                      <m:r>
                        <a:rPr lang="en-US" sz="1800" i="1">
                          <a:solidFill>
                            <a:schemeClr val="tx1">
                              <a:lumMod val="85000"/>
                              <a:lumOff val="15000"/>
                            </a:schemeClr>
                          </a:solidFill>
                          <a:latin typeface="Cambria Math" panose="02040503050406030204" pitchFamily="18" charset="0"/>
                        </a:rPr>
                        <m:t>𝑦</m:t>
                      </m:r>
                      <m:d>
                        <m:dPr>
                          <m:begChr m:val="["/>
                          <m:endChr m:val="]"/>
                          <m:ctrlPr>
                            <a:rPr lang="ar-EG" sz="1800" i="1">
                              <a:solidFill>
                                <a:schemeClr val="tx1">
                                  <a:lumMod val="85000"/>
                                  <a:lumOff val="15000"/>
                                </a:schemeClr>
                              </a:solidFill>
                              <a:latin typeface="Cambria Math" panose="02040503050406030204" pitchFamily="18" charset="0"/>
                            </a:rPr>
                          </m:ctrlPr>
                        </m:dPr>
                        <m:e>
                          <m:r>
                            <a:rPr lang="ar-EG" sz="1800" i="1">
                              <a:solidFill>
                                <a:schemeClr val="tx1">
                                  <a:lumMod val="85000"/>
                                  <a:lumOff val="15000"/>
                                </a:schemeClr>
                              </a:solidFill>
                              <a:latin typeface="Cambria Math" panose="02040503050406030204" pitchFamily="18" charset="0"/>
                            </a:rPr>
                            <m:t>𝑛</m:t>
                          </m:r>
                        </m:e>
                      </m:d>
                      <m:r>
                        <a:rPr lang="ar-EG" sz="1800">
                          <a:solidFill>
                            <a:schemeClr val="tx1">
                              <a:lumMod val="85000"/>
                              <a:lumOff val="15000"/>
                            </a:schemeClr>
                          </a:solidFill>
                          <a:latin typeface="Cambria Math" panose="02040503050406030204" pitchFamily="18" charset="0"/>
                        </a:rPr>
                        <m:t>=</m:t>
                      </m:r>
                      <m:nary>
                        <m:naryPr>
                          <m:chr m:val="∑"/>
                          <m:grow m:val="on"/>
                          <m:ctrlPr>
                            <a:rPr lang="ar-EG" sz="1800" i="1">
                              <a:solidFill>
                                <a:schemeClr val="tx1">
                                  <a:lumMod val="85000"/>
                                  <a:lumOff val="15000"/>
                                </a:schemeClr>
                              </a:solidFill>
                              <a:latin typeface="Cambria Math" panose="02040503050406030204" pitchFamily="18" charset="0"/>
                            </a:rPr>
                          </m:ctrlPr>
                        </m:naryPr>
                        <m:sub>
                          <m:r>
                            <a:rPr lang="ar-EG" sz="1800" i="1">
                              <a:solidFill>
                                <a:schemeClr val="tx1">
                                  <a:lumMod val="85000"/>
                                  <a:lumOff val="15000"/>
                                </a:schemeClr>
                              </a:solidFill>
                              <a:latin typeface="Cambria Math" panose="02040503050406030204" pitchFamily="18" charset="0"/>
                            </a:rPr>
                            <m:t>𝑘</m:t>
                          </m:r>
                          <m:r>
                            <a:rPr lang="ar-EG" sz="1800">
                              <a:solidFill>
                                <a:schemeClr val="tx1">
                                  <a:lumMod val="85000"/>
                                  <a:lumOff val="15000"/>
                                </a:schemeClr>
                              </a:solidFill>
                              <a:latin typeface="Cambria Math" panose="02040503050406030204" pitchFamily="18" charset="0"/>
                            </a:rPr>
                            <m:t>=</m:t>
                          </m:r>
                          <m:r>
                            <a:rPr lang="ar-EG" sz="1800">
                              <a:solidFill>
                                <a:schemeClr val="tx1">
                                  <a:lumMod val="85000"/>
                                  <a:lumOff val="15000"/>
                                </a:schemeClr>
                              </a:solidFill>
                              <a:latin typeface="Cambria Math" panose="02040503050406030204" pitchFamily="18" charset="0"/>
                            </a:rPr>
                            <m:t>0</m:t>
                          </m:r>
                        </m:sub>
                        <m:sup>
                          <m:f>
                            <m:fPr>
                              <m:ctrlPr>
                                <a:rPr lang="ar-EG" sz="1800" i="1">
                                  <a:solidFill>
                                    <a:schemeClr val="tx1">
                                      <a:lumMod val="85000"/>
                                      <a:lumOff val="15000"/>
                                    </a:schemeClr>
                                  </a:solidFill>
                                  <a:latin typeface="Cambria Math" panose="02040503050406030204" pitchFamily="18" charset="0"/>
                                </a:rPr>
                              </m:ctrlPr>
                            </m:fPr>
                            <m:num>
                              <m:r>
                                <a:rPr lang="ar-EG" sz="1800" i="1">
                                  <a:solidFill>
                                    <a:schemeClr val="tx1">
                                      <a:lumMod val="85000"/>
                                      <a:lumOff val="15000"/>
                                    </a:schemeClr>
                                  </a:solidFill>
                                  <a:latin typeface="Cambria Math" panose="02040503050406030204" pitchFamily="18" charset="0"/>
                                </a:rPr>
                                <m:t>𝑁</m:t>
                              </m:r>
                            </m:num>
                            <m:den>
                              <m:r>
                                <a:rPr lang="ar-EG" sz="1800">
                                  <a:solidFill>
                                    <a:schemeClr val="tx1">
                                      <a:lumMod val="85000"/>
                                      <a:lumOff val="15000"/>
                                    </a:schemeClr>
                                  </a:solidFill>
                                  <a:latin typeface="Cambria Math" panose="02040503050406030204" pitchFamily="18" charset="0"/>
                                </a:rPr>
                                <m:t>2</m:t>
                              </m:r>
                            </m:den>
                          </m:f>
                          <m:r>
                            <a:rPr lang="ar-EG" sz="1800">
                              <a:solidFill>
                                <a:schemeClr val="tx1">
                                  <a:lumMod val="85000"/>
                                  <a:lumOff val="15000"/>
                                </a:schemeClr>
                              </a:solidFill>
                              <a:latin typeface="Cambria Math" panose="02040503050406030204" pitchFamily="18" charset="0"/>
                            </a:rPr>
                            <m:t>−</m:t>
                          </m:r>
                          <m:r>
                            <a:rPr lang="ar-EG" sz="1800">
                              <a:solidFill>
                                <a:schemeClr val="tx1">
                                  <a:lumMod val="85000"/>
                                  <a:lumOff val="15000"/>
                                </a:schemeClr>
                              </a:solidFill>
                              <a:latin typeface="Cambria Math" panose="02040503050406030204" pitchFamily="18" charset="0"/>
                            </a:rPr>
                            <m:t>1</m:t>
                          </m:r>
                        </m:sup>
                        <m:e>
                          <m:r>
                            <a:rPr lang="ar-EG" sz="1800" i="1">
                              <a:solidFill>
                                <a:schemeClr val="tx1">
                                  <a:lumMod val="85000"/>
                                  <a:lumOff val="15000"/>
                                </a:schemeClr>
                              </a:solidFill>
                              <a:latin typeface="Cambria Math" panose="02040503050406030204" pitchFamily="18" charset="0"/>
                            </a:rPr>
                            <m:t>h</m:t>
                          </m:r>
                        </m:e>
                      </m:nary>
                      <m:d>
                        <m:dPr>
                          <m:begChr m:val="["/>
                          <m:endChr m:val="]"/>
                          <m:ctrlPr>
                            <a:rPr lang="ar-EG" sz="1800" i="1">
                              <a:solidFill>
                                <a:schemeClr val="tx1">
                                  <a:lumMod val="85000"/>
                                  <a:lumOff val="15000"/>
                                </a:schemeClr>
                              </a:solidFill>
                              <a:latin typeface="Cambria Math" panose="02040503050406030204" pitchFamily="18" charset="0"/>
                            </a:rPr>
                          </m:ctrlPr>
                        </m:dPr>
                        <m:e>
                          <m:r>
                            <a:rPr lang="ar-EG" sz="1800" i="1">
                              <a:solidFill>
                                <a:schemeClr val="tx1">
                                  <a:lumMod val="85000"/>
                                  <a:lumOff val="15000"/>
                                </a:schemeClr>
                              </a:solidFill>
                              <a:latin typeface="Cambria Math" panose="02040503050406030204" pitchFamily="18" charset="0"/>
                            </a:rPr>
                            <m:t>𝑘</m:t>
                          </m:r>
                        </m:e>
                      </m:d>
                      <m:r>
                        <a:rPr lang="ar-EG" sz="1800">
                          <a:solidFill>
                            <a:schemeClr val="tx1">
                              <a:lumMod val="85000"/>
                              <a:lumOff val="15000"/>
                            </a:schemeClr>
                          </a:solidFill>
                          <a:latin typeface="Cambria Math" panose="02040503050406030204" pitchFamily="18" charset="0"/>
                        </a:rPr>
                        <m:t>(</m:t>
                      </m:r>
                      <m:r>
                        <a:rPr lang="ar-EG" sz="1800" i="1">
                          <a:solidFill>
                            <a:schemeClr val="tx1">
                              <a:lumMod val="85000"/>
                              <a:lumOff val="15000"/>
                            </a:schemeClr>
                          </a:solidFill>
                          <a:latin typeface="Cambria Math" panose="02040503050406030204" pitchFamily="18" charset="0"/>
                        </a:rPr>
                        <m:t>𝑥</m:t>
                      </m:r>
                      <m:d>
                        <m:dPr>
                          <m:begChr m:val="["/>
                          <m:endChr m:val="]"/>
                          <m:ctrlPr>
                            <a:rPr lang="ar-EG" sz="1800" i="1">
                              <a:solidFill>
                                <a:schemeClr val="tx1">
                                  <a:lumMod val="85000"/>
                                  <a:lumOff val="15000"/>
                                </a:schemeClr>
                              </a:solidFill>
                              <a:latin typeface="Cambria Math" panose="02040503050406030204" pitchFamily="18" charset="0"/>
                            </a:rPr>
                          </m:ctrlPr>
                        </m:dPr>
                        <m:e>
                          <m:r>
                            <a:rPr lang="ar-EG" sz="1800" i="1">
                              <a:solidFill>
                                <a:schemeClr val="tx1">
                                  <a:lumMod val="85000"/>
                                  <a:lumOff val="15000"/>
                                </a:schemeClr>
                              </a:solidFill>
                              <a:latin typeface="Cambria Math" panose="02040503050406030204" pitchFamily="18" charset="0"/>
                            </a:rPr>
                            <m:t>𝑛</m:t>
                          </m:r>
                          <m:r>
                            <a:rPr lang="ar-EG" sz="1800">
                              <a:solidFill>
                                <a:schemeClr val="tx1">
                                  <a:lumMod val="85000"/>
                                  <a:lumOff val="15000"/>
                                </a:schemeClr>
                              </a:solidFill>
                              <a:latin typeface="Cambria Math" panose="02040503050406030204" pitchFamily="18" charset="0"/>
                            </a:rPr>
                            <m:t>−</m:t>
                          </m:r>
                          <m:r>
                            <a:rPr lang="ar-EG" sz="1800" i="1">
                              <a:solidFill>
                                <a:schemeClr val="tx1">
                                  <a:lumMod val="85000"/>
                                  <a:lumOff val="15000"/>
                                </a:schemeClr>
                              </a:solidFill>
                              <a:latin typeface="Cambria Math" panose="02040503050406030204" pitchFamily="18" charset="0"/>
                            </a:rPr>
                            <m:t>𝑘</m:t>
                          </m:r>
                        </m:e>
                      </m:d>
                      <m:r>
                        <a:rPr lang="ar-EG" sz="1800">
                          <a:solidFill>
                            <a:schemeClr val="tx1">
                              <a:lumMod val="85000"/>
                              <a:lumOff val="15000"/>
                            </a:schemeClr>
                          </a:solidFill>
                          <a:latin typeface="Cambria Math" panose="02040503050406030204" pitchFamily="18" charset="0"/>
                        </a:rPr>
                        <m:t>+</m:t>
                      </m:r>
                      <m:r>
                        <a:rPr lang="ar-EG" sz="1800" i="1">
                          <a:solidFill>
                            <a:schemeClr val="tx1">
                              <a:lumMod val="85000"/>
                              <a:lumOff val="15000"/>
                            </a:schemeClr>
                          </a:solidFill>
                          <a:latin typeface="Cambria Math" panose="02040503050406030204" pitchFamily="18" charset="0"/>
                        </a:rPr>
                        <m:t>𝑥</m:t>
                      </m:r>
                      <m:d>
                        <m:dPr>
                          <m:begChr m:val="["/>
                          <m:endChr m:val="]"/>
                          <m:ctrlPr>
                            <a:rPr lang="ar-EG" sz="1800" i="1">
                              <a:solidFill>
                                <a:schemeClr val="tx1">
                                  <a:lumMod val="85000"/>
                                  <a:lumOff val="15000"/>
                                </a:schemeClr>
                              </a:solidFill>
                              <a:latin typeface="Cambria Math" panose="02040503050406030204" pitchFamily="18" charset="0"/>
                            </a:rPr>
                          </m:ctrlPr>
                        </m:dPr>
                        <m:e>
                          <m:r>
                            <a:rPr lang="ar-EG" sz="1800" i="1">
                              <a:solidFill>
                                <a:schemeClr val="tx1">
                                  <a:lumMod val="85000"/>
                                  <a:lumOff val="15000"/>
                                </a:schemeClr>
                              </a:solidFill>
                              <a:latin typeface="Cambria Math" panose="02040503050406030204" pitchFamily="18" charset="0"/>
                            </a:rPr>
                            <m:t>𝑛</m:t>
                          </m:r>
                          <m:r>
                            <a:rPr lang="ar-EG" sz="1800">
                              <a:solidFill>
                                <a:schemeClr val="tx1">
                                  <a:lumMod val="85000"/>
                                  <a:lumOff val="15000"/>
                                </a:schemeClr>
                              </a:solidFill>
                              <a:latin typeface="Cambria Math" panose="02040503050406030204" pitchFamily="18" charset="0"/>
                            </a:rPr>
                            <m:t>−</m:t>
                          </m:r>
                          <m:d>
                            <m:dPr>
                              <m:ctrlPr>
                                <a:rPr lang="ar-EG" sz="1800" i="1">
                                  <a:solidFill>
                                    <a:schemeClr val="tx1">
                                      <a:lumMod val="85000"/>
                                      <a:lumOff val="15000"/>
                                    </a:schemeClr>
                                  </a:solidFill>
                                  <a:latin typeface="Cambria Math" panose="02040503050406030204" pitchFamily="18" charset="0"/>
                                </a:rPr>
                              </m:ctrlPr>
                            </m:dPr>
                            <m:e>
                              <m:r>
                                <a:rPr lang="ar-EG" sz="1800" i="1">
                                  <a:solidFill>
                                    <a:schemeClr val="tx1">
                                      <a:lumMod val="85000"/>
                                      <a:lumOff val="15000"/>
                                    </a:schemeClr>
                                  </a:solidFill>
                                  <a:latin typeface="Cambria Math" panose="02040503050406030204" pitchFamily="18" charset="0"/>
                                </a:rPr>
                                <m:t>𝑁</m:t>
                              </m:r>
                              <m:r>
                                <a:rPr lang="ar-EG" sz="1800">
                                  <a:solidFill>
                                    <a:schemeClr val="tx1">
                                      <a:lumMod val="85000"/>
                                      <a:lumOff val="15000"/>
                                    </a:schemeClr>
                                  </a:solidFill>
                                  <a:latin typeface="Cambria Math" panose="02040503050406030204" pitchFamily="18" charset="0"/>
                                </a:rPr>
                                <m:t>−</m:t>
                              </m:r>
                              <m:r>
                                <a:rPr lang="ar-EG" sz="1800">
                                  <a:solidFill>
                                    <a:schemeClr val="tx1">
                                      <a:lumMod val="85000"/>
                                      <a:lumOff val="15000"/>
                                    </a:schemeClr>
                                  </a:solidFill>
                                  <a:latin typeface="Cambria Math" panose="02040503050406030204" pitchFamily="18" charset="0"/>
                                </a:rPr>
                                <m:t>1</m:t>
                              </m:r>
                              <m:r>
                                <a:rPr lang="ar-EG" sz="1800">
                                  <a:solidFill>
                                    <a:schemeClr val="tx1">
                                      <a:lumMod val="85000"/>
                                      <a:lumOff val="15000"/>
                                    </a:schemeClr>
                                  </a:solidFill>
                                  <a:latin typeface="Cambria Math" panose="02040503050406030204" pitchFamily="18" charset="0"/>
                                </a:rPr>
                                <m:t>−</m:t>
                              </m:r>
                              <m:r>
                                <a:rPr lang="ar-EG" sz="1800" i="1">
                                  <a:solidFill>
                                    <a:schemeClr val="tx1">
                                      <a:lumMod val="85000"/>
                                      <a:lumOff val="15000"/>
                                    </a:schemeClr>
                                  </a:solidFill>
                                  <a:latin typeface="Cambria Math" panose="02040503050406030204" pitchFamily="18" charset="0"/>
                                </a:rPr>
                                <m:t>𝑘</m:t>
                              </m:r>
                            </m:e>
                          </m:d>
                        </m:e>
                      </m:d>
                      <m:r>
                        <a:rPr lang="ar-EG" sz="1800">
                          <a:solidFill>
                            <a:schemeClr val="tx1">
                              <a:lumMod val="85000"/>
                              <a:lumOff val="15000"/>
                            </a:schemeClr>
                          </a:solidFill>
                          <a:latin typeface="Cambria Math" panose="02040503050406030204" pitchFamily="18" charset="0"/>
                        </a:rPr>
                        <m:t>)</m:t>
                      </m:r>
                    </m:oMath>
                  </m:oMathPara>
                </a14:m>
                <a:endParaRPr lang="ar-EG" sz="1800"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endParaRPr>
              </a:p>
              <a:p>
                <a:endParaRPr lang="en-US" dirty="0">
                  <a:solidFill>
                    <a:schemeClr val="tx1">
                      <a:lumMod val="85000"/>
                      <a:lumOff val="15000"/>
                    </a:schemeClr>
                  </a:solidFill>
                </a:endParaRPr>
              </a:p>
            </p:txBody>
          </p:sp>
        </mc:Choice>
        <mc:Fallback xmlns="">
          <p:sp>
            <p:nvSpPr>
              <p:cNvPr id="10" name="Text Placeholder 2">
                <a:extLst>
                  <a:ext uri="{FF2B5EF4-FFF2-40B4-BE49-F238E27FC236}">
                    <a16:creationId xmlns:a16="http://schemas.microsoft.com/office/drawing/2014/main" id="{E9C9C4F5-6294-1A6D-B7B6-9993B67DA602}"/>
                  </a:ext>
                </a:extLst>
              </p:cNvPr>
              <p:cNvSpPr>
                <a:spLocks noGrp="1" noRot="1" noChangeAspect="1" noMove="1" noResize="1" noEditPoints="1" noAdjustHandles="1" noChangeArrowheads="1" noChangeShapeType="1" noTextEdit="1"/>
              </p:cNvSpPr>
              <p:nvPr>
                <p:ph type="body" idx="1"/>
              </p:nvPr>
            </p:nvSpPr>
            <p:spPr>
              <a:xfrm>
                <a:off x="609600" y="1502229"/>
                <a:ext cx="10972800" cy="2305955"/>
              </a:xfr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 xmlns:a16="http://schemas.microsoft.com/office/drawing/2014/main" id="{A9D2A18A-ED2D-FE15-5D09-3598D3DF9756}"/>
                  </a:ext>
                </a:extLst>
              </p:cNvPr>
              <p:cNvSpPr txBox="1"/>
              <p:nvPr/>
            </p:nvSpPr>
            <p:spPr>
              <a:xfrm>
                <a:off x="609600" y="4001450"/>
                <a:ext cx="4999963" cy="2428806"/>
              </a:xfrm>
              <a:prstGeom prst="rect">
                <a:avLst/>
              </a:prstGeom>
              <a:noFill/>
            </p:spPr>
            <p:txBody>
              <a:bodyPr wrap="square" rtlCol="0">
                <a:spAutoFit/>
              </a:bodyPr>
              <a:lstStyle/>
              <a:p>
                <a:r>
                  <a:rPr lang="en-US" sz="1800" b="1" dirty="0">
                    <a:latin typeface="Calibri" panose="020F0502020204030204" pitchFamily="34" charset="0"/>
                    <a:ea typeface="Calibri" panose="020F0502020204030204" pitchFamily="34" charset="0"/>
                    <a:cs typeface="Calibri" panose="020F0502020204030204" pitchFamily="34" charset="0"/>
                  </a:rPr>
                  <a:t>Hardware meaning (Direct-form “folding”)</a:t>
                </a:r>
              </a:p>
              <a:p>
                <a:r>
                  <a:rPr lang="en-US" sz="1800" b="1" dirty="0">
                    <a:latin typeface="Calibri" panose="020F0502020204030204" pitchFamily="34" charset="0"/>
                    <a:ea typeface="Calibri" panose="020F0502020204030204" pitchFamily="34" charset="0"/>
                    <a:cs typeface="Calibri" panose="020F0502020204030204" pitchFamily="34" charset="0"/>
                  </a:rPr>
                  <a:t>Delay line</a:t>
                </a:r>
                <a:r>
                  <a:rPr lang="en-US" sz="1800" dirty="0">
                    <a:latin typeface="Calibri" panose="020F0502020204030204" pitchFamily="34" charset="0"/>
                    <a:ea typeface="Calibri" panose="020F0502020204030204" pitchFamily="34" charset="0"/>
                    <a:cs typeface="Calibri" panose="020F0502020204030204" pitchFamily="34" charset="0"/>
                  </a:rPr>
                  <a:t> provides </a:t>
                </a:r>
                <a14:m>
                  <m:oMath xmlns:m="http://schemas.openxmlformats.org/officeDocument/2006/math">
                    <m:r>
                      <a:rPr lang="en-US" sz="1800" i="1">
                        <a:latin typeface="Cambria Math" panose="02040503050406030204" pitchFamily="18" charset="0"/>
                      </a:rPr>
                      <m:t>𝑥</m:t>
                    </m:r>
                    <m:d>
                      <m:dPr>
                        <m:begChr m:val="["/>
                        <m:endChr m:val="]"/>
                        <m:ctrlPr>
                          <a:rPr lang="ar-EG" sz="1800" i="1">
                            <a:latin typeface="Cambria Math" panose="02040503050406030204" pitchFamily="18" charset="0"/>
                          </a:rPr>
                        </m:ctrlPr>
                      </m:dPr>
                      <m:e>
                        <m:r>
                          <a:rPr lang="ar-EG" sz="1800" i="1">
                            <a:latin typeface="Cambria Math" panose="02040503050406030204" pitchFamily="18" charset="0"/>
                          </a:rPr>
                          <m:t>𝑛</m:t>
                        </m:r>
                      </m:e>
                    </m:d>
                    <m:r>
                      <a:rPr lang="ar-EG" sz="1800">
                        <a:latin typeface="Cambria Math" panose="02040503050406030204" pitchFamily="18" charset="0"/>
                      </a:rPr>
                      <m:t>,</m:t>
                    </m:r>
                    <m:r>
                      <a:rPr lang="ar-EG" sz="1800" i="1">
                        <a:latin typeface="Cambria Math" panose="02040503050406030204" pitchFamily="18" charset="0"/>
                      </a:rPr>
                      <m:t>𝑥</m:t>
                    </m:r>
                    <m:d>
                      <m:dPr>
                        <m:begChr m:val="["/>
                        <m:endChr m:val="]"/>
                        <m:ctrlPr>
                          <a:rPr lang="ar-EG" sz="1800" i="1">
                            <a:latin typeface="Cambria Math" panose="02040503050406030204" pitchFamily="18" charset="0"/>
                          </a:rPr>
                        </m:ctrlPr>
                      </m:dPr>
                      <m:e>
                        <m:r>
                          <a:rPr lang="ar-EG" sz="1800" i="1">
                            <a:latin typeface="Cambria Math" panose="02040503050406030204" pitchFamily="18" charset="0"/>
                          </a:rPr>
                          <m:t>𝑛</m:t>
                        </m:r>
                        <m:r>
                          <a:rPr lang="ar-EG" sz="1800">
                            <a:latin typeface="Cambria Math" panose="02040503050406030204" pitchFamily="18" charset="0"/>
                          </a:rPr>
                          <m:t>−</m:t>
                        </m:r>
                        <m:r>
                          <a:rPr lang="ar-EG" sz="1800">
                            <a:latin typeface="Cambria Math" panose="02040503050406030204" pitchFamily="18" charset="0"/>
                          </a:rPr>
                          <m:t>1</m:t>
                        </m:r>
                      </m:e>
                    </m:d>
                    <m:r>
                      <a:rPr lang="ar-EG" sz="1800">
                        <a:latin typeface="Cambria Math" panose="02040503050406030204" pitchFamily="18" charset="0"/>
                      </a:rPr>
                      <m:t>,...,</m:t>
                    </m:r>
                    <m:r>
                      <a:rPr lang="ar-EG" sz="1800" i="1">
                        <a:latin typeface="Cambria Math" panose="02040503050406030204" pitchFamily="18" charset="0"/>
                      </a:rPr>
                      <m:t>𝑥</m:t>
                    </m:r>
                    <m:d>
                      <m:dPr>
                        <m:begChr m:val="["/>
                        <m:endChr m:val="]"/>
                        <m:ctrlPr>
                          <a:rPr lang="ar-EG" sz="1800" i="1">
                            <a:latin typeface="Cambria Math" panose="02040503050406030204" pitchFamily="18" charset="0"/>
                          </a:rPr>
                        </m:ctrlPr>
                      </m:dPr>
                      <m:e>
                        <m:r>
                          <a:rPr lang="ar-EG" sz="1800" i="1">
                            <a:latin typeface="Cambria Math" panose="02040503050406030204" pitchFamily="18" charset="0"/>
                          </a:rPr>
                          <m:t>𝑛</m:t>
                        </m:r>
                        <m:r>
                          <a:rPr lang="ar-EG" sz="1800">
                            <a:latin typeface="Cambria Math" panose="02040503050406030204" pitchFamily="18" charset="0"/>
                          </a:rPr>
                          <m:t>−</m:t>
                        </m:r>
                        <m:d>
                          <m:dPr>
                            <m:ctrlPr>
                              <a:rPr lang="ar-EG" sz="1800" i="1">
                                <a:latin typeface="Cambria Math" panose="02040503050406030204" pitchFamily="18" charset="0"/>
                              </a:rPr>
                            </m:ctrlPr>
                          </m:dPr>
                          <m:e>
                            <m:r>
                              <a:rPr lang="ar-EG" sz="1800" i="1">
                                <a:latin typeface="Cambria Math" panose="02040503050406030204" pitchFamily="18" charset="0"/>
                              </a:rPr>
                              <m:t>𝑁</m:t>
                            </m:r>
                            <m:r>
                              <a:rPr lang="ar-EG" sz="1800">
                                <a:latin typeface="Cambria Math" panose="02040503050406030204" pitchFamily="18" charset="0"/>
                              </a:rPr>
                              <m:t>−</m:t>
                            </m:r>
                            <m:r>
                              <a:rPr lang="ar-EG" sz="1800">
                                <a:latin typeface="Cambria Math" panose="02040503050406030204" pitchFamily="18" charset="0"/>
                              </a:rPr>
                              <m:t>1</m:t>
                            </m:r>
                          </m:e>
                        </m:d>
                      </m:e>
                    </m:d>
                  </m:oMath>
                </a14:m>
                <a:endParaRPr lang="ar-EG" sz="1800" dirty="0">
                  <a:latin typeface="Calibri" panose="020F0502020204030204" pitchFamily="34" charset="0"/>
                  <a:ea typeface="Calibri" panose="020F0502020204030204" pitchFamily="34" charset="0"/>
                  <a:cs typeface="Calibri" panose="020F0502020204030204" pitchFamily="34" charset="0"/>
                </a:endParaRPr>
              </a:p>
              <a:p>
                <a:r>
                  <a:rPr lang="en-US" sz="1800" dirty="0">
                    <a:latin typeface="Calibri" panose="020F0502020204030204" pitchFamily="34" charset="0"/>
                    <a:ea typeface="Calibri" panose="020F0502020204030204" pitchFamily="34" charset="0"/>
                    <a:cs typeface="Calibri" panose="020F0502020204030204" pitchFamily="34" charset="0"/>
                  </a:rPr>
                  <a:t>For each symmetric pair:</a:t>
                </a:r>
              </a:p>
              <a:p>
                <a:pPr lvl="1"/>
                <a:r>
                  <a:rPr lang="en-US" sz="1800" b="1" dirty="0">
                    <a:latin typeface="Calibri" panose="020F0502020204030204" pitchFamily="34" charset="0"/>
                    <a:ea typeface="Calibri" panose="020F0502020204030204" pitchFamily="34" charset="0"/>
                    <a:cs typeface="Calibri" panose="020F0502020204030204" pitchFamily="34" charset="0"/>
                  </a:rPr>
                  <a:t>Pre-adder:</a:t>
                </a:r>
                <a:r>
                  <a:rPr lang="en-US" sz="1800" dirty="0">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sSub>
                      <m:sSubPr>
                        <m:ctrlPr>
                          <a:rPr lang="ar-EG" sz="1800" i="1">
                            <a:latin typeface="Cambria Math" panose="02040503050406030204" pitchFamily="18" charset="0"/>
                          </a:rPr>
                        </m:ctrlPr>
                      </m:sSubPr>
                      <m:e>
                        <m:r>
                          <a:rPr lang="ar-EG" sz="1800" i="1">
                            <a:latin typeface="Cambria Math" panose="02040503050406030204" pitchFamily="18" charset="0"/>
                          </a:rPr>
                          <m:t>𝑠</m:t>
                        </m:r>
                      </m:e>
                      <m:sub>
                        <m:r>
                          <a:rPr lang="ar-EG" sz="1800" i="1">
                            <a:latin typeface="Cambria Math" panose="02040503050406030204" pitchFamily="18" charset="0"/>
                          </a:rPr>
                          <m:t>𝑘</m:t>
                        </m:r>
                      </m:sub>
                    </m:sSub>
                    <m:r>
                      <a:rPr lang="ar-EG" sz="1800">
                        <a:latin typeface="Cambria Math" panose="02040503050406030204" pitchFamily="18" charset="0"/>
                      </a:rPr>
                      <m:t>=</m:t>
                    </m:r>
                    <m:sSub>
                      <m:sSubPr>
                        <m:ctrlPr>
                          <a:rPr lang="ar-EG" sz="1800" i="1">
                            <a:latin typeface="Cambria Math" panose="02040503050406030204" pitchFamily="18" charset="0"/>
                          </a:rPr>
                        </m:ctrlPr>
                      </m:sSubPr>
                      <m:e>
                        <m:r>
                          <a:rPr lang="ar-EG" sz="1800" i="1">
                            <a:latin typeface="Cambria Math" panose="02040503050406030204" pitchFamily="18" charset="0"/>
                          </a:rPr>
                          <m:t>𝑥</m:t>
                        </m:r>
                      </m:e>
                      <m:sub>
                        <m:r>
                          <a:rPr lang="ar-EG" sz="1800">
                            <a:latin typeface="Cambria Math" panose="02040503050406030204" pitchFamily="18" charset="0"/>
                          </a:rPr>
                          <m:t>1</m:t>
                        </m:r>
                      </m:sub>
                    </m:sSub>
                    <m:r>
                      <a:rPr lang="ar-EG" sz="1800">
                        <a:latin typeface="Cambria Math" panose="02040503050406030204" pitchFamily="18" charset="0"/>
                      </a:rPr>
                      <m:t>+</m:t>
                    </m:r>
                    <m:sSub>
                      <m:sSubPr>
                        <m:ctrlPr>
                          <a:rPr lang="ar-EG" sz="1800" i="1">
                            <a:latin typeface="Cambria Math" panose="02040503050406030204" pitchFamily="18" charset="0"/>
                          </a:rPr>
                        </m:ctrlPr>
                      </m:sSubPr>
                      <m:e>
                        <m:r>
                          <a:rPr lang="ar-EG" sz="1800" i="1">
                            <a:latin typeface="Cambria Math" panose="02040503050406030204" pitchFamily="18" charset="0"/>
                          </a:rPr>
                          <m:t>𝑥</m:t>
                        </m:r>
                      </m:e>
                      <m:sub>
                        <m:r>
                          <a:rPr lang="ar-EG" sz="1800">
                            <a:latin typeface="Cambria Math" panose="02040503050406030204" pitchFamily="18" charset="0"/>
                          </a:rPr>
                          <m:t>2</m:t>
                        </m:r>
                      </m:sub>
                    </m:sSub>
                  </m:oMath>
                </a14:m>
                <a:endParaRPr lang="ar-EG" sz="1800" dirty="0">
                  <a:latin typeface="Calibri" panose="020F0502020204030204" pitchFamily="34" charset="0"/>
                  <a:ea typeface="Calibri" panose="020F0502020204030204" pitchFamily="34" charset="0"/>
                  <a:cs typeface="Calibri" panose="020F0502020204030204" pitchFamily="34" charset="0"/>
                </a:endParaRPr>
              </a:p>
              <a:p>
                <a:pPr lvl="1"/>
                <a:r>
                  <a:rPr lang="en-US" sz="1800" b="1" dirty="0">
                    <a:latin typeface="Calibri" panose="020F0502020204030204" pitchFamily="34" charset="0"/>
                    <a:ea typeface="Calibri" panose="020F0502020204030204" pitchFamily="34" charset="0"/>
                    <a:cs typeface="Calibri" panose="020F0502020204030204" pitchFamily="34" charset="0"/>
                  </a:rPr>
                  <a:t>Single coefficient path:</a:t>
                </a:r>
                <a:r>
                  <a:rPr lang="en-US" sz="1800" dirty="0">
                    <a:latin typeface="Calibri" panose="020F0502020204030204" pitchFamily="34" charset="0"/>
                    <a:ea typeface="Calibri" panose="020F0502020204030204" pitchFamily="34" charset="0"/>
                    <a:cs typeface="Calibri" panose="020F0502020204030204" pitchFamily="34" charset="0"/>
                  </a:rPr>
                  <a:t> multiply once by </a:t>
                </a:r>
                <a14:m>
                  <m:oMath xmlns:m="http://schemas.openxmlformats.org/officeDocument/2006/math">
                    <m:r>
                      <a:rPr lang="en-US" sz="1800" i="1">
                        <a:latin typeface="Cambria Math" panose="02040503050406030204" pitchFamily="18" charset="0"/>
                      </a:rPr>
                      <m:t>h</m:t>
                    </m:r>
                    <m:d>
                      <m:dPr>
                        <m:begChr m:val="["/>
                        <m:endChr m:val="]"/>
                        <m:ctrlPr>
                          <a:rPr lang="ar-EG" sz="1800" i="1">
                            <a:latin typeface="Cambria Math" panose="02040503050406030204" pitchFamily="18" charset="0"/>
                          </a:rPr>
                        </m:ctrlPr>
                      </m:dPr>
                      <m:e>
                        <m:r>
                          <a:rPr lang="ar-EG" sz="1800" i="1">
                            <a:latin typeface="Cambria Math" panose="02040503050406030204" pitchFamily="18" charset="0"/>
                          </a:rPr>
                          <m:t>𝑘</m:t>
                        </m:r>
                      </m:e>
                    </m:d>
                  </m:oMath>
                </a14:m>
                <a:endParaRPr lang="ar-EG" sz="1800" dirty="0">
                  <a:latin typeface="Calibri" panose="020F0502020204030204" pitchFamily="34" charset="0"/>
                  <a:ea typeface="Calibri" panose="020F0502020204030204" pitchFamily="34" charset="0"/>
                  <a:cs typeface="Calibri" panose="020F0502020204030204" pitchFamily="34" charset="0"/>
                </a:endParaRPr>
              </a:p>
              <a:p>
                <a:r>
                  <a:rPr lang="en-US" sz="1800" dirty="0">
                    <a:latin typeface="Calibri" panose="020F0502020204030204" pitchFamily="34" charset="0"/>
                    <a:ea typeface="Calibri" panose="020F0502020204030204" pitchFamily="34" charset="0"/>
                    <a:cs typeface="Calibri" panose="020F0502020204030204" pitchFamily="34" charset="0"/>
                  </a:rPr>
                  <a:t>Result: multipliers reduce from </a:t>
                </a:r>
                <a14:m>
                  <m:oMath xmlns:m="http://schemas.openxmlformats.org/officeDocument/2006/math">
                    <m:r>
                      <a:rPr lang="en-US" sz="1800" i="1">
                        <a:latin typeface="Cambria Math" panose="02040503050406030204" pitchFamily="18" charset="0"/>
                      </a:rPr>
                      <m:t>𝑁</m:t>
                    </m:r>
                  </m:oMath>
                </a14:m>
                <a:r>
                  <a:rPr lang="en-US" sz="1800" dirty="0">
                    <a:latin typeface="Calibri" panose="020F0502020204030204" pitchFamily="34" charset="0"/>
                    <a:ea typeface="Calibri" panose="020F0502020204030204" pitchFamily="34" charset="0"/>
                    <a:cs typeface="Calibri" panose="020F0502020204030204" pitchFamily="34" charset="0"/>
                  </a:rPr>
                  <a:t>to about </a:t>
                </a:r>
                <a14:m>
                  <m:oMath xmlns:m="http://schemas.openxmlformats.org/officeDocument/2006/math">
                    <m:f>
                      <m:fPr>
                        <m:ctrlPr>
                          <a:rPr lang="en-US" sz="1800" b="0" i="1">
                            <a:latin typeface="Cambria Math" panose="02040503050406030204" pitchFamily="18" charset="0"/>
                          </a:rPr>
                        </m:ctrlPr>
                      </m:fPr>
                      <m:num>
                        <m:r>
                          <m:rPr>
                            <m:sty m:val="p"/>
                          </m:rPr>
                          <a:rPr lang="en-US" sz="1800" b="0" i="0" smtClean="0">
                            <a:latin typeface="Cambria Math" panose="02040503050406030204" pitchFamily="18" charset="0"/>
                          </a:rPr>
                          <m:t>N</m:t>
                        </m:r>
                      </m:num>
                      <m:den>
                        <m:r>
                          <a:rPr lang="en-US" sz="1800">
                            <a:latin typeface="Cambria Math" panose="02040503050406030204" pitchFamily="18" charset="0"/>
                          </a:rPr>
                          <m:t>2</m:t>
                        </m:r>
                      </m:den>
                    </m:f>
                    <m:r>
                      <a:rPr lang="en-US" sz="1800" b="0" i="1" smtClean="0">
                        <a:latin typeface="Cambria Math" panose="02040503050406030204" pitchFamily="18" charset="0"/>
                      </a:rPr>
                      <m:t> </m:t>
                    </m:r>
                  </m:oMath>
                </a14:m>
                <a:r>
                  <a:rPr lang="en-US" sz="1800" dirty="0">
                    <a:latin typeface="Calibri" panose="020F0502020204030204" pitchFamily="34" charset="0"/>
                    <a:ea typeface="Calibri" panose="020F0502020204030204" pitchFamily="34" charset="0"/>
                    <a:cs typeface="Calibri" panose="020F0502020204030204" pitchFamily="34" charset="0"/>
                  </a:rPr>
                  <a:t>(adds increase slightly due to pre-adders)</a:t>
                </a:r>
              </a:p>
            </p:txBody>
          </p:sp>
        </mc:Choice>
        <mc:Fallback xmlns="">
          <p:sp>
            <p:nvSpPr>
              <p:cNvPr id="11" name="TextBox 10">
                <a:extLst>
                  <a:ext uri="{FF2B5EF4-FFF2-40B4-BE49-F238E27FC236}">
                    <a16:creationId xmlns:a16="http://schemas.microsoft.com/office/drawing/2014/main" id="{A9D2A18A-ED2D-FE15-5D09-3598D3DF9756}"/>
                  </a:ext>
                </a:extLst>
              </p:cNvPr>
              <p:cNvSpPr txBox="1">
                <a:spLocks noRot="1" noChangeAspect="1" noMove="1" noResize="1" noEditPoints="1" noAdjustHandles="1" noChangeArrowheads="1" noChangeShapeType="1" noTextEdit="1"/>
              </p:cNvSpPr>
              <p:nvPr/>
            </p:nvSpPr>
            <p:spPr>
              <a:xfrm>
                <a:off x="609600" y="4001450"/>
                <a:ext cx="4999963" cy="2428806"/>
              </a:xfrm>
              <a:prstGeom prst="rect">
                <a:avLst/>
              </a:prstGeom>
              <a:blipFill>
                <a:blip r:embed="rId4"/>
                <a:stretch>
                  <a:fillRect l="-976" t="-8020" r="-732" b="-3008"/>
                </a:stretch>
              </a:blipFill>
            </p:spPr>
            <p:txBody>
              <a:bodyPr/>
              <a:lstStyle/>
              <a:p>
                <a:r>
                  <a:rPr lang="en-US">
                    <a:noFill/>
                  </a:rPr>
                  <a:t> </a:t>
                </a:r>
              </a:p>
            </p:txBody>
          </p:sp>
        </mc:Fallback>
      </mc:AlternateContent>
    </p:spTree>
    <p:extLst>
      <p:ext uri="{BB962C8B-B14F-4D97-AF65-F5344CB8AC3E}">
        <p14:creationId xmlns:p14="http://schemas.microsoft.com/office/powerpoint/2010/main" val="147428232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22B9F250-E791-F75A-6D26-4DE8D823FC75}"/>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BC4825E6-A75A-E134-981E-850208F4DA10}"/>
              </a:ext>
            </a:extLst>
          </p:cNvPr>
          <p:cNvSpPr>
            <a:spLocks noGrp="1"/>
          </p:cNvSpPr>
          <p:nvPr>
            <p:ph type="title"/>
          </p:nvPr>
        </p:nvSpPr>
        <p:spPr/>
        <p:txBody>
          <a:bodyPr>
            <a:normAutofit/>
          </a:bodyPr>
          <a:lstStyle/>
          <a:p>
            <a:r>
              <a:rPr lang="en-US" sz="3200" dirty="0">
                <a:latin typeface="Times New Roman" panose="02020603050405020304" pitchFamily="18" charset="0"/>
                <a:cs typeface="Times New Roman" panose="02020603050405020304" pitchFamily="18" charset="0"/>
              </a:rPr>
              <a:t>Implemented Block Diagram</a:t>
            </a:r>
          </a:p>
        </p:txBody>
      </p:sp>
      <p:pic>
        <p:nvPicPr>
          <p:cNvPr id="5" name="Picture 4">
            <a:extLst>
              <a:ext uri="{FF2B5EF4-FFF2-40B4-BE49-F238E27FC236}">
                <a16:creationId xmlns="" xmlns:a16="http://schemas.microsoft.com/office/drawing/2014/main" id="{AD7508D0-7E77-A7DC-9803-BA8CDF78FAFD}"/>
              </a:ext>
            </a:extLst>
          </p:cNvPr>
          <p:cNvPicPr>
            <a:picLocks noChangeAspect="1"/>
          </p:cNvPicPr>
          <p:nvPr/>
        </p:nvPicPr>
        <p:blipFill>
          <a:blip r:embed="rId2"/>
          <a:stretch>
            <a:fillRect/>
          </a:stretch>
        </p:blipFill>
        <p:spPr>
          <a:xfrm>
            <a:off x="658417" y="3660322"/>
            <a:ext cx="7286048" cy="2901820"/>
          </a:xfrm>
          <a:prstGeom prst="rect">
            <a:avLst/>
          </a:prstGeom>
        </p:spPr>
      </p:pic>
      <p:pic>
        <p:nvPicPr>
          <p:cNvPr id="9" name="Picture 8">
            <a:extLst>
              <a:ext uri="{FF2B5EF4-FFF2-40B4-BE49-F238E27FC236}">
                <a16:creationId xmlns="" xmlns:a16="http://schemas.microsoft.com/office/drawing/2014/main" id="{7B14388B-85C2-0EC4-B3CF-EB32AD34E483}"/>
              </a:ext>
            </a:extLst>
          </p:cNvPr>
          <p:cNvPicPr>
            <a:picLocks noChangeAspect="1"/>
          </p:cNvPicPr>
          <p:nvPr/>
        </p:nvPicPr>
        <p:blipFill>
          <a:blip r:embed="rId3"/>
          <a:stretch>
            <a:fillRect/>
          </a:stretch>
        </p:blipFill>
        <p:spPr>
          <a:xfrm>
            <a:off x="8172457" y="4430081"/>
            <a:ext cx="2686425" cy="1629002"/>
          </a:xfrm>
          <a:prstGeom prst="rect">
            <a:avLst/>
          </a:prstGeom>
        </p:spPr>
      </p:pic>
      <mc:AlternateContent xmlns:mc="http://schemas.openxmlformats.org/markup-compatibility/2006" xmlns:a14="http://schemas.microsoft.com/office/drawing/2010/main">
        <mc:Choice Requires="a14">
          <p:sp>
            <p:nvSpPr>
              <p:cNvPr id="8" name="Text Placeholder 2">
                <a:extLst>
                  <a:ext uri="{FF2B5EF4-FFF2-40B4-BE49-F238E27FC236}">
                    <a16:creationId xmlns="" xmlns:a16="http://schemas.microsoft.com/office/drawing/2014/main" id="{86E8CE04-7AAE-19FC-674E-B1E94F2359E7}"/>
                  </a:ext>
                </a:extLst>
              </p:cNvPr>
              <p:cNvSpPr txBox="1">
                <a:spLocks/>
              </p:cNvSpPr>
              <p:nvPr/>
            </p:nvSpPr>
            <p:spPr>
              <a:xfrm>
                <a:off x="609600" y="1303010"/>
                <a:ext cx="10972800" cy="235731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1pPr>
                <a:lvl2pPr marL="914400" marR="0" lvl="1" indent="-342900" algn="l" rtl="0">
                  <a:lnSpc>
                    <a:spcPct val="100000"/>
                  </a:lnSpc>
                  <a:spcBef>
                    <a:spcPts val="400"/>
                  </a:spcBef>
                  <a:spcAft>
                    <a:spcPts val="0"/>
                  </a:spcAft>
                  <a:buClr>
                    <a:schemeClr val="dk1"/>
                  </a:buClr>
                  <a:buSzPts val="1800"/>
                  <a:buFont typeface="Calibri"/>
                  <a:buChar char="–"/>
                  <a:defRPr sz="20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360"/>
                  </a:spcBef>
                  <a:spcAft>
                    <a:spcPts val="0"/>
                  </a:spcAft>
                  <a:buClr>
                    <a:schemeClr val="dk1"/>
                  </a:buClr>
                  <a:buSzPts val="1800"/>
                  <a:buFont typeface="Calibri"/>
                  <a:buChar char="–"/>
                  <a:defRPr sz="1800" b="0" i="0" u="none" strike="noStrike" cap="none">
                    <a:solidFill>
                      <a:schemeClr val="dk1"/>
                    </a:solidFill>
                    <a:latin typeface="Calibri"/>
                    <a:ea typeface="Calibri"/>
                    <a:cs typeface="Calibri"/>
                    <a:sym typeface="Calibri"/>
                  </a:defRPr>
                </a:lvl3pPr>
                <a:lvl4pPr marL="1828800" marR="0" lvl="3" indent="-330200" algn="l" rtl="0">
                  <a:lnSpc>
                    <a:spcPct val="100000"/>
                  </a:lnSpc>
                  <a:spcBef>
                    <a:spcPts val="336"/>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4pPr>
                <a:lvl5pPr marL="2286000" marR="0" lvl="4" indent="-330200" algn="l" rtl="0">
                  <a:lnSpc>
                    <a:spcPct val="100000"/>
                  </a:lnSpc>
                  <a:spcBef>
                    <a:spcPts val="336"/>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9pPr>
              </a:lstStyle>
              <a:p>
                <a:pPr marL="457200" marR="0" lvl="0" indent="-381000" algn="l" defTabSz="914400" rtl="0" eaLnBrk="1" fontAlgn="auto" latinLnBrk="0" hangingPunct="1">
                  <a:lnSpc>
                    <a:spcPct val="100000"/>
                  </a:lnSpc>
                  <a:spcBef>
                    <a:spcPts val="480"/>
                  </a:spcBef>
                  <a:spcAft>
                    <a:spcPts val="0"/>
                  </a:spcAft>
                  <a:buClr>
                    <a:srgbClr val="000000"/>
                  </a:buClr>
                  <a:buSzPts val="2400"/>
                  <a:buFont typeface="Arial"/>
                  <a:buChar char="•"/>
                  <a:tabLst/>
                  <a:defRPr/>
                </a:pPr>
                <a:r>
                  <a:rPr kumimoji="0" lang="en-US" sz="1800" b="1"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Calibri"/>
                  </a:rPr>
                  <a:t>Exploit coefficient symmetry:</a:t>
                </a:r>
                <a:r>
                  <a:rPr kumimoji="0" lang="en-US" sz="18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Calibri"/>
                  </a:rPr>
                  <a:t> </a:t>
                </a:r>
                <a14:m>
                  <m:oMath xmlns:m="http://schemas.openxmlformats.org/officeDocument/2006/math">
                    <m:r>
                      <a:rPr kumimoji="0" lang="en-US" sz="1800" b="0" i="1" u="none" strike="noStrike" kern="0" cap="none" spc="0" normalizeH="0" baseline="0" noProof="0">
                        <a:ln>
                          <a:noFill/>
                        </a:ln>
                        <a:solidFill>
                          <a:srgbClr val="000000"/>
                        </a:solidFill>
                        <a:effectLst/>
                        <a:uLnTx/>
                        <a:uFillTx/>
                        <a:latin typeface="Cambria Math" panose="02040503050406030204" pitchFamily="18" charset="0"/>
                        <a:sym typeface="Calibri"/>
                      </a:rPr>
                      <m:t>h</m:t>
                    </m:r>
                    <m:d>
                      <m:dPr>
                        <m:begChr m:val="["/>
                        <m:endChr m:val="]"/>
                        <m:ctrlPr>
                          <a:rPr kumimoji="0" lang="ar-EG" sz="1800" b="0" i="1" u="none" strike="noStrike" kern="0" cap="none" spc="0" normalizeH="0" baseline="0" noProof="0">
                            <a:ln>
                              <a:noFill/>
                            </a:ln>
                            <a:solidFill>
                              <a:srgbClr val="000000"/>
                            </a:solidFill>
                            <a:effectLst/>
                            <a:uLnTx/>
                            <a:uFillTx/>
                            <a:latin typeface="Cambria Math" panose="02040503050406030204" pitchFamily="18" charset="0"/>
                            <a:sym typeface="Calibri"/>
                          </a:rPr>
                        </m:ctrlPr>
                      </m:dPr>
                      <m:e>
                        <m:r>
                          <a:rPr kumimoji="0" lang="ar-EG" sz="1800" b="0" i="1" u="none" strike="noStrike" kern="0" cap="none" spc="0" normalizeH="0" baseline="0" noProof="0">
                            <a:ln>
                              <a:noFill/>
                            </a:ln>
                            <a:solidFill>
                              <a:srgbClr val="000000"/>
                            </a:solidFill>
                            <a:effectLst/>
                            <a:uLnTx/>
                            <a:uFillTx/>
                            <a:latin typeface="Cambria Math" panose="02040503050406030204" pitchFamily="18" charset="0"/>
                            <a:sym typeface="Calibri"/>
                          </a:rPr>
                          <m:t>𝑘</m:t>
                        </m:r>
                      </m:e>
                    </m:d>
                    <m:r>
                      <a:rPr kumimoji="0" lang="ar-EG" sz="1800" b="0" i="0" u="none" strike="noStrike" kern="0" cap="none" spc="0" normalizeH="0" baseline="0" noProof="0">
                        <a:ln>
                          <a:noFill/>
                        </a:ln>
                        <a:solidFill>
                          <a:srgbClr val="000000"/>
                        </a:solidFill>
                        <a:effectLst/>
                        <a:uLnTx/>
                        <a:uFillTx/>
                        <a:latin typeface="Cambria Math" panose="02040503050406030204" pitchFamily="18" charset="0"/>
                        <a:sym typeface="Calibri"/>
                      </a:rPr>
                      <m:t>=</m:t>
                    </m:r>
                    <m:r>
                      <a:rPr kumimoji="0" lang="ar-EG" sz="1800" b="0" i="1" u="none" strike="noStrike" kern="0" cap="none" spc="0" normalizeH="0" baseline="0" noProof="0">
                        <a:ln>
                          <a:noFill/>
                        </a:ln>
                        <a:solidFill>
                          <a:srgbClr val="000000"/>
                        </a:solidFill>
                        <a:effectLst/>
                        <a:uLnTx/>
                        <a:uFillTx/>
                        <a:latin typeface="Cambria Math" panose="02040503050406030204" pitchFamily="18" charset="0"/>
                        <a:sym typeface="Calibri"/>
                      </a:rPr>
                      <m:t>h</m:t>
                    </m:r>
                    <m:d>
                      <m:dPr>
                        <m:begChr m:val="["/>
                        <m:endChr m:val="]"/>
                        <m:ctrlPr>
                          <a:rPr kumimoji="0" lang="ar-EG" sz="1800" b="0" i="1" u="none" strike="noStrike" kern="0" cap="none" spc="0" normalizeH="0" baseline="0" noProof="0">
                            <a:ln>
                              <a:noFill/>
                            </a:ln>
                            <a:solidFill>
                              <a:srgbClr val="000000"/>
                            </a:solidFill>
                            <a:effectLst/>
                            <a:uLnTx/>
                            <a:uFillTx/>
                            <a:latin typeface="Cambria Math" panose="02040503050406030204" pitchFamily="18" charset="0"/>
                            <a:sym typeface="Calibri"/>
                          </a:rPr>
                        </m:ctrlPr>
                      </m:dPr>
                      <m:e>
                        <m:r>
                          <a:rPr kumimoji="0" lang="ar-EG" sz="1800" b="0" i="1" u="none" strike="noStrike" kern="0" cap="none" spc="0" normalizeH="0" baseline="0" noProof="0">
                            <a:ln>
                              <a:noFill/>
                            </a:ln>
                            <a:solidFill>
                              <a:srgbClr val="000000"/>
                            </a:solidFill>
                            <a:effectLst/>
                            <a:uLnTx/>
                            <a:uFillTx/>
                            <a:latin typeface="Cambria Math" panose="02040503050406030204" pitchFamily="18" charset="0"/>
                            <a:sym typeface="Calibri"/>
                          </a:rPr>
                          <m:t>𝑁</m:t>
                        </m:r>
                        <m:r>
                          <a:rPr kumimoji="0" lang="ar-EG" sz="1800" b="0" i="0" u="none" strike="noStrike" kern="0" cap="none" spc="0" normalizeH="0" baseline="0" noProof="0">
                            <a:ln>
                              <a:noFill/>
                            </a:ln>
                            <a:solidFill>
                              <a:srgbClr val="000000"/>
                            </a:solidFill>
                            <a:effectLst/>
                            <a:uLnTx/>
                            <a:uFillTx/>
                            <a:latin typeface="Cambria Math" panose="02040503050406030204" pitchFamily="18" charset="0"/>
                            <a:sym typeface="Calibri"/>
                          </a:rPr>
                          <m:t>−</m:t>
                        </m:r>
                        <m:r>
                          <a:rPr kumimoji="0" lang="ar-EG" sz="1800" b="0" i="0" u="none" strike="noStrike" kern="0" cap="none" spc="0" normalizeH="0" baseline="0" noProof="0">
                            <a:ln>
                              <a:noFill/>
                            </a:ln>
                            <a:solidFill>
                              <a:srgbClr val="000000"/>
                            </a:solidFill>
                            <a:effectLst/>
                            <a:uLnTx/>
                            <a:uFillTx/>
                            <a:latin typeface="Cambria Math" panose="02040503050406030204" pitchFamily="18" charset="0"/>
                            <a:sym typeface="Calibri"/>
                          </a:rPr>
                          <m:t>1</m:t>
                        </m:r>
                        <m:r>
                          <a:rPr kumimoji="0" lang="ar-EG" sz="1800" b="0" i="0" u="none" strike="noStrike" kern="0" cap="none" spc="0" normalizeH="0" baseline="0" noProof="0">
                            <a:ln>
                              <a:noFill/>
                            </a:ln>
                            <a:solidFill>
                              <a:srgbClr val="000000"/>
                            </a:solidFill>
                            <a:effectLst/>
                            <a:uLnTx/>
                            <a:uFillTx/>
                            <a:latin typeface="Cambria Math" panose="02040503050406030204" pitchFamily="18" charset="0"/>
                            <a:sym typeface="Calibri"/>
                          </a:rPr>
                          <m:t>−</m:t>
                        </m:r>
                        <m:r>
                          <a:rPr kumimoji="0" lang="ar-EG" sz="1800" b="0" i="1" u="none" strike="noStrike" kern="0" cap="none" spc="0" normalizeH="0" baseline="0" noProof="0">
                            <a:ln>
                              <a:noFill/>
                            </a:ln>
                            <a:solidFill>
                              <a:srgbClr val="000000"/>
                            </a:solidFill>
                            <a:effectLst/>
                            <a:uLnTx/>
                            <a:uFillTx/>
                            <a:latin typeface="Cambria Math" panose="02040503050406030204" pitchFamily="18" charset="0"/>
                            <a:sym typeface="Calibri"/>
                          </a:rPr>
                          <m:t>𝑘</m:t>
                        </m:r>
                      </m:e>
                    </m:d>
                  </m:oMath>
                </a14:m>
                <a:r>
                  <a:rPr kumimoji="0" lang="ar-EG" sz="18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Calibri"/>
                  </a:rPr>
                  <a:t>→ </a:t>
                </a:r>
                <a:r>
                  <a:rPr kumimoji="0" lang="en-US" sz="18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Calibri"/>
                  </a:rPr>
                  <a:t>pair symmetric samples and use one coefficient per pair</a:t>
                </a:r>
              </a:p>
              <a:p>
                <a:pPr marL="76200" marR="0" lvl="0" indent="0" algn="l" defTabSz="914400" rtl="0" eaLnBrk="1" fontAlgn="auto" latinLnBrk="0" hangingPunct="1">
                  <a:lnSpc>
                    <a:spcPct val="100000"/>
                  </a:lnSpc>
                  <a:spcBef>
                    <a:spcPts val="480"/>
                  </a:spcBef>
                  <a:spcAft>
                    <a:spcPts val="0"/>
                  </a:spcAft>
                  <a:buClr>
                    <a:srgbClr val="000000"/>
                  </a:buClr>
                  <a:buSzPts val="2400"/>
                  <a:buFont typeface="Arial"/>
                  <a:buNone/>
                  <a:tabLst/>
                  <a:defRPr/>
                </a:pPr>
                <a14:m>
                  <m:oMathPara xmlns:m="http://schemas.openxmlformats.org/officeDocument/2006/math">
                    <m:oMathParaPr>
                      <m:jc m:val="centerGroup"/>
                    </m:oMathParaPr>
                    <m:oMath xmlns:m="http://schemas.openxmlformats.org/officeDocument/2006/math">
                      <m:sSub>
                        <m:sSubPr>
                          <m:ctrlPr>
                            <a:rPr kumimoji="0" lang="ar-EG" sz="1800" b="0" i="1" u="none" strike="noStrike" kern="0" cap="none" spc="0" normalizeH="0" baseline="0" noProof="0">
                              <a:ln>
                                <a:noFill/>
                              </a:ln>
                              <a:solidFill>
                                <a:srgbClr val="000000"/>
                              </a:solidFill>
                              <a:effectLst/>
                              <a:uLnTx/>
                              <a:uFillTx/>
                              <a:latin typeface="Cambria Math" panose="02040503050406030204" pitchFamily="18" charset="0"/>
                              <a:sym typeface="Calibri"/>
                            </a:rPr>
                          </m:ctrlPr>
                        </m:sSubPr>
                        <m:e>
                          <m:r>
                            <a:rPr kumimoji="0" lang="ar-EG" sz="1800" b="0" i="1" u="none" strike="noStrike" kern="0" cap="none" spc="0" normalizeH="0" baseline="0" noProof="0">
                              <a:ln>
                                <a:noFill/>
                              </a:ln>
                              <a:solidFill>
                                <a:srgbClr val="000000"/>
                              </a:solidFill>
                              <a:effectLst/>
                              <a:uLnTx/>
                              <a:uFillTx/>
                              <a:latin typeface="Cambria Math" panose="02040503050406030204" pitchFamily="18" charset="0"/>
                              <a:sym typeface="Calibri"/>
                            </a:rPr>
                            <m:t>𝑠</m:t>
                          </m:r>
                        </m:e>
                        <m:sub>
                          <m:r>
                            <a:rPr kumimoji="0" lang="ar-EG" sz="1800" b="0" i="1" u="none" strike="noStrike" kern="0" cap="none" spc="0" normalizeH="0" baseline="0" noProof="0">
                              <a:ln>
                                <a:noFill/>
                              </a:ln>
                              <a:solidFill>
                                <a:srgbClr val="000000"/>
                              </a:solidFill>
                              <a:effectLst/>
                              <a:uLnTx/>
                              <a:uFillTx/>
                              <a:latin typeface="Cambria Math" panose="02040503050406030204" pitchFamily="18" charset="0"/>
                              <a:sym typeface="Calibri"/>
                            </a:rPr>
                            <m:t>𝑘</m:t>
                          </m:r>
                        </m:sub>
                      </m:sSub>
                      <m:r>
                        <a:rPr kumimoji="0" lang="ar-EG" sz="1800" b="0" i="0" u="none" strike="noStrike" kern="0" cap="none" spc="0" normalizeH="0" baseline="0" noProof="0">
                          <a:ln>
                            <a:noFill/>
                          </a:ln>
                          <a:solidFill>
                            <a:srgbClr val="000000"/>
                          </a:solidFill>
                          <a:effectLst/>
                          <a:uLnTx/>
                          <a:uFillTx/>
                          <a:latin typeface="Cambria Math" panose="02040503050406030204" pitchFamily="18" charset="0"/>
                          <a:sym typeface="Calibri"/>
                        </a:rPr>
                        <m:t>=</m:t>
                      </m:r>
                      <m:r>
                        <a:rPr kumimoji="0" lang="ar-EG" sz="1800" b="0" i="1" u="none" strike="noStrike" kern="0" cap="none" spc="0" normalizeH="0" baseline="0" noProof="0">
                          <a:ln>
                            <a:noFill/>
                          </a:ln>
                          <a:solidFill>
                            <a:srgbClr val="000000"/>
                          </a:solidFill>
                          <a:effectLst/>
                          <a:uLnTx/>
                          <a:uFillTx/>
                          <a:latin typeface="Cambria Math" panose="02040503050406030204" pitchFamily="18" charset="0"/>
                          <a:sym typeface="Calibri"/>
                        </a:rPr>
                        <m:t>𝑥</m:t>
                      </m:r>
                      <m:d>
                        <m:dPr>
                          <m:begChr m:val="["/>
                          <m:endChr m:val="]"/>
                          <m:ctrlPr>
                            <a:rPr kumimoji="0" lang="ar-EG" sz="1800" b="0" i="1" u="none" strike="noStrike" kern="0" cap="none" spc="0" normalizeH="0" baseline="0" noProof="0">
                              <a:ln>
                                <a:noFill/>
                              </a:ln>
                              <a:solidFill>
                                <a:srgbClr val="000000"/>
                              </a:solidFill>
                              <a:effectLst/>
                              <a:uLnTx/>
                              <a:uFillTx/>
                              <a:latin typeface="Cambria Math" panose="02040503050406030204" pitchFamily="18" charset="0"/>
                              <a:sym typeface="Calibri"/>
                            </a:rPr>
                          </m:ctrlPr>
                        </m:dPr>
                        <m:e>
                          <m:r>
                            <a:rPr kumimoji="0" lang="ar-EG" sz="1800" b="0" i="1" u="none" strike="noStrike" kern="0" cap="none" spc="0" normalizeH="0" baseline="0" noProof="0">
                              <a:ln>
                                <a:noFill/>
                              </a:ln>
                              <a:solidFill>
                                <a:srgbClr val="000000"/>
                              </a:solidFill>
                              <a:effectLst/>
                              <a:uLnTx/>
                              <a:uFillTx/>
                              <a:latin typeface="Cambria Math" panose="02040503050406030204" pitchFamily="18" charset="0"/>
                              <a:sym typeface="Calibri"/>
                            </a:rPr>
                            <m:t>𝑛</m:t>
                          </m:r>
                          <m:r>
                            <a:rPr kumimoji="0" lang="ar-EG" sz="1800" b="0" i="0" u="none" strike="noStrike" kern="0" cap="none" spc="0" normalizeH="0" baseline="0" noProof="0">
                              <a:ln>
                                <a:noFill/>
                              </a:ln>
                              <a:solidFill>
                                <a:srgbClr val="000000"/>
                              </a:solidFill>
                              <a:effectLst/>
                              <a:uLnTx/>
                              <a:uFillTx/>
                              <a:latin typeface="Cambria Math" panose="02040503050406030204" pitchFamily="18" charset="0"/>
                              <a:sym typeface="Calibri"/>
                            </a:rPr>
                            <m:t>−</m:t>
                          </m:r>
                          <m:r>
                            <a:rPr kumimoji="0" lang="ar-EG" sz="1800" b="0" i="1" u="none" strike="noStrike" kern="0" cap="none" spc="0" normalizeH="0" baseline="0" noProof="0">
                              <a:ln>
                                <a:noFill/>
                              </a:ln>
                              <a:solidFill>
                                <a:srgbClr val="000000"/>
                              </a:solidFill>
                              <a:effectLst/>
                              <a:uLnTx/>
                              <a:uFillTx/>
                              <a:latin typeface="Cambria Math" panose="02040503050406030204" pitchFamily="18" charset="0"/>
                              <a:sym typeface="Calibri"/>
                            </a:rPr>
                            <m:t>𝑘</m:t>
                          </m:r>
                        </m:e>
                      </m:d>
                      <m:r>
                        <a:rPr kumimoji="0" lang="ar-EG" sz="1800" b="0" i="0" u="none" strike="noStrike" kern="0" cap="none" spc="0" normalizeH="0" baseline="0" noProof="0">
                          <a:ln>
                            <a:noFill/>
                          </a:ln>
                          <a:solidFill>
                            <a:srgbClr val="000000"/>
                          </a:solidFill>
                          <a:effectLst/>
                          <a:uLnTx/>
                          <a:uFillTx/>
                          <a:latin typeface="Cambria Math" panose="02040503050406030204" pitchFamily="18" charset="0"/>
                          <a:sym typeface="Calibri"/>
                        </a:rPr>
                        <m:t>+</m:t>
                      </m:r>
                      <m:r>
                        <a:rPr kumimoji="0" lang="ar-EG" sz="1800" b="0" i="1" u="none" strike="noStrike" kern="0" cap="none" spc="0" normalizeH="0" baseline="0" noProof="0">
                          <a:ln>
                            <a:noFill/>
                          </a:ln>
                          <a:solidFill>
                            <a:srgbClr val="000000"/>
                          </a:solidFill>
                          <a:effectLst/>
                          <a:uLnTx/>
                          <a:uFillTx/>
                          <a:latin typeface="Cambria Math" panose="02040503050406030204" pitchFamily="18" charset="0"/>
                          <a:sym typeface="Calibri"/>
                        </a:rPr>
                        <m:t>𝑥</m:t>
                      </m:r>
                      <m:d>
                        <m:dPr>
                          <m:begChr m:val="["/>
                          <m:endChr m:val="]"/>
                          <m:ctrlPr>
                            <a:rPr kumimoji="0" lang="ar-EG" sz="1800" b="0" i="1" u="none" strike="noStrike" kern="0" cap="none" spc="0" normalizeH="0" baseline="0" noProof="0">
                              <a:ln>
                                <a:noFill/>
                              </a:ln>
                              <a:solidFill>
                                <a:srgbClr val="000000"/>
                              </a:solidFill>
                              <a:effectLst/>
                              <a:uLnTx/>
                              <a:uFillTx/>
                              <a:latin typeface="Cambria Math" panose="02040503050406030204" pitchFamily="18" charset="0"/>
                              <a:sym typeface="Calibri"/>
                            </a:rPr>
                          </m:ctrlPr>
                        </m:dPr>
                        <m:e>
                          <m:r>
                            <a:rPr kumimoji="0" lang="ar-EG" sz="1800" b="0" i="1" u="none" strike="noStrike" kern="0" cap="none" spc="0" normalizeH="0" baseline="0" noProof="0">
                              <a:ln>
                                <a:noFill/>
                              </a:ln>
                              <a:solidFill>
                                <a:srgbClr val="000000"/>
                              </a:solidFill>
                              <a:effectLst/>
                              <a:uLnTx/>
                              <a:uFillTx/>
                              <a:latin typeface="Cambria Math" panose="02040503050406030204" pitchFamily="18" charset="0"/>
                              <a:sym typeface="Calibri"/>
                            </a:rPr>
                            <m:t>𝑛</m:t>
                          </m:r>
                          <m:r>
                            <a:rPr kumimoji="0" lang="ar-EG" sz="1800" b="0" i="0" u="none" strike="noStrike" kern="0" cap="none" spc="0" normalizeH="0" baseline="0" noProof="0">
                              <a:ln>
                                <a:noFill/>
                              </a:ln>
                              <a:solidFill>
                                <a:srgbClr val="000000"/>
                              </a:solidFill>
                              <a:effectLst/>
                              <a:uLnTx/>
                              <a:uFillTx/>
                              <a:latin typeface="Cambria Math" panose="02040503050406030204" pitchFamily="18" charset="0"/>
                              <a:sym typeface="Calibri"/>
                            </a:rPr>
                            <m:t>−</m:t>
                          </m:r>
                          <m:d>
                            <m:dPr>
                              <m:ctrlPr>
                                <a:rPr kumimoji="0" lang="ar-EG" sz="1800" b="0" i="1" u="none" strike="noStrike" kern="0" cap="none" spc="0" normalizeH="0" baseline="0" noProof="0">
                                  <a:ln>
                                    <a:noFill/>
                                  </a:ln>
                                  <a:solidFill>
                                    <a:srgbClr val="000000"/>
                                  </a:solidFill>
                                  <a:effectLst/>
                                  <a:uLnTx/>
                                  <a:uFillTx/>
                                  <a:latin typeface="Cambria Math" panose="02040503050406030204" pitchFamily="18" charset="0"/>
                                  <a:sym typeface="Calibri"/>
                                </a:rPr>
                              </m:ctrlPr>
                            </m:dPr>
                            <m:e>
                              <m:r>
                                <a:rPr kumimoji="0" lang="ar-EG" sz="1800" b="0" i="1" u="none" strike="noStrike" kern="0" cap="none" spc="0" normalizeH="0" baseline="0" noProof="0">
                                  <a:ln>
                                    <a:noFill/>
                                  </a:ln>
                                  <a:solidFill>
                                    <a:srgbClr val="000000"/>
                                  </a:solidFill>
                                  <a:effectLst/>
                                  <a:uLnTx/>
                                  <a:uFillTx/>
                                  <a:latin typeface="Cambria Math" panose="02040503050406030204" pitchFamily="18" charset="0"/>
                                  <a:sym typeface="Calibri"/>
                                </a:rPr>
                                <m:t>𝑁</m:t>
                              </m:r>
                              <m:r>
                                <a:rPr kumimoji="0" lang="ar-EG" sz="1800" b="0" i="0" u="none" strike="noStrike" kern="0" cap="none" spc="0" normalizeH="0" baseline="0" noProof="0">
                                  <a:ln>
                                    <a:noFill/>
                                  </a:ln>
                                  <a:solidFill>
                                    <a:srgbClr val="000000"/>
                                  </a:solidFill>
                                  <a:effectLst/>
                                  <a:uLnTx/>
                                  <a:uFillTx/>
                                  <a:latin typeface="Cambria Math" panose="02040503050406030204" pitchFamily="18" charset="0"/>
                                  <a:sym typeface="Calibri"/>
                                </a:rPr>
                                <m:t>−</m:t>
                              </m:r>
                              <m:r>
                                <a:rPr kumimoji="0" lang="ar-EG" sz="1800" b="0" i="0" u="none" strike="noStrike" kern="0" cap="none" spc="0" normalizeH="0" baseline="0" noProof="0">
                                  <a:ln>
                                    <a:noFill/>
                                  </a:ln>
                                  <a:solidFill>
                                    <a:srgbClr val="000000"/>
                                  </a:solidFill>
                                  <a:effectLst/>
                                  <a:uLnTx/>
                                  <a:uFillTx/>
                                  <a:latin typeface="Cambria Math" panose="02040503050406030204" pitchFamily="18" charset="0"/>
                                  <a:sym typeface="Calibri"/>
                                </a:rPr>
                                <m:t>1</m:t>
                              </m:r>
                              <m:r>
                                <a:rPr kumimoji="0" lang="ar-EG" sz="1800" b="0" i="0" u="none" strike="noStrike" kern="0" cap="none" spc="0" normalizeH="0" baseline="0" noProof="0">
                                  <a:ln>
                                    <a:noFill/>
                                  </a:ln>
                                  <a:solidFill>
                                    <a:srgbClr val="000000"/>
                                  </a:solidFill>
                                  <a:effectLst/>
                                  <a:uLnTx/>
                                  <a:uFillTx/>
                                  <a:latin typeface="Cambria Math" panose="02040503050406030204" pitchFamily="18" charset="0"/>
                                  <a:sym typeface="Calibri"/>
                                </a:rPr>
                                <m:t>−</m:t>
                              </m:r>
                              <m:r>
                                <a:rPr kumimoji="0" lang="ar-EG" sz="1800" b="0" i="1" u="none" strike="noStrike" kern="0" cap="none" spc="0" normalizeH="0" baseline="0" noProof="0">
                                  <a:ln>
                                    <a:noFill/>
                                  </a:ln>
                                  <a:solidFill>
                                    <a:srgbClr val="000000"/>
                                  </a:solidFill>
                                  <a:effectLst/>
                                  <a:uLnTx/>
                                  <a:uFillTx/>
                                  <a:latin typeface="Cambria Math" panose="02040503050406030204" pitchFamily="18" charset="0"/>
                                  <a:sym typeface="Calibri"/>
                                </a:rPr>
                                <m:t>𝑘</m:t>
                              </m:r>
                            </m:e>
                          </m:d>
                        </m:e>
                      </m:d>
                    </m:oMath>
                  </m:oMathPara>
                </a14:m>
                <a:endParaRPr kumimoji="0" lang="en-US" sz="18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Calibri"/>
                </a:endParaRPr>
              </a:p>
              <a:p>
                <a:pPr marL="457200" marR="0" lvl="0" indent="-381000" algn="l" defTabSz="914400" rtl="0" eaLnBrk="1" fontAlgn="auto" latinLnBrk="0" hangingPunct="1">
                  <a:lnSpc>
                    <a:spcPct val="100000"/>
                  </a:lnSpc>
                  <a:spcBef>
                    <a:spcPts val="480"/>
                  </a:spcBef>
                  <a:spcAft>
                    <a:spcPts val="0"/>
                  </a:spcAft>
                  <a:buClr>
                    <a:srgbClr val="000000"/>
                  </a:buClr>
                  <a:buSzPts val="2400"/>
                  <a:buFont typeface="Arial"/>
                  <a:buChar char="•"/>
                  <a:tabLst/>
                  <a:defRPr/>
                </a:pPr>
                <a:r>
                  <a:rPr kumimoji="0" lang="en-US" sz="18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Calibri"/>
                  </a:rPr>
                  <a:t>With NRZ input </a:t>
                </a:r>
                <a14:m>
                  <m:oMath xmlns:m="http://schemas.openxmlformats.org/officeDocument/2006/math">
                    <m:r>
                      <a:rPr kumimoji="0" lang="en-US" sz="1800" b="0" i="1" u="none" strike="noStrike" kern="0" cap="none" spc="0" normalizeH="0" baseline="0" noProof="0">
                        <a:ln>
                          <a:noFill/>
                        </a:ln>
                        <a:solidFill>
                          <a:srgbClr val="000000"/>
                        </a:solidFill>
                        <a:effectLst/>
                        <a:uLnTx/>
                        <a:uFillTx/>
                        <a:latin typeface="Cambria Math" panose="02040503050406030204" pitchFamily="18" charset="0"/>
                        <a:sym typeface="Calibri"/>
                      </a:rPr>
                      <m:t>𝑥</m:t>
                    </m:r>
                    <m:d>
                      <m:dPr>
                        <m:begChr m:val="["/>
                        <m:endChr m:val="]"/>
                        <m:ctrlPr>
                          <a:rPr kumimoji="0" lang="ar-EG" sz="1800" b="0" i="1" u="none" strike="noStrike" kern="0" cap="none" spc="0" normalizeH="0" baseline="0" noProof="0">
                            <a:ln>
                              <a:noFill/>
                            </a:ln>
                            <a:solidFill>
                              <a:srgbClr val="000000"/>
                            </a:solidFill>
                            <a:effectLst/>
                            <a:uLnTx/>
                            <a:uFillTx/>
                            <a:latin typeface="Cambria Math" panose="02040503050406030204" pitchFamily="18" charset="0"/>
                            <a:sym typeface="Calibri"/>
                          </a:rPr>
                        </m:ctrlPr>
                      </m:dPr>
                      <m:e>
                        <m:r>
                          <a:rPr kumimoji="0" lang="ar-EG" sz="1800" b="0" i="1" u="none" strike="noStrike" kern="0" cap="none" spc="0" normalizeH="0" baseline="0" noProof="0">
                            <a:ln>
                              <a:noFill/>
                            </a:ln>
                            <a:solidFill>
                              <a:srgbClr val="000000"/>
                            </a:solidFill>
                            <a:effectLst/>
                            <a:uLnTx/>
                            <a:uFillTx/>
                            <a:latin typeface="Cambria Math" panose="02040503050406030204" pitchFamily="18" charset="0"/>
                            <a:sym typeface="Calibri"/>
                          </a:rPr>
                          <m:t>𝑛</m:t>
                        </m:r>
                      </m:e>
                    </m:d>
                    <m:r>
                      <a:rPr kumimoji="0" lang="ar-EG" sz="1800" b="0" i="0" u="none" strike="noStrike" kern="0" cap="none" spc="0" normalizeH="0" baseline="0" noProof="0">
                        <a:ln>
                          <a:noFill/>
                        </a:ln>
                        <a:solidFill>
                          <a:srgbClr val="000000"/>
                        </a:solidFill>
                        <a:effectLst/>
                        <a:uLnTx/>
                        <a:uFillTx/>
                        <a:latin typeface="Cambria Math" panose="02040503050406030204" pitchFamily="18" charset="0"/>
                        <a:sym typeface="Calibri"/>
                      </a:rPr>
                      <m:t>∈</m:t>
                    </m:r>
                    <m:d>
                      <m:dPr>
                        <m:begChr m:val="{"/>
                        <m:endChr m:val="}"/>
                        <m:sepChr m:val=","/>
                        <m:ctrlPr>
                          <a:rPr kumimoji="0" lang="ar-EG" sz="1800" b="0" i="1" u="none" strike="noStrike" kern="0" cap="none" spc="0" normalizeH="0" baseline="0" noProof="0">
                            <a:ln>
                              <a:noFill/>
                            </a:ln>
                            <a:solidFill>
                              <a:srgbClr val="000000"/>
                            </a:solidFill>
                            <a:effectLst/>
                            <a:uLnTx/>
                            <a:uFillTx/>
                            <a:latin typeface="Cambria Math" panose="02040503050406030204" pitchFamily="18" charset="0"/>
                            <a:sym typeface="Calibri"/>
                          </a:rPr>
                        </m:ctrlPr>
                      </m:dPr>
                      <m:e>
                        <m:r>
                          <a:rPr kumimoji="0" lang="ar-EG" sz="1800" b="0" i="0" u="none" strike="noStrike" kern="0" cap="none" spc="0" normalizeH="0" baseline="0" noProof="0">
                            <a:ln>
                              <a:noFill/>
                            </a:ln>
                            <a:solidFill>
                              <a:srgbClr val="000000"/>
                            </a:solidFill>
                            <a:effectLst/>
                            <a:uLnTx/>
                            <a:uFillTx/>
                            <a:latin typeface="Cambria Math" panose="02040503050406030204" pitchFamily="18" charset="0"/>
                            <a:sym typeface="Calibri"/>
                          </a:rPr>
                          <m:t>−</m:t>
                        </m:r>
                      </m:e>
                      <m:e>
                        <m:r>
                          <a:rPr kumimoji="0" lang="ar-EG" sz="1800" b="0" i="0" u="none" strike="noStrike" kern="0" cap="none" spc="0" normalizeH="0" baseline="0" noProof="0">
                            <a:ln>
                              <a:noFill/>
                            </a:ln>
                            <a:solidFill>
                              <a:srgbClr val="000000"/>
                            </a:solidFill>
                            <a:effectLst/>
                            <a:uLnTx/>
                            <a:uFillTx/>
                            <a:latin typeface="Cambria Math" panose="02040503050406030204" pitchFamily="18" charset="0"/>
                            <a:sym typeface="Calibri"/>
                          </a:rPr>
                          <m:t>1</m:t>
                        </m:r>
                        <m:r>
                          <a:rPr kumimoji="0" lang="ar-EG" sz="1800" b="0" i="0" u="none" strike="noStrike" kern="0" cap="none" spc="0" normalizeH="0" baseline="0" noProof="0">
                            <a:ln>
                              <a:noFill/>
                            </a:ln>
                            <a:solidFill>
                              <a:srgbClr val="000000"/>
                            </a:solidFill>
                            <a:effectLst/>
                            <a:uLnTx/>
                            <a:uFillTx/>
                            <a:latin typeface="Cambria Math" panose="02040503050406030204" pitchFamily="18" charset="0"/>
                            <a:sym typeface="Calibri"/>
                          </a:rPr>
                          <m:t>+</m:t>
                        </m:r>
                        <m:r>
                          <a:rPr kumimoji="0" lang="ar-EG" sz="1800" b="0" i="0" u="none" strike="noStrike" kern="0" cap="none" spc="0" normalizeH="0" baseline="0" noProof="0">
                            <a:ln>
                              <a:noFill/>
                            </a:ln>
                            <a:solidFill>
                              <a:srgbClr val="000000"/>
                            </a:solidFill>
                            <a:effectLst/>
                            <a:uLnTx/>
                            <a:uFillTx/>
                            <a:latin typeface="Cambria Math" panose="02040503050406030204" pitchFamily="18" charset="0"/>
                            <a:sym typeface="Calibri"/>
                          </a:rPr>
                          <m:t>1</m:t>
                        </m:r>
                      </m:e>
                    </m:d>
                  </m:oMath>
                </a14:m>
                <a:r>
                  <a:rPr kumimoji="0" lang="ar-EG" sz="18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Calibri"/>
                  </a:rPr>
                  <a:t>, </a:t>
                </a:r>
                <a:r>
                  <a:rPr kumimoji="0" lang="en-US" sz="18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Calibri"/>
                  </a:rPr>
                  <a:t>the pre-adder output is: </a:t>
                </a:r>
                <a14:m>
                  <m:oMath xmlns:m="http://schemas.openxmlformats.org/officeDocument/2006/math">
                    <m:sSub>
                      <m:sSubPr>
                        <m:ctrlPr>
                          <a:rPr kumimoji="0" lang="ar-EG" sz="1800" b="0" i="1" u="none" strike="noStrike" kern="0" cap="none" spc="0" normalizeH="0" baseline="0" noProof="0">
                            <a:ln>
                              <a:noFill/>
                            </a:ln>
                            <a:solidFill>
                              <a:srgbClr val="000000"/>
                            </a:solidFill>
                            <a:effectLst/>
                            <a:uLnTx/>
                            <a:uFillTx/>
                            <a:latin typeface="Cambria Math" panose="02040503050406030204" pitchFamily="18" charset="0"/>
                            <a:sym typeface="Calibri"/>
                          </a:rPr>
                        </m:ctrlPr>
                      </m:sSubPr>
                      <m:e>
                        <m:r>
                          <a:rPr kumimoji="0" lang="ar-EG" sz="1800" b="0" i="1" u="none" strike="noStrike" kern="0" cap="none" spc="0" normalizeH="0" baseline="0" noProof="0">
                            <a:ln>
                              <a:noFill/>
                            </a:ln>
                            <a:solidFill>
                              <a:srgbClr val="000000"/>
                            </a:solidFill>
                            <a:effectLst/>
                            <a:uLnTx/>
                            <a:uFillTx/>
                            <a:latin typeface="Cambria Math" panose="02040503050406030204" pitchFamily="18" charset="0"/>
                            <a:sym typeface="Calibri"/>
                          </a:rPr>
                          <m:t>𝑠</m:t>
                        </m:r>
                      </m:e>
                      <m:sub>
                        <m:r>
                          <a:rPr kumimoji="0" lang="ar-EG" sz="1800" b="0" i="1" u="none" strike="noStrike" kern="0" cap="none" spc="0" normalizeH="0" baseline="0" noProof="0">
                            <a:ln>
                              <a:noFill/>
                            </a:ln>
                            <a:solidFill>
                              <a:srgbClr val="000000"/>
                            </a:solidFill>
                            <a:effectLst/>
                            <a:uLnTx/>
                            <a:uFillTx/>
                            <a:latin typeface="Cambria Math" panose="02040503050406030204" pitchFamily="18" charset="0"/>
                            <a:sym typeface="Calibri"/>
                          </a:rPr>
                          <m:t>𝑘</m:t>
                        </m:r>
                      </m:sub>
                    </m:sSub>
                    <m:r>
                      <a:rPr kumimoji="0" lang="ar-EG" sz="1800" b="0" i="0" u="none" strike="noStrike" kern="0" cap="none" spc="0" normalizeH="0" baseline="0" noProof="0">
                        <a:ln>
                          <a:noFill/>
                        </a:ln>
                        <a:solidFill>
                          <a:srgbClr val="000000"/>
                        </a:solidFill>
                        <a:effectLst/>
                        <a:uLnTx/>
                        <a:uFillTx/>
                        <a:latin typeface="Cambria Math" panose="02040503050406030204" pitchFamily="18" charset="0"/>
                        <a:sym typeface="Calibri"/>
                      </a:rPr>
                      <m:t>∈</m:t>
                    </m:r>
                    <m:d>
                      <m:dPr>
                        <m:begChr m:val="{"/>
                        <m:endChr m:val="}"/>
                        <m:sepChr m:val=","/>
                        <m:ctrlPr>
                          <a:rPr kumimoji="0" lang="ar-EG" sz="1800" b="0" i="1" u="none" strike="noStrike" kern="0" cap="none" spc="0" normalizeH="0" baseline="0" noProof="0">
                            <a:ln>
                              <a:noFill/>
                            </a:ln>
                            <a:solidFill>
                              <a:srgbClr val="000000"/>
                            </a:solidFill>
                            <a:effectLst/>
                            <a:uLnTx/>
                            <a:uFillTx/>
                            <a:latin typeface="Cambria Math" panose="02040503050406030204" pitchFamily="18" charset="0"/>
                            <a:sym typeface="Calibri"/>
                          </a:rPr>
                        </m:ctrlPr>
                      </m:dPr>
                      <m:e>
                        <m:r>
                          <a:rPr kumimoji="0" lang="ar-EG" sz="1800" b="0" i="0" u="none" strike="noStrike" kern="0" cap="none" spc="0" normalizeH="0" baseline="0" noProof="0">
                            <a:ln>
                              <a:noFill/>
                            </a:ln>
                            <a:solidFill>
                              <a:srgbClr val="000000"/>
                            </a:solidFill>
                            <a:effectLst/>
                            <a:uLnTx/>
                            <a:uFillTx/>
                            <a:latin typeface="Cambria Math" panose="02040503050406030204" pitchFamily="18" charset="0"/>
                            <a:sym typeface="Calibri"/>
                          </a:rPr>
                          <m:t>−</m:t>
                        </m:r>
                      </m:e>
                      <m:e>
                        <m:r>
                          <a:rPr kumimoji="0" lang="ar-EG" sz="1800" b="0" i="0" u="none" strike="noStrike" kern="0" cap="none" spc="0" normalizeH="0" baseline="0" noProof="0">
                            <a:ln>
                              <a:noFill/>
                            </a:ln>
                            <a:solidFill>
                              <a:srgbClr val="000000"/>
                            </a:solidFill>
                            <a:effectLst/>
                            <a:uLnTx/>
                            <a:uFillTx/>
                            <a:latin typeface="Cambria Math" panose="02040503050406030204" pitchFamily="18" charset="0"/>
                            <a:sym typeface="Calibri"/>
                          </a:rPr>
                          <m:t>2</m:t>
                        </m:r>
                      </m:e>
                      <m:e>
                        <m:r>
                          <a:rPr kumimoji="0" lang="ar-EG" sz="1800" b="0" i="0" u="none" strike="noStrike" kern="0" cap="none" spc="0" normalizeH="0" baseline="0" noProof="0">
                            <a:ln>
                              <a:noFill/>
                            </a:ln>
                            <a:solidFill>
                              <a:srgbClr val="000000"/>
                            </a:solidFill>
                            <a:effectLst/>
                            <a:uLnTx/>
                            <a:uFillTx/>
                            <a:latin typeface="Cambria Math" panose="02040503050406030204" pitchFamily="18" charset="0"/>
                            <a:sym typeface="Calibri"/>
                          </a:rPr>
                          <m:t>0</m:t>
                        </m:r>
                        <m:r>
                          <a:rPr kumimoji="0" lang="ar-EG" sz="1800" b="0" i="0" u="none" strike="noStrike" kern="0" cap="none" spc="0" normalizeH="0" baseline="0" noProof="0">
                            <a:ln>
                              <a:noFill/>
                            </a:ln>
                            <a:solidFill>
                              <a:srgbClr val="000000"/>
                            </a:solidFill>
                            <a:effectLst/>
                            <a:uLnTx/>
                            <a:uFillTx/>
                            <a:latin typeface="Cambria Math" panose="02040503050406030204" pitchFamily="18" charset="0"/>
                            <a:sym typeface="Calibri"/>
                          </a:rPr>
                          <m:t>+</m:t>
                        </m:r>
                        <m:r>
                          <a:rPr kumimoji="0" lang="ar-EG" sz="1800" b="0" i="0" u="none" strike="noStrike" kern="0" cap="none" spc="0" normalizeH="0" baseline="0" noProof="0">
                            <a:ln>
                              <a:noFill/>
                            </a:ln>
                            <a:solidFill>
                              <a:srgbClr val="000000"/>
                            </a:solidFill>
                            <a:effectLst/>
                            <a:uLnTx/>
                            <a:uFillTx/>
                            <a:latin typeface="Cambria Math" panose="02040503050406030204" pitchFamily="18" charset="0"/>
                            <a:sym typeface="Calibri"/>
                          </a:rPr>
                          <m:t>2</m:t>
                        </m:r>
                      </m:e>
                    </m:d>
                  </m:oMath>
                </a14:m>
                <a:endParaRPr kumimoji="0" lang="en-US" sz="18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Calibri"/>
                </a:endParaRPr>
              </a:p>
              <a:p>
                <a:pPr marL="457200" marR="0" lvl="0" indent="-381000" algn="l" defTabSz="914400" rtl="0" eaLnBrk="1" fontAlgn="auto" latinLnBrk="0" hangingPunct="1">
                  <a:lnSpc>
                    <a:spcPct val="100000"/>
                  </a:lnSpc>
                  <a:spcBef>
                    <a:spcPts val="480"/>
                  </a:spcBef>
                  <a:spcAft>
                    <a:spcPts val="0"/>
                  </a:spcAft>
                  <a:buClr>
                    <a:srgbClr val="000000"/>
                  </a:buClr>
                  <a:buSzPts val="2400"/>
                  <a:buFont typeface="Arial"/>
                  <a:buChar char="•"/>
                  <a:tabLst/>
                  <a:defRPr/>
                </a:pPr>
                <a:r>
                  <a:rPr kumimoji="0" lang="en-US" sz="18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Calibri"/>
                  </a:rPr>
                  <a:t>so:</a:t>
                </a:r>
                <a14:m>
                  <m:oMath xmlns:m="http://schemas.openxmlformats.org/officeDocument/2006/math">
                    <m:r>
                      <a:rPr kumimoji="0" lang="en-US" sz="1800" b="0" i="0" u="none" strike="noStrike" kern="0" cap="none" spc="0" normalizeH="0" baseline="0" noProof="0" smtClean="0">
                        <a:ln>
                          <a:noFill/>
                        </a:ln>
                        <a:solidFill>
                          <a:srgbClr val="000000"/>
                        </a:solidFill>
                        <a:effectLst/>
                        <a:uLnTx/>
                        <a:uFillTx/>
                        <a:latin typeface="Cambria Math" panose="02040503050406030204" pitchFamily="18" charset="0"/>
                        <a:sym typeface="Calibri"/>
                      </a:rPr>
                      <m:t> </m:t>
                    </m:r>
                    <m:r>
                      <a:rPr kumimoji="0" lang="en-US" sz="1800" b="0" i="1" u="none" strike="noStrike" kern="0" cap="none" spc="0" normalizeH="0" baseline="0" noProof="0">
                        <a:ln>
                          <a:noFill/>
                        </a:ln>
                        <a:solidFill>
                          <a:srgbClr val="000000"/>
                        </a:solidFill>
                        <a:effectLst/>
                        <a:uLnTx/>
                        <a:uFillTx/>
                        <a:latin typeface="Cambria Math" panose="02040503050406030204" pitchFamily="18" charset="0"/>
                        <a:sym typeface="Calibri"/>
                      </a:rPr>
                      <m:t>h</m:t>
                    </m:r>
                    <m:d>
                      <m:dPr>
                        <m:begChr m:val="["/>
                        <m:endChr m:val="]"/>
                        <m:ctrlPr>
                          <a:rPr kumimoji="0" lang="ar-EG" sz="1800" b="0" i="1" u="none" strike="noStrike" kern="0" cap="none" spc="0" normalizeH="0" baseline="0" noProof="0">
                            <a:ln>
                              <a:noFill/>
                            </a:ln>
                            <a:solidFill>
                              <a:srgbClr val="000000"/>
                            </a:solidFill>
                            <a:effectLst/>
                            <a:uLnTx/>
                            <a:uFillTx/>
                            <a:latin typeface="Cambria Math" panose="02040503050406030204" pitchFamily="18" charset="0"/>
                            <a:sym typeface="Calibri"/>
                          </a:rPr>
                        </m:ctrlPr>
                      </m:dPr>
                      <m:e>
                        <m:r>
                          <a:rPr kumimoji="0" lang="ar-EG" sz="1800" b="0" i="1" u="none" strike="noStrike" kern="0" cap="none" spc="0" normalizeH="0" baseline="0" noProof="0">
                            <a:ln>
                              <a:noFill/>
                            </a:ln>
                            <a:solidFill>
                              <a:srgbClr val="000000"/>
                            </a:solidFill>
                            <a:effectLst/>
                            <a:uLnTx/>
                            <a:uFillTx/>
                            <a:latin typeface="Cambria Math" panose="02040503050406030204" pitchFamily="18" charset="0"/>
                            <a:sym typeface="Calibri"/>
                          </a:rPr>
                          <m:t>𝑘</m:t>
                        </m:r>
                      </m:e>
                    </m:d>
                    <m:r>
                      <m:rPr>
                        <m:nor/>
                      </m:rPr>
                      <a:rPr kumimoji="0" lang="ar-EG" sz="1800" b="0" i="1" u="none" strike="noStrike" kern="0" cap="none" spc="0" normalizeH="0" baseline="0" noProof="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Calibri"/>
                      </a:rPr>
                      <m:t> </m:t>
                    </m:r>
                    <m:sSub>
                      <m:sSubPr>
                        <m:ctrlPr>
                          <a:rPr kumimoji="0" lang="ar-EG" sz="1800" b="0" i="1" u="none" strike="noStrike" kern="0" cap="none" spc="0" normalizeH="0" baseline="0" noProof="0">
                            <a:ln>
                              <a:noFill/>
                            </a:ln>
                            <a:solidFill>
                              <a:srgbClr val="000000"/>
                            </a:solidFill>
                            <a:effectLst/>
                            <a:uLnTx/>
                            <a:uFillTx/>
                            <a:latin typeface="Cambria Math" panose="02040503050406030204" pitchFamily="18" charset="0"/>
                            <a:sym typeface="Calibri"/>
                          </a:rPr>
                        </m:ctrlPr>
                      </m:sSubPr>
                      <m:e>
                        <m:r>
                          <a:rPr kumimoji="0" lang="ar-EG" sz="1800" b="0" i="1" u="none" strike="noStrike" kern="0" cap="none" spc="0" normalizeH="0" baseline="0" noProof="0">
                            <a:ln>
                              <a:noFill/>
                            </a:ln>
                            <a:solidFill>
                              <a:srgbClr val="000000"/>
                            </a:solidFill>
                            <a:effectLst/>
                            <a:uLnTx/>
                            <a:uFillTx/>
                            <a:latin typeface="Cambria Math" panose="02040503050406030204" pitchFamily="18" charset="0"/>
                            <a:sym typeface="Calibri"/>
                          </a:rPr>
                          <m:t>𝑠</m:t>
                        </m:r>
                      </m:e>
                      <m:sub>
                        <m:r>
                          <a:rPr kumimoji="0" lang="ar-EG" sz="1800" b="0" i="1" u="none" strike="noStrike" kern="0" cap="none" spc="0" normalizeH="0" baseline="0" noProof="0">
                            <a:ln>
                              <a:noFill/>
                            </a:ln>
                            <a:solidFill>
                              <a:srgbClr val="000000"/>
                            </a:solidFill>
                            <a:effectLst/>
                            <a:uLnTx/>
                            <a:uFillTx/>
                            <a:latin typeface="Cambria Math" panose="02040503050406030204" pitchFamily="18" charset="0"/>
                            <a:sym typeface="Calibri"/>
                          </a:rPr>
                          <m:t>𝑘</m:t>
                        </m:r>
                      </m:sub>
                    </m:sSub>
                    <m:r>
                      <a:rPr kumimoji="0" lang="ar-EG" sz="1800" b="0" i="0" u="none" strike="noStrike" kern="0" cap="none" spc="0" normalizeH="0" baseline="0" noProof="0">
                        <a:ln>
                          <a:noFill/>
                        </a:ln>
                        <a:solidFill>
                          <a:srgbClr val="000000"/>
                        </a:solidFill>
                        <a:effectLst/>
                        <a:uLnTx/>
                        <a:uFillTx/>
                        <a:latin typeface="Cambria Math" panose="02040503050406030204" pitchFamily="18" charset="0"/>
                        <a:sym typeface="Calibri"/>
                      </a:rPr>
                      <m:t>∈</m:t>
                    </m:r>
                    <m:d>
                      <m:dPr>
                        <m:begChr m:val="{"/>
                        <m:endChr m:val="}"/>
                        <m:sepChr m:val=","/>
                        <m:ctrlPr>
                          <a:rPr kumimoji="0" lang="ar-EG" sz="1800" b="0" i="1" u="none" strike="noStrike" kern="0" cap="none" spc="0" normalizeH="0" baseline="0" noProof="0" smtClean="0">
                            <a:ln>
                              <a:noFill/>
                            </a:ln>
                            <a:solidFill>
                              <a:srgbClr val="000000"/>
                            </a:solidFill>
                            <a:effectLst/>
                            <a:uLnTx/>
                            <a:uFillTx/>
                            <a:latin typeface="Cambria Math" panose="02040503050406030204" pitchFamily="18" charset="0"/>
                            <a:sym typeface="Calibri"/>
                          </a:rPr>
                        </m:ctrlPr>
                      </m:dPr>
                      <m:e>
                        <m:r>
                          <a:rPr kumimoji="0" lang="ar-EG" sz="1800" b="0" i="0" u="none" strike="noStrike" kern="0" cap="none" spc="0" normalizeH="0" baseline="0" noProof="0">
                            <a:ln>
                              <a:noFill/>
                            </a:ln>
                            <a:solidFill>
                              <a:srgbClr val="000000"/>
                            </a:solidFill>
                            <a:effectLst/>
                            <a:uLnTx/>
                            <a:uFillTx/>
                            <a:latin typeface="Cambria Math" panose="02040503050406030204" pitchFamily="18" charset="0"/>
                            <a:sym typeface="Calibri"/>
                          </a:rPr>
                          <m:t>−</m:t>
                        </m:r>
                      </m:e>
                      <m:e>
                        <m:r>
                          <a:rPr kumimoji="0" lang="ar-EG" sz="1800" b="0" i="0" u="none" strike="noStrike" kern="0" cap="none" spc="0" normalizeH="0" baseline="0" noProof="0">
                            <a:ln>
                              <a:noFill/>
                            </a:ln>
                            <a:solidFill>
                              <a:srgbClr val="000000"/>
                            </a:solidFill>
                            <a:effectLst/>
                            <a:uLnTx/>
                            <a:uFillTx/>
                            <a:latin typeface="Cambria Math" panose="02040503050406030204" pitchFamily="18" charset="0"/>
                            <a:sym typeface="Calibri"/>
                          </a:rPr>
                          <m:t>2</m:t>
                        </m:r>
                      </m:e>
                      <m:e>
                        <m:r>
                          <a:rPr kumimoji="0" lang="ar-EG" sz="1800" b="0" i="1" u="none" strike="noStrike" kern="0" cap="none" spc="0" normalizeH="0" baseline="0" noProof="0">
                            <a:ln>
                              <a:noFill/>
                            </a:ln>
                            <a:solidFill>
                              <a:srgbClr val="000000"/>
                            </a:solidFill>
                            <a:effectLst/>
                            <a:uLnTx/>
                            <a:uFillTx/>
                            <a:latin typeface="Cambria Math" panose="02040503050406030204" pitchFamily="18" charset="0"/>
                            <a:sym typeface="Calibri"/>
                          </a:rPr>
                          <m:t>h</m:t>
                        </m:r>
                        <m:d>
                          <m:dPr>
                            <m:begChr m:val="["/>
                            <m:endChr m:val="]"/>
                            <m:ctrlPr>
                              <a:rPr kumimoji="0" lang="ar-EG" sz="1800" b="0" i="1" u="none" strike="noStrike" kern="0" cap="none" spc="0" normalizeH="0" baseline="0" noProof="0">
                                <a:ln>
                                  <a:noFill/>
                                </a:ln>
                                <a:solidFill>
                                  <a:srgbClr val="000000"/>
                                </a:solidFill>
                                <a:effectLst/>
                                <a:uLnTx/>
                                <a:uFillTx/>
                                <a:latin typeface="Cambria Math" panose="02040503050406030204" pitchFamily="18" charset="0"/>
                                <a:sym typeface="Calibri"/>
                              </a:rPr>
                            </m:ctrlPr>
                          </m:dPr>
                          <m:e>
                            <m:r>
                              <a:rPr kumimoji="0" lang="ar-EG" sz="1800" b="0" i="1" u="none" strike="noStrike" kern="0" cap="none" spc="0" normalizeH="0" baseline="0" noProof="0">
                                <a:ln>
                                  <a:noFill/>
                                </a:ln>
                                <a:solidFill>
                                  <a:srgbClr val="000000"/>
                                </a:solidFill>
                                <a:effectLst/>
                                <a:uLnTx/>
                                <a:uFillTx/>
                                <a:latin typeface="Cambria Math" panose="02040503050406030204" pitchFamily="18" charset="0"/>
                                <a:sym typeface="Calibri"/>
                              </a:rPr>
                              <m:t>𝑘</m:t>
                            </m:r>
                          </m:e>
                        </m:d>
                        <m:r>
                          <a:rPr kumimoji="0" lang="en-US" sz="1800" b="0" i="0" u="none" strike="noStrike" kern="0" cap="none" spc="0" normalizeH="0" baseline="0" noProof="0" smtClean="0">
                            <a:ln>
                              <a:noFill/>
                            </a:ln>
                            <a:solidFill>
                              <a:srgbClr val="000000"/>
                            </a:solidFill>
                            <a:effectLst/>
                            <a:uLnTx/>
                            <a:uFillTx/>
                            <a:latin typeface="Cambria Math" panose="02040503050406030204" pitchFamily="18" charset="0"/>
                            <a:sym typeface="Calibri"/>
                          </a:rPr>
                          <m:t>,</m:t>
                        </m:r>
                        <m:r>
                          <a:rPr kumimoji="0" lang="ar-EG" sz="1800" b="0" i="0" u="none" strike="noStrike" kern="0" cap="none" spc="0" normalizeH="0" baseline="0" noProof="0">
                            <a:ln>
                              <a:noFill/>
                            </a:ln>
                            <a:solidFill>
                              <a:srgbClr val="000000"/>
                            </a:solidFill>
                            <a:effectLst/>
                            <a:uLnTx/>
                            <a:uFillTx/>
                            <a:latin typeface="Cambria Math" panose="02040503050406030204" pitchFamily="18" charset="0"/>
                            <a:sym typeface="Calibri"/>
                          </a:rPr>
                          <m:t>0</m:t>
                        </m:r>
                        <m:r>
                          <m:rPr>
                            <m:nor/>
                          </m:rPr>
                          <a:rPr kumimoji="0" lang="en-US" sz="1800" b="0" i="1" u="none" strike="noStrike" kern="0" cap="none" spc="0" normalizeH="0" baseline="0" noProof="0" smtClean="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Calibri"/>
                          </a:rPr>
                          <m:t> ,</m:t>
                        </m:r>
                        <m:r>
                          <m:rPr>
                            <m:nor/>
                          </m:rPr>
                          <a:rPr kumimoji="0" lang="ar-EG" sz="1800" b="0" i="1" u="none" strike="noStrike" kern="0" cap="none" spc="0" normalizeH="0" baseline="0" noProof="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Calibri"/>
                          </a:rPr>
                          <m:t> </m:t>
                        </m:r>
                        <m:r>
                          <a:rPr kumimoji="0" lang="ar-EG" sz="1800" b="0" i="0" u="none" strike="noStrike" kern="0" cap="none" spc="0" normalizeH="0" baseline="0" noProof="0">
                            <a:ln>
                              <a:noFill/>
                            </a:ln>
                            <a:solidFill>
                              <a:srgbClr val="000000"/>
                            </a:solidFill>
                            <a:effectLst/>
                            <a:uLnTx/>
                            <a:uFillTx/>
                            <a:latin typeface="Cambria Math" panose="02040503050406030204" pitchFamily="18" charset="0"/>
                            <a:sym typeface="Calibri"/>
                          </a:rPr>
                          <m:t>+</m:t>
                        </m:r>
                        <m:r>
                          <a:rPr kumimoji="0" lang="ar-EG" sz="1800" b="0" i="0" u="none" strike="noStrike" kern="0" cap="none" spc="0" normalizeH="0" baseline="0" noProof="0">
                            <a:ln>
                              <a:noFill/>
                            </a:ln>
                            <a:solidFill>
                              <a:srgbClr val="000000"/>
                            </a:solidFill>
                            <a:effectLst/>
                            <a:uLnTx/>
                            <a:uFillTx/>
                            <a:latin typeface="Cambria Math" panose="02040503050406030204" pitchFamily="18" charset="0"/>
                            <a:sym typeface="Calibri"/>
                          </a:rPr>
                          <m:t>2</m:t>
                        </m:r>
                        <m:r>
                          <a:rPr kumimoji="0" lang="ar-EG" sz="1800" b="0" i="1" u="none" strike="noStrike" kern="0" cap="none" spc="0" normalizeH="0" baseline="0" noProof="0">
                            <a:ln>
                              <a:noFill/>
                            </a:ln>
                            <a:solidFill>
                              <a:srgbClr val="000000"/>
                            </a:solidFill>
                            <a:effectLst/>
                            <a:uLnTx/>
                            <a:uFillTx/>
                            <a:latin typeface="Cambria Math" panose="02040503050406030204" pitchFamily="18" charset="0"/>
                            <a:sym typeface="Calibri"/>
                          </a:rPr>
                          <m:t>h</m:t>
                        </m:r>
                        <m:d>
                          <m:dPr>
                            <m:begChr m:val="["/>
                            <m:endChr m:val="]"/>
                            <m:ctrlPr>
                              <a:rPr kumimoji="0" lang="ar-EG" sz="1800" b="0" i="1" u="none" strike="noStrike" kern="0" cap="none" spc="0" normalizeH="0" baseline="0" noProof="0">
                                <a:ln>
                                  <a:noFill/>
                                </a:ln>
                                <a:solidFill>
                                  <a:srgbClr val="000000"/>
                                </a:solidFill>
                                <a:effectLst/>
                                <a:uLnTx/>
                                <a:uFillTx/>
                                <a:latin typeface="Cambria Math" panose="02040503050406030204" pitchFamily="18" charset="0"/>
                                <a:sym typeface="Calibri"/>
                              </a:rPr>
                            </m:ctrlPr>
                          </m:dPr>
                          <m:e>
                            <m:r>
                              <a:rPr kumimoji="0" lang="ar-EG" sz="1800" b="0" i="1" u="none" strike="noStrike" kern="0" cap="none" spc="0" normalizeH="0" baseline="0" noProof="0">
                                <a:ln>
                                  <a:noFill/>
                                </a:ln>
                                <a:solidFill>
                                  <a:srgbClr val="000000"/>
                                </a:solidFill>
                                <a:effectLst/>
                                <a:uLnTx/>
                                <a:uFillTx/>
                                <a:latin typeface="Cambria Math" panose="02040503050406030204" pitchFamily="18" charset="0"/>
                                <a:sym typeface="Calibri"/>
                              </a:rPr>
                              <m:t>𝑘</m:t>
                            </m:r>
                          </m:e>
                        </m:d>
                      </m:e>
                    </m:d>
                  </m:oMath>
                </a14:m>
                <a:endParaRPr kumimoji="0" lang="en-US" sz="18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Calibri"/>
                </a:endParaRPr>
              </a:p>
              <a:p>
                <a:pPr marL="457200" marR="0" lvl="0" indent="-381000" algn="l" defTabSz="914400" rtl="0" eaLnBrk="1" fontAlgn="auto" latinLnBrk="0" hangingPunct="1">
                  <a:lnSpc>
                    <a:spcPct val="100000"/>
                  </a:lnSpc>
                  <a:spcBef>
                    <a:spcPts val="480"/>
                  </a:spcBef>
                  <a:spcAft>
                    <a:spcPts val="0"/>
                  </a:spcAft>
                  <a:buClr>
                    <a:srgbClr val="000000"/>
                  </a:buClr>
                  <a:buSzPts val="2400"/>
                  <a:buFont typeface="Arial"/>
                  <a:buChar char="•"/>
                  <a:tabLst/>
                  <a:defRPr/>
                </a:pPr>
                <a:r>
                  <a:rPr kumimoji="0" lang="en-US" sz="1800" b="1"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Calibri"/>
                  </a:rPr>
                  <a:t>Multiplier replacement:</a:t>
                </a:r>
                <a:r>
                  <a:rPr kumimoji="0" lang="en-US" sz="18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Calibri"/>
                  </a:rPr>
                  <a:t> Implement this with a small </a:t>
                </a:r>
                <a:r>
                  <a:rPr kumimoji="0" lang="en-US" sz="1800" b="1"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Calibri"/>
                  </a:rPr>
                  <a:t>decode +MUX</a:t>
                </a:r>
                <a:r>
                  <a:rPr kumimoji="0" lang="en-US" sz="18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Calibri"/>
                  </a:rPr>
                  <a:t>: generate </a:t>
                </a:r>
                <a14:m>
                  <m:oMath xmlns:m="http://schemas.openxmlformats.org/officeDocument/2006/math">
                    <m:r>
                      <a:rPr kumimoji="0" lang="en-US" sz="1800" b="0" i="0" u="none" strike="noStrike" kern="0" cap="none" spc="0" normalizeH="0" baseline="0" noProof="0">
                        <a:ln>
                          <a:noFill/>
                        </a:ln>
                        <a:solidFill>
                          <a:srgbClr val="000000"/>
                        </a:solidFill>
                        <a:effectLst/>
                        <a:uLnTx/>
                        <a:uFillTx/>
                        <a:latin typeface="Cambria Math" panose="02040503050406030204" pitchFamily="18" charset="0"/>
                        <a:sym typeface="Calibri"/>
                      </a:rPr>
                      <m:t>+</m:t>
                    </m:r>
                    <m:r>
                      <a:rPr kumimoji="0" lang="en-US" sz="1800" b="0" i="0" u="none" strike="noStrike" kern="0" cap="none" spc="0" normalizeH="0" baseline="0" noProof="0">
                        <a:ln>
                          <a:noFill/>
                        </a:ln>
                        <a:solidFill>
                          <a:srgbClr val="000000"/>
                        </a:solidFill>
                        <a:effectLst/>
                        <a:uLnTx/>
                        <a:uFillTx/>
                        <a:latin typeface="Cambria Math" panose="02040503050406030204" pitchFamily="18" charset="0"/>
                        <a:sym typeface="Calibri"/>
                      </a:rPr>
                      <m:t>2</m:t>
                    </m:r>
                    <m:r>
                      <a:rPr kumimoji="0" lang="en-US" sz="1800" b="0" i="1" u="none" strike="noStrike" kern="0" cap="none" spc="0" normalizeH="0" baseline="0" noProof="0">
                        <a:ln>
                          <a:noFill/>
                        </a:ln>
                        <a:solidFill>
                          <a:srgbClr val="000000"/>
                        </a:solidFill>
                        <a:effectLst/>
                        <a:uLnTx/>
                        <a:uFillTx/>
                        <a:latin typeface="Cambria Math" panose="02040503050406030204" pitchFamily="18" charset="0"/>
                        <a:sym typeface="Calibri"/>
                      </a:rPr>
                      <m:t>h</m:t>
                    </m:r>
                    <m:d>
                      <m:dPr>
                        <m:begChr m:val="["/>
                        <m:endChr m:val="]"/>
                        <m:ctrlPr>
                          <a:rPr kumimoji="0" lang="ar-EG" sz="1800" b="0" i="1" u="none" strike="noStrike" kern="0" cap="none" spc="0" normalizeH="0" baseline="0" noProof="0">
                            <a:ln>
                              <a:noFill/>
                            </a:ln>
                            <a:solidFill>
                              <a:srgbClr val="000000"/>
                            </a:solidFill>
                            <a:effectLst/>
                            <a:uLnTx/>
                            <a:uFillTx/>
                            <a:latin typeface="Cambria Math" panose="02040503050406030204" pitchFamily="18" charset="0"/>
                            <a:sym typeface="Calibri"/>
                          </a:rPr>
                        </m:ctrlPr>
                      </m:dPr>
                      <m:e>
                        <m:r>
                          <a:rPr kumimoji="0" lang="ar-EG" sz="1800" b="0" i="1" u="none" strike="noStrike" kern="0" cap="none" spc="0" normalizeH="0" baseline="0" noProof="0">
                            <a:ln>
                              <a:noFill/>
                            </a:ln>
                            <a:solidFill>
                              <a:srgbClr val="000000"/>
                            </a:solidFill>
                            <a:effectLst/>
                            <a:uLnTx/>
                            <a:uFillTx/>
                            <a:latin typeface="Cambria Math" panose="02040503050406030204" pitchFamily="18" charset="0"/>
                            <a:sym typeface="Calibri"/>
                          </a:rPr>
                          <m:t>𝑘</m:t>
                        </m:r>
                      </m:e>
                    </m:d>
                  </m:oMath>
                </a14:m>
                <a:r>
                  <a:rPr kumimoji="0" lang="en-US" sz="18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Calibri"/>
                  </a:rPr>
                  <a:t>by a </a:t>
                </a:r>
                <a:r>
                  <a:rPr kumimoji="0" lang="en-US" sz="1800" b="1"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Calibri"/>
                  </a:rPr>
                  <a:t>left shift (×2)</a:t>
                </a:r>
                <a:r>
                  <a:rPr kumimoji="0" lang="en-US" sz="18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Calibri"/>
                  </a:rPr>
                  <a:t>, generate </a:t>
                </a:r>
                <a14:m>
                  <m:oMath xmlns:m="http://schemas.openxmlformats.org/officeDocument/2006/math">
                    <m:r>
                      <a:rPr kumimoji="0" lang="en-US" sz="1800" b="0" i="0" u="none" strike="noStrike" kern="0" cap="none" spc="0" normalizeH="0" baseline="0" noProof="0">
                        <a:ln>
                          <a:noFill/>
                        </a:ln>
                        <a:solidFill>
                          <a:srgbClr val="000000"/>
                        </a:solidFill>
                        <a:effectLst/>
                        <a:uLnTx/>
                        <a:uFillTx/>
                        <a:latin typeface="Cambria Math" panose="02040503050406030204" pitchFamily="18" charset="0"/>
                        <a:sym typeface="Calibri"/>
                      </a:rPr>
                      <m:t>−</m:t>
                    </m:r>
                    <m:r>
                      <a:rPr kumimoji="0" lang="en-US" sz="1800" b="0" i="0" u="none" strike="noStrike" kern="0" cap="none" spc="0" normalizeH="0" baseline="0" noProof="0">
                        <a:ln>
                          <a:noFill/>
                        </a:ln>
                        <a:solidFill>
                          <a:srgbClr val="000000"/>
                        </a:solidFill>
                        <a:effectLst/>
                        <a:uLnTx/>
                        <a:uFillTx/>
                        <a:latin typeface="Cambria Math" panose="02040503050406030204" pitchFamily="18" charset="0"/>
                        <a:sym typeface="Calibri"/>
                      </a:rPr>
                      <m:t>2</m:t>
                    </m:r>
                    <m:r>
                      <a:rPr kumimoji="0" lang="en-US" sz="1800" b="0" i="1" u="none" strike="noStrike" kern="0" cap="none" spc="0" normalizeH="0" baseline="0" noProof="0">
                        <a:ln>
                          <a:noFill/>
                        </a:ln>
                        <a:solidFill>
                          <a:srgbClr val="000000"/>
                        </a:solidFill>
                        <a:effectLst/>
                        <a:uLnTx/>
                        <a:uFillTx/>
                        <a:latin typeface="Cambria Math" panose="02040503050406030204" pitchFamily="18" charset="0"/>
                        <a:sym typeface="Calibri"/>
                      </a:rPr>
                      <m:t>h</m:t>
                    </m:r>
                    <m:d>
                      <m:dPr>
                        <m:begChr m:val="["/>
                        <m:endChr m:val="]"/>
                        <m:ctrlPr>
                          <a:rPr kumimoji="0" lang="ar-EG" sz="1800" b="0" i="1" u="none" strike="noStrike" kern="0" cap="none" spc="0" normalizeH="0" baseline="0" noProof="0">
                            <a:ln>
                              <a:noFill/>
                            </a:ln>
                            <a:solidFill>
                              <a:srgbClr val="000000"/>
                            </a:solidFill>
                            <a:effectLst/>
                            <a:uLnTx/>
                            <a:uFillTx/>
                            <a:latin typeface="Cambria Math" panose="02040503050406030204" pitchFamily="18" charset="0"/>
                            <a:sym typeface="Calibri"/>
                          </a:rPr>
                        </m:ctrlPr>
                      </m:dPr>
                      <m:e>
                        <m:r>
                          <a:rPr kumimoji="0" lang="ar-EG" sz="1800" b="0" i="1" u="none" strike="noStrike" kern="0" cap="none" spc="0" normalizeH="0" baseline="0" noProof="0">
                            <a:ln>
                              <a:noFill/>
                            </a:ln>
                            <a:solidFill>
                              <a:srgbClr val="000000"/>
                            </a:solidFill>
                            <a:effectLst/>
                            <a:uLnTx/>
                            <a:uFillTx/>
                            <a:latin typeface="Cambria Math" panose="02040503050406030204" pitchFamily="18" charset="0"/>
                            <a:sym typeface="Calibri"/>
                          </a:rPr>
                          <m:t>𝑘</m:t>
                        </m:r>
                      </m:e>
                    </m:d>
                  </m:oMath>
                </a14:m>
                <a:r>
                  <a:rPr kumimoji="0" lang="en-US" sz="18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Calibri"/>
                  </a:rPr>
                  <a:t>by </a:t>
                </a:r>
                <a:r>
                  <a:rPr kumimoji="0" lang="en-US" sz="1800" b="1"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Calibri"/>
                  </a:rPr>
                  <a:t>sign inversion/two’s complement</a:t>
                </a:r>
                <a:r>
                  <a:rPr kumimoji="0" lang="en-US" sz="18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Calibri"/>
                  </a:rPr>
                  <a:t>, and select between </a:t>
                </a:r>
                <a14:m>
                  <m:oMath xmlns:m="http://schemas.openxmlformats.org/officeDocument/2006/math">
                    <m:d>
                      <m:dPr>
                        <m:begChr m:val="{"/>
                        <m:endChr m:val="}"/>
                        <m:sepChr m:val=","/>
                        <m:ctrlPr>
                          <a:rPr kumimoji="0" lang="ar-EG" sz="1800" b="0" i="1" u="none" strike="noStrike" kern="0" cap="none" spc="0" normalizeH="0" baseline="0" noProof="0">
                            <a:ln>
                              <a:noFill/>
                            </a:ln>
                            <a:solidFill>
                              <a:srgbClr val="000000"/>
                            </a:solidFill>
                            <a:effectLst/>
                            <a:uLnTx/>
                            <a:uFillTx/>
                            <a:latin typeface="Cambria Math" panose="02040503050406030204" pitchFamily="18" charset="0"/>
                            <a:sym typeface="Calibri"/>
                          </a:rPr>
                        </m:ctrlPr>
                      </m:dPr>
                      <m:e>
                        <m:r>
                          <a:rPr kumimoji="0" lang="ar-EG" sz="1800" b="0" i="0" u="none" strike="noStrike" kern="0" cap="none" spc="0" normalizeH="0" baseline="0" noProof="0">
                            <a:ln>
                              <a:noFill/>
                            </a:ln>
                            <a:solidFill>
                              <a:srgbClr val="000000"/>
                            </a:solidFill>
                            <a:effectLst/>
                            <a:uLnTx/>
                            <a:uFillTx/>
                            <a:latin typeface="Cambria Math" panose="02040503050406030204" pitchFamily="18" charset="0"/>
                            <a:sym typeface="Calibri"/>
                          </a:rPr>
                          <m:t>+</m:t>
                        </m:r>
                      </m:e>
                      <m:e>
                        <m:r>
                          <a:rPr kumimoji="0" lang="ar-EG" sz="1800" b="0" i="0" u="none" strike="noStrike" kern="0" cap="none" spc="0" normalizeH="0" baseline="0" noProof="0">
                            <a:ln>
                              <a:noFill/>
                            </a:ln>
                            <a:solidFill>
                              <a:srgbClr val="000000"/>
                            </a:solidFill>
                            <a:effectLst/>
                            <a:uLnTx/>
                            <a:uFillTx/>
                            <a:latin typeface="Cambria Math" panose="02040503050406030204" pitchFamily="18" charset="0"/>
                            <a:sym typeface="Calibri"/>
                          </a:rPr>
                          <m:t>2</m:t>
                        </m:r>
                      </m:e>
                      <m:e>
                        <m:r>
                          <a:rPr kumimoji="0" lang="ar-EG" sz="1800" b="0" i="1" u="none" strike="noStrike" kern="0" cap="none" spc="0" normalizeH="0" baseline="0" noProof="0">
                            <a:ln>
                              <a:noFill/>
                            </a:ln>
                            <a:solidFill>
                              <a:srgbClr val="000000"/>
                            </a:solidFill>
                            <a:effectLst/>
                            <a:uLnTx/>
                            <a:uFillTx/>
                            <a:latin typeface="Cambria Math" panose="02040503050406030204" pitchFamily="18" charset="0"/>
                            <a:sym typeface="Calibri"/>
                          </a:rPr>
                          <m:t>h</m:t>
                        </m:r>
                        <m:d>
                          <m:dPr>
                            <m:begChr m:val="["/>
                            <m:endChr m:val="]"/>
                            <m:ctrlPr>
                              <a:rPr kumimoji="0" lang="ar-EG" sz="1800" b="0" i="1" u="none" strike="noStrike" kern="0" cap="none" spc="0" normalizeH="0" baseline="0" noProof="0">
                                <a:ln>
                                  <a:noFill/>
                                </a:ln>
                                <a:solidFill>
                                  <a:srgbClr val="000000"/>
                                </a:solidFill>
                                <a:effectLst/>
                                <a:uLnTx/>
                                <a:uFillTx/>
                                <a:latin typeface="Cambria Math" panose="02040503050406030204" pitchFamily="18" charset="0"/>
                                <a:sym typeface="Calibri"/>
                              </a:rPr>
                            </m:ctrlPr>
                          </m:dPr>
                          <m:e>
                            <m:r>
                              <a:rPr kumimoji="0" lang="ar-EG" sz="1800" b="0" i="1" u="none" strike="noStrike" kern="0" cap="none" spc="0" normalizeH="0" baseline="0" noProof="0">
                                <a:ln>
                                  <a:noFill/>
                                </a:ln>
                                <a:solidFill>
                                  <a:srgbClr val="000000"/>
                                </a:solidFill>
                                <a:effectLst/>
                                <a:uLnTx/>
                                <a:uFillTx/>
                                <a:latin typeface="Cambria Math" panose="02040503050406030204" pitchFamily="18" charset="0"/>
                                <a:sym typeface="Calibri"/>
                              </a:rPr>
                              <m:t>𝑘</m:t>
                            </m:r>
                          </m:e>
                        </m:d>
                        <m:r>
                          <a:rPr kumimoji="0" lang="ar-EG" sz="1800" b="0" i="0" u="none" strike="noStrike" kern="0" cap="none" spc="0" normalizeH="0" baseline="0" noProof="0">
                            <a:ln>
                              <a:noFill/>
                            </a:ln>
                            <a:solidFill>
                              <a:srgbClr val="000000"/>
                            </a:solidFill>
                            <a:effectLst/>
                            <a:uLnTx/>
                            <a:uFillTx/>
                            <a:latin typeface="Cambria Math" panose="02040503050406030204" pitchFamily="18" charset="0"/>
                            <a:sym typeface="Calibri"/>
                          </a:rPr>
                          <m:t>0</m:t>
                        </m:r>
                        <m:r>
                          <a:rPr kumimoji="0" lang="ar-EG" sz="1800" b="0" i="0" u="none" strike="noStrike" kern="0" cap="none" spc="0" normalizeH="0" baseline="0" noProof="0">
                            <a:ln>
                              <a:noFill/>
                            </a:ln>
                            <a:solidFill>
                              <a:srgbClr val="000000"/>
                            </a:solidFill>
                            <a:effectLst/>
                            <a:uLnTx/>
                            <a:uFillTx/>
                            <a:latin typeface="Cambria Math" panose="02040503050406030204" pitchFamily="18" charset="0"/>
                            <a:sym typeface="Calibri"/>
                          </a:rPr>
                          <m:t>−</m:t>
                        </m:r>
                        <m:r>
                          <a:rPr kumimoji="0" lang="ar-EG" sz="1800" b="0" i="0" u="none" strike="noStrike" kern="0" cap="none" spc="0" normalizeH="0" baseline="0" noProof="0">
                            <a:ln>
                              <a:noFill/>
                            </a:ln>
                            <a:solidFill>
                              <a:srgbClr val="000000"/>
                            </a:solidFill>
                            <a:effectLst/>
                            <a:uLnTx/>
                            <a:uFillTx/>
                            <a:latin typeface="Cambria Math" panose="02040503050406030204" pitchFamily="18" charset="0"/>
                            <a:sym typeface="Calibri"/>
                          </a:rPr>
                          <m:t>2</m:t>
                        </m:r>
                        <m:r>
                          <a:rPr kumimoji="0" lang="ar-EG" sz="1800" b="0" i="1" u="none" strike="noStrike" kern="0" cap="none" spc="0" normalizeH="0" baseline="0" noProof="0">
                            <a:ln>
                              <a:noFill/>
                            </a:ln>
                            <a:solidFill>
                              <a:srgbClr val="000000"/>
                            </a:solidFill>
                            <a:effectLst/>
                            <a:uLnTx/>
                            <a:uFillTx/>
                            <a:latin typeface="Cambria Math" panose="02040503050406030204" pitchFamily="18" charset="0"/>
                            <a:sym typeface="Calibri"/>
                          </a:rPr>
                          <m:t>h</m:t>
                        </m:r>
                        <m:d>
                          <m:dPr>
                            <m:begChr m:val="["/>
                            <m:endChr m:val="]"/>
                            <m:ctrlPr>
                              <a:rPr kumimoji="0" lang="ar-EG" sz="1800" b="0" i="1" u="none" strike="noStrike" kern="0" cap="none" spc="0" normalizeH="0" baseline="0" noProof="0">
                                <a:ln>
                                  <a:noFill/>
                                </a:ln>
                                <a:solidFill>
                                  <a:srgbClr val="000000"/>
                                </a:solidFill>
                                <a:effectLst/>
                                <a:uLnTx/>
                                <a:uFillTx/>
                                <a:latin typeface="Cambria Math" panose="02040503050406030204" pitchFamily="18" charset="0"/>
                                <a:sym typeface="Calibri"/>
                              </a:rPr>
                            </m:ctrlPr>
                          </m:dPr>
                          <m:e>
                            <m:r>
                              <a:rPr kumimoji="0" lang="ar-EG" sz="1800" b="0" i="1" u="none" strike="noStrike" kern="0" cap="none" spc="0" normalizeH="0" baseline="0" noProof="0">
                                <a:ln>
                                  <a:noFill/>
                                </a:ln>
                                <a:solidFill>
                                  <a:srgbClr val="000000"/>
                                </a:solidFill>
                                <a:effectLst/>
                                <a:uLnTx/>
                                <a:uFillTx/>
                                <a:latin typeface="Cambria Math" panose="02040503050406030204" pitchFamily="18" charset="0"/>
                                <a:sym typeface="Calibri"/>
                              </a:rPr>
                              <m:t>𝑘</m:t>
                            </m:r>
                          </m:e>
                        </m:d>
                      </m:e>
                    </m:d>
                  </m:oMath>
                </a14:m>
                <a:r>
                  <a:rPr kumimoji="0" lang="en-US" sz="18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Calibri"/>
                  </a:rPr>
                  <a:t>based on the decoded value of </a:t>
                </a:r>
                <a14:m>
                  <m:oMath xmlns:m="http://schemas.openxmlformats.org/officeDocument/2006/math">
                    <m:sSub>
                      <m:sSubPr>
                        <m:ctrlPr>
                          <a:rPr kumimoji="0" lang="ar-EG" sz="1800" b="0" i="1" u="none" strike="noStrike" kern="0" cap="none" spc="0" normalizeH="0" baseline="0" noProof="0">
                            <a:ln>
                              <a:noFill/>
                            </a:ln>
                            <a:solidFill>
                              <a:srgbClr val="000000"/>
                            </a:solidFill>
                            <a:effectLst/>
                            <a:uLnTx/>
                            <a:uFillTx/>
                            <a:latin typeface="Cambria Math" panose="02040503050406030204" pitchFamily="18" charset="0"/>
                            <a:sym typeface="Calibri"/>
                          </a:rPr>
                        </m:ctrlPr>
                      </m:sSubPr>
                      <m:e>
                        <m:r>
                          <a:rPr kumimoji="0" lang="ar-EG" sz="1800" b="0" i="1" u="none" strike="noStrike" kern="0" cap="none" spc="0" normalizeH="0" baseline="0" noProof="0">
                            <a:ln>
                              <a:noFill/>
                            </a:ln>
                            <a:solidFill>
                              <a:srgbClr val="000000"/>
                            </a:solidFill>
                            <a:effectLst/>
                            <a:uLnTx/>
                            <a:uFillTx/>
                            <a:latin typeface="Cambria Math" panose="02040503050406030204" pitchFamily="18" charset="0"/>
                            <a:sym typeface="Calibri"/>
                          </a:rPr>
                          <m:t>𝑠</m:t>
                        </m:r>
                      </m:e>
                      <m:sub>
                        <m:r>
                          <a:rPr kumimoji="0" lang="ar-EG" sz="1800" b="0" i="1" u="none" strike="noStrike" kern="0" cap="none" spc="0" normalizeH="0" baseline="0" noProof="0">
                            <a:ln>
                              <a:noFill/>
                            </a:ln>
                            <a:solidFill>
                              <a:srgbClr val="000000"/>
                            </a:solidFill>
                            <a:effectLst/>
                            <a:uLnTx/>
                            <a:uFillTx/>
                            <a:latin typeface="Cambria Math" panose="02040503050406030204" pitchFamily="18" charset="0"/>
                            <a:sym typeface="Calibri"/>
                          </a:rPr>
                          <m:t>𝑘</m:t>
                        </m:r>
                      </m:sub>
                    </m:sSub>
                  </m:oMath>
                </a14:m>
                <a:r>
                  <a:rPr kumimoji="0" lang="ar-EG" sz="18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Calibri"/>
                  </a:rPr>
                  <a:t>.</a:t>
                </a:r>
              </a:p>
              <a:p>
                <a:pPr marL="457200" marR="0" lvl="0" indent="-381000" algn="l" defTabSz="914400" rtl="0" eaLnBrk="1" fontAlgn="auto" latinLnBrk="0" hangingPunct="1">
                  <a:lnSpc>
                    <a:spcPct val="100000"/>
                  </a:lnSpc>
                  <a:spcBef>
                    <a:spcPts val="480"/>
                  </a:spcBef>
                  <a:spcAft>
                    <a:spcPts val="0"/>
                  </a:spcAft>
                  <a:buClr>
                    <a:srgbClr val="000000"/>
                  </a:buClr>
                  <a:buSzPts val="2400"/>
                  <a:buFont typeface="Arial"/>
                  <a:buChar char="•"/>
                  <a:tabLst/>
                  <a:defRPr/>
                </a:pPr>
                <a:endParaRPr kumimoji="0" lang="ar-EG" sz="1800" b="0" i="0" u="none" strike="noStrike" kern="0" cap="none" spc="0" normalizeH="0" baseline="0" noProof="0" dirty="0">
                  <a:ln>
                    <a:noFill/>
                  </a:ln>
                  <a:solidFill>
                    <a:srgbClr val="000000"/>
                  </a:solidFill>
                  <a:effectLst/>
                  <a:uLnTx/>
                  <a:uFillTx/>
                  <a:latin typeface="Calibri"/>
                  <a:ea typeface="Calibri"/>
                  <a:cs typeface="Calibri"/>
                  <a:sym typeface="Calibri"/>
                </a:endParaRPr>
              </a:p>
              <a:p>
                <a:pPr marL="457200" marR="0" lvl="0" indent="-381000" algn="l" defTabSz="914400" rtl="0" eaLnBrk="1" fontAlgn="auto" latinLnBrk="0" hangingPunct="1">
                  <a:lnSpc>
                    <a:spcPct val="100000"/>
                  </a:lnSpc>
                  <a:spcBef>
                    <a:spcPts val="480"/>
                  </a:spcBef>
                  <a:spcAft>
                    <a:spcPts val="0"/>
                  </a:spcAft>
                  <a:buClr>
                    <a:srgbClr val="000000"/>
                  </a:buClr>
                  <a:buSzPts val="2400"/>
                  <a:buFont typeface="Arial"/>
                  <a:buChar char="•"/>
                  <a:tabLst/>
                  <a:defRPr/>
                </a:pPr>
                <a:endParaRPr kumimoji="0" lang="en-US" sz="18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mc:Choice>
        <mc:Fallback xmlns="">
          <p:sp>
            <p:nvSpPr>
              <p:cNvPr id="8" name="Text Placeholder 2">
                <a:extLst>
                  <a:ext uri="{FF2B5EF4-FFF2-40B4-BE49-F238E27FC236}">
                    <a16:creationId xmlns:a16="http://schemas.microsoft.com/office/drawing/2014/main" id="{86E8CE04-7AAE-19FC-674E-B1E94F2359E7}"/>
                  </a:ext>
                </a:extLst>
              </p:cNvPr>
              <p:cNvSpPr txBox="1">
                <a:spLocks noRot="1" noChangeAspect="1" noMove="1" noResize="1" noEditPoints="1" noAdjustHandles="1" noChangeArrowheads="1" noChangeShapeType="1" noTextEdit="1"/>
              </p:cNvSpPr>
              <p:nvPr/>
            </p:nvSpPr>
            <p:spPr>
              <a:xfrm>
                <a:off x="609600" y="1303010"/>
                <a:ext cx="10972800" cy="2357312"/>
              </a:xfrm>
              <a:prstGeom prst="rect">
                <a:avLst/>
              </a:prstGeom>
              <a:blipFill>
                <a:blip r:embed="rId4"/>
                <a:stretch>
                  <a:fillRect l="-56" t="-1554" r="-333" b="-14767"/>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198853208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32B493BC-C498-CF6F-42DF-7FC18387FFAD}"/>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78DE2263-BC9E-47FD-9F36-6A8EEAD4B988}"/>
              </a:ext>
            </a:extLst>
          </p:cNvPr>
          <p:cNvSpPr>
            <a:spLocks noGrp="1"/>
          </p:cNvSpPr>
          <p:nvPr>
            <p:ph type="title"/>
          </p:nvPr>
        </p:nvSpPr>
        <p:spPr/>
        <p:txBody>
          <a:bodyPr/>
          <a:lstStyle/>
          <a:p>
            <a:r>
              <a:rPr lang="en-US" dirty="0">
                <a:latin typeface="+mj-lt"/>
              </a:rPr>
              <a:t>Simulation</a:t>
            </a:r>
            <a:r>
              <a:rPr lang="en-US" sz="3200" dirty="0">
                <a:latin typeface="Times New Roman" panose="02020603050405020304" pitchFamily="18" charset="0"/>
                <a:cs typeface="Times New Roman" panose="02020603050405020304" pitchFamily="18" charset="0"/>
              </a:rPr>
              <a:t> Results</a:t>
            </a:r>
          </a:p>
        </p:txBody>
      </p:sp>
      <p:pic>
        <p:nvPicPr>
          <p:cNvPr id="4" name="Picture 3">
            <a:extLst>
              <a:ext uri="{FF2B5EF4-FFF2-40B4-BE49-F238E27FC236}">
                <a16:creationId xmlns="" xmlns:a16="http://schemas.microsoft.com/office/drawing/2014/main" id="{8D13F8D6-28F6-F31C-F7A1-A3519394B7F2}"/>
              </a:ext>
            </a:extLst>
          </p:cNvPr>
          <p:cNvPicPr>
            <a:picLocks noChangeAspect="1"/>
          </p:cNvPicPr>
          <p:nvPr/>
        </p:nvPicPr>
        <p:blipFill>
          <a:blip r:embed="rId2"/>
          <a:stretch>
            <a:fillRect/>
          </a:stretch>
        </p:blipFill>
        <p:spPr>
          <a:xfrm>
            <a:off x="946151" y="1629008"/>
            <a:ext cx="5278016" cy="3904044"/>
          </a:xfrm>
          <a:prstGeom prst="rect">
            <a:avLst/>
          </a:prstGeom>
        </p:spPr>
      </p:pic>
      <p:pic>
        <p:nvPicPr>
          <p:cNvPr id="5" name="Picture 4">
            <a:extLst>
              <a:ext uri="{FF2B5EF4-FFF2-40B4-BE49-F238E27FC236}">
                <a16:creationId xmlns="" xmlns:a16="http://schemas.microsoft.com/office/drawing/2014/main" id="{50C67A8B-CB58-05E7-7739-26CB545286E4}"/>
              </a:ext>
            </a:extLst>
          </p:cNvPr>
          <p:cNvPicPr>
            <a:picLocks noChangeAspect="1"/>
          </p:cNvPicPr>
          <p:nvPr/>
        </p:nvPicPr>
        <p:blipFill>
          <a:blip r:embed="rId3"/>
          <a:stretch>
            <a:fillRect/>
          </a:stretch>
        </p:blipFill>
        <p:spPr>
          <a:xfrm>
            <a:off x="6419461" y="1629008"/>
            <a:ext cx="4963885" cy="3904044"/>
          </a:xfrm>
          <a:prstGeom prst="rect">
            <a:avLst/>
          </a:prstGeom>
        </p:spPr>
      </p:pic>
    </p:spTree>
    <p:extLst>
      <p:ext uri="{BB962C8B-B14F-4D97-AF65-F5344CB8AC3E}">
        <p14:creationId xmlns:p14="http://schemas.microsoft.com/office/powerpoint/2010/main" val="331808681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DDEAD54-A7E2-D99F-B0C4-BD5B38EC7662}"/>
              </a:ext>
            </a:extLst>
          </p:cNvPr>
          <p:cNvSpPr txBox="1">
            <a:spLocks noGrp="1"/>
          </p:cNvSpPr>
          <p:nvPr>
            <p:ph type="title"/>
          </p:nvPr>
        </p:nvSpPr>
        <p:spPr>
          <a:prstGeom prst="rect">
            <a:avLst/>
          </a:prstGeom>
          <a:noFill/>
          <a:ln>
            <a:noFill/>
          </a:ln>
        </p:spPr>
        <p:txBody>
          <a:bodyPr vert="horz" wrap="square" lIns="91421" tIns="45701" rIns="91421" bIns="45701" anchor="b" anchorCtr="0" compatLnSpc="1">
            <a:normAutofit/>
          </a:bodyPr>
          <a:lstStyle/>
          <a:p>
            <a:pPr lvl="0"/>
            <a:r>
              <a:rPr lang="en-US" dirty="0">
                <a:latin typeface="+mj-lt"/>
              </a:rPr>
              <a:t>Table of content </a:t>
            </a:r>
          </a:p>
        </p:txBody>
      </p:sp>
      <p:sp>
        <p:nvSpPr>
          <p:cNvPr id="3" name="Text Placeholder 2">
            <a:extLst>
              <a:ext uri="{FF2B5EF4-FFF2-40B4-BE49-F238E27FC236}">
                <a16:creationId xmlns="" xmlns:a16="http://schemas.microsoft.com/office/drawing/2014/main" id="{E47CED57-8DC6-4E46-F8F6-724BAA20E96D}"/>
              </a:ext>
            </a:extLst>
          </p:cNvPr>
          <p:cNvSpPr txBox="1">
            <a:spLocks noGrp="1"/>
          </p:cNvSpPr>
          <p:nvPr>
            <p:ph type="body" idx="1"/>
          </p:nvPr>
        </p:nvSpPr>
        <p:spPr/>
        <p:txBody>
          <a:bodyPr>
            <a:noAutofit/>
          </a:bodyPr>
          <a:lstStyle/>
          <a:p>
            <a:pPr lvl="0" indent="-381003">
              <a:spcBef>
                <a:spcPts val="480"/>
              </a:spcBef>
              <a:buSzPts val="2400"/>
            </a:pPr>
            <a:r>
              <a:rPr lang="en-US" b="1" dirty="0"/>
              <a:t>ADPLL Block Diagram</a:t>
            </a:r>
          </a:p>
          <a:p>
            <a:pPr lvl="0" indent="-381003">
              <a:spcBef>
                <a:spcPts val="480"/>
              </a:spcBef>
              <a:buSzPts val="2400"/>
            </a:pPr>
            <a:r>
              <a:rPr lang="en-US" b="1" dirty="0"/>
              <a:t>One point modulation at DCO input</a:t>
            </a:r>
          </a:p>
          <a:p>
            <a:pPr lvl="0" indent="-381003">
              <a:spcBef>
                <a:spcPts val="480"/>
              </a:spcBef>
              <a:buSzPts val="2400"/>
            </a:pPr>
            <a:r>
              <a:rPr lang="en-US" b="1" dirty="0"/>
              <a:t>One point modulation at TDC input </a:t>
            </a:r>
          </a:p>
          <a:p>
            <a:pPr lvl="0" indent="-381003">
              <a:spcBef>
                <a:spcPts val="480"/>
              </a:spcBef>
              <a:buSzPts val="2400"/>
            </a:pPr>
            <a:r>
              <a:rPr lang="en-US" b="1" dirty="0"/>
              <a:t>Two-point modulation</a:t>
            </a:r>
          </a:p>
          <a:p>
            <a:pPr lvl="0" indent="-381003">
              <a:spcBef>
                <a:spcPts val="480"/>
              </a:spcBef>
              <a:buSzPts val="2400"/>
            </a:pPr>
            <a:r>
              <a:rPr lang="en-US" b="1" dirty="0"/>
              <a:t>What is TDC </a:t>
            </a:r>
            <a:endParaRPr lang="en-US" dirty="0"/>
          </a:p>
          <a:p>
            <a:pPr lvl="0" indent="-381003">
              <a:spcBef>
                <a:spcPts val="480"/>
              </a:spcBef>
              <a:buSzPts val="2400"/>
            </a:pPr>
            <a:r>
              <a:rPr lang="en-US" b="1" dirty="0"/>
              <a:t>TDC Block Diagram</a:t>
            </a:r>
          </a:p>
          <a:p>
            <a:pPr lvl="0" indent="-381003">
              <a:spcBef>
                <a:spcPts val="480"/>
              </a:spcBef>
              <a:buSzPts val="2400"/>
            </a:pPr>
            <a:r>
              <a:rPr lang="en-US" b="1" dirty="0"/>
              <a:t>TDC System operation</a:t>
            </a:r>
          </a:p>
          <a:p>
            <a:pPr lvl="0" indent="-381003">
              <a:spcBef>
                <a:spcPts val="480"/>
              </a:spcBef>
              <a:buSzPts val="2400"/>
            </a:pPr>
            <a:r>
              <a:rPr lang="en-US" b="1" dirty="0"/>
              <a:t>Addressing metastability in TDC</a:t>
            </a:r>
          </a:p>
          <a:p>
            <a:pPr lvl="0" indent="-381003">
              <a:spcBef>
                <a:spcPts val="480"/>
              </a:spcBef>
              <a:buSzPts val="2400"/>
            </a:pPr>
            <a:r>
              <a:rPr lang="en-US" b="1" dirty="0"/>
              <a:t>Effect of retiming </a:t>
            </a:r>
          </a:p>
          <a:p>
            <a:pPr lvl="0" indent="-381003">
              <a:spcBef>
                <a:spcPts val="480"/>
              </a:spcBef>
              <a:buSzPts val="2400"/>
            </a:pPr>
            <a:r>
              <a:rPr lang="en-US" b="1" dirty="0"/>
              <a:t>TDC Within ADPLL</a:t>
            </a:r>
          </a:p>
          <a:p>
            <a:pPr lvl="0" indent="-381003">
              <a:spcBef>
                <a:spcPts val="480"/>
              </a:spcBef>
              <a:buSzPts val="2400"/>
            </a:pPr>
            <a:r>
              <a:rPr lang="en-US" b="1" dirty="0"/>
              <a:t>TDC Core </a:t>
            </a:r>
          </a:p>
          <a:p>
            <a:pPr lvl="0" indent="-381003">
              <a:spcBef>
                <a:spcPts val="480"/>
              </a:spcBef>
              <a:buSzPts val="2400"/>
            </a:pPr>
            <a:r>
              <a:rPr lang="en-US" b="1" dirty="0"/>
              <a:t>Simulation Results</a:t>
            </a:r>
            <a:r>
              <a:rPr lang="en-US" sz="2400" b="1" dirty="0"/>
              <a:t> </a:t>
            </a:r>
          </a:p>
          <a:p>
            <a:pPr lvl="0" indent="-381003">
              <a:spcBef>
                <a:spcPts val="480"/>
              </a:spcBef>
              <a:buSzPts val="2400"/>
            </a:pPr>
            <a:endParaRPr lang="en-US" sz="2800" b="1"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8CD6BEF-B30C-800E-F100-7C08ADF561E0}"/>
              </a:ext>
            </a:extLst>
          </p:cNvPr>
          <p:cNvSpPr txBox="1">
            <a:spLocks noGrp="1"/>
          </p:cNvSpPr>
          <p:nvPr>
            <p:ph type="title"/>
          </p:nvPr>
        </p:nvSpPr>
        <p:spPr>
          <a:prstGeom prst="rect">
            <a:avLst/>
          </a:prstGeom>
          <a:noFill/>
          <a:ln>
            <a:noFill/>
          </a:ln>
        </p:spPr>
        <p:txBody>
          <a:bodyPr vert="horz" wrap="square" lIns="91421" tIns="45701" rIns="91421" bIns="45701" anchor="b" anchorCtr="0" compatLnSpc="1">
            <a:normAutofit/>
          </a:bodyPr>
          <a:lstStyle/>
          <a:p>
            <a:pPr lvl="0"/>
            <a:r>
              <a:rPr lang="en-US" dirty="0">
                <a:latin typeface="+mj-lt"/>
              </a:rPr>
              <a:t>ADPLL Architecture </a:t>
            </a:r>
          </a:p>
        </p:txBody>
      </p:sp>
      <p:pic>
        <p:nvPicPr>
          <p:cNvPr id="4" name="Picture 2" descr="A diagram of a machine&#10;&#10;AI-generated content may be incorrect.">
            <a:extLst>
              <a:ext uri="{FF2B5EF4-FFF2-40B4-BE49-F238E27FC236}">
                <a16:creationId xmlns="" xmlns:a16="http://schemas.microsoft.com/office/drawing/2014/main" id="{576F569B-FF78-1C05-1DB3-29AB1D48342B}"/>
              </a:ext>
            </a:extLst>
          </p:cNvPr>
          <p:cNvPicPr>
            <a:picLocks noChangeAspect="1"/>
          </p:cNvPicPr>
          <p:nvPr/>
        </p:nvPicPr>
        <p:blipFill>
          <a:blip r:embed="rId2"/>
          <a:srcRect t="-71" r="112" b="1732"/>
          <a:stretch>
            <a:fillRect/>
          </a:stretch>
        </p:blipFill>
        <p:spPr>
          <a:xfrm>
            <a:off x="1553208" y="1565763"/>
            <a:ext cx="9085588" cy="4617207"/>
          </a:xfrm>
          <a:prstGeom prst="rect">
            <a:avLst/>
          </a:prstGeom>
          <a:noFill/>
          <a:ln cap="flat">
            <a:noFill/>
          </a:ln>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36EA252-85A6-8DD8-FEF8-BE13299EDF82}"/>
              </a:ext>
            </a:extLst>
          </p:cNvPr>
          <p:cNvSpPr txBox="1">
            <a:spLocks noGrp="1"/>
          </p:cNvSpPr>
          <p:nvPr>
            <p:ph type="title"/>
          </p:nvPr>
        </p:nvSpPr>
        <p:spPr>
          <a:xfrm>
            <a:off x="946151" y="578201"/>
            <a:ext cx="10299700" cy="730762"/>
          </a:xfrm>
          <a:noFill/>
          <a:ln>
            <a:noFill/>
          </a:ln>
        </p:spPr>
        <p:txBody>
          <a:bodyPr vert="horz" wrap="square" lIns="91421" tIns="45701" rIns="91421" bIns="45701" anchor="b" anchorCtr="0" compatLnSpc="1">
            <a:normAutofit/>
          </a:bodyPr>
          <a:lstStyle/>
          <a:p>
            <a:r>
              <a:rPr lang="en-US" dirty="0">
                <a:latin typeface="+mj-lt"/>
              </a:rPr>
              <a:t>ADPLL Linear Model</a:t>
            </a:r>
          </a:p>
        </p:txBody>
      </p:sp>
      <p:pic>
        <p:nvPicPr>
          <p:cNvPr id="4" name="Picture 4" descr="A diagram of a program&#10;&#10;AI-generated content may be incorrect.">
            <a:extLst>
              <a:ext uri="{FF2B5EF4-FFF2-40B4-BE49-F238E27FC236}">
                <a16:creationId xmlns="" xmlns:a16="http://schemas.microsoft.com/office/drawing/2014/main" id="{B4D3C551-CFA1-18D0-3EDF-9EF0EFB29453}"/>
              </a:ext>
            </a:extLst>
          </p:cNvPr>
          <p:cNvPicPr>
            <a:picLocks noChangeAspect="1"/>
          </p:cNvPicPr>
          <p:nvPr/>
        </p:nvPicPr>
        <p:blipFill>
          <a:blip r:embed="rId2"/>
          <a:stretch>
            <a:fillRect/>
          </a:stretch>
        </p:blipFill>
        <p:spPr>
          <a:xfrm>
            <a:off x="489853" y="1496031"/>
            <a:ext cx="11212290" cy="4453777"/>
          </a:xfrm>
          <a:prstGeom prst="rect">
            <a:avLst/>
          </a:prstGeom>
          <a:noFill/>
          <a:ln cap="flat">
            <a:noFill/>
          </a:ln>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89F14DC-ED24-412D-17BF-1D5DAB30CB20}"/>
              </a:ext>
            </a:extLst>
          </p:cNvPr>
          <p:cNvSpPr txBox="1">
            <a:spLocks noGrp="1"/>
          </p:cNvSpPr>
          <p:nvPr>
            <p:ph type="title"/>
          </p:nvPr>
        </p:nvSpPr>
        <p:spPr>
          <a:xfrm>
            <a:off x="946151" y="578201"/>
            <a:ext cx="10299700" cy="730762"/>
          </a:xfrm>
          <a:noFill/>
          <a:ln>
            <a:noFill/>
          </a:ln>
        </p:spPr>
        <p:txBody>
          <a:bodyPr vert="horz" wrap="square" lIns="91421" tIns="45701" rIns="91421" bIns="45701" anchor="b" anchorCtr="0" compatLnSpc="1">
            <a:normAutofit/>
          </a:bodyPr>
          <a:lstStyle/>
          <a:p>
            <a:r>
              <a:rPr lang="en-US" dirty="0">
                <a:latin typeface="+mj-lt"/>
              </a:rPr>
              <a:t>One Point Modulation at Reference Accumulator</a:t>
            </a:r>
          </a:p>
        </p:txBody>
      </p:sp>
      <p:pic>
        <p:nvPicPr>
          <p:cNvPr id="7" name="Picture 9" descr="A diagram of a machine&#10;&#10;AI-generated content may be incorrect.">
            <a:extLst>
              <a:ext uri="{FF2B5EF4-FFF2-40B4-BE49-F238E27FC236}">
                <a16:creationId xmlns="" xmlns:a16="http://schemas.microsoft.com/office/drawing/2014/main" id="{89E7D279-2588-1AFC-8B0D-CD33B2F3EF74}"/>
              </a:ext>
            </a:extLst>
          </p:cNvPr>
          <p:cNvPicPr>
            <a:picLocks noChangeAspect="1"/>
          </p:cNvPicPr>
          <p:nvPr/>
        </p:nvPicPr>
        <p:blipFill>
          <a:blip r:embed="rId2"/>
          <a:stretch>
            <a:fillRect/>
          </a:stretch>
        </p:blipFill>
        <p:spPr>
          <a:xfrm>
            <a:off x="805540" y="1406606"/>
            <a:ext cx="10428512" cy="3692603"/>
          </a:xfrm>
          <a:prstGeom prst="rect">
            <a:avLst/>
          </a:prstGeom>
          <a:noFill/>
          <a:ln cap="flat">
            <a:noFill/>
          </a:ln>
        </p:spPr>
      </p:pic>
      <p:sp>
        <p:nvSpPr>
          <p:cNvPr id="14" name="Text Placeholder 2">
            <a:extLst>
              <a:ext uri="{FF2B5EF4-FFF2-40B4-BE49-F238E27FC236}">
                <a16:creationId xmlns="" xmlns:a16="http://schemas.microsoft.com/office/drawing/2014/main" id="{9D50701E-8F32-792E-1D86-63ECA047A4B5}"/>
              </a:ext>
            </a:extLst>
          </p:cNvPr>
          <p:cNvSpPr txBox="1">
            <a:spLocks noGrp="1"/>
          </p:cNvSpPr>
          <p:nvPr/>
        </p:nvSpPr>
        <p:spPr>
          <a:xfrm>
            <a:off x="805540" y="5670245"/>
            <a:ext cx="11419118" cy="711650"/>
          </a:xfrm>
          <a:prstGeom prst="rect">
            <a:avLst/>
          </a:prstGeom>
          <a:noFill/>
          <a:ln>
            <a:noFill/>
          </a:ln>
        </p:spPr>
        <p:txBody>
          <a:bodyPr vert="horz" wrap="square" lIns="91421" tIns="45701" rIns="91421" bIns="45701" anchor="t" anchorCtr="0" compatLnSpc="1">
            <a:noAutofit/>
          </a:bodyPr>
          <a:lstStyle>
            <a:lvl1pPr marL="457200" marR="0" lvl="0" indent="-355601" algn="l" defTabSz="914400" rtl="0" fontAlgn="auto" hangingPunct="1">
              <a:lnSpc>
                <a:spcPct val="100000"/>
              </a:lnSpc>
              <a:spcBef>
                <a:spcPts val="400"/>
              </a:spcBef>
              <a:spcAft>
                <a:spcPts val="0"/>
              </a:spcAft>
              <a:buClr>
                <a:srgbClr val="000000"/>
              </a:buClr>
              <a:buSzPts val="2000"/>
              <a:buFont typeface="Arial"/>
              <a:buChar char="•"/>
              <a:tabLst/>
              <a:defRPr lang="en-US" sz="2000" b="0" i="0" u="none" strike="noStrike" kern="0" cap="none" spc="0" baseline="0">
                <a:solidFill>
                  <a:srgbClr val="000000"/>
                </a:solidFill>
                <a:uFillTx/>
                <a:latin typeface="Calibri"/>
                <a:ea typeface="Calibri"/>
                <a:cs typeface="Calibri"/>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6196" lvl="0" indent="0">
              <a:spcBef>
                <a:spcPts val="480"/>
              </a:spcBef>
              <a:buNone/>
            </a:pPr>
            <a:r>
              <a:rPr lang="en-US" sz="2400" dirty="0"/>
              <a:t>Modulation Transfer function:                                                    where</a:t>
            </a:r>
          </a:p>
          <a:p>
            <a:pPr marL="76196" lvl="0" indent="0">
              <a:spcBef>
                <a:spcPts val="480"/>
              </a:spcBef>
              <a:buNone/>
            </a:pPr>
            <a:endParaRPr lang="en-US" sz="2400" dirty="0"/>
          </a:p>
          <a:p>
            <a:pPr marL="76196" lvl="0" indent="0">
              <a:spcBef>
                <a:spcPts val="480"/>
              </a:spcBef>
              <a:buNone/>
            </a:pPr>
            <a:endParaRPr lang="en-US" sz="2400" dirty="0"/>
          </a:p>
          <a:p>
            <a:pPr marL="76196" lvl="0" indent="0">
              <a:spcBef>
                <a:spcPts val="480"/>
              </a:spcBef>
              <a:buNone/>
            </a:pPr>
            <a:endParaRPr lang="en-US" sz="2400" dirty="0"/>
          </a:p>
          <a:p>
            <a:pPr marL="76196" lvl="0" indent="0">
              <a:spcBef>
                <a:spcPts val="480"/>
              </a:spcBef>
              <a:buNone/>
            </a:pPr>
            <a:endParaRPr lang="en-US" sz="2400" dirty="0"/>
          </a:p>
          <a:p>
            <a:pPr marL="76196" lvl="0" indent="0">
              <a:spcBef>
                <a:spcPts val="480"/>
              </a:spcBef>
              <a:buNone/>
            </a:pPr>
            <a:endParaRPr lang="en-US" sz="2400" dirty="0"/>
          </a:p>
          <a:p>
            <a:pPr marL="76196" lvl="0" indent="0">
              <a:spcBef>
                <a:spcPts val="480"/>
              </a:spcBef>
              <a:buNone/>
            </a:pPr>
            <a:endParaRPr lang="en-US" sz="2400" dirty="0"/>
          </a:p>
        </p:txBody>
      </p:sp>
      <p:pic>
        <p:nvPicPr>
          <p:cNvPr id="15" name="Picture 14">
            <a:extLst>
              <a:ext uri="{FF2B5EF4-FFF2-40B4-BE49-F238E27FC236}">
                <a16:creationId xmlns="" xmlns:a16="http://schemas.microsoft.com/office/drawing/2014/main" id="{00471C70-6423-C453-514B-257D52D7F818}"/>
              </a:ext>
            </a:extLst>
          </p:cNvPr>
          <p:cNvPicPr>
            <a:picLocks noChangeAspect="1"/>
          </p:cNvPicPr>
          <p:nvPr/>
        </p:nvPicPr>
        <p:blipFill>
          <a:blip r:embed="rId3"/>
          <a:stretch>
            <a:fillRect/>
          </a:stretch>
        </p:blipFill>
        <p:spPr>
          <a:xfrm>
            <a:off x="4708617" y="5653402"/>
            <a:ext cx="3369125" cy="581028"/>
          </a:xfrm>
          <a:prstGeom prst="rect">
            <a:avLst/>
          </a:prstGeom>
          <a:noFill/>
          <a:ln cap="flat">
            <a:noFill/>
          </a:ln>
        </p:spPr>
      </p:pic>
      <p:pic>
        <p:nvPicPr>
          <p:cNvPr id="16" name="Picture 15">
            <a:extLst>
              <a:ext uri="{FF2B5EF4-FFF2-40B4-BE49-F238E27FC236}">
                <a16:creationId xmlns="" xmlns:a16="http://schemas.microsoft.com/office/drawing/2014/main" id="{B3FFFFD3-2401-859C-4F72-4A9DDD4D1A85}"/>
              </a:ext>
            </a:extLst>
          </p:cNvPr>
          <p:cNvPicPr>
            <a:picLocks noChangeAspect="1"/>
          </p:cNvPicPr>
          <p:nvPr/>
        </p:nvPicPr>
        <p:blipFill>
          <a:blip r:embed="rId4"/>
          <a:stretch>
            <a:fillRect/>
          </a:stretch>
        </p:blipFill>
        <p:spPr>
          <a:xfrm>
            <a:off x="9274898" y="5767163"/>
            <a:ext cx="1752603" cy="398687"/>
          </a:xfrm>
          <a:prstGeom prst="rect">
            <a:avLst/>
          </a:prstGeom>
          <a:noFill/>
          <a:ln cap="flat">
            <a:noFill/>
          </a:ln>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F662F8C-B99F-AD46-9A36-E3EA78FAFB66}"/>
              </a:ext>
            </a:extLst>
          </p:cNvPr>
          <p:cNvSpPr txBox="1">
            <a:spLocks noGrp="1"/>
          </p:cNvSpPr>
          <p:nvPr>
            <p:ph type="title"/>
          </p:nvPr>
        </p:nvSpPr>
        <p:spPr>
          <a:xfrm>
            <a:off x="946151" y="578201"/>
            <a:ext cx="10299700" cy="730762"/>
          </a:xfrm>
          <a:noFill/>
          <a:ln>
            <a:noFill/>
          </a:ln>
        </p:spPr>
        <p:txBody>
          <a:bodyPr vert="horz" wrap="square" lIns="91421" tIns="45701" rIns="91421" bIns="45701" anchor="b" anchorCtr="0" compatLnSpc="1">
            <a:normAutofit/>
          </a:bodyPr>
          <a:lstStyle/>
          <a:p>
            <a:r>
              <a:rPr lang="en-US" dirty="0">
                <a:latin typeface="+mj-lt"/>
              </a:rPr>
              <a:t>One Point Modulation at DCO Input</a:t>
            </a:r>
          </a:p>
        </p:txBody>
      </p:sp>
      <p:pic>
        <p:nvPicPr>
          <p:cNvPr id="5" name="Picture 7" descr="A diagram of a program&#10;&#10;AI-generated content may be incorrect.">
            <a:extLst>
              <a:ext uri="{FF2B5EF4-FFF2-40B4-BE49-F238E27FC236}">
                <a16:creationId xmlns="" xmlns:a16="http://schemas.microsoft.com/office/drawing/2014/main" id="{5C87999B-6CE3-D91C-D8B1-439E168FDED7}"/>
              </a:ext>
            </a:extLst>
          </p:cNvPr>
          <p:cNvPicPr>
            <a:picLocks noChangeAspect="1"/>
          </p:cNvPicPr>
          <p:nvPr/>
        </p:nvPicPr>
        <p:blipFill>
          <a:blip r:embed="rId2"/>
          <a:stretch>
            <a:fillRect/>
          </a:stretch>
        </p:blipFill>
        <p:spPr>
          <a:xfrm>
            <a:off x="1687287" y="1377644"/>
            <a:ext cx="9187543" cy="3623739"/>
          </a:xfrm>
          <a:prstGeom prst="rect">
            <a:avLst/>
          </a:prstGeom>
          <a:noFill/>
          <a:ln cap="flat">
            <a:noFill/>
          </a:ln>
        </p:spPr>
      </p:pic>
      <p:pic>
        <p:nvPicPr>
          <p:cNvPr id="6" name="Picture 8">
            <a:extLst>
              <a:ext uri="{FF2B5EF4-FFF2-40B4-BE49-F238E27FC236}">
                <a16:creationId xmlns="" xmlns:a16="http://schemas.microsoft.com/office/drawing/2014/main" id="{428D4F62-C7D8-2606-11B4-3EE2CEE729AD}"/>
              </a:ext>
            </a:extLst>
          </p:cNvPr>
          <p:cNvPicPr>
            <a:picLocks noChangeAspect="1"/>
          </p:cNvPicPr>
          <p:nvPr/>
        </p:nvPicPr>
        <p:blipFill>
          <a:blip r:embed="rId3"/>
          <a:stretch>
            <a:fillRect/>
          </a:stretch>
        </p:blipFill>
        <p:spPr>
          <a:xfrm>
            <a:off x="4652283" y="5338611"/>
            <a:ext cx="3257550" cy="714375"/>
          </a:xfrm>
          <a:prstGeom prst="rect">
            <a:avLst/>
          </a:prstGeom>
          <a:noFill/>
          <a:ln cap="flat">
            <a:noFill/>
          </a:ln>
        </p:spPr>
      </p:pic>
      <p:pic>
        <p:nvPicPr>
          <p:cNvPr id="7" name="Picture 12">
            <a:extLst>
              <a:ext uri="{FF2B5EF4-FFF2-40B4-BE49-F238E27FC236}">
                <a16:creationId xmlns="" xmlns:a16="http://schemas.microsoft.com/office/drawing/2014/main" id="{FB44640E-F4F6-FE24-3A21-BECDC75627E4}"/>
              </a:ext>
            </a:extLst>
          </p:cNvPr>
          <p:cNvPicPr>
            <a:picLocks noChangeAspect="1"/>
          </p:cNvPicPr>
          <p:nvPr/>
        </p:nvPicPr>
        <p:blipFill>
          <a:blip r:embed="rId4"/>
          <a:stretch>
            <a:fillRect/>
          </a:stretch>
        </p:blipFill>
        <p:spPr>
          <a:xfrm>
            <a:off x="9122227" y="5570766"/>
            <a:ext cx="1752603" cy="398687"/>
          </a:xfrm>
          <a:prstGeom prst="rect">
            <a:avLst/>
          </a:prstGeom>
          <a:noFill/>
          <a:ln cap="flat">
            <a:noFill/>
          </a:ln>
        </p:spPr>
      </p:pic>
      <p:sp>
        <p:nvSpPr>
          <p:cNvPr id="18" name="TextBox 17">
            <a:extLst>
              <a:ext uri="{FF2B5EF4-FFF2-40B4-BE49-F238E27FC236}">
                <a16:creationId xmlns="" xmlns:a16="http://schemas.microsoft.com/office/drawing/2014/main" id="{4EAF22FF-B8D3-1DEF-9A2A-22E116A656C4}"/>
              </a:ext>
            </a:extLst>
          </p:cNvPr>
          <p:cNvSpPr txBox="1"/>
          <p:nvPr/>
        </p:nvSpPr>
        <p:spPr>
          <a:xfrm>
            <a:off x="717505" y="5480356"/>
            <a:ext cx="11127106" cy="430887"/>
          </a:xfrm>
          <a:prstGeom prst="rect">
            <a:avLst/>
          </a:prstGeom>
          <a:noFill/>
        </p:spPr>
        <p:txBody>
          <a:bodyPr wrap="square">
            <a:spAutoFit/>
          </a:bodyPr>
          <a:lstStyle/>
          <a:p>
            <a:pPr marL="76196" marR="0" lvl="0" indent="0" algn="l" defTabSz="914400" rtl="0" eaLnBrk="1" fontAlgn="auto" latinLnBrk="0" hangingPunct="1">
              <a:lnSpc>
                <a:spcPct val="100000"/>
              </a:lnSpc>
              <a:spcBef>
                <a:spcPts val="480"/>
              </a:spcBef>
              <a:spcAft>
                <a:spcPts val="0"/>
              </a:spcAft>
              <a:buClr>
                <a:srgbClr val="000000"/>
              </a:buClr>
              <a:buSzPts val="2000"/>
              <a:buFont typeface="Arial"/>
              <a:buNone/>
              <a:tabLst/>
              <a:defRPr/>
            </a:pPr>
            <a:r>
              <a:rPr kumimoji="0" lang="en-US" sz="2200" b="0" i="0" u="none" strike="noStrike" kern="0" cap="none" spc="0" normalizeH="0" baseline="0" noProof="0" dirty="0">
                <a:ln>
                  <a:noFill/>
                </a:ln>
                <a:solidFill>
                  <a:srgbClr val="000000"/>
                </a:solidFill>
                <a:effectLst/>
                <a:uLnTx/>
                <a:uFillTx/>
                <a:latin typeface="Calibri"/>
                <a:ea typeface="Calibri"/>
                <a:cs typeface="Calibri"/>
              </a:rPr>
              <a:t>Modulation Transfer function:                                                               where </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BFF38AF-54BE-CBE6-592D-BF40DB773821}"/>
              </a:ext>
            </a:extLst>
          </p:cNvPr>
          <p:cNvSpPr txBox="1">
            <a:spLocks noGrp="1"/>
          </p:cNvSpPr>
          <p:nvPr>
            <p:ph type="title"/>
          </p:nvPr>
        </p:nvSpPr>
        <p:spPr>
          <a:xfrm>
            <a:off x="946151" y="578201"/>
            <a:ext cx="10299700" cy="730762"/>
          </a:xfrm>
          <a:noFill/>
          <a:ln>
            <a:noFill/>
          </a:ln>
        </p:spPr>
        <p:txBody>
          <a:bodyPr vert="horz" wrap="square" lIns="91421" tIns="45701" rIns="91421" bIns="45701" anchor="b" anchorCtr="0" compatLnSpc="1">
            <a:normAutofit/>
          </a:bodyPr>
          <a:lstStyle/>
          <a:p>
            <a:r>
              <a:rPr lang="en-US" dirty="0">
                <a:latin typeface="+mj-lt"/>
              </a:rPr>
              <a:t>Two Point Modulation</a:t>
            </a:r>
          </a:p>
        </p:txBody>
      </p:sp>
      <p:pic>
        <p:nvPicPr>
          <p:cNvPr id="5" name="Picture 2" descr="A diagram of a program&#10;&#10;AI-generated content may be incorrect.">
            <a:extLst>
              <a:ext uri="{FF2B5EF4-FFF2-40B4-BE49-F238E27FC236}">
                <a16:creationId xmlns="" xmlns:a16="http://schemas.microsoft.com/office/drawing/2014/main" id="{5906923D-4CF8-C663-E807-FA6F98928702}"/>
              </a:ext>
            </a:extLst>
          </p:cNvPr>
          <p:cNvPicPr>
            <a:picLocks noChangeAspect="1"/>
          </p:cNvPicPr>
          <p:nvPr/>
        </p:nvPicPr>
        <p:blipFill>
          <a:blip r:embed="rId2"/>
          <a:stretch>
            <a:fillRect/>
          </a:stretch>
        </p:blipFill>
        <p:spPr>
          <a:xfrm>
            <a:off x="350268" y="1453443"/>
            <a:ext cx="7456712" cy="2722315"/>
          </a:xfrm>
          <a:prstGeom prst="rect">
            <a:avLst/>
          </a:prstGeom>
          <a:noFill/>
          <a:ln cap="flat">
            <a:noFill/>
          </a:ln>
        </p:spPr>
      </p:pic>
      <p:sp>
        <p:nvSpPr>
          <p:cNvPr id="16" name="Text Placeholder 2">
            <a:extLst>
              <a:ext uri="{FF2B5EF4-FFF2-40B4-BE49-F238E27FC236}">
                <a16:creationId xmlns="" xmlns:a16="http://schemas.microsoft.com/office/drawing/2014/main" id="{25930241-2E3F-9683-1730-E0975161A398}"/>
              </a:ext>
            </a:extLst>
          </p:cNvPr>
          <p:cNvSpPr txBox="1">
            <a:spLocks/>
          </p:cNvSpPr>
          <p:nvPr/>
        </p:nvSpPr>
        <p:spPr>
          <a:xfrm>
            <a:off x="7749915" y="1713402"/>
            <a:ext cx="4333222" cy="4924428"/>
          </a:xfrm>
          <a:prstGeom prst="rect">
            <a:avLst/>
          </a:prstGeom>
          <a:noFill/>
          <a:ln>
            <a:noFill/>
          </a:ln>
        </p:spPr>
        <p:txBody>
          <a:bodyPr vert="horz" wrap="square" lIns="91421" tIns="45701" rIns="91421" bIns="45701" anchor="t" anchorCtr="0" compatLnSpc="1">
            <a:noAutofit/>
          </a:bodyPr>
          <a:lstStyle>
            <a:lvl1pPr marL="457200" marR="0" lvl="0" indent="-355601" algn="l" defTabSz="914400" rtl="0" fontAlgn="auto" hangingPunct="1">
              <a:lnSpc>
                <a:spcPct val="100000"/>
              </a:lnSpc>
              <a:spcBef>
                <a:spcPts val="400"/>
              </a:spcBef>
              <a:spcAft>
                <a:spcPts val="0"/>
              </a:spcAft>
              <a:buClr>
                <a:srgbClr val="000000"/>
              </a:buClr>
              <a:buSzPts val="2000"/>
              <a:buFont typeface="Arial"/>
              <a:buChar char="•"/>
              <a:tabLst/>
              <a:defRPr lang="en-US" sz="2000" b="0" i="0" u="none" strike="noStrike" kern="0" cap="none" spc="0" baseline="0">
                <a:solidFill>
                  <a:srgbClr val="000000"/>
                </a:solidFill>
                <a:uFillTx/>
                <a:latin typeface="Calibri"/>
                <a:ea typeface="Calibri"/>
                <a:cs typeface="Calibri"/>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01600" indent="0" defTabSz="914400" eaLnBrk="1" fontAlgn="auto" latinLnBrk="0" hangingPunct="1">
              <a:buClr>
                <a:srgbClr val="5D5D5E"/>
              </a:buClr>
              <a:buNone/>
              <a:tabLst/>
              <a:defRPr/>
            </a:pPr>
            <a:r>
              <a:rPr lang="en-US" sz="2200" dirty="0">
                <a:solidFill>
                  <a:schemeClr val="tx1">
                    <a:lumMod val="85000"/>
                    <a:lumOff val="15000"/>
                  </a:schemeClr>
                </a:solidFill>
                <a:sym typeface="Calibri"/>
              </a:rPr>
              <a:t>Modulation Transfer function:</a:t>
            </a:r>
          </a:p>
          <a:p>
            <a:pPr indent="-355600" defTabSz="914400" eaLnBrk="1" fontAlgn="auto" latinLnBrk="0" hangingPunct="1">
              <a:buClr>
                <a:srgbClr val="5D5D5E"/>
              </a:buClr>
              <a:tabLst/>
              <a:defRPr/>
            </a:pPr>
            <a:endParaRPr lang="en-US" sz="2200" dirty="0">
              <a:solidFill>
                <a:schemeClr val="tx1">
                  <a:lumMod val="85000"/>
                  <a:lumOff val="15000"/>
                </a:schemeClr>
              </a:solidFill>
              <a:sym typeface="Calibri"/>
            </a:endParaRPr>
          </a:p>
          <a:p>
            <a:pPr indent="-355600" defTabSz="914400" eaLnBrk="1" fontAlgn="auto" latinLnBrk="0" hangingPunct="1">
              <a:buClr>
                <a:srgbClr val="5D5D5E"/>
              </a:buClr>
              <a:tabLst/>
              <a:defRPr/>
            </a:pPr>
            <a:endParaRPr lang="en-US" sz="2200" dirty="0">
              <a:solidFill>
                <a:schemeClr val="tx1">
                  <a:lumMod val="85000"/>
                  <a:lumOff val="15000"/>
                </a:schemeClr>
              </a:solidFill>
              <a:sym typeface="Calibri"/>
            </a:endParaRPr>
          </a:p>
          <a:p>
            <a:pPr marL="101600" indent="0" defTabSz="914400" eaLnBrk="1" fontAlgn="auto" latinLnBrk="0" hangingPunct="1">
              <a:buClr>
                <a:srgbClr val="5D5D5E"/>
              </a:buClr>
              <a:buNone/>
              <a:tabLst/>
              <a:defRPr/>
            </a:pPr>
            <a:r>
              <a:rPr lang="en-US" sz="2200" dirty="0">
                <a:solidFill>
                  <a:schemeClr val="tx1">
                    <a:lumMod val="85000"/>
                    <a:lumOff val="15000"/>
                  </a:schemeClr>
                </a:solidFill>
                <a:sym typeface="Calibri"/>
              </a:rPr>
              <a:t>For the case of perfect gain estimation:</a:t>
            </a:r>
          </a:p>
          <a:p>
            <a:pPr indent="-355600" defTabSz="914400" eaLnBrk="1" fontAlgn="auto" latinLnBrk="0" hangingPunct="1">
              <a:buClr>
                <a:srgbClr val="5D5D5E"/>
              </a:buClr>
              <a:tabLst/>
              <a:defRPr/>
            </a:pPr>
            <a:endParaRPr lang="en-US" sz="2200" dirty="0">
              <a:solidFill>
                <a:schemeClr val="tx1">
                  <a:lumMod val="85000"/>
                  <a:lumOff val="15000"/>
                </a:schemeClr>
              </a:solidFill>
              <a:sym typeface="Calibri"/>
            </a:endParaRPr>
          </a:p>
          <a:p>
            <a:pPr indent="-355600" defTabSz="914400" eaLnBrk="1" fontAlgn="auto" latinLnBrk="0" hangingPunct="1">
              <a:buClr>
                <a:srgbClr val="5D5D5E"/>
              </a:buClr>
              <a:tabLst/>
              <a:defRPr/>
            </a:pPr>
            <a:endParaRPr lang="en-US" sz="2200" dirty="0">
              <a:solidFill>
                <a:schemeClr val="tx1">
                  <a:lumMod val="85000"/>
                  <a:lumOff val="15000"/>
                </a:schemeClr>
              </a:solidFill>
              <a:sym typeface="Calibri"/>
            </a:endParaRPr>
          </a:p>
          <a:p>
            <a:pPr marL="101600" indent="0" defTabSz="914400" eaLnBrk="1" fontAlgn="auto" latinLnBrk="0" hangingPunct="1">
              <a:buClr>
                <a:srgbClr val="5D5D5E"/>
              </a:buClr>
              <a:buNone/>
              <a:tabLst/>
              <a:defRPr/>
            </a:pPr>
            <a:r>
              <a:rPr lang="en-US" sz="2200" dirty="0">
                <a:solidFill>
                  <a:schemeClr val="tx1">
                    <a:lumMod val="85000"/>
                    <a:lumOff val="15000"/>
                  </a:schemeClr>
                </a:solidFill>
                <a:sym typeface="Calibri"/>
              </a:rPr>
              <a:t>r = 1 thus the modulation transfer function is:</a:t>
            </a:r>
          </a:p>
          <a:p>
            <a:pPr marL="76196" marR="0" lvl="0" indent="0" algn="l" defTabSz="914400" rtl="0" eaLnBrk="1" fontAlgn="auto" latinLnBrk="0" hangingPunct="1">
              <a:lnSpc>
                <a:spcPct val="100000"/>
              </a:lnSpc>
              <a:spcBef>
                <a:spcPts val="480"/>
              </a:spcBef>
              <a:spcAft>
                <a:spcPts val="0"/>
              </a:spcAft>
              <a:buClr>
                <a:srgbClr val="000000"/>
              </a:buClr>
              <a:buSzPts val="2000"/>
              <a:buFont typeface="Arial"/>
              <a:buNone/>
              <a:tabLst/>
              <a:defRPr/>
            </a:pPr>
            <a:endParaRPr kumimoji="0" lang="en-US" sz="2400" b="0" i="0" u="none" strike="noStrike" kern="0" cap="none" spc="0" normalizeH="0" baseline="0" noProof="0" dirty="0">
              <a:ln>
                <a:noFill/>
              </a:ln>
              <a:solidFill>
                <a:srgbClr val="000000"/>
              </a:solidFill>
              <a:effectLst/>
              <a:uLnTx/>
              <a:uFillTx/>
              <a:latin typeface="Calibri"/>
              <a:ea typeface="Calibri"/>
              <a:cs typeface="Calibri"/>
            </a:endParaRPr>
          </a:p>
          <a:p>
            <a:pPr marL="76196" marR="0" lvl="0" indent="0" algn="l" defTabSz="914400" rtl="0" eaLnBrk="1" fontAlgn="auto" latinLnBrk="0" hangingPunct="1">
              <a:lnSpc>
                <a:spcPct val="100000"/>
              </a:lnSpc>
              <a:spcBef>
                <a:spcPts val="480"/>
              </a:spcBef>
              <a:spcAft>
                <a:spcPts val="0"/>
              </a:spcAft>
              <a:buClr>
                <a:srgbClr val="000000"/>
              </a:buClr>
              <a:buSzPts val="2000"/>
              <a:buFont typeface="Arial"/>
              <a:buNone/>
              <a:tabLst/>
              <a:defRPr/>
            </a:pPr>
            <a:endParaRPr kumimoji="0" lang="en-US" sz="2400" b="0" i="0" u="none" strike="noStrike" kern="0" cap="none" spc="0" normalizeH="0" baseline="0" noProof="0" dirty="0">
              <a:ln>
                <a:noFill/>
              </a:ln>
              <a:solidFill>
                <a:srgbClr val="000000"/>
              </a:solidFill>
              <a:effectLst/>
              <a:uLnTx/>
              <a:uFillTx/>
              <a:latin typeface="Calibri"/>
              <a:ea typeface="Calibri"/>
              <a:cs typeface="Calibri"/>
            </a:endParaRPr>
          </a:p>
          <a:p>
            <a:pPr marL="76196" marR="0" lvl="0" indent="0" algn="l" defTabSz="914400" rtl="0" eaLnBrk="1" fontAlgn="auto" latinLnBrk="0" hangingPunct="1">
              <a:lnSpc>
                <a:spcPct val="100000"/>
              </a:lnSpc>
              <a:spcBef>
                <a:spcPts val="480"/>
              </a:spcBef>
              <a:spcAft>
                <a:spcPts val="0"/>
              </a:spcAft>
              <a:buClr>
                <a:srgbClr val="000000"/>
              </a:buClr>
              <a:buSzPts val="2000"/>
              <a:buFont typeface="Arial"/>
              <a:buNone/>
              <a:tabLst/>
              <a:defRPr/>
            </a:pPr>
            <a:endParaRPr kumimoji="0" lang="en-US" sz="2400" b="0" i="0" u="none" strike="noStrike" kern="0" cap="none" spc="0" normalizeH="0" baseline="0" noProof="0" dirty="0">
              <a:ln>
                <a:noFill/>
              </a:ln>
              <a:solidFill>
                <a:srgbClr val="000000"/>
              </a:solidFill>
              <a:effectLst/>
              <a:uLnTx/>
              <a:uFillTx/>
              <a:latin typeface="Calibri"/>
              <a:ea typeface="Calibri"/>
              <a:cs typeface="Calibri"/>
            </a:endParaRPr>
          </a:p>
          <a:p>
            <a:pPr marL="76196" marR="0" lvl="0" indent="0" algn="l" defTabSz="914400" rtl="0" eaLnBrk="1" fontAlgn="auto" latinLnBrk="0" hangingPunct="1">
              <a:lnSpc>
                <a:spcPct val="100000"/>
              </a:lnSpc>
              <a:spcBef>
                <a:spcPts val="480"/>
              </a:spcBef>
              <a:spcAft>
                <a:spcPts val="0"/>
              </a:spcAft>
              <a:buClr>
                <a:srgbClr val="000000"/>
              </a:buClr>
              <a:buSzPts val="2000"/>
              <a:buFont typeface="Arial"/>
              <a:buNone/>
              <a:tabLst/>
              <a:defRPr/>
            </a:pPr>
            <a:r>
              <a:rPr kumimoji="0" lang="en-US" sz="2400" b="0" i="0" u="none" strike="noStrike" kern="0" cap="none" spc="0" normalizeH="0" baseline="0" noProof="0" dirty="0">
                <a:ln>
                  <a:noFill/>
                </a:ln>
                <a:solidFill>
                  <a:srgbClr val="000000"/>
                </a:solidFill>
                <a:effectLst/>
                <a:uLnTx/>
                <a:uFillTx/>
                <a:latin typeface="Calibri"/>
                <a:ea typeface="Calibri"/>
                <a:cs typeface="Calibri"/>
              </a:rPr>
              <a:t>                                               </a:t>
            </a:r>
          </a:p>
          <a:p>
            <a:pPr marL="76196" marR="0" lvl="0" indent="0" algn="l" defTabSz="914400" rtl="0" eaLnBrk="1" fontAlgn="auto" latinLnBrk="0" hangingPunct="1">
              <a:lnSpc>
                <a:spcPct val="100000"/>
              </a:lnSpc>
              <a:spcBef>
                <a:spcPts val="480"/>
              </a:spcBef>
              <a:spcAft>
                <a:spcPts val="0"/>
              </a:spcAft>
              <a:buClr>
                <a:srgbClr val="000000"/>
              </a:buClr>
              <a:buSzPts val="2000"/>
              <a:buFont typeface="Arial"/>
              <a:buNone/>
              <a:tabLst/>
              <a:defRPr/>
            </a:pPr>
            <a:endParaRPr kumimoji="0" lang="en-US" sz="2400" b="0" i="0" u="none" strike="noStrike" kern="0" cap="none" spc="0" normalizeH="0" baseline="0" noProof="0" dirty="0">
              <a:ln>
                <a:noFill/>
              </a:ln>
              <a:solidFill>
                <a:srgbClr val="000000"/>
              </a:solidFill>
              <a:effectLst/>
              <a:uLnTx/>
              <a:uFillTx/>
              <a:latin typeface="Calibri"/>
              <a:ea typeface="Calibri"/>
              <a:cs typeface="Calibri"/>
            </a:endParaRPr>
          </a:p>
          <a:p>
            <a:pPr marL="76196" marR="0" lvl="0" indent="0" algn="l" defTabSz="914400" rtl="0" eaLnBrk="1" fontAlgn="auto" latinLnBrk="0" hangingPunct="1">
              <a:lnSpc>
                <a:spcPct val="100000"/>
              </a:lnSpc>
              <a:spcBef>
                <a:spcPts val="480"/>
              </a:spcBef>
              <a:spcAft>
                <a:spcPts val="0"/>
              </a:spcAft>
              <a:buClr>
                <a:srgbClr val="000000"/>
              </a:buClr>
              <a:buSzPts val="2000"/>
              <a:buFont typeface="Arial"/>
              <a:buNone/>
              <a:tabLst/>
              <a:defRPr/>
            </a:pPr>
            <a:endParaRPr kumimoji="0" lang="en-US" sz="2400" b="0" i="0" u="none" strike="noStrike" kern="0" cap="none" spc="0" normalizeH="0" baseline="0" noProof="0" dirty="0">
              <a:ln>
                <a:noFill/>
              </a:ln>
              <a:solidFill>
                <a:srgbClr val="000000"/>
              </a:solidFill>
              <a:effectLst/>
              <a:uLnTx/>
              <a:uFillTx/>
              <a:latin typeface="Calibri"/>
              <a:ea typeface="Calibri"/>
              <a:cs typeface="Calibri"/>
            </a:endParaRPr>
          </a:p>
          <a:p>
            <a:pPr marL="76196" marR="0" lvl="0" indent="0" algn="l" defTabSz="914400" rtl="0" eaLnBrk="1" fontAlgn="auto" latinLnBrk="0" hangingPunct="1">
              <a:lnSpc>
                <a:spcPct val="100000"/>
              </a:lnSpc>
              <a:spcBef>
                <a:spcPts val="480"/>
              </a:spcBef>
              <a:spcAft>
                <a:spcPts val="0"/>
              </a:spcAft>
              <a:buClr>
                <a:srgbClr val="000000"/>
              </a:buClr>
              <a:buSzPts val="2000"/>
              <a:buFont typeface="Arial"/>
              <a:buNone/>
              <a:tabLst/>
              <a:defRPr/>
            </a:pPr>
            <a:endParaRPr kumimoji="0" lang="en-US" sz="2400" b="0" i="0" u="none" strike="noStrike" kern="0" cap="none" spc="0" normalizeH="0" baseline="0" noProof="0" dirty="0">
              <a:ln>
                <a:noFill/>
              </a:ln>
              <a:solidFill>
                <a:srgbClr val="000000"/>
              </a:solidFill>
              <a:effectLst/>
              <a:uLnTx/>
              <a:uFillTx/>
              <a:latin typeface="Calibri"/>
              <a:ea typeface="Calibri"/>
              <a:cs typeface="Calibri"/>
            </a:endParaRPr>
          </a:p>
        </p:txBody>
      </p:sp>
      <p:pic>
        <p:nvPicPr>
          <p:cNvPr id="17" name="Picture 9" descr="A math equation with numbers and symbols&#10;&#10;AI-generated content may be incorrect.">
            <a:extLst>
              <a:ext uri="{FF2B5EF4-FFF2-40B4-BE49-F238E27FC236}">
                <a16:creationId xmlns="" xmlns:a16="http://schemas.microsoft.com/office/drawing/2014/main" id="{BB518A4C-F649-D499-E054-4D5FB651565B}"/>
              </a:ext>
            </a:extLst>
          </p:cNvPr>
          <p:cNvPicPr>
            <a:picLocks noChangeAspect="1"/>
          </p:cNvPicPr>
          <p:nvPr/>
        </p:nvPicPr>
        <p:blipFill>
          <a:blip r:embed="rId3"/>
          <a:stretch>
            <a:fillRect/>
          </a:stretch>
        </p:blipFill>
        <p:spPr>
          <a:xfrm>
            <a:off x="7881930" y="5144598"/>
            <a:ext cx="4219571" cy="790571"/>
          </a:xfrm>
          <a:prstGeom prst="rect">
            <a:avLst/>
          </a:prstGeom>
          <a:noFill/>
          <a:ln cap="flat">
            <a:noFill/>
          </a:ln>
        </p:spPr>
      </p:pic>
      <p:pic>
        <p:nvPicPr>
          <p:cNvPr id="18" name="Picture 5" descr="A black and white math equation&#10;&#10;AI-generated content may be incorrect.">
            <a:extLst>
              <a:ext uri="{FF2B5EF4-FFF2-40B4-BE49-F238E27FC236}">
                <a16:creationId xmlns="" xmlns:a16="http://schemas.microsoft.com/office/drawing/2014/main" id="{89439DDA-4C6E-F547-EB3F-9FF5DE0E041C}"/>
              </a:ext>
            </a:extLst>
          </p:cNvPr>
          <p:cNvPicPr>
            <a:picLocks noChangeAspect="1"/>
          </p:cNvPicPr>
          <p:nvPr/>
        </p:nvPicPr>
        <p:blipFill>
          <a:blip r:embed="rId4"/>
          <a:stretch>
            <a:fillRect/>
          </a:stretch>
        </p:blipFill>
        <p:spPr>
          <a:xfrm>
            <a:off x="8701759" y="3699370"/>
            <a:ext cx="1323978" cy="476246"/>
          </a:xfrm>
          <a:prstGeom prst="rect">
            <a:avLst/>
          </a:prstGeom>
          <a:noFill/>
          <a:ln cap="flat">
            <a:noFill/>
          </a:ln>
        </p:spPr>
      </p:pic>
      <p:pic>
        <p:nvPicPr>
          <p:cNvPr id="19" name="Picture 4" descr="A black numbers on a white background&#10;&#10;AI-generated content may be incorrect.">
            <a:extLst>
              <a:ext uri="{FF2B5EF4-FFF2-40B4-BE49-F238E27FC236}">
                <a16:creationId xmlns="" xmlns:a16="http://schemas.microsoft.com/office/drawing/2014/main" id="{3586FB3A-6628-16E0-0433-FDB326D1253A}"/>
              </a:ext>
            </a:extLst>
          </p:cNvPr>
          <p:cNvPicPr>
            <a:picLocks noChangeAspect="1"/>
          </p:cNvPicPr>
          <p:nvPr/>
        </p:nvPicPr>
        <p:blipFill>
          <a:blip r:embed="rId5"/>
          <a:stretch>
            <a:fillRect/>
          </a:stretch>
        </p:blipFill>
        <p:spPr>
          <a:xfrm>
            <a:off x="8469767" y="2222046"/>
            <a:ext cx="3297015" cy="585106"/>
          </a:xfrm>
          <a:prstGeom prst="rect">
            <a:avLst/>
          </a:prstGeom>
          <a:noFill/>
          <a:ln cap="flat">
            <a:noFill/>
          </a:ln>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7" descr="A diagram of a program&#10;&#10;AI-generated content may be incorrect.">
            <a:extLst>
              <a:ext uri="{FF2B5EF4-FFF2-40B4-BE49-F238E27FC236}">
                <a16:creationId xmlns="" xmlns:a16="http://schemas.microsoft.com/office/drawing/2014/main" id="{2598378F-748B-C5D7-BE4A-BDBB450E2808}"/>
              </a:ext>
            </a:extLst>
          </p:cNvPr>
          <p:cNvPicPr>
            <a:picLocks noChangeAspect="1"/>
          </p:cNvPicPr>
          <p:nvPr/>
        </p:nvPicPr>
        <p:blipFill>
          <a:blip r:embed="rId2"/>
          <a:srcRect t="2070" r="103" b="-207"/>
          <a:stretch>
            <a:fillRect/>
          </a:stretch>
        </p:blipFill>
        <p:spPr>
          <a:xfrm>
            <a:off x="1098093" y="849084"/>
            <a:ext cx="10496562" cy="5170520"/>
          </a:xfrm>
          <a:prstGeom prst="rect">
            <a:avLst/>
          </a:prstGeom>
          <a:noFill/>
          <a:ln cap="flat">
            <a:noFill/>
          </a:ln>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D6238AF-5A8D-EFE2-13D5-CA689AEDFA08}"/>
              </a:ext>
            </a:extLst>
          </p:cNvPr>
          <p:cNvSpPr txBox="1">
            <a:spLocks noGrp="1"/>
          </p:cNvSpPr>
          <p:nvPr>
            <p:ph type="title"/>
          </p:nvPr>
        </p:nvSpPr>
        <p:spPr>
          <a:xfrm>
            <a:off x="946151" y="578201"/>
            <a:ext cx="10299700" cy="730762"/>
          </a:xfrm>
          <a:noFill/>
          <a:ln>
            <a:noFill/>
          </a:ln>
        </p:spPr>
        <p:txBody>
          <a:bodyPr vert="horz" wrap="square" lIns="91421" tIns="45701" rIns="91421" bIns="45701" anchor="b" anchorCtr="0" compatLnSpc="1">
            <a:normAutofit/>
          </a:bodyPr>
          <a:lstStyle/>
          <a:p>
            <a:r>
              <a:rPr lang="en-US" dirty="0">
                <a:latin typeface="+mj-lt"/>
              </a:rPr>
              <a:t>TDC Block Diagram &amp; Operation</a:t>
            </a:r>
          </a:p>
        </p:txBody>
      </p:sp>
      <p:sp>
        <p:nvSpPr>
          <p:cNvPr id="3" name="Text Placeholder 2">
            <a:extLst>
              <a:ext uri="{FF2B5EF4-FFF2-40B4-BE49-F238E27FC236}">
                <a16:creationId xmlns="" xmlns:a16="http://schemas.microsoft.com/office/drawing/2014/main" id="{CF8BBAF0-50EB-F8BB-C91B-C414859E1154}"/>
              </a:ext>
            </a:extLst>
          </p:cNvPr>
          <p:cNvSpPr txBox="1">
            <a:spLocks noGrp="1"/>
          </p:cNvSpPr>
          <p:nvPr>
            <p:ph type="body" idx="1"/>
          </p:nvPr>
        </p:nvSpPr>
        <p:spPr>
          <a:xfrm>
            <a:off x="914400" y="1510748"/>
            <a:ext cx="10363200" cy="4984947"/>
          </a:xfrm>
        </p:spPr>
        <p:txBody>
          <a:bodyPr>
            <a:noAutofit/>
          </a:bodyPr>
          <a:lstStyle/>
          <a:p>
            <a:r>
              <a:rPr lang="en-US" sz="2200" b="0" dirty="0">
                <a:solidFill>
                  <a:schemeClr val="tx1">
                    <a:lumMod val="85000"/>
                    <a:lumOff val="15000"/>
                  </a:schemeClr>
                </a:solidFill>
              </a:rPr>
              <a:t>The block diagram of the TDC is shown below:</a:t>
            </a:r>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p:txBody>
      </p:sp>
      <p:pic>
        <p:nvPicPr>
          <p:cNvPr id="5" name="Picture 4" descr="A diagram of a machine&#10;&#10;AI-generated content may be incorrect.">
            <a:extLst>
              <a:ext uri="{FF2B5EF4-FFF2-40B4-BE49-F238E27FC236}">
                <a16:creationId xmlns="" xmlns:a16="http://schemas.microsoft.com/office/drawing/2014/main" id="{60997436-10FE-606D-7309-33C0CAAD5C0C}"/>
              </a:ext>
            </a:extLst>
          </p:cNvPr>
          <p:cNvPicPr>
            <a:picLocks noChangeAspect="1"/>
          </p:cNvPicPr>
          <p:nvPr/>
        </p:nvPicPr>
        <p:blipFill>
          <a:blip r:embed="rId2"/>
          <a:srcRect r="522" b="1247"/>
          <a:stretch>
            <a:fillRect/>
          </a:stretch>
        </p:blipFill>
        <p:spPr>
          <a:xfrm>
            <a:off x="608734" y="2354372"/>
            <a:ext cx="6689174" cy="3298606"/>
          </a:xfrm>
          <a:prstGeom prst="rect">
            <a:avLst/>
          </a:prstGeom>
          <a:noFill/>
          <a:ln cap="flat">
            <a:noFill/>
          </a:ln>
        </p:spPr>
      </p:pic>
      <p:sp>
        <p:nvSpPr>
          <p:cNvPr id="6" name="Text Placeholder 2">
            <a:extLst>
              <a:ext uri="{FF2B5EF4-FFF2-40B4-BE49-F238E27FC236}">
                <a16:creationId xmlns="" xmlns:a16="http://schemas.microsoft.com/office/drawing/2014/main" id="{F7D1EBDC-F40F-FB1C-5E14-ABECE16D53D3}"/>
              </a:ext>
            </a:extLst>
          </p:cNvPr>
          <p:cNvSpPr/>
          <p:nvPr/>
        </p:nvSpPr>
        <p:spPr>
          <a:xfrm>
            <a:off x="7478484" y="1484802"/>
            <a:ext cx="4539346" cy="4586968"/>
          </a:xfrm>
          <a:prstGeom prst="rect">
            <a:avLst/>
          </a:prstGeom>
          <a:noFill/>
          <a:ln cap="flat">
            <a:noFill/>
            <a:prstDash val="solid"/>
          </a:ln>
        </p:spPr>
        <p:txBody>
          <a:bodyPr vert="horz" wrap="square" lIns="91421" tIns="45701" rIns="91421" bIns="45701" anchor="t" anchorCtr="0" compatLnSpc="1">
            <a:noAutofit/>
          </a:bodyPr>
          <a:lstStyle/>
          <a:p>
            <a:pPr marL="457200" indent="-355600" defTabSz="914400" fontAlgn="auto" hangingPunct="1">
              <a:spcBef>
                <a:spcPts val="400"/>
              </a:spcBef>
              <a:buClr>
                <a:srgbClr val="5D5D5E"/>
              </a:buClr>
              <a:buSzPts val="2000"/>
              <a:buFont typeface="Arial"/>
              <a:buChar char="•"/>
              <a:tabLst/>
              <a:defRPr sz="1800" b="0" i="0" u="none" strike="noStrike" kern="0" cap="none" spc="0" baseline="0">
                <a:solidFill>
                  <a:srgbClr val="000000"/>
                </a:solidFill>
                <a:uFillTx/>
              </a:defRPr>
            </a:pPr>
            <a:r>
              <a:rPr lang="en-US" sz="2200" dirty="0">
                <a:solidFill>
                  <a:schemeClr val="tx1">
                    <a:lumMod val="85000"/>
                    <a:lumOff val="15000"/>
                  </a:schemeClr>
                </a:solidFill>
                <a:latin typeface="Calibri"/>
                <a:ea typeface="Calibri"/>
                <a:cs typeface="Calibri"/>
                <a:sym typeface="Calibri"/>
              </a:rPr>
              <a:t>The TDC measures the phase of the reference clock (which will called variable phase) normalized with DCO clock period. </a:t>
            </a:r>
          </a:p>
          <a:p>
            <a:pPr marL="457200" indent="-355600" defTabSz="914400" fontAlgn="auto" hangingPunct="1">
              <a:spcBef>
                <a:spcPts val="400"/>
              </a:spcBef>
              <a:buClr>
                <a:srgbClr val="5D5D5E"/>
              </a:buClr>
              <a:buSzPts val="2000"/>
              <a:buFont typeface="Arial"/>
              <a:buChar char="•"/>
              <a:tabLst/>
              <a:defRPr sz="1800" b="0" i="0" u="none" strike="noStrike" kern="0" cap="none" spc="0" baseline="0">
                <a:solidFill>
                  <a:srgbClr val="000000"/>
                </a:solidFill>
                <a:uFillTx/>
              </a:defRPr>
            </a:pPr>
            <a:r>
              <a:rPr lang="en-US" sz="2200" dirty="0">
                <a:solidFill>
                  <a:schemeClr val="tx1">
                    <a:lumMod val="85000"/>
                    <a:lumOff val="15000"/>
                  </a:schemeClr>
                </a:solidFill>
                <a:latin typeface="Calibri"/>
                <a:ea typeface="Calibri"/>
                <a:cs typeface="Calibri"/>
                <a:sym typeface="Calibri"/>
              </a:rPr>
              <a:t>Implemented as a tapped delay line and counters</a:t>
            </a:r>
          </a:p>
          <a:p>
            <a:pPr marL="457200" marR="0" lvl="0" indent="-381003" algn="l" defTabSz="914400" rtl="0" fontAlgn="auto" hangingPunct="1">
              <a:lnSpc>
                <a:spcPct val="100000"/>
              </a:lnSpc>
              <a:spcBef>
                <a:spcPts val="480"/>
              </a:spcBef>
              <a:spcAft>
                <a:spcPts val="0"/>
              </a:spcAft>
              <a:buClr>
                <a:srgbClr val="000000"/>
              </a:buClr>
              <a:buSzPts val="2400"/>
              <a:buFont typeface="Arial"/>
              <a:buChar char="•"/>
              <a:tabLst/>
              <a:defRPr sz="1800" b="0" i="0" u="none" strike="noStrike" kern="0" cap="none" spc="0" baseline="0">
                <a:solidFill>
                  <a:srgbClr val="000000"/>
                </a:solidFill>
                <a:uFillTx/>
              </a:defRPr>
            </a:pPr>
            <a:endParaRPr lang="en-US" sz="2400" i="0" u="none" strike="noStrike" kern="0" cap="none" spc="0" baseline="0" dirty="0">
              <a:solidFill>
                <a:srgbClr val="000000"/>
              </a:solidFill>
              <a:uFillTx/>
              <a:latin typeface="Calibri"/>
              <a:ea typeface="Calibri"/>
              <a:cs typeface="Calibri"/>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6DF8161-EE14-0386-D832-42EF859720CC}"/>
              </a:ext>
            </a:extLst>
          </p:cNvPr>
          <p:cNvSpPr txBox="1">
            <a:spLocks noGrp="1"/>
          </p:cNvSpPr>
          <p:nvPr>
            <p:ph type="title"/>
          </p:nvPr>
        </p:nvSpPr>
        <p:spPr>
          <a:xfrm>
            <a:off x="946151" y="578201"/>
            <a:ext cx="10299700" cy="730762"/>
          </a:xfrm>
          <a:noFill/>
          <a:ln>
            <a:noFill/>
          </a:ln>
        </p:spPr>
        <p:txBody>
          <a:bodyPr vert="horz" wrap="square" lIns="91421" tIns="45701" rIns="91421" bIns="45701" anchor="b" anchorCtr="0" compatLnSpc="1">
            <a:normAutofit/>
          </a:bodyPr>
          <a:lstStyle/>
          <a:p>
            <a:r>
              <a:rPr lang="en-US" dirty="0">
                <a:latin typeface="+mj-lt"/>
              </a:rPr>
              <a:t>TDC Metastability &amp; Mitigation</a:t>
            </a:r>
          </a:p>
        </p:txBody>
      </p:sp>
      <p:sp>
        <p:nvSpPr>
          <p:cNvPr id="3" name="Text Placeholder 2">
            <a:extLst>
              <a:ext uri="{FF2B5EF4-FFF2-40B4-BE49-F238E27FC236}">
                <a16:creationId xmlns="" xmlns:a16="http://schemas.microsoft.com/office/drawing/2014/main" id="{E327343C-9EF7-60BF-9789-F7531584730A}"/>
              </a:ext>
            </a:extLst>
          </p:cNvPr>
          <p:cNvSpPr txBox="1">
            <a:spLocks noGrp="1"/>
          </p:cNvSpPr>
          <p:nvPr>
            <p:ph type="body" idx="1"/>
          </p:nvPr>
        </p:nvSpPr>
        <p:spPr>
          <a:xfrm>
            <a:off x="914400" y="1510748"/>
            <a:ext cx="10363200" cy="4984947"/>
          </a:xfrm>
        </p:spPr>
        <p:txBody>
          <a:bodyPr>
            <a:noAutofit/>
          </a:bodyPr>
          <a:lstStyle/>
          <a:p>
            <a:pPr lvl="0"/>
            <a:r>
              <a:rPr lang="en-US" b="0" dirty="0">
                <a:solidFill>
                  <a:schemeClr val="tx1">
                    <a:lumMod val="85000"/>
                    <a:lumOff val="15000"/>
                  </a:schemeClr>
                </a:solidFill>
              </a:rPr>
              <a:t>Reference and DCO clocks (FREF and CKV respectively) are asynchronous  </a:t>
            </a:r>
          </a:p>
          <a:p>
            <a:pPr lvl="0"/>
            <a:r>
              <a:rPr lang="en-US" b="0" dirty="0">
                <a:solidFill>
                  <a:schemeClr val="tx1">
                    <a:lumMod val="85000"/>
                    <a:lumOff val="15000"/>
                  </a:schemeClr>
                </a:solidFill>
              </a:rPr>
              <a:t>One method to overcome this metastability problem is to oversample FREF with the fast CKV clock</a:t>
            </a:r>
          </a:p>
          <a:p>
            <a:pPr lvl="0"/>
            <a:endParaRPr lang="en-US" dirty="0"/>
          </a:p>
          <a:p>
            <a:pPr lvl="0"/>
            <a:endParaRPr lang="en-US" dirty="0"/>
          </a:p>
          <a:p>
            <a:pPr lvl="0"/>
            <a:endParaRPr lang="en-US" dirty="0"/>
          </a:p>
        </p:txBody>
      </p:sp>
      <p:pic>
        <p:nvPicPr>
          <p:cNvPr id="5" name="Picture 5">
            <a:extLst>
              <a:ext uri="{FF2B5EF4-FFF2-40B4-BE49-F238E27FC236}">
                <a16:creationId xmlns="" xmlns:a16="http://schemas.microsoft.com/office/drawing/2014/main" id="{285D873E-AC7F-C6B5-E767-0B01CDC98E10}"/>
              </a:ext>
            </a:extLst>
          </p:cNvPr>
          <p:cNvPicPr>
            <a:picLocks noChangeAspect="1"/>
          </p:cNvPicPr>
          <p:nvPr/>
        </p:nvPicPr>
        <p:blipFill>
          <a:blip r:embed="rId2"/>
          <a:stretch>
            <a:fillRect/>
          </a:stretch>
        </p:blipFill>
        <p:spPr>
          <a:xfrm>
            <a:off x="2656798" y="2964320"/>
            <a:ext cx="6867528" cy="2823484"/>
          </a:xfrm>
          <a:prstGeom prst="rect">
            <a:avLst/>
          </a:prstGeom>
          <a:noFill/>
          <a:ln cap="flat">
            <a:noFill/>
          </a:ln>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F18770E-BB77-78B6-90B8-4CC65A8231EF}"/>
              </a:ext>
            </a:extLst>
          </p:cNvPr>
          <p:cNvSpPr txBox="1">
            <a:spLocks noGrp="1"/>
          </p:cNvSpPr>
          <p:nvPr>
            <p:ph type="title"/>
          </p:nvPr>
        </p:nvSpPr>
        <p:spPr>
          <a:xfrm>
            <a:off x="946151" y="578201"/>
            <a:ext cx="10299700" cy="730762"/>
          </a:xfrm>
          <a:noFill/>
          <a:ln>
            <a:noFill/>
          </a:ln>
        </p:spPr>
        <p:txBody>
          <a:bodyPr vert="horz" wrap="square" lIns="91421" tIns="45701" rIns="91421" bIns="45701" anchor="b" anchorCtr="0" compatLnSpc="1">
            <a:normAutofit/>
          </a:bodyPr>
          <a:lstStyle/>
          <a:p>
            <a:r>
              <a:rPr lang="en-US" dirty="0">
                <a:latin typeface="+mj-lt"/>
              </a:rPr>
              <a:t>TDC within ADPLL</a:t>
            </a:r>
          </a:p>
        </p:txBody>
      </p:sp>
      <p:sp>
        <p:nvSpPr>
          <p:cNvPr id="3" name="Text Placeholder 2">
            <a:extLst>
              <a:ext uri="{FF2B5EF4-FFF2-40B4-BE49-F238E27FC236}">
                <a16:creationId xmlns="" xmlns:a16="http://schemas.microsoft.com/office/drawing/2014/main" id="{A685E42A-BD82-B9CD-D482-8CB6EB7DB964}"/>
              </a:ext>
            </a:extLst>
          </p:cNvPr>
          <p:cNvSpPr txBox="1">
            <a:spLocks noGrp="1"/>
          </p:cNvSpPr>
          <p:nvPr>
            <p:ph type="body" idx="1"/>
          </p:nvPr>
        </p:nvSpPr>
        <p:spPr>
          <a:xfrm>
            <a:off x="914400" y="1510748"/>
            <a:ext cx="10363200" cy="4984947"/>
          </a:xfrm>
        </p:spPr>
        <p:txBody>
          <a:bodyPr>
            <a:noAutofit/>
          </a:bodyPr>
          <a:lstStyle/>
          <a:p>
            <a:pPr lvl="0"/>
            <a:r>
              <a:rPr lang="en-US" b="0" dirty="0">
                <a:solidFill>
                  <a:schemeClr val="tx1">
                    <a:lumMod val="85000"/>
                    <a:lumOff val="15000"/>
                  </a:schemeClr>
                </a:solidFill>
              </a:rPr>
              <a:t>The ADPLL diagram with the TDC is shown below.</a:t>
            </a:r>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p:txBody>
      </p:sp>
      <p:pic>
        <p:nvPicPr>
          <p:cNvPr id="5" name="Picture 6" descr="A diagram of a sampler&#10;&#10;AI-generated content may be incorrect.">
            <a:extLst>
              <a:ext uri="{FF2B5EF4-FFF2-40B4-BE49-F238E27FC236}">
                <a16:creationId xmlns="" xmlns:a16="http://schemas.microsoft.com/office/drawing/2014/main" id="{8F12E022-399F-464D-E99C-8681D80DD916}"/>
              </a:ext>
            </a:extLst>
          </p:cNvPr>
          <p:cNvPicPr>
            <a:picLocks noChangeAspect="1"/>
          </p:cNvPicPr>
          <p:nvPr/>
        </p:nvPicPr>
        <p:blipFill>
          <a:blip r:embed="rId2"/>
          <a:srcRect r="1030" b="2843"/>
          <a:stretch>
            <a:fillRect/>
          </a:stretch>
        </p:blipFill>
        <p:spPr>
          <a:xfrm>
            <a:off x="1871667" y="2053998"/>
            <a:ext cx="8361685" cy="4173641"/>
          </a:xfrm>
          <a:prstGeom prst="rect">
            <a:avLst/>
          </a:prstGeom>
          <a:noFill/>
          <a:ln cap="flat">
            <a:noFill/>
          </a:ln>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4650BFA-4A2D-295D-A616-CF685C822203}"/>
              </a:ext>
            </a:extLst>
          </p:cNvPr>
          <p:cNvSpPr txBox="1">
            <a:spLocks noGrp="1"/>
          </p:cNvSpPr>
          <p:nvPr>
            <p:ph type="title"/>
          </p:nvPr>
        </p:nvSpPr>
        <p:spPr>
          <a:xfrm>
            <a:off x="946151" y="578201"/>
            <a:ext cx="10299700" cy="730762"/>
          </a:xfrm>
          <a:noFill/>
          <a:ln>
            <a:noFill/>
          </a:ln>
        </p:spPr>
        <p:txBody>
          <a:bodyPr vert="horz" wrap="square" lIns="91421" tIns="45701" rIns="91421" bIns="45701" anchor="b" anchorCtr="0" compatLnSpc="1">
            <a:normAutofit/>
          </a:bodyPr>
          <a:lstStyle/>
          <a:p>
            <a:r>
              <a:rPr lang="en-US" dirty="0">
                <a:latin typeface="+mj-lt"/>
              </a:rPr>
              <a:t>Effect of Reference Clock Retiming</a:t>
            </a:r>
          </a:p>
        </p:txBody>
      </p:sp>
      <p:sp>
        <p:nvSpPr>
          <p:cNvPr id="3" name="Text Placeholder 2">
            <a:extLst>
              <a:ext uri="{FF2B5EF4-FFF2-40B4-BE49-F238E27FC236}">
                <a16:creationId xmlns="" xmlns:a16="http://schemas.microsoft.com/office/drawing/2014/main" id="{6A6FAE53-C488-5D63-10A9-50511B1E4B5D}"/>
              </a:ext>
            </a:extLst>
          </p:cNvPr>
          <p:cNvSpPr txBox="1">
            <a:spLocks noGrp="1"/>
          </p:cNvSpPr>
          <p:nvPr>
            <p:ph type="body" idx="1"/>
          </p:nvPr>
        </p:nvSpPr>
        <p:spPr>
          <a:xfrm>
            <a:off x="914400" y="1510748"/>
            <a:ext cx="10363200" cy="4984947"/>
          </a:xfrm>
        </p:spPr>
        <p:txBody>
          <a:bodyPr>
            <a:noAutofit/>
          </a:bodyPr>
          <a:lstStyle/>
          <a:p>
            <a:pPr lvl="0"/>
            <a:r>
              <a:rPr lang="en-US" sz="2200" b="0" dirty="0">
                <a:solidFill>
                  <a:schemeClr val="tx1">
                    <a:lumMod val="85000"/>
                    <a:lumOff val="15000"/>
                  </a:schemeClr>
                </a:solidFill>
              </a:rPr>
              <a:t>Retiming of reference clock carries out ceiling operation where phase measured by CKR is rounded up to the nearest integer as shown in diagrams below for </a:t>
            </a:r>
            <a:r>
              <a:rPr lang="en-US" sz="2200" b="0" dirty="0" err="1">
                <a:solidFill>
                  <a:schemeClr val="tx1">
                    <a:lumMod val="85000"/>
                    <a:lumOff val="15000"/>
                  </a:schemeClr>
                </a:solidFill>
              </a:rPr>
              <a:t>fDCO</a:t>
            </a:r>
            <a:r>
              <a:rPr lang="en-US" sz="2200" b="0" dirty="0">
                <a:solidFill>
                  <a:schemeClr val="tx1">
                    <a:lumMod val="85000"/>
                    <a:lumOff val="15000"/>
                  </a:schemeClr>
                </a:solidFill>
              </a:rPr>
              <a:t>/</a:t>
            </a:r>
            <a:r>
              <a:rPr lang="en-US" sz="2200" b="0" dirty="0" err="1">
                <a:solidFill>
                  <a:schemeClr val="tx1">
                    <a:lumMod val="85000"/>
                    <a:lumOff val="15000"/>
                  </a:schemeClr>
                </a:solidFill>
              </a:rPr>
              <a:t>fREF</a:t>
            </a:r>
            <a:r>
              <a:rPr lang="en-US" sz="2200" b="0" dirty="0">
                <a:solidFill>
                  <a:schemeClr val="tx1">
                    <a:lumMod val="85000"/>
                    <a:lumOff val="15000"/>
                  </a:schemeClr>
                </a:solidFill>
              </a:rPr>
              <a:t> = 2.25:</a:t>
            </a:r>
          </a:p>
          <a:p>
            <a:pPr lvl="0"/>
            <a:endParaRPr lang="en-US" dirty="0"/>
          </a:p>
          <a:p>
            <a:pPr lvl="0"/>
            <a:endParaRPr lang="en-US" dirty="0"/>
          </a:p>
          <a:p>
            <a:pPr lvl="0"/>
            <a:endParaRPr lang="en-US" dirty="0"/>
          </a:p>
          <a:p>
            <a:pPr lvl="0"/>
            <a:endParaRPr lang="en-US" dirty="0"/>
          </a:p>
        </p:txBody>
      </p:sp>
      <p:pic>
        <p:nvPicPr>
          <p:cNvPr id="5" name="Picture 7">
            <a:extLst>
              <a:ext uri="{FF2B5EF4-FFF2-40B4-BE49-F238E27FC236}">
                <a16:creationId xmlns="" xmlns:a16="http://schemas.microsoft.com/office/drawing/2014/main" id="{A3D0F2C0-11E8-5FD8-F847-E076364B75B3}"/>
              </a:ext>
            </a:extLst>
          </p:cNvPr>
          <p:cNvPicPr>
            <a:picLocks noChangeAspect="1"/>
          </p:cNvPicPr>
          <p:nvPr/>
        </p:nvPicPr>
        <p:blipFill>
          <a:blip r:embed="rId2"/>
          <a:stretch>
            <a:fillRect/>
          </a:stretch>
        </p:blipFill>
        <p:spPr>
          <a:xfrm>
            <a:off x="1624010" y="2615970"/>
            <a:ext cx="8943974" cy="3476621"/>
          </a:xfrm>
          <a:prstGeom prst="rect">
            <a:avLst/>
          </a:prstGeom>
          <a:noFill/>
          <a:ln cap="flat">
            <a:noFill/>
          </a:ln>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FA6B195-2961-29B7-90B5-D9363322592F}"/>
              </a:ext>
            </a:extLst>
          </p:cNvPr>
          <p:cNvSpPr txBox="1">
            <a:spLocks noGrp="1"/>
          </p:cNvSpPr>
          <p:nvPr>
            <p:ph type="title"/>
          </p:nvPr>
        </p:nvSpPr>
        <p:spPr>
          <a:xfrm>
            <a:off x="946151" y="578201"/>
            <a:ext cx="10299700" cy="730762"/>
          </a:xfrm>
          <a:noFill/>
          <a:ln>
            <a:noFill/>
          </a:ln>
        </p:spPr>
        <p:txBody>
          <a:bodyPr vert="horz" wrap="square" lIns="91421" tIns="45701" rIns="91421" bIns="45701" anchor="b" anchorCtr="0" compatLnSpc="1">
            <a:normAutofit/>
          </a:bodyPr>
          <a:lstStyle/>
          <a:p>
            <a:r>
              <a:rPr lang="en-US" dirty="0">
                <a:latin typeface="+mj-lt"/>
              </a:rPr>
              <a:t>TDC Core Block Diagram</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 xmlns:a16="http://schemas.microsoft.com/office/drawing/2014/main" id="{E0B20953-F925-48AC-FBE6-2E0A513FE605}"/>
                  </a:ext>
                </a:extLst>
              </p:cNvPr>
              <p:cNvSpPr txBox="1">
                <a:spLocks noGrp="1"/>
              </p:cNvSpPr>
              <p:nvPr>
                <p:ph type="body" idx="1"/>
              </p:nvPr>
            </p:nvSpPr>
            <p:spPr>
              <a:xfrm>
                <a:off x="914400" y="4613592"/>
                <a:ext cx="10363200" cy="1882457"/>
              </a:xfrm>
            </p:spPr>
            <p:txBody>
              <a:bodyPr>
                <a:noAutofit/>
              </a:bodyPr>
              <a:lstStyle/>
              <a:p>
                <a:pPr lvl="0"/>
                <a:r>
                  <a:rPr lang="en-US" sz="2200" b="0" dirty="0">
                    <a:solidFill>
                      <a:schemeClr val="tx1">
                        <a:lumMod val="85000"/>
                        <a:lumOff val="15000"/>
                      </a:schemeClr>
                    </a:solidFill>
                  </a:rPr>
                  <a:t>The number of buffer elements used in delay line (L) &gt;  </a:t>
                </a:r>
                <a14:m>
                  <m:oMath xmlns:m="http://schemas.openxmlformats.org/officeDocument/2006/math">
                    <m:f>
                      <m:fPr>
                        <m:ctrlPr>
                          <a:rPr lang="en-US" sz="2200" b="0" i="1" dirty="0" smtClean="0">
                            <a:solidFill>
                              <a:schemeClr val="tx1">
                                <a:lumMod val="85000"/>
                                <a:lumOff val="15000"/>
                              </a:schemeClr>
                            </a:solidFill>
                            <a:latin typeface="Cambria Math" panose="02040503050406030204" pitchFamily="18" charset="0"/>
                          </a:rPr>
                        </m:ctrlPr>
                      </m:fPr>
                      <m:num>
                        <m:func>
                          <m:funcPr>
                            <m:ctrlPr>
                              <a:rPr lang="en-US" sz="2200" b="0" i="1" dirty="0" smtClean="0">
                                <a:solidFill>
                                  <a:schemeClr val="tx1">
                                    <a:lumMod val="85000"/>
                                    <a:lumOff val="15000"/>
                                  </a:schemeClr>
                                </a:solidFill>
                                <a:latin typeface="Cambria Math" panose="02040503050406030204" pitchFamily="18" charset="0"/>
                              </a:rPr>
                            </m:ctrlPr>
                          </m:funcPr>
                          <m:fName>
                            <m:r>
                              <m:rPr>
                                <m:sty m:val="p"/>
                              </m:rPr>
                              <a:rPr lang="en-US" sz="2200" b="0" i="0" dirty="0" smtClean="0">
                                <a:solidFill>
                                  <a:schemeClr val="tx1">
                                    <a:lumMod val="85000"/>
                                    <a:lumOff val="15000"/>
                                  </a:schemeClr>
                                </a:solidFill>
                                <a:latin typeface="Cambria Math" panose="02040503050406030204" pitchFamily="18" charset="0"/>
                              </a:rPr>
                              <m:t>max</m:t>
                            </m:r>
                          </m:fName>
                          <m:e>
                            <m:d>
                              <m:dPr>
                                <m:ctrlPr>
                                  <a:rPr lang="en-US" sz="2200" b="0" i="1" dirty="0" smtClean="0">
                                    <a:solidFill>
                                      <a:schemeClr val="tx1">
                                        <a:lumMod val="85000"/>
                                        <a:lumOff val="15000"/>
                                      </a:schemeClr>
                                    </a:solidFill>
                                    <a:latin typeface="Cambria Math" panose="02040503050406030204" pitchFamily="18" charset="0"/>
                                  </a:rPr>
                                </m:ctrlPr>
                              </m:dPr>
                              <m:e>
                                <m:r>
                                  <a:rPr lang="en-US" sz="2200" b="0" i="1" dirty="0" smtClean="0">
                                    <a:solidFill>
                                      <a:schemeClr val="tx1">
                                        <a:lumMod val="85000"/>
                                        <a:lumOff val="15000"/>
                                      </a:schemeClr>
                                    </a:solidFill>
                                    <a:latin typeface="Cambria Math" panose="02040503050406030204" pitchFamily="18" charset="0"/>
                                  </a:rPr>
                                  <m:t>𝑇𝐷𝐶𝑂</m:t>
                                </m:r>
                              </m:e>
                            </m:d>
                          </m:e>
                        </m:func>
                      </m:num>
                      <m:den>
                        <m:func>
                          <m:funcPr>
                            <m:ctrlPr>
                              <a:rPr lang="en-US" sz="2200" b="0" i="1" dirty="0" smtClean="0">
                                <a:solidFill>
                                  <a:schemeClr val="tx1">
                                    <a:lumMod val="85000"/>
                                    <a:lumOff val="15000"/>
                                  </a:schemeClr>
                                </a:solidFill>
                                <a:latin typeface="Cambria Math" panose="02040503050406030204" pitchFamily="18" charset="0"/>
                              </a:rPr>
                            </m:ctrlPr>
                          </m:funcPr>
                          <m:fName>
                            <m:r>
                              <m:rPr>
                                <m:sty m:val="p"/>
                              </m:rPr>
                              <a:rPr lang="en-US" sz="2200" b="0" i="0" dirty="0" smtClean="0">
                                <a:solidFill>
                                  <a:schemeClr val="tx1">
                                    <a:lumMod val="85000"/>
                                    <a:lumOff val="15000"/>
                                  </a:schemeClr>
                                </a:solidFill>
                                <a:latin typeface="Cambria Math" panose="02040503050406030204" pitchFamily="18" charset="0"/>
                              </a:rPr>
                              <m:t>min</m:t>
                            </m:r>
                          </m:fName>
                          <m:e>
                            <m:d>
                              <m:dPr>
                                <m:ctrlPr>
                                  <a:rPr lang="en-US" sz="2200" b="0" i="1" dirty="0" smtClean="0">
                                    <a:solidFill>
                                      <a:schemeClr val="tx1">
                                        <a:lumMod val="85000"/>
                                        <a:lumOff val="15000"/>
                                      </a:schemeClr>
                                    </a:solidFill>
                                    <a:latin typeface="Cambria Math" panose="02040503050406030204" pitchFamily="18" charset="0"/>
                                  </a:rPr>
                                </m:ctrlPr>
                              </m:dPr>
                              <m:e>
                                <m:r>
                                  <a:rPr lang="en-US" sz="2200" b="0" i="1" dirty="0" err="1" smtClean="0">
                                    <a:solidFill>
                                      <a:schemeClr val="tx1">
                                        <a:lumMod val="85000"/>
                                        <a:lumOff val="15000"/>
                                      </a:schemeClr>
                                    </a:solidFill>
                                    <a:latin typeface="Cambria Math" panose="02040503050406030204" pitchFamily="18" charset="0"/>
                                  </a:rPr>
                                  <m:t>𝑡𝑏𝑢𝑓</m:t>
                                </m:r>
                              </m:e>
                            </m:d>
                          </m:e>
                        </m:func>
                      </m:den>
                    </m:f>
                  </m:oMath>
                </a14:m>
                <a:endParaRPr lang="en-US" sz="2200" b="0" dirty="0">
                  <a:solidFill>
                    <a:schemeClr val="tx1">
                      <a:lumMod val="85000"/>
                      <a:lumOff val="15000"/>
                    </a:schemeClr>
                  </a:solidFill>
                </a:endParaRPr>
              </a:p>
              <a:p>
                <a:pPr lvl="0"/>
                <a:r>
                  <a:rPr lang="en-US" sz="2200" b="0" dirty="0">
                    <a:solidFill>
                      <a:schemeClr val="tx1">
                        <a:lumMod val="85000"/>
                        <a:lumOff val="15000"/>
                      </a:schemeClr>
                    </a:solidFill>
                  </a:rPr>
                  <a:t>If too many buffer are used, then circuit consumes more unnecessary area and power. </a:t>
                </a:r>
              </a:p>
            </p:txBody>
          </p:sp>
        </mc:Choice>
        <mc:Fallback xmlns="">
          <p:sp>
            <p:nvSpPr>
              <p:cNvPr id="3" name="Text Placeholder 2">
                <a:extLst>
                  <a:ext uri="{FF2B5EF4-FFF2-40B4-BE49-F238E27FC236}">
                    <a16:creationId xmlns:a16="http://schemas.microsoft.com/office/drawing/2014/main" id="{E0B20953-F925-48AC-FBE6-2E0A513FE605}"/>
                  </a:ext>
                </a:extLst>
              </p:cNvPr>
              <p:cNvSpPr txBox="1">
                <a:spLocks noGrp="1" noRot="1" noChangeAspect="1" noMove="1" noResize="1" noEditPoints="1" noAdjustHandles="1" noChangeArrowheads="1" noChangeShapeType="1" noTextEdit="1"/>
              </p:cNvSpPr>
              <p:nvPr>
                <p:ph type="body" idx="1"/>
              </p:nvPr>
            </p:nvSpPr>
            <p:spPr>
              <a:xfrm>
                <a:off x="914400" y="4613592"/>
                <a:ext cx="10363200" cy="1882457"/>
              </a:xfrm>
              <a:blipFill>
                <a:blip r:embed="rId2"/>
                <a:stretch>
                  <a:fillRect/>
                </a:stretch>
              </a:blipFill>
            </p:spPr>
            <p:txBody>
              <a:bodyPr/>
              <a:lstStyle/>
              <a:p>
                <a:r>
                  <a:rPr lang="en-US">
                    <a:noFill/>
                  </a:rPr>
                  <a:t> </a:t>
                </a:r>
              </a:p>
            </p:txBody>
          </p:sp>
        </mc:Fallback>
      </mc:AlternateContent>
      <p:pic>
        <p:nvPicPr>
          <p:cNvPr id="5" name="Picture 5" descr="A diagram of a device&#10;&#10;AI-generated content may be incorrect.">
            <a:extLst>
              <a:ext uri="{FF2B5EF4-FFF2-40B4-BE49-F238E27FC236}">
                <a16:creationId xmlns="" xmlns:a16="http://schemas.microsoft.com/office/drawing/2014/main" id="{FE7FBD21-261D-DD4D-3A5F-3E978499B13D}"/>
              </a:ext>
            </a:extLst>
          </p:cNvPr>
          <p:cNvPicPr>
            <a:picLocks noChangeAspect="1"/>
          </p:cNvPicPr>
          <p:nvPr/>
        </p:nvPicPr>
        <p:blipFill>
          <a:blip r:embed="rId3"/>
          <a:stretch>
            <a:fillRect/>
          </a:stretch>
        </p:blipFill>
        <p:spPr>
          <a:xfrm>
            <a:off x="3749990" y="1372871"/>
            <a:ext cx="4966335" cy="3177539"/>
          </a:xfrm>
          <a:prstGeom prst="rect">
            <a:avLst/>
          </a:prstGeom>
          <a:noFill/>
          <a:ln cap="flat">
            <a:noFill/>
          </a:ln>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560EA03-4FF1-0FC0-C523-74F7D4650845}"/>
              </a:ext>
            </a:extLst>
          </p:cNvPr>
          <p:cNvSpPr txBox="1">
            <a:spLocks noGrp="1"/>
          </p:cNvSpPr>
          <p:nvPr>
            <p:ph type="title"/>
          </p:nvPr>
        </p:nvSpPr>
        <p:spPr>
          <a:xfrm>
            <a:off x="946151" y="578201"/>
            <a:ext cx="10299700" cy="730762"/>
          </a:xfrm>
          <a:noFill/>
          <a:ln>
            <a:noFill/>
          </a:ln>
        </p:spPr>
        <p:txBody>
          <a:bodyPr vert="horz" wrap="square" lIns="91421" tIns="45701" rIns="91421" bIns="45701" anchor="b" anchorCtr="0" compatLnSpc="1">
            <a:normAutofit/>
          </a:bodyPr>
          <a:lstStyle/>
          <a:p>
            <a:r>
              <a:rPr lang="en-US" dirty="0">
                <a:latin typeface="+mj-lt"/>
              </a:rPr>
              <a:t>TDC Core Operation</a:t>
            </a:r>
          </a:p>
        </p:txBody>
      </p:sp>
      <p:sp>
        <p:nvSpPr>
          <p:cNvPr id="3" name="Text Placeholder 2">
            <a:extLst>
              <a:ext uri="{FF2B5EF4-FFF2-40B4-BE49-F238E27FC236}">
                <a16:creationId xmlns="" xmlns:a16="http://schemas.microsoft.com/office/drawing/2014/main" id="{59F334E6-C39D-2D91-150A-C40304CE8C7F}"/>
              </a:ext>
            </a:extLst>
          </p:cNvPr>
          <p:cNvSpPr txBox="1">
            <a:spLocks noGrp="1"/>
          </p:cNvSpPr>
          <p:nvPr>
            <p:ph type="body" idx="1"/>
          </p:nvPr>
        </p:nvSpPr>
        <p:spPr>
          <a:xfrm>
            <a:off x="5775278" y="1514556"/>
            <a:ext cx="5676900" cy="4984750"/>
          </a:xfrm>
        </p:spPr>
        <p:txBody>
          <a:bodyPr>
            <a:noAutofit/>
          </a:bodyPr>
          <a:lstStyle/>
          <a:p>
            <a:pPr lvl="0"/>
            <a:r>
              <a:rPr lang="en-US" sz="2200" b="0" dirty="0">
                <a:solidFill>
                  <a:schemeClr val="tx1">
                    <a:lumMod val="85000"/>
                    <a:lumOff val="15000"/>
                  </a:schemeClr>
                </a:solidFill>
              </a:rPr>
              <a:t>tr : delays from last rising CKV edge ( first index of 1 -&gt; 0 in the Q word).</a:t>
            </a:r>
          </a:p>
          <a:p>
            <a:pPr lvl="0"/>
            <a:r>
              <a:rPr lang="en-US" sz="2200" b="0" dirty="0" err="1">
                <a:solidFill>
                  <a:schemeClr val="tx1">
                    <a:lumMod val="85000"/>
                    <a:lumOff val="15000"/>
                  </a:schemeClr>
                </a:solidFill>
              </a:rPr>
              <a:t>tf</a:t>
            </a:r>
            <a:r>
              <a:rPr lang="en-US" sz="2200" b="0" dirty="0">
                <a:solidFill>
                  <a:schemeClr val="tx1">
                    <a:lumMod val="85000"/>
                    <a:lumOff val="15000"/>
                  </a:schemeClr>
                </a:solidFill>
              </a:rPr>
              <a:t> : delays from last falling CKV edge ( first index of 0 -&gt; 1 in the Q word).</a:t>
            </a:r>
          </a:p>
          <a:p>
            <a:pPr lvl="0"/>
            <a:r>
              <a:rPr lang="en-US" sz="2200" b="0" dirty="0">
                <a:solidFill>
                  <a:schemeClr val="tx1">
                    <a:lumMod val="85000"/>
                    <a:lumOff val="15000"/>
                  </a:schemeClr>
                </a:solidFill>
              </a:rPr>
              <a:t>The number of buffer delays in the one CKV cycle: 2|tf − tr| = Tv </a:t>
            </a:r>
          </a:p>
        </p:txBody>
      </p:sp>
      <p:pic>
        <p:nvPicPr>
          <p:cNvPr id="5" name="Picture 5" descr="A diagram of a circuit&#10;&#10;AI-generated content may be incorrect.">
            <a:extLst>
              <a:ext uri="{FF2B5EF4-FFF2-40B4-BE49-F238E27FC236}">
                <a16:creationId xmlns="" xmlns:a16="http://schemas.microsoft.com/office/drawing/2014/main" id="{058D4D6C-4EAE-E0EE-F5B0-F1AB09A0C395}"/>
              </a:ext>
            </a:extLst>
          </p:cNvPr>
          <p:cNvPicPr>
            <a:picLocks noChangeAspect="1"/>
          </p:cNvPicPr>
          <p:nvPr/>
        </p:nvPicPr>
        <p:blipFill>
          <a:blip r:embed="rId2"/>
          <a:stretch>
            <a:fillRect/>
          </a:stretch>
        </p:blipFill>
        <p:spPr>
          <a:xfrm>
            <a:off x="739822" y="1488798"/>
            <a:ext cx="4996629" cy="4862285"/>
          </a:xfrm>
          <a:prstGeom prst="rect">
            <a:avLst/>
          </a:prstGeom>
          <a:noFill/>
          <a:ln cap="flat">
            <a:noFill/>
          </a:ln>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B490F8D-BAB9-5954-4DA1-92808FCC40CF}"/>
              </a:ext>
            </a:extLst>
          </p:cNvPr>
          <p:cNvSpPr txBox="1">
            <a:spLocks noGrp="1"/>
          </p:cNvSpPr>
          <p:nvPr>
            <p:ph type="title"/>
          </p:nvPr>
        </p:nvSpPr>
        <p:spPr>
          <a:xfrm>
            <a:off x="946151" y="578201"/>
            <a:ext cx="10299700" cy="730762"/>
          </a:xfrm>
          <a:noFill/>
          <a:ln>
            <a:noFill/>
          </a:ln>
        </p:spPr>
        <p:txBody>
          <a:bodyPr vert="horz" wrap="square" lIns="91421" tIns="45701" rIns="91421" bIns="45701" anchor="b" anchorCtr="0" compatLnSpc="1">
            <a:normAutofit/>
          </a:bodyPr>
          <a:lstStyle/>
          <a:p>
            <a:r>
              <a:rPr lang="en-US" dirty="0">
                <a:latin typeface="+mj-lt"/>
              </a:rPr>
              <a:t>TDC Core Final Block Diagram</a:t>
            </a:r>
          </a:p>
        </p:txBody>
      </p:sp>
      <p:pic>
        <p:nvPicPr>
          <p:cNvPr id="4" name="Picture 8">
            <a:extLst>
              <a:ext uri="{FF2B5EF4-FFF2-40B4-BE49-F238E27FC236}">
                <a16:creationId xmlns="" xmlns:a16="http://schemas.microsoft.com/office/drawing/2014/main" id="{8E3E108F-8DBF-1CA0-615C-E1CDDA864A1C}"/>
              </a:ext>
            </a:extLst>
          </p:cNvPr>
          <p:cNvPicPr>
            <a:picLocks noChangeAspect="1"/>
          </p:cNvPicPr>
          <p:nvPr/>
        </p:nvPicPr>
        <p:blipFill>
          <a:blip r:embed="rId2"/>
          <a:stretch>
            <a:fillRect/>
          </a:stretch>
        </p:blipFill>
        <p:spPr>
          <a:xfrm>
            <a:off x="1624010" y="1714500"/>
            <a:ext cx="8943974" cy="3886200"/>
          </a:xfrm>
          <a:prstGeom prst="rect">
            <a:avLst/>
          </a:prstGeom>
          <a:noFill/>
          <a:ln cap="flat">
            <a:noFill/>
          </a:ln>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294641A-CAF8-07A9-C72A-EAD1EC6C847F}"/>
              </a:ext>
            </a:extLst>
          </p:cNvPr>
          <p:cNvSpPr txBox="1">
            <a:spLocks noGrp="1"/>
          </p:cNvSpPr>
          <p:nvPr>
            <p:ph type="title"/>
          </p:nvPr>
        </p:nvSpPr>
        <p:spPr>
          <a:xfrm>
            <a:off x="946151" y="578201"/>
            <a:ext cx="10299700" cy="730762"/>
          </a:xfrm>
          <a:noFill/>
          <a:ln>
            <a:noFill/>
          </a:ln>
        </p:spPr>
        <p:txBody>
          <a:bodyPr vert="horz" wrap="square" lIns="91421" tIns="45701" rIns="91421" bIns="45701" anchor="b" anchorCtr="0" compatLnSpc="1">
            <a:normAutofit/>
          </a:bodyPr>
          <a:lstStyle/>
          <a:p>
            <a:r>
              <a:rPr lang="en-US" dirty="0">
                <a:latin typeface="+mj-lt"/>
              </a:rPr>
              <a:t>MATLAB Simulation Setup</a:t>
            </a:r>
          </a:p>
        </p:txBody>
      </p:sp>
      <p:sp>
        <p:nvSpPr>
          <p:cNvPr id="4" name="Text Placeholder 2">
            <a:extLst>
              <a:ext uri="{FF2B5EF4-FFF2-40B4-BE49-F238E27FC236}">
                <a16:creationId xmlns="" xmlns:a16="http://schemas.microsoft.com/office/drawing/2014/main" id="{E78B6E8D-134E-94DE-4CBB-042BCBCBED6B}"/>
              </a:ext>
            </a:extLst>
          </p:cNvPr>
          <p:cNvSpPr txBox="1">
            <a:spLocks noGrp="1"/>
          </p:cNvSpPr>
          <p:nvPr>
            <p:ph type="body" idx="1"/>
          </p:nvPr>
        </p:nvSpPr>
        <p:spPr>
          <a:xfrm>
            <a:off x="914400" y="1510748"/>
            <a:ext cx="10363200" cy="4984947"/>
          </a:xfrm>
        </p:spPr>
        <p:txBody>
          <a:bodyPr>
            <a:noAutofit/>
          </a:bodyPr>
          <a:lstStyle/>
          <a:p>
            <a:pPr lvl="0"/>
            <a:r>
              <a:rPr lang="en-US" sz="2200" b="0" dirty="0">
                <a:solidFill>
                  <a:schemeClr val="tx1">
                    <a:lumMod val="85000"/>
                    <a:lumOff val="15000"/>
                  </a:schemeClr>
                </a:solidFill>
              </a:rPr>
              <a:t>A time-domain MATLAB model of the TDC was developed to verify correct functionality and to quantify the measurement error introduced by the TDC</a:t>
            </a:r>
          </a:p>
          <a:p>
            <a:pPr lvl="0"/>
            <a:r>
              <a:rPr lang="en-US" sz="2200" b="0" dirty="0">
                <a:solidFill>
                  <a:schemeClr val="tx1">
                    <a:lumMod val="85000"/>
                    <a:lumOff val="15000"/>
                  </a:schemeClr>
                </a:solidFill>
              </a:rPr>
              <a:t>The nominal buffer (tap) delay used in the model is 10ps</a:t>
            </a:r>
          </a:p>
          <a:p>
            <a:pPr lvl="0"/>
            <a:r>
              <a:rPr lang="en-US" sz="2200" b="0" dirty="0">
                <a:solidFill>
                  <a:schemeClr val="tx1">
                    <a:lumMod val="85000"/>
                    <a:lumOff val="15000"/>
                  </a:schemeClr>
                </a:solidFill>
              </a:rPr>
              <a:t>The TDC was tested across the DCO frequency range which is 2.16GHz - 2.64GHz </a:t>
            </a:r>
          </a:p>
          <a:p>
            <a:pPr lvl="0"/>
            <a:r>
              <a:rPr lang="en-US" sz="2200" b="0" dirty="0">
                <a:solidFill>
                  <a:schemeClr val="tx1">
                    <a:lumMod val="85000"/>
                    <a:lumOff val="15000"/>
                  </a:schemeClr>
                </a:solidFill>
              </a:rPr>
              <a:t>The fractional part of the TDC output was represented with 10 bits</a:t>
            </a:r>
          </a:p>
          <a:p>
            <a:pPr lvl="0"/>
            <a:r>
              <a:rPr lang="en-US" sz="2200" b="0" dirty="0">
                <a:solidFill>
                  <a:schemeClr val="tx1">
                    <a:lumMod val="85000"/>
                    <a:lumOff val="15000"/>
                  </a:schemeClr>
                </a:solidFill>
              </a:rPr>
              <a:t>For each selected DCO frequency the model computed the digital phase for 21 consecutive reference cycles to ensure correct accumulation of integer and fractional parts.</a:t>
            </a: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BC40D80-F972-B03B-4110-78BB88B9D84A}"/>
              </a:ext>
            </a:extLst>
          </p:cNvPr>
          <p:cNvSpPr txBox="1">
            <a:spLocks noGrp="1"/>
          </p:cNvSpPr>
          <p:nvPr>
            <p:ph type="title"/>
          </p:nvPr>
        </p:nvSpPr>
        <p:spPr>
          <a:xfrm>
            <a:off x="946151" y="578201"/>
            <a:ext cx="10299700" cy="730762"/>
          </a:xfrm>
          <a:noFill/>
          <a:ln>
            <a:noFill/>
          </a:ln>
        </p:spPr>
        <p:txBody>
          <a:bodyPr vert="horz" wrap="square" lIns="91421" tIns="45701" rIns="91421" bIns="45701" anchor="b" anchorCtr="0" compatLnSpc="1">
            <a:normAutofit/>
          </a:bodyPr>
          <a:lstStyle/>
          <a:p>
            <a:r>
              <a:rPr lang="en-US" dirty="0">
                <a:latin typeface="+mj-lt"/>
              </a:rPr>
              <a:t>MATLAB Simulation Results</a:t>
            </a:r>
          </a:p>
        </p:txBody>
      </p:sp>
      <p:sp>
        <p:nvSpPr>
          <p:cNvPr id="4" name="Text Placeholder 2">
            <a:extLst>
              <a:ext uri="{FF2B5EF4-FFF2-40B4-BE49-F238E27FC236}">
                <a16:creationId xmlns="" xmlns:a16="http://schemas.microsoft.com/office/drawing/2014/main" id="{5FCE79B7-A434-CF64-CCCC-DE77E1AA43FE}"/>
              </a:ext>
            </a:extLst>
          </p:cNvPr>
          <p:cNvSpPr txBox="1">
            <a:spLocks noGrp="1"/>
          </p:cNvSpPr>
          <p:nvPr>
            <p:ph type="body" idx="1"/>
          </p:nvPr>
        </p:nvSpPr>
        <p:spPr>
          <a:xfrm>
            <a:off x="914400" y="1511300"/>
            <a:ext cx="10363200" cy="4984750"/>
          </a:xfrm>
        </p:spPr>
        <p:txBody>
          <a:bodyPr>
            <a:noAutofit/>
          </a:bodyPr>
          <a:lstStyle/>
          <a:p>
            <a:pPr lvl="0"/>
            <a:r>
              <a:rPr lang="en-US" sz="2200" b="0" dirty="0">
                <a:solidFill>
                  <a:schemeClr val="tx1">
                    <a:lumMod val="85000"/>
                    <a:lumOff val="15000"/>
                  </a:schemeClr>
                </a:solidFill>
              </a:rPr>
              <a:t>From simulation the maximum error of the TDC is found to be 0.041</a:t>
            </a:r>
          </a:p>
          <a:p>
            <a:pPr lvl="0"/>
            <a:endParaRPr lang="en-US" dirty="0"/>
          </a:p>
        </p:txBody>
      </p:sp>
      <p:pic>
        <p:nvPicPr>
          <p:cNvPr id="5" name="Picture 2" descr="A graph with a line graph&#10;&#10;AI-generated content may be incorrect.">
            <a:extLst>
              <a:ext uri="{FF2B5EF4-FFF2-40B4-BE49-F238E27FC236}">
                <a16:creationId xmlns="" xmlns:a16="http://schemas.microsoft.com/office/drawing/2014/main" id="{73453F50-44C5-5182-34EC-F4663FF3AF44}"/>
              </a:ext>
            </a:extLst>
          </p:cNvPr>
          <p:cNvPicPr>
            <a:picLocks noChangeAspect="1"/>
          </p:cNvPicPr>
          <p:nvPr/>
        </p:nvPicPr>
        <p:blipFill>
          <a:blip r:embed="rId2"/>
          <a:stretch>
            <a:fillRect/>
          </a:stretch>
        </p:blipFill>
        <p:spPr>
          <a:xfrm>
            <a:off x="1483357" y="1967020"/>
            <a:ext cx="9225281" cy="4376830"/>
          </a:xfrm>
          <a:prstGeom prst="rect">
            <a:avLst/>
          </a:prstGeom>
          <a:noFill/>
          <a:ln cap="flat">
            <a:noFill/>
          </a:ln>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7F5C311-9728-93E6-F457-D7B19B67A1B1}"/>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Digital loop filter </a:t>
            </a:r>
            <a:endParaRPr lang="en-US" dirty="0"/>
          </a:p>
        </p:txBody>
      </p:sp>
      <p:pic>
        <p:nvPicPr>
          <p:cNvPr id="6" name="Picture 5">
            <a:extLst>
              <a:ext uri="{FF2B5EF4-FFF2-40B4-BE49-F238E27FC236}">
                <a16:creationId xmlns="" xmlns:a16="http://schemas.microsoft.com/office/drawing/2014/main" id="{0A48C2A0-D6F1-7B28-7177-DFF958245E8A}"/>
              </a:ext>
            </a:extLst>
          </p:cNvPr>
          <p:cNvPicPr>
            <a:picLocks noChangeAspect="1"/>
          </p:cNvPicPr>
          <p:nvPr/>
        </p:nvPicPr>
        <p:blipFill>
          <a:blip r:embed="rId2"/>
          <a:stretch>
            <a:fillRect/>
          </a:stretch>
        </p:blipFill>
        <p:spPr>
          <a:xfrm>
            <a:off x="1452562" y="1223986"/>
            <a:ext cx="8503201" cy="4857726"/>
          </a:xfrm>
          <a:prstGeom prst="rect">
            <a:avLst/>
          </a:prstGeom>
        </p:spPr>
      </p:pic>
      <p:sp>
        <p:nvSpPr>
          <p:cNvPr id="3" name="Rectangle 2">
            <a:extLst>
              <a:ext uri="{FF2B5EF4-FFF2-40B4-BE49-F238E27FC236}">
                <a16:creationId xmlns="" xmlns:a16="http://schemas.microsoft.com/office/drawing/2014/main" id="{8501F91D-8B15-AC48-5935-8E5C7FB9ED39}"/>
              </a:ext>
            </a:extLst>
          </p:cNvPr>
          <p:cNvSpPr/>
          <p:nvPr/>
        </p:nvSpPr>
        <p:spPr>
          <a:xfrm>
            <a:off x="5902036" y="3228109"/>
            <a:ext cx="942109" cy="706582"/>
          </a:xfrm>
          <a:prstGeom prst="rect">
            <a:avLst/>
          </a:prstGeom>
          <a:noFill/>
          <a:ln>
            <a:solidFill>
              <a:srgbClr val="FF5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64144270"/>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Digital loop filter </a:t>
            </a:r>
          </a:p>
        </p:txBody>
      </p:sp>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421436" y="1510748"/>
                <a:ext cx="10856164" cy="4984947"/>
              </a:xfrm>
            </p:spPr>
            <p:txBody>
              <a:bodyPr/>
              <a:lstStyle/>
              <a:p>
                <a:pPr marL="76200" indent="0">
                  <a:buNone/>
                </a:pPr>
                <a:r>
                  <a:rPr lang="en-US" sz="2200" dirty="0">
                    <a:solidFill>
                      <a:schemeClr val="tx1">
                        <a:lumMod val="85000"/>
                        <a:lumOff val="15000"/>
                      </a:schemeClr>
                    </a:solidFill>
                  </a:rPr>
                  <a:t>DLF processes the phase error signal from TDC and generate a stable control word for the DCO.</a:t>
                </a:r>
              </a:p>
              <a:p>
                <a:r>
                  <a:rPr lang="en-US" sz="2200" b="0" dirty="0">
                    <a:solidFill>
                      <a:schemeClr val="tx1">
                        <a:lumMod val="85000"/>
                        <a:lumOff val="15000"/>
                      </a:schemeClr>
                    </a:solidFill>
                  </a:rPr>
                  <a:t>The DLF acts like a stabilizer. It smooths out the sharp, noisy, quantized output from TDC.</a:t>
                </a:r>
              </a:p>
              <a:p>
                <a:r>
                  <a:rPr lang="en-US" sz="2200" b="0" dirty="0">
                    <a:solidFill>
                      <a:schemeClr val="tx1">
                        <a:lumMod val="85000"/>
                        <a:lumOff val="15000"/>
                      </a:schemeClr>
                    </a:solidFill>
                  </a:rPr>
                  <a:t>It converts phase error to frequency control.</a:t>
                </a:r>
              </a:p>
              <a:p>
                <a:r>
                  <a:rPr lang="en-US" sz="2200" b="0" dirty="0">
                    <a:solidFill>
                      <a:schemeClr val="tx1">
                        <a:lumMod val="85000"/>
                        <a:lumOff val="15000"/>
                      </a:schemeClr>
                    </a:solidFill>
                  </a:rPr>
                  <a:t>Loop filter transfer function: </a:t>
                </a:r>
                <a:r>
                  <a:rPr lang="en-US" sz="2200" dirty="0">
                    <a:solidFill>
                      <a:schemeClr val="tx1">
                        <a:lumMod val="85000"/>
                        <a:lumOff val="15000"/>
                      </a:schemeClr>
                    </a:solidFill>
                  </a:rPr>
                  <a:t>(PI realization)</a:t>
                </a:r>
              </a:p>
              <a:p>
                <a:endParaRPr lang="en-US" sz="2000" dirty="0"/>
              </a:p>
              <a:p>
                <a:pPr marL="76200" indent="0">
                  <a:buNone/>
                </a:pPr>
                <a14:m>
                  <m:oMath xmlns:m="http://schemas.openxmlformats.org/officeDocument/2006/math">
                    <m:r>
                      <a:rPr lang="en-US" sz="2000" b="0" i="1" smtClean="0">
                        <a:solidFill>
                          <a:schemeClr val="tx1">
                            <a:lumMod val="85000"/>
                            <a:lumOff val="15000"/>
                          </a:schemeClr>
                        </a:solidFill>
                        <a:latin typeface="Cambria Math" panose="02040503050406030204" pitchFamily="18" charset="0"/>
                      </a:rPr>
                      <m:t>   </m:t>
                    </m:r>
                    <m:r>
                      <a:rPr lang="en-US" sz="2000" i="1">
                        <a:solidFill>
                          <a:schemeClr val="tx1">
                            <a:lumMod val="85000"/>
                            <a:lumOff val="15000"/>
                          </a:schemeClr>
                        </a:solidFill>
                        <a:latin typeface="Cambria Math" panose="02040503050406030204" pitchFamily="18" charset="0"/>
                      </a:rPr>
                      <m:t>𝐻</m:t>
                    </m:r>
                    <m:d>
                      <m:dPr>
                        <m:ctrlPr>
                          <a:rPr lang="en-US" sz="2000" i="1">
                            <a:solidFill>
                              <a:schemeClr val="tx1">
                                <a:lumMod val="85000"/>
                                <a:lumOff val="15000"/>
                              </a:schemeClr>
                            </a:solidFill>
                            <a:latin typeface="Cambria Math" panose="02040503050406030204" pitchFamily="18" charset="0"/>
                          </a:rPr>
                        </m:ctrlPr>
                      </m:dPr>
                      <m:e>
                        <m:r>
                          <a:rPr lang="en-US" sz="2000" i="1">
                            <a:solidFill>
                              <a:schemeClr val="tx1">
                                <a:lumMod val="85000"/>
                                <a:lumOff val="15000"/>
                              </a:schemeClr>
                            </a:solidFill>
                            <a:latin typeface="Cambria Math" panose="02040503050406030204" pitchFamily="18" charset="0"/>
                          </a:rPr>
                          <m:t>𝑆</m:t>
                        </m:r>
                      </m:e>
                    </m:d>
                    <m:r>
                      <a:rPr lang="en-US" sz="2000" i="1">
                        <a:solidFill>
                          <a:schemeClr val="tx1">
                            <a:lumMod val="85000"/>
                            <a:lumOff val="15000"/>
                          </a:schemeClr>
                        </a:solidFill>
                        <a:latin typeface="Cambria Math" panose="02040503050406030204" pitchFamily="18" charset="0"/>
                      </a:rPr>
                      <m:t>=</m:t>
                    </m:r>
                    <m:r>
                      <a:rPr lang="en-US" sz="2000" i="1">
                        <a:solidFill>
                          <a:schemeClr val="tx1">
                            <a:lumMod val="85000"/>
                            <a:lumOff val="15000"/>
                          </a:schemeClr>
                        </a:solidFill>
                        <a:latin typeface="Cambria Math" panose="02040503050406030204" pitchFamily="18" charset="0"/>
                      </a:rPr>
                      <m:t>𝑅</m:t>
                    </m:r>
                    <m:r>
                      <a:rPr lang="en-US" sz="2000" i="1">
                        <a:solidFill>
                          <a:schemeClr val="tx1">
                            <a:lumMod val="85000"/>
                            <a:lumOff val="15000"/>
                          </a:schemeClr>
                        </a:solidFill>
                        <a:latin typeface="Cambria Math" panose="02040503050406030204" pitchFamily="18" charset="0"/>
                      </a:rPr>
                      <m:t>1</m:t>
                    </m:r>
                    <m:r>
                      <a:rPr lang="en-US" sz="2000" i="1">
                        <a:solidFill>
                          <a:schemeClr val="tx1">
                            <a:lumMod val="85000"/>
                            <a:lumOff val="15000"/>
                          </a:schemeClr>
                        </a:solidFill>
                        <a:latin typeface="Cambria Math" panose="02040503050406030204" pitchFamily="18" charset="0"/>
                      </a:rPr>
                      <m:t>+</m:t>
                    </m:r>
                    <m:f>
                      <m:fPr>
                        <m:ctrlPr>
                          <a:rPr lang="en-US" sz="2000" i="1">
                            <a:solidFill>
                              <a:schemeClr val="tx1">
                                <a:lumMod val="85000"/>
                                <a:lumOff val="15000"/>
                              </a:schemeClr>
                            </a:solidFill>
                            <a:latin typeface="Cambria Math" panose="02040503050406030204" pitchFamily="18" charset="0"/>
                          </a:rPr>
                        </m:ctrlPr>
                      </m:fPr>
                      <m:num>
                        <m:r>
                          <a:rPr lang="en-US" sz="2000" i="1">
                            <a:solidFill>
                              <a:schemeClr val="tx1">
                                <a:lumMod val="85000"/>
                                <a:lumOff val="15000"/>
                              </a:schemeClr>
                            </a:solidFill>
                            <a:latin typeface="Cambria Math" panose="02040503050406030204" pitchFamily="18" charset="0"/>
                          </a:rPr>
                          <m:t>1</m:t>
                        </m:r>
                      </m:num>
                      <m:den>
                        <m:r>
                          <a:rPr lang="en-US" sz="2000" i="1">
                            <a:solidFill>
                              <a:schemeClr val="tx1">
                                <a:lumMod val="85000"/>
                                <a:lumOff val="15000"/>
                              </a:schemeClr>
                            </a:solidFill>
                            <a:latin typeface="Cambria Math" panose="02040503050406030204" pitchFamily="18" charset="0"/>
                          </a:rPr>
                          <m:t>𝐶</m:t>
                        </m:r>
                        <m:r>
                          <a:rPr lang="en-US" sz="2000" i="1">
                            <a:solidFill>
                              <a:schemeClr val="tx1">
                                <a:lumMod val="85000"/>
                                <a:lumOff val="15000"/>
                              </a:schemeClr>
                            </a:solidFill>
                            <a:latin typeface="Cambria Math" panose="02040503050406030204" pitchFamily="18" charset="0"/>
                          </a:rPr>
                          <m:t>1</m:t>
                        </m:r>
                        <m:r>
                          <a:rPr lang="en-US" sz="2000" i="1">
                            <a:solidFill>
                              <a:schemeClr val="tx1">
                                <a:lumMod val="85000"/>
                                <a:lumOff val="15000"/>
                              </a:schemeClr>
                            </a:solidFill>
                            <a:latin typeface="Cambria Math" panose="02040503050406030204" pitchFamily="18" charset="0"/>
                          </a:rPr>
                          <m:t>.</m:t>
                        </m:r>
                        <m:r>
                          <a:rPr lang="en-US" sz="2000" i="1">
                            <a:solidFill>
                              <a:schemeClr val="tx1">
                                <a:lumMod val="85000"/>
                                <a:lumOff val="15000"/>
                              </a:schemeClr>
                            </a:solidFill>
                            <a:latin typeface="Cambria Math" panose="02040503050406030204" pitchFamily="18" charset="0"/>
                          </a:rPr>
                          <m:t>𝑆</m:t>
                        </m:r>
                      </m:den>
                    </m:f>
                  </m:oMath>
                </a14:m>
                <a:r>
                  <a:rPr lang="en-US" sz="2000" dirty="0">
                    <a:solidFill>
                      <a:schemeClr val="tx1">
                        <a:lumMod val="85000"/>
                        <a:lumOff val="15000"/>
                      </a:schemeClr>
                    </a:solidFill>
                  </a:rPr>
                  <a:t>           =&gt;</a:t>
                </a:r>
              </a:p>
              <a:p>
                <a:pPr marL="76200" indent="0">
                  <a:buNone/>
                </a:pPr>
                <a:r>
                  <a:rPr lang="en-US" sz="2000" dirty="0"/>
                  <a:t> </a:t>
                </a:r>
              </a:p>
              <a:p>
                <a:r>
                  <a:rPr lang="en-US" sz="2200" b="0" dirty="0">
                    <a:solidFill>
                      <a:schemeClr val="tx1">
                        <a:lumMod val="85000"/>
                        <a:lumOff val="15000"/>
                      </a:schemeClr>
                    </a:solidFill>
                  </a:rPr>
                  <a:t>Ther filter will be composed of Proportional and Integral paths.</a:t>
                </a:r>
              </a:p>
              <a:p>
                <a:endParaRPr lang="en-US" sz="2000" dirty="0"/>
              </a:p>
            </p:txBody>
          </p:sp>
        </mc:Choice>
        <mc:Fallback xmlns="">
          <p:sp>
            <p:nvSpPr>
              <p:cNvPr id="3" name="Text Placeholder 2"/>
              <p:cNvSpPr>
                <a:spLocks noGrp="1" noRot="1" noChangeAspect="1" noMove="1" noResize="1" noEditPoints="1" noAdjustHandles="1" noChangeArrowheads="1" noChangeShapeType="1" noTextEdit="1"/>
              </p:cNvSpPr>
              <p:nvPr>
                <p:ph type="body" idx="1"/>
              </p:nvPr>
            </p:nvSpPr>
            <p:spPr>
              <a:xfrm>
                <a:off x="421436" y="1510748"/>
                <a:ext cx="10856164" cy="4984947"/>
              </a:xfrm>
              <a:blipFill>
                <a:blip r:embed="rId3"/>
                <a:stretch>
                  <a:fillRect/>
                </a:stretch>
              </a:blipFill>
            </p:spPr>
            <p:txBody>
              <a:bodyPr/>
              <a:lstStyle/>
              <a:p>
                <a:r>
                  <a:rPr lang="en-US">
                    <a:noFill/>
                  </a:rPr>
                  <a:t> </a:t>
                </a:r>
              </a:p>
            </p:txBody>
          </p:sp>
        </mc:Fallback>
      </mc:AlternateContent>
      <p:sp>
        <p:nvSpPr>
          <p:cNvPr id="23" name="Text Placeholder 3">
            <a:extLst>
              <a:ext uri="{FF2B5EF4-FFF2-40B4-BE49-F238E27FC236}">
                <a16:creationId xmlns="" xmlns:a16="http://schemas.microsoft.com/office/drawing/2014/main" id="{E65F6AFB-081F-9AA5-3C65-59C9B2E4F208}"/>
              </a:ext>
            </a:extLst>
          </p:cNvPr>
          <p:cNvSpPr>
            <a:spLocks noGrp="1"/>
          </p:cNvSpPr>
          <p:nvPr>
            <p:ph type="body" idx="4294967295"/>
          </p:nvPr>
        </p:nvSpPr>
        <p:spPr>
          <a:xfrm>
            <a:off x="0" y="1135216"/>
            <a:ext cx="10972800" cy="514350"/>
          </a:xfrm>
        </p:spPr>
        <p:txBody>
          <a:bodyPr>
            <a:normAutofit/>
          </a:bodyPr>
          <a:lstStyle/>
          <a:p>
            <a:pPr marL="101600" indent="0" algn="ctr">
              <a:buNone/>
            </a:pPr>
            <a:r>
              <a:rPr lang="en-US" sz="2000" b="1" dirty="0">
                <a:solidFill>
                  <a:schemeClr val="tx1">
                    <a:lumMod val="85000"/>
                    <a:lumOff val="15000"/>
                  </a:schemeClr>
                </a:solidFill>
              </a:rPr>
              <a:t>	Introduction</a:t>
            </a:r>
            <a:endParaRPr lang="en-US" sz="1800" b="1" dirty="0">
              <a:solidFill>
                <a:schemeClr val="tx1">
                  <a:lumMod val="85000"/>
                  <a:lumOff val="15000"/>
                </a:schemeClr>
              </a:solidFill>
            </a:endParaRPr>
          </a:p>
        </p:txBody>
      </p:sp>
      <p:grpSp>
        <p:nvGrpSpPr>
          <p:cNvPr id="15" name="Group 14">
            <a:extLst>
              <a:ext uri="{FF2B5EF4-FFF2-40B4-BE49-F238E27FC236}">
                <a16:creationId xmlns="" xmlns:a16="http://schemas.microsoft.com/office/drawing/2014/main" id="{09901A27-A27A-3902-D1F9-35CEF5789372}"/>
              </a:ext>
            </a:extLst>
          </p:cNvPr>
          <p:cNvGrpSpPr/>
          <p:nvPr/>
        </p:nvGrpSpPr>
        <p:grpSpPr>
          <a:xfrm>
            <a:off x="7268547" y="2891610"/>
            <a:ext cx="4904791" cy="1278294"/>
            <a:chOff x="6677609" y="2230016"/>
            <a:chExt cx="4904791" cy="1278294"/>
          </a:xfrm>
        </p:grpSpPr>
        <p:sp>
          <p:nvSpPr>
            <p:cNvPr id="5" name="Rectangle 4">
              <a:extLst>
                <a:ext uri="{FF2B5EF4-FFF2-40B4-BE49-F238E27FC236}">
                  <a16:creationId xmlns="" xmlns:a16="http://schemas.microsoft.com/office/drawing/2014/main" id="{AA8CD7C8-50E4-0204-0B35-B9254D15E6AF}"/>
                </a:ext>
              </a:extLst>
            </p:cNvPr>
            <p:cNvSpPr/>
            <p:nvPr/>
          </p:nvSpPr>
          <p:spPr>
            <a:xfrm>
              <a:off x="8500188" y="2230016"/>
              <a:ext cx="1250302" cy="127829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 xmlns:a16="http://schemas.microsoft.com/office/drawing/2014/main" id="{AFA363F3-1301-28C1-C08A-1D98494F639A}"/>
                </a:ext>
              </a:extLst>
            </p:cNvPr>
            <p:cNvSpPr txBox="1"/>
            <p:nvPr/>
          </p:nvSpPr>
          <p:spPr>
            <a:xfrm>
              <a:off x="8574833" y="2545997"/>
              <a:ext cx="1101012" cy="646331"/>
            </a:xfrm>
            <a:prstGeom prst="rect">
              <a:avLst/>
            </a:prstGeom>
            <a:noFill/>
          </p:spPr>
          <p:txBody>
            <a:bodyPr wrap="square" rtlCol="0">
              <a:spAutoFit/>
            </a:bodyPr>
            <a:lstStyle/>
            <a:p>
              <a:pPr algn="ctr"/>
              <a:r>
                <a:rPr lang="en-US" sz="1800" dirty="0"/>
                <a:t>LOOP </a:t>
              </a:r>
            </a:p>
            <a:p>
              <a:pPr algn="ctr"/>
              <a:r>
                <a:rPr lang="en-US" sz="1800" dirty="0"/>
                <a:t>FILTER</a:t>
              </a:r>
            </a:p>
          </p:txBody>
        </p:sp>
        <p:cxnSp>
          <p:nvCxnSpPr>
            <p:cNvPr id="10" name="Straight Arrow Connector 9">
              <a:extLst>
                <a:ext uri="{FF2B5EF4-FFF2-40B4-BE49-F238E27FC236}">
                  <a16:creationId xmlns="" xmlns:a16="http://schemas.microsoft.com/office/drawing/2014/main" id="{A23D0C8E-A5A0-AB77-EE9D-E7502FBD7B12}"/>
                </a:ext>
              </a:extLst>
            </p:cNvPr>
            <p:cNvCxnSpPr/>
            <p:nvPr/>
          </p:nvCxnSpPr>
          <p:spPr>
            <a:xfrm>
              <a:off x="7464490" y="2967135"/>
              <a:ext cx="1035698"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2" name="Straight Arrow Connector 11">
              <a:extLst>
                <a:ext uri="{FF2B5EF4-FFF2-40B4-BE49-F238E27FC236}">
                  <a16:creationId xmlns="" xmlns:a16="http://schemas.microsoft.com/office/drawing/2014/main" id="{EB5D21DF-5E87-EB29-140F-A70819C9FA07}"/>
                </a:ext>
              </a:extLst>
            </p:cNvPr>
            <p:cNvCxnSpPr>
              <a:cxnSpLocks/>
            </p:cNvCxnSpPr>
            <p:nvPr/>
          </p:nvCxnSpPr>
          <p:spPr>
            <a:xfrm flipV="1">
              <a:off x="9750490" y="2967134"/>
              <a:ext cx="1101012" cy="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3" name="TextBox 12">
              <a:extLst>
                <a:ext uri="{FF2B5EF4-FFF2-40B4-BE49-F238E27FC236}">
                  <a16:creationId xmlns="" xmlns:a16="http://schemas.microsoft.com/office/drawing/2014/main" id="{412719DB-4F8D-4C50-2729-91ECA0E3337F}"/>
                </a:ext>
              </a:extLst>
            </p:cNvPr>
            <p:cNvSpPr txBox="1"/>
            <p:nvPr/>
          </p:nvSpPr>
          <p:spPr>
            <a:xfrm>
              <a:off x="6677609" y="2527335"/>
              <a:ext cx="926841" cy="646331"/>
            </a:xfrm>
            <a:prstGeom prst="rect">
              <a:avLst/>
            </a:prstGeom>
            <a:noFill/>
          </p:spPr>
          <p:txBody>
            <a:bodyPr wrap="square" rtlCol="0">
              <a:spAutoFit/>
            </a:bodyPr>
            <a:lstStyle/>
            <a:p>
              <a:r>
                <a:rPr lang="en-US" sz="1800" dirty="0"/>
                <a:t>Phase Error </a:t>
              </a:r>
            </a:p>
          </p:txBody>
        </p:sp>
        <p:sp>
          <p:nvSpPr>
            <p:cNvPr id="14" name="TextBox 13">
              <a:extLst>
                <a:ext uri="{FF2B5EF4-FFF2-40B4-BE49-F238E27FC236}">
                  <a16:creationId xmlns="" xmlns:a16="http://schemas.microsoft.com/office/drawing/2014/main" id="{EE58443C-A715-6932-4E52-410638B3727D}"/>
                </a:ext>
              </a:extLst>
            </p:cNvPr>
            <p:cNvSpPr txBox="1"/>
            <p:nvPr/>
          </p:nvSpPr>
          <p:spPr>
            <a:xfrm>
              <a:off x="10668000" y="2597802"/>
              <a:ext cx="914400" cy="369332"/>
            </a:xfrm>
            <a:prstGeom prst="rect">
              <a:avLst/>
            </a:prstGeom>
            <a:noFill/>
          </p:spPr>
          <p:txBody>
            <a:bodyPr wrap="square" rtlCol="0">
              <a:spAutoFit/>
            </a:bodyPr>
            <a:lstStyle/>
            <a:p>
              <a:r>
                <a:rPr lang="en-US" sz="1800" dirty="0"/>
                <a:t>OTW</a:t>
              </a:r>
              <a:endParaRPr lang="en-US" dirty="0"/>
            </a:p>
          </p:txBody>
        </p:sp>
      </p:grpSp>
      <p:sp>
        <p:nvSpPr>
          <p:cNvPr id="17" name="Rectangle 16">
            <a:extLst>
              <a:ext uri="{FF2B5EF4-FFF2-40B4-BE49-F238E27FC236}">
                <a16:creationId xmlns="" xmlns:a16="http://schemas.microsoft.com/office/drawing/2014/main" id="{CE6F8C04-5CA6-4802-2648-BF60236C340E}"/>
              </a:ext>
            </a:extLst>
          </p:cNvPr>
          <p:cNvSpPr/>
          <p:nvPr/>
        </p:nvSpPr>
        <p:spPr>
          <a:xfrm>
            <a:off x="622044" y="3736728"/>
            <a:ext cx="2348204" cy="67180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 xmlns:a16="http://schemas.microsoft.com/office/drawing/2014/main" id="{3D509FA0-E6A5-7E53-A29A-0167D36858E1}"/>
              </a:ext>
            </a:extLst>
          </p:cNvPr>
          <p:cNvGrpSpPr/>
          <p:nvPr/>
        </p:nvGrpSpPr>
        <p:grpSpPr>
          <a:xfrm>
            <a:off x="3865986" y="3673896"/>
            <a:ext cx="2522376" cy="711516"/>
            <a:chOff x="3785118" y="4022207"/>
            <a:chExt cx="2522376" cy="711516"/>
          </a:xfrm>
        </p:grpSpPr>
        <p:sp>
          <p:nvSpPr>
            <p:cNvPr id="20" name="Rectangle 19">
              <a:extLst>
                <a:ext uri="{FF2B5EF4-FFF2-40B4-BE49-F238E27FC236}">
                  <a16:creationId xmlns="" xmlns:a16="http://schemas.microsoft.com/office/drawing/2014/main" id="{9F49B10A-2E12-F770-A59C-DDE712A0BA9E}"/>
                </a:ext>
              </a:extLst>
            </p:cNvPr>
            <p:cNvSpPr/>
            <p:nvPr/>
          </p:nvSpPr>
          <p:spPr>
            <a:xfrm>
              <a:off x="3785118" y="4022207"/>
              <a:ext cx="2522376" cy="71151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 xmlns:a16="http://schemas.microsoft.com/office/drawing/2014/main" id="{FB04EC09-B58E-4BB3-109E-4CD2B0185933}"/>
                </a:ext>
              </a:extLst>
            </p:cNvPr>
            <p:cNvPicPr>
              <a:picLocks noChangeAspect="1"/>
            </p:cNvPicPr>
            <p:nvPr/>
          </p:nvPicPr>
          <p:blipFill>
            <a:blip r:embed="rId4"/>
            <a:srcRect l="-51" t="17926" r="51" b="1"/>
            <a:stretch>
              <a:fillRect/>
            </a:stretch>
          </p:blipFill>
          <p:spPr>
            <a:xfrm>
              <a:off x="3981060" y="4105635"/>
              <a:ext cx="2114940" cy="576188"/>
            </a:xfrm>
            <a:prstGeom prst="rect">
              <a:avLst/>
            </a:prstGeom>
          </p:spPr>
        </p:pic>
      </p:grpSp>
      <p:grpSp>
        <p:nvGrpSpPr>
          <p:cNvPr id="33" name="Group 32">
            <a:extLst>
              <a:ext uri="{FF2B5EF4-FFF2-40B4-BE49-F238E27FC236}">
                <a16:creationId xmlns="" xmlns:a16="http://schemas.microsoft.com/office/drawing/2014/main" id="{2B4185AF-5446-9012-0873-ED7D0D391728}"/>
              </a:ext>
            </a:extLst>
          </p:cNvPr>
          <p:cNvGrpSpPr/>
          <p:nvPr/>
        </p:nvGrpSpPr>
        <p:grpSpPr>
          <a:xfrm>
            <a:off x="8280914" y="4842271"/>
            <a:ext cx="3435224" cy="1129631"/>
            <a:chOff x="8147176" y="4965891"/>
            <a:chExt cx="3247053" cy="957787"/>
          </a:xfrm>
        </p:grpSpPr>
        <p:sp>
          <p:nvSpPr>
            <p:cNvPr id="34" name="Rectangle 33">
              <a:extLst>
                <a:ext uri="{FF2B5EF4-FFF2-40B4-BE49-F238E27FC236}">
                  <a16:creationId xmlns="" xmlns:a16="http://schemas.microsoft.com/office/drawing/2014/main" id="{6663A430-AB49-2A78-8674-29BFD8FFFCAE}"/>
                </a:ext>
              </a:extLst>
            </p:cNvPr>
            <p:cNvSpPr/>
            <p:nvPr/>
          </p:nvSpPr>
          <p:spPr>
            <a:xfrm>
              <a:off x="8147176" y="4965891"/>
              <a:ext cx="3247053" cy="95778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5" name="Picture 34">
              <a:extLst>
                <a:ext uri="{FF2B5EF4-FFF2-40B4-BE49-F238E27FC236}">
                  <a16:creationId xmlns="" xmlns:a16="http://schemas.microsoft.com/office/drawing/2014/main" id="{3D273EDE-65BF-771B-BEF1-B5CAD0557AA4}"/>
                </a:ext>
              </a:extLst>
            </p:cNvPr>
            <p:cNvPicPr>
              <a:picLocks noChangeAspect="1"/>
            </p:cNvPicPr>
            <p:nvPr/>
          </p:nvPicPr>
          <p:blipFill>
            <a:blip r:embed="rId5"/>
            <a:stretch>
              <a:fillRect/>
            </a:stretch>
          </p:blipFill>
          <p:spPr>
            <a:xfrm>
              <a:off x="8236437" y="5001081"/>
              <a:ext cx="3068530" cy="847316"/>
            </a:xfrm>
            <a:prstGeom prst="rect">
              <a:avLst/>
            </a:prstGeom>
          </p:spPr>
        </p:pic>
      </p:gr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Group 26">
            <a:extLst>
              <a:ext uri="{FF2B5EF4-FFF2-40B4-BE49-F238E27FC236}">
                <a16:creationId xmlns="" xmlns:a16="http://schemas.microsoft.com/office/drawing/2014/main" id="{57EDAF88-1EA0-BACA-A9B0-BB52E40F94DC}"/>
              </a:ext>
            </a:extLst>
          </p:cNvPr>
          <p:cNvGrpSpPr/>
          <p:nvPr/>
        </p:nvGrpSpPr>
        <p:grpSpPr>
          <a:xfrm>
            <a:off x="5980900" y="2327087"/>
            <a:ext cx="6254666" cy="2694062"/>
            <a:chOff x="5937334" y="2679136"/>
            <a:chExt cx="6254666" cy="2694062"/>
          </a:xfrm>
        </p:grpSpPr>
        <p:grpSp>
          <p:nvGrpSpPr>
            <p:cNvPr id="23" name="Group 22">
              <a:extLst>
                <a:ext uri="{FF2B5EF4-FFF2-40B4-BE49-F238E27FC236}">
                  <a16:creationId xmlns="" xmlns:a16="http://schemas.microsoft.com/office/drawing/2014/main" id="{F6E15E9F-AB70-65E1-C6EC-33F4203369E5}"/>
                </a:ext>
              </a:extLst>
            </p:cNvPr>
            <p:cNvGrpSpPr/>
            <p:nvPr/>
          </p:nvGrpSpPr>
          <p:grpSpPr>
            <a:xfrm>
              <a:off x="5937334" y="2679136"/>
              <a:ext cx="6254666" cy="2694062"/>
              <a:chOff x="5713173" y="2561883"/>
              <a:chExt cx="6254666" cy="2694062"/>
            </a:xfrm>
          </p:grpSpPr>
          <p:grpSp>
            <p:nvGrpSpPr>
              <p:cNvPr id="21" name="Group 20">
                <a:extLst>
                  <a:ext uri="{FF2B5EF4-FFF2-40B4-BE49-F238E27FC236}">
                    <a16:creationId xmlns="" xmlns:a16="http://schemas.microsoft.com/office/drawing/2014/main" id="{44D88657-CB0B-E8E9-5EEE-48BBBB085158}"/>
                  </a:ext>
                </a:extLst>
              </p:cNvPr>
              <p:cNvGrpSpPr/>
              <p:nvPr/>
            </p:nvGrpSpPr>
            <p:grpSpPr>
              <a:xfrm>
                <a:off x="5713173" y="2561883"/>
                <a:ext cx="6254666" cy="2694062"/>
                <a:chOff x="5700981" y="2679136"/>
                <a:chExt cx="6254666" cy="2694062"/>
              </a:xfrm>
            </p:grpSpPr>
            <p:pic>
              <p:nvPicPr>
                <p:cNvPr id="8" name="Picture 7">
                  <a:extLst>
                    <a:ext uri="{FF2B5EF4-FFF2-40B4-BE49-F238E27FC236}">
                      <a16:creationId xmlns="" xmlns:a16="http://schemas.microsoft.com/office/drawing/2014/main" id="{A12B8294-28D0-B29B-36D3-41E5BB6F9A64}"/>
                    </a:ext>
                  </a:extLst>
                </p:cNvPr>
                <p:cNvPicPr>
                  <a:picLocks noChangeAspect="1"/>
                </p:cNvPicPr>
                <p:nvPr/>
              </p:nvPicPr>
              <p:blipFill>
                <a:blip r:embed="rId2"/>
                <a:stretch>
                  <a:fillRect/>
                </a:stretch>
              </p:blipFill>
              <p:spPr>
                <a:xfrm>
                  <a:off x="5700981" y="2679136"/>
                  <a:ext cx="6254666" cy="2694062"/>
                </a:xfrm>
                <a:prstGeom prst="rect">
                  <a:avLst/>
                </a:prstGeom>
              </p:spPr>
            </p:pic>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 xmlns:a16="http://schemas.microsoft.com/office/drawing/2014/main" id="{F2CCF86B-3124-FBAE-AEAF-DED44FF25291}"/>
                        </a:ext>
                      </a:extLst>
                    </p14:cNvPr>
                    <p14:cNvContentPartPr/>
                    <p14:nvPr/>
                  </p14:nvContentPartPr>
                  <p14:xfrm>
                    <a:off x="6465390" y="3748770"/>
                    <a:ext cx="360" cy="360"/>
                  </p14:xfrm>
                </p:contentPart>
              </mc:Choice>
              <mc:Fallback xmlns="">
                <p:pic>
                  <p:nvPicPr>
                    <p:cNvPr id="2" name="Ink 1">
                      <a:extLst>
                        <a:ext uri="{FF2B5EF4-FFF2-40B4-BE49-F238E27FC236}">
                          <a16:creationId xmlns:a16="http://schemas.microsoft.com/office/drawing/2014/main" id="{F2CCF86B-3124-FBAE-AEAF-DED44FF25291}"/>
                        </a:ext>
                      </a:extLst>
                    </p:cNvPr>
                    <p:cNvPicPr/>
                    <p:nvPr/>
                  </p:nvPicPr>
                  <p:blipFill>
                    <a:blip r:embed="rId4"/>
                    <a:stretch>
                      <a:fillRect/>
                    </a:stretch>
                  </p:blipFill>
                  <p:spPr>
                    <a:xfrm>
                      <a:off x="6402750" y="3686130"/>
                      <a:ext cx="126000" cy="126000"/>
                    </a:xfrm>
                    <a:prstGeom prst="rect">
                      <a:avLst/>
                    </a:prstGeom>
                  </p:spPr>
                </p:pic>
              </mc:Fallback>
            </mc:AlternateContent>
            <p:grpSp>
              <p:nvGrpSpPr>
                <p:cNvPr id="18" name="Group 17">
                  <a:extLst>
                    <a:ext uri="{FF2B5EF4-FFF2-40B4-BE49-F238E27FC236}">
                      <a16:creationId xmlns="" xmlns:a16="http://schemas.microsoft.com/office/drawing/2014/main" id="{322CFED0-3CB6-FBD3-462A-54199F8414F3}"/>
                    </a:ext>
                  </a:extLst>
                </p:cNvPr>
                <p:cNvGrpSpPr/>
                <p:nvPr/>
              </p:nvGrpSpPr>
              <p:grpSpPr>
                <a:xfrm>
                  <a:off x="9326670" y="3718530"/>
                  <a:ext cx="34560" cy="95400"/>
                  <a:chOff x="9326670" y="3718530"/>
                  <a:chExt cx="34560" cy="95400"/>
                </a:xfrm>
              </p:grpSpPr>
              <mc:AlternateContent xmlns:mc="http://schemas.openxmlformats.org/markup-compatibility/2006" xmlns:p14="http://schemas.microsoft.com/office/powerpoint/2010/main">
                <mc:Choice Requires="p14">
                  <p:contentPart p14:bwMode="auto" r:id="rId5">
                    <p14:nvContentPartPr>
                      <p14:cNvPr id="12" name="Ink 11">
                        <a:extLst>
                          <a:ext uri="{FF2B5EF4-FFF2-40B4-BE49-F238E27FC236}">
                            <a16:creationId xmlns="" xmlns:a16="http://schemas.microsoft.com/office/drawing/2014/main" id="{AE1404F4-D8A7-5566-E439-C9006AD41A90}"/>
                          </a:ext>
                        </a:extLst>
                      </p14:cNvPr>
                      <p14:cNvContentPartPr/>
                      <p14:nvPr/>
                    </p14:nvContentPartPr>
                    <p14:xfrm>
                      <a:off x="9338190" y="3718530"/>
                      <a:ext cx="360" cy="360"/>
                    </p14:xfrm>
                  </p:contentPart>
                </mc:Choice>
                <mc:Fallback xmlns="">
                  <p:pic>
                    <p:nvPicPr>
                      <p:cNvPr id="12" name="Ink 11">
                        <a:extLst>
                          <a:ext uri="{FF2B5EF4-FFF2-40B4-BE49-F238E27FC236}">
                            <a16:creationId xmlns:a16="http://schemas.microsoft.com/office/drawing/2014/main" id="{AE1404F4-D8A7-5566-E439-C9006AD41A90}"/>
                          </a:ext>
                        </a:extLst>
                      </p:cNvPr>
                      <p:cNvPicPr/>
                      <p:nvPr/>
                    </p:nvPicPr>
                    <p:blipFill>
                      <a:blip r:embed="rId6"/>
                      <a:stretch>
                        <a:fillRect/>
                      </a:stretch>
                    </p:blipFill>
                    <p:spPr>
                      <a:xfrm>
                        <a:off x="9302190" y="3682530"/>
                        <a:ext cx="72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3" name="Ink 12">
                        <a:extLst>
                          <a:ext uri="{FF2B5EF4-FFF2-40B4-BE49-F238E27FC236}">
                            <a16:creationId xmlns="" xmlns:a16="http://schemas.microsoft.com/office/drawing/2014/main" id="{EDB193E2-4955-28DB-F137-C0A1A607BA97}"/>
                          </a:ext>
                        </a:extLst>
                      </p14:cNvPr>
                      <p14:cNvContentPartPr/>
                      <p14:nvPr/>
                    </p14:nvContentPartPr>
                    <p14:xfrm>
                      <a:off x="9360870" y="3764250"/>
                      <a:ext cx="360" cy="360"/>
                    </p14:xfrm>
                  </p:contentPart>
                </mc:Choice>
                <mc:Fallback xmlns="">
                  <p:pic>
                    <p:nvPicPr>
                      <p:cNvPr id="13" name="Ink 12">
                        <a:extLst>
                          <a:ext uri="{FF2B5EF4-FFF2-40B4-BE49-F238E27FC236}">
                            <a16:creationId xmlns:a16="http://schemas.microsoft.com/office/drawing/2014/main" id="{EDB193E2-4955-28DB-F137-C0A1A607BA97}"/>
                          </a:ext>
                        </a:extLst>
                      </p:cNvPr>
                      <p:cNvPicPr/>
                      <p:nvPr/>
                    </p:nvPicPr>
                    <p:blipFill>
                      <a:blip r:embed="rId6"/>
                      <a:stretch>
                        <a:fillRect/>
                      </a:stretch>
                    </p:blipFill>
                    <p:spPr>
                      <a:xfrm>
                        <a:off x="9325230" y="3728250"/>
                        <a:ext cx="72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5" name="Ink 14">
                        <a:extLst>
                          <a:ext uri="{FF2B5EF4-FFF2-40B4-BE49-F238E27FC236}">
                            <a16:creationId xmlns="" xmlns:a16="http://schemas.microsoft.com/office/drawing/2014/main" id="{1CF4AE9E-FCDB-F01F-845A-76F2291C3800}"/>
                          </a:ext>
                        </a:extLst>
                      </p14:cNvPr>
                      <p14:cNvContentPartPr/>
                      <p14:nvPr/>
                    </p14:nvContentPartPr>
                    <p14:xfrm>
                      <a:off x="9342150" y="3783330"/>
                      <a:ext cx="360" cy="360"/>
                    </p14:xfrm>
                  </p:contentPart>
                </mc:Choice>
                <mc:Fallback xmlns="">
                  <p:pic>
                    <p:nvPicPr>
                      <p:cNvPr id="15" name="Ink 14">
                        <a:extLst>
                          <a:ext uri="{FF2B5EF4-FFF2-40B4-BE49-F238E27FC236}">
                            <a16:creationId xmlns:a16="http://schemas.microsoft.com/office/drawing/2014/main" id="{1CF4AE9E-FCDB-F01F-845A-76F2291C3800}"/>
                          </a:ext>
                        </a:extLst>
                      </p:cNvPr>
                      <p:cNvPicPr/>
                      <p:nvPr/>
                    </p:nvPicPr>
                    <p:blipFill>
                      <a:blip r:embed="rId6"/>
                      <a:stretch>
                        <a:fillRect/>
                      </a:stretch>
                    </p:blipFill>
                    <p:spPr>
                      <a:xfrm>
                        <a:off x="9306150" y="3747330"/>
                        <a:ext cx="72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7" name="Ink 16">
                        <a:extLst>
                          <a:ext uri="{FF2B5EF4-FFF2-40B4-BE49-F238E27FC236}">
                            <a16:creationId xmlns="" xmlns:a16="http://schemas.microsoft.com/office/drawing/2014/main" id="{DFE20BEC-FA1D-EF56-9D44-9E81F3F5154F}"/>
                          </a:ext>
                        </a:extLst>
                      </p14:cNvPr>
                      <p14:cNvContentPartPr/>
                      <p14:nvPr/>
                    </p14:nvContentPartPr>
                    <p14:xfrm>
                      <a:off x="9326670" y="3813570"/>
                      <a:ext cx="360" cy="360"/>
                    </p14:xfrm>
                  </p:contentPart>
                </mc:Choice>
                <mc:Fallback xmlns="">
                  <p:pic>
                    <p:nvPicPr>
                      <p:cNvPr id="17" name="Ink 16">
                        <a:extLst>
                          <a:ext uri="{FF2B5EF4-FFF2-40B4-BE49-F238E27FC236}">
                            <a16:creationId xmlns:a16="http://schemas.microsoft.com/office/drawing/2014/main" id="{DFE20BEC-FA1D-EF56-9D44-9E81F3F5154F}"/>
                          </a:ext>
                        </a:extLst>
                      </p:cNvPr>
                      <p:cNvPicPr/>
                      <p:nvPr/>
                    </p:nvPicPr>
                    <p:blipFill>
                      <a:blip r:embed="rId6"/>
                      <a:stretch>
                        <a:fillRect/>
                      </a:stretch>
                    </p:blipFill>
                    <p:spPr>
                      <a:xfrm>
                        <a:off x="9291030" y="3777930"/>
                        <a:ext cx="72000" cy="72000"/>
                      </a:xfrm>
                      <a:prstGeom prst="rect">
                        <a:avLst/>
                      </a:prstGeom>
                    </p:spPr>
                  </p:pic>
                </mc:Fallback>
              </mc:AlternateContent>
            </p:grpSp>
          </p:grpSp>
          <mc:AlternateContent xmlns:mc="http://schemas.openxmlformats.org/markup-compatibility/2006" xmlns:p14="http://schemas.microsoft.com/office/powerpoint/2010/main">
            <mc:Choice Requires="p14">
              <p:contentPart p14:bwMode="auto" r:id="rId10">
                <p14:nvContentPartPr>
                  <p14:cNvPr id="22" name="Ink 21">
                    <a:extLst>
                      <a:ext uri="{FF2B5EF4-FFF2-40B4-BE49-F238E27FC236}">
                        <a16:creationId xmlns="" xmlns:a16="http://schemas.microsoft.com/office/drawing/2014/main" id="{3321FB20-212D-8CE0-90D2-94B60BB8AF3A}"/>
                      </a:ext>
                    </a:extLst>
                  </p14:cNvPr>
                  <p14:cNvContentPartPr/>
                  <p14:nvPr/>
                </p14:nvContentPartPr>
                <p14:xfrm>
                  <a:off x="6457890" y="3703260"/>
                  <a:ext cx="360" cy="360"/>
                </p14:xfrm>
              </p:contentPart>
            </mc:Choice>
            <mc:Fallback xmlns="">
              <p:pic>
                <p:nvPicPr>
                  <p:cNvPr id="22" name="Ink 21">
                    <a:extLst>
                      <a:ext uri="{FF2B5EF4-FFF2-40B4-BE49-F238E27FC236}">
                        <a16:creationId xmlns:a16="http://schemas.microsoft.com/office/drawing/2014/main" id="{3321FB20-212D-8CE0-90D2-94B60BB8AF3A}"/>
                      </a:ext>
                    </a:extLst>
                  </p:cNvPr>
                  <p:cNvPicPr/>
                  <p:nvPr/>
                </p:nvPicPr>
                <p:blipFill>
                  <a:blip r:embed="rId6"/>
                  <a:stretch>
                    <a:fillRect/>
                  </a:stretch>
                </p:blipFill>
                <p:spPr>
                  <a:xfrm>
                    <a:off x="6421890" y="3667260"/>
                    <a:ext cx="72000" cy="72000"/>
                  </a:xfrm>
                  <a:prstGeom prst="rect">
                    <a:avLst/>
                  </a:prstGeom>
                </p:spPr>
              </p:pic>
            </mc:Fallback>
          </mc:AlternateContent>
        </p:grpSp>
        <p:sp>
          <p:nvSpPr>
            <p:cNvPr id="24" name="TextBox 23">
              <a:extLst>
                <a:ext uri="{FF2B5EF4-FFF2-40B4-BE49-F238E27FC236}">
                  <a16:creationId xmlns="" xmlns:a16="http://schemas.microsoft.com/office/drawing/2014/main" id="{ADE154B9-95AF-CF49-807A-EE05EBDD72AA}"/>
                </a:ext>
              </a:extLst>
            </p:cNvPr>
            <p:cNvSpPr txBox="1"/>
            <p:nvPr/>
          </p:nvSpPr>
          <p:spPr>
            <a:xfrm>
              <a:off x="6558114" y="3594881"/>
              <a:ext cx="287258" cy="307777"/>
            </a:xfrm>
            <a:prstGeom prst="rect">
              <a:avLst/>
            </a:prstGeom>
            <a:noFill/>
          </p:spPr>
          <p:txBody>
            <a:bodyPr wrap="none" rtlCol="0">
              <a:spAutoFit/>
            </a:bodyPr>
            <a:lstStyle/>
            <a:p>
              <a:r>
                <a:rPr lang="el-GR" dirty="0"/>
                <a:t>ρ</a:t>
              </a:r>
              <a:endParaRPr lang="en-US" dirty="0"/>
            </a:p>
          </p:txBody>
        </p:sp>
        <p:sp>
          <p:nvSpPr>
            <p:cNvPr id="26" name="TextBox 25">
              <a:extLst>
                <a:ext uri="{FF2B5EF4-FFF2-40B4-BE49-F238E27FC236}">
                  <a16:creationId xmlns="" xmlns:a16="http://schemas.microsoft.com/office/drawing/2014/main" id="{434B5152-D35C-1FA6-44D3-073D0EF004D3}"/>
                </a:ext>
              </a:extLst>
            </p:cNvPr>
            <p:cNvSpPr txBox="1"/>
            <p:nvPr/>
          </p:nvSpPr>
          <p:spPr>
            <a:xfrm>
              <a:off x="9452443" y="3594881"/>
              <a:ext cx="289560" cy="307777"/>
            </a:xfrm>
            <a:prstGeom prst="rect">
              <a:avLst/>
            </a:prstGeom>
            <a:noFill/>
          </p:spPr>
          <p:txBody>
            <a:bodyPr wrap="square">
              <a:spAutoFit/>
            </a:bodyPr>
            <a:lstStyle/>
            <a:p>
              <a:r>
                <a:rPr lang="en-US" dirty="0"/>
                <a:t>ρ</a:t>
              </a:r>
            </a:p>
          </p:txBody>
        </p:sp>
      </p:grpSp>
      <p:sp>
        <p:nvSpPr>
          <p:cNvPr id="5" name="Title 1">
            <a:extLst>
              <a:ext uri="{FF2B5EF4-FFF2-40B4-BE49-F238E27FC236}">
                <a16:creationId xmlns="" xmlns:a16="http://schemas.microsoft.com/office/drawing/2014/main" id="{31F69B96-4353-EEF1-8128-658C4613362C}"/>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Digital loop filter </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 xmlns:a16="http://schemas.microsoft.com/office/drawing/2014/main" id="{BF7E0217-418B-46EC-F31E-25BA37D189C9}"/>
                  </a:ext>
                </a:extLst>
              </p:cNvPr>
              <p:cNvSpPr>
                <a:spLocks noGrp="1"/>
              </p:cNvSpPr>
              <p:nvPr>
                <p:ph type="body" idx="1"/>
              </p:nvPr>
            </p:nvSpPr>
            <p:spPr>
              <a:xfrm>
                <a:off x="476250" y="1510748"/>
                <a:ext cx="5326030" cy="4984947"/>
              </a:xfrm>
            </p:spPr>
            <p:txBody>
              <a:bodyPr/>
              <a:lstStyle/>
              <a:p>
                <a:pPr marL="76200" indent="0">
                  <a:buNone/>
                </a:pPr>
                <a:r>
                  <a:rPr lang="en-US" b="1" dirty="0">
                    <a:solidFill>
                      <a:schemeClr val="tx1">
                        <a:lumMod val="85000"/>
                        <a:lumOff val="15000"/>
                      </a:schemeClr>
                    </a:solidFill>
                  </a:rPr>
                  <a:t>Proportional path:</a:t>
                </a:r>
              </a:p>
              <a:p>
                <a:r>
                  <a:rPr lang="en-US" sz="2000" b="0" dirty="0">
                    <a:solidFill>
                      <a:schemeClr val="tx1">
                        <a:lumMod val="85000"/>
                        <a:lumOff val="15000"/>
                      </a:schemeClr>
                    </a:solidFill>
                  </a:rPr>
                  <a:t>Controls loop bandwidth.</a:t>
                </a:r>
              </a:p>
              <a:p>
                <a:r>
                  <a:rPr lang="en-US" sz="2000" b="0" dirty="0">
                    <a:solidFill>
                      <a:schemeClr val="tx1">
                        <a:lumMod val="85000"/>
                        <a:lumOff val="15000"/>
                      </a:schemeClr>
                    </a:solidFill>
                  </a:rPr>
                  <a:t>Responsible for fast response.</a:t>
                </a:r>
              </a:p>
              <a:p>
                <a:pPr marL="76200" indent="0">
                  <a:buNone/>
                </a:pPr>
                <a:r>
                  <a:rPr lang="en-US" sz="2000" b="0" dirty="0">
                    <a:solidFill>
                      <a:schemeClr val="tx1">
                        <a:lumMod val="85000"/>
                        <a:lumOff val="15000"/>
                      </a:schemeClr>
                    </a:solidFill>
                  </a:rPr>
                  <a:t>(PVT variations </a:t>
                </a:r>
                <a14:m>
                  <m:oMath xmlns:m="http://schemas.openxmlformats.org/officeDocument/2006/math">
                    <m:r>
                      <a:rPr lang="en-US" sz="2000" b="0" i="1">
                        <a:solidFill>
                          <a:schemeClr val="tx1">
                            <a:lumMod val="85000"/>
                            <a:lumOff val="15000"/>
                          </a:schemeClr>
                        </a:solidFill>
                        <a:latin typeface="Cambria Math" panose="02040503050406030204" pitchFamily="18" charset="0"/>
                        <a:ea typeface="Cambria Math" panose="02040503050406030204" pitchFamily="18" charset="0"/>
                      </a:rPr>
                      <m:t>~</m:t>
                    </m:r>
                    <m:r>
                      <a:rPr lang="en-US" sz="2000" b="0" i="1">
                        <a:solidFill>
                          <a:schemeClr val="tx1">
                            <a:lumMod val="85000"/>
                            <a:lumOff val="15000"/>
                          </a:schemeClr>
                        </a:solidFill>
                        <a:latin typeface="Cambria Math" panose="02040503050406030204" pitchFamily="18" charset="0"/>
                        <a:ea typeface="Cambria Math" panose="02040503050406030204" pitchFamily="18" charset="0"/>
                      </a:rPr>
                      <m:t>500</m:t>
                    </m:r>
                    <m:r>
                      <a:rPr lang="en-US" sz="2000" b="0" i="1">
                        <a:solidFill>
                          <a:schemeClr val="tx1">
                            <a:lumMod val="85000"/>
                            <a:lumOff val="15000"/>
                          </a:schemeClr>
                        </a:solidFill>
                        <a:latin typeface="Cambria Math" panose="02040503050406030204" pitchFamily="18" charset="0"/>
                        <a:ea typeface="Cambria Math" panose="02040503050406030204" pitchFamily="18" charset="0"/>
                      </a:rPr>
                      <m:t>𝑀𝐻𝑧</m:t>
                    </m:r>
                  </m:oMath>
                </a14:m>
                <a:r>
                  <a:rPr lang="en-US" sz="2000" b="0" dirty="0">
                    <a:solidFill>
                      <a:schemeClr val="tx1">
                        <a:lumMod val="85000"/>
                        <a:lumOff val="15000"/>
                      </a:schemeClr>
                    </a:solidFill>
                  </a:rPr>
                  <a:t> and initial channel offset) </a:t>
                </a:r>
              </a:p>
              <a:p>
                <a:r>
                  <a:rPr lang="en-US" sz="2000" b="0" dirty="0">
                    <a:solidFill>
                      <a:schemeClr val="tx1">
                        <a:lumMod val="85000"/>
                        <a:lumOff val="15000"/>
                      </a:schemeClr>
                    </a:solidFill>
                  </a:rPr>
                  <a:t>OTW is directly proportional to phase error.</a:t>
                </a:r>
              </a:p>
              <a:p>
                <a:pPr marL="76200" indent="0">
                  <a:buNone/>
                </a:pPr>
                <a:r>
                  <a:rPr lang="en-US" b="1" dirty="0">
                    <a:solidFill>
                      <a:schemeClr val="tx1">
                        <a:lumMod val="85000"/>
                        <a:lumOff val="15000"/>
                      </a:schemeClr>
                    </a:solidFill>
                  </a:rPr>
                  <a:t>Integral path:</a:t>
                </a:r>
              </a:p>
              <a:p>
                <a:r>
                  <a:rPr lang="en-US" sz="2000" b="0" dirty="0">
                    <a:solidFill>
                      <a:schemeClr val="tx1">
                        <a:lumMod val="85000"/>
                        <a:lumOff val="15000"/>
                      </a:schemeClr>
                    </a:solidFill>
                  </a:rPr>
                  <a:t>Accumulates past phase errors </a:t>
                </a:r>
              </a:p>
              <a:p>
                <a:pPr marL="533400" lvl="1" indent="0">
                  <a:buNone/>
                </a:pPr>
                <a:r>
                  <a:rPr lang="en-US" sz="1600" b="0" dirty="0">
                    <a:solidFill>
                      <a:schemeClr val="tx1">
                        <a:lumMod val="85000"/>
                        <a:lumOff val="15000"/>
                      </a:schemeClr>
                    </a:solidFill>
                  </a:rPr>
                  <a:t>(</a:t>
                </a:r>
                <a:r>
                  <a:rPr lang="en-US" sz="1800" b="0" dirty="0">
                    <a:solidFill>
                      <a:schemeClr val="tx1">
                        <a:lumMod val="85000"/>
                        <a:lumOff val="15000"/>
                      </a:schemeClr>
                    </a:solidFill>
                  </a:rPr>
                  <a:t>to convert phase error → frequency correction</a:t>
                </a:r>
                <a:r>
                  <a:rPr lang="en-US" sz="1600" b="0" dirty="0">
                    <a:solidFill>
                      <a:schemeClr val="tx1">
                        <a:lumMod val="85000"/>
                        <a:lumOff val="15000"/>
                      </a:schemeClr>
                    </a:solidFill>
                  </a:rPr>
                  <a:t>).</a:t>
                </a:r>
              </a:p>
              <a:p>
                <a:r>
                  <a:rPr lang="en-US" sz="2000" b="0" dirty="0">
                    <a:solidFill>
                      <a:schemeClr val="tx1">
                        <a:lumMod val="85000"/>
                        <a:lumOff val="15000"/>
                      </a:schemeClr>
                    </a:solidFill>
                  </a:rPr>
                  <a:t>Eliminates steady-state phase error.</a:t>
                </a:r>
              </a:p>
              <a:p>
                <a:r>
                  <a:rPr lang="en-US" sz="2000" b="0" dirty="0">
                    <a:solidFill>
                      <a:schemeClr val="tx1">
                        <a:lumMod val="85000"/>
                        <a:lumOff val="15000"/>
                      </a:schemeClr>
                    </a:solidFill>
                  </a:rPr>
                  <a:t>Responsible for fine and accurate tuning.</a:t>
                </a:r>
              </a:p>
              <a:p>
                <a:r>
                  <a:rPr lang="en-US" sz="2000" b="0" dirty="0">
                    <a:solidFill>
                      <a:schemeClr val="tx1">
                        <a:lumMod val="85000"/>
                        <a:lumOff val="15000"/>
                      </a:schemeClr>
                    </a:solidFill>
                  </a:rPr>
                  <a:t>Improved noise suppression (extra pole).</a:t>
                </a:r>
              </a:p>
            </p:txBody>
          </p:sp>
        </mc:Choice>
        <mc:Fallback xmlns="">
          <p:sp>
            <p:nvSpPr>
              <p:cNvPr id="3" name="Text Placeholder 2">
                <a:extLst>
                  <a:ext uri="{FF2B5EF4-FFF2-40B4-BE49-F238E27FC236}">
                    <a16:creationId xmlns:a16="http://schemas.microsoft.com/office/drawing/2014/main" id="{BF7E0217-418B-46EC-F31E-25BA37D189C9}"/>
                  </a:ext>
                </a:extLst>
              </p:cNvPr>
              <p:cNvSpPr>
                <a:spLocks noGrp="1" noRot="1" noChangeAspect="1" noMove="1" noResize="1" noEditPoints="1" noAdjustHandles="1" noChangeArrowheads="1" noChangeShapeType="1" noTextEdit="1"/>
              </p:cNvSpPr>
              <p:nvPr>
                <p:ph type="body" idx="1"/>
              </p:nvPr>
            </p:nvSpPr>
            <p:spPr>
              <a:xfrm>
                <a:off x="476250" y="1510748"/>
                <a:ext cx="5326030" cy="4984947"/>
              </a:xfrm>
              <a:blipFill>
                <a:blip r:embed="rId11"/>
                <a:stretch>
                  <a:fillRect/>
                </a:stretch>
              </a:blipFill>
            </p:spPr>
            <p:txBody>
              <a:bodyPr/>
              <a:lstStyle/>
              <a:p>
                <a:r>
                  <a:rPr lang="en-US">
                    <a:noFill/>
                  </a:rPr>
                  <a:t> </a:t>
                </a:r>
              </a:p>
            </p:txBody>
          </p:sp>
        </mc:Fallback>
      </mc:AlternateContent>
      <p:sp>
        <p:nvSpPr>
          <p:cNvPr id="30" name="Text Placeholder 3">
            <a:extLst>
              <a:ext uri="{FF2B5EF4-FFF2-40B4-BE49-F238E27FC236}">
                <a16:creationId xmlns="" xmlns:a16="http://schemas.microsoft.com/office/drawing/2014/main" id="{8BB4B353-B72E-EB5E-46DD-CB4ECCB2A2C9}"/>
              </a:ext>
            </a:extLst>
          </p:cNvPr>
          <p:cNvSpPr>
            <a:spLocks noGrp="1"/>
          </p:cNvSpPr>
          <p:nvPr>
            <p:ph type="body" idx="4294967295"/>
          </p:nvPr>
        </p:nvSpPr>
        <p:spPr>
          <a:xfrm>
            <a:off x="0" y="1101268"/>
            <a:ext cx="10972800" cy="477838"/>
          </a:xfrm>
        </p:spPr>
        <p:txBody>
          <a:bodyPr>
            <a:normAutofit/>
          </a:bodyPr>
          <a:lstStyle/>
          <a:p>
            <a:pPr marL="101600" indent="0" algn="ctr">
              <a:buNone/>
            </a:pPr>
            <a:r>
              <a:rPr lang="en-US" sz="2000" b="1" dirty="0">
                <a:solidFill>
                  <a:schemeClr val="tx1">
                    <a:lumMod val="85000"/>
                    <a:lumOff val="15000"/>
                  </a:schemeClr>
                </a:solidFill>
              </a:rPr>
              <a:t>	PI controller </a:t>
            </a:r>
          </a:p>
        </p:txBody>
      </p:sp>
      <mc:AlternateContent xmlns:mc="http://schemas.openxmlformats.org/markup-compatibility/2006" xmlns:p14="http://schemas.microsoft.com/office/powerpoint/2010/main">
        <mc:Choice Requires="p14">
          <p:contentPart p14:bwMode="auto" r:id="rId12">
            <p14:nvContentPartPr>
              <p14:cNvPr id="7" name="Ink 6">
                <a:extLst>
                  <a:ext uri="{FF2B5EF4-FFF2-40B4-BE49-F238E27FC236}">
                    <a16:creationId xmlns="" xmlns:a16="http://schemas.microsoft.com/office/drawing/2014/main" id="{4706F27A-E7E3-7280-DBBD-B94EC71E1CD4}"/>
                  </a:ext>
                </a:extLst>
              </p14:cNvPr>
              <p14:cNvContentPartPr/>
              <p14:nvPr/>
            </p14:nvContentPartPr>
            <p14:xfrm>
              <a:off x="6431190" y="3836610"/>
              <a:ext cx="360" cy="360"/>
            </p14:xfrm>
          </p:contentPart>
        </mc:Choice>
        <mc:Fallback xmlns="">
          <p:pic>
            <p:nvPicPr>
              <p:cNvPr id="7" name="Ink 6">
                <a:extLst>
                  <a:ext uri="{FF2B5EF4-FFF2-40B4-BE49-F238E27FC236}">
                    <a16:creationId xmlns:a16="http://schemas.microsoft.com/office/drawing/2014/main" id="{4706F27A-E7E3-7280-DBBD-B94EC71E1CD4}"/>
                  </a:ext>
                </a:extLst>
              </p:cNvPr>
              <p:cNvPicPr/>
              <p:nvPr/>
            </p:nvPicPr>
            <p:blipFill>
              <a:blip r:embed="rId13"/>
              <a:stretch>
                <a:fillRect/>
              </a:stretch>
            </p:blipFill>
            <p:spPr>
              <a:xfrm>
                <a:off x="6413190" y="3818610"/>
                <a:ext cx="36000" cy="36000"/>
              </a:xfrm>
              <a:prstGeom prst="rect">
                <a:avLst/>
              </a:prstGeom>
            </p:spPr>
          </p:pic>
        </mc:Fallback>
      </mc:AlternateContent>
    </p:spTree>
    <p:extLst>
      <p:ext uri="{BB962C8B-B14F-4D97-AF65-F5344CB8AC3E}">
        <p14:creationId xmlns:p14="http://schemas.microsoft.com/office/powerpoint/2010/main" val="2992193559"/>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852E8125-7DE2-171E-5BAD-1D79B9A06266}"/>
            </a:ext>
          </a:extLst>
        </p:cNvPr>
        <p:cNvGrpSpPr/>
        <p:nvPr/>
      </p:nvGrpSpPr>
      <p:grpSpPr>
        <a:xfrm>
          <a:off x="0" y="0"/>
          <a:ext cx="0" cy="0"/>
          <a:chOff x="0" y="0"/>
          <a:chExt cx="0" cy="0"/>
        </a:xfrm>
      </p:grpSpPr>
      <p:pic>
        <p:nvPicPr>
          <p:cNvPr id="2" name="Picture 1">
            <a:extLst>
              <a:ext uri="{FF2B5EF4-FFF2-40B4-BE49-F238E27FC236}">
                <a16:creationId xmlns="" xmlns:a16="http://schemas.microsoft.com/office/drawing/2014/main" id="{53FEE959-91BD-F26C-9397-1729A6AD8E8D}"/>
              </a:ext>
            </a:extLst>
          </p:cNvPr>
          <p:cNvPicPr>
            <a:picLocks noChangeAspect="1"/>
          </p:cNvPicPr>
          <p:nvPr/>
        </p:nvPicPr>
        <p:blipFill>
          <a:blip r:embed="rId2"/>
          <a:stretch>
            <a:fillRect/>
          </a:stretch>
        </p:blipFill>
        <p:spPr>
          <a:xfrm>
            <a:off x="6699427" y="1738825"/>
            <a:ext cx="5356858" cy="2319499"/>
          </a:xfrm>
          <a:prstGeom prst="rect">
            <a:avLst/>
          </a:prstGeom>
        </p:spPr>
      </p:pic>
      <p:sp>
        <p:nvSpPr>
          <p:cNvPr id="5" name="Title 1">
            <a:extLst>
              <a:ext uri="{FF2B5EF4-FFF2-40B4-BE49-F238E27FC236}">
                <a16:creationId xmlns="" xmlns:a16="http://schemas.microsoft.com/office/drawing/2014/main" id="{1D43FBEC-A068-35B5-CB83-75ED0E86E176}"/>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Digital loop filter </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 xmlns:a16="http://schemas.microsoft.com/office/drawing/2014/main" id="{752B0B14-E25D-DFA9-EC46-6BDBE457C6B5}"/>
                  </a:ext>
                </a:extLst>
              </p:cNvPr>
              <p:cNvSpPr>
                <a:spLocks noGrp="1"/>
              </p:cNvSpPr>
              <p:nvPr>
                <p:ph type="body" idx="1"/>
              </p:nvPr>
            </p:nvSpPr>
            <p:spPr>
              <a:xfrm>
                <a:off x="785714" y="1510748"/>
                <a:ext cx="10491886" cy="4984947"/>
              </a:xfrm>
            </p:spPr>
            <p:txBody>
              <a:bodyPr/>
              <a:lstStyle/>
              <a:p>
                <a:pPr marL="76200" indent="0">
                  <a:buNone/>
                </a:pPr>
                <a:r>
                  <a:rPr lang="en-US" sz="2200" b="0" dirty="0">
                    <a:solidFill>
                      <a:schemeClr val="tx1">
                        <a:lumMod val="85000"/>
                        <a:lumOff val="15000"/>
                      </a:schemeClr>
                    </a:solidFill>
                  </a:rPr>
                  <a:t>Using s-domain approximation we can get the</a:t>
                </a:r>
              </a:p>
              <a:p>
                <a:pPr marL="76200" indent="0">
                  <a:buNone/>
                </a:pPr>
                <a:r>
                  <a:rPr lang="en-US" sz="2200" b="0" dirty="0">
                    <a:solidFill>
                      <a:schemeClr val="tx1">
                        <a:lumMod val="85000"/>
                        <a:lumOff val="15000"/>
                      </a:schemeClr>
                    </a:solidFill>
                  </a:rPr>
                  <a:t>closed loop transfer function:</a:t>
                </a:r>
              </a:p>
              <a:p>
                <a:pPr marL="76200" indent="0">
                  <a:buNone/>
                </a:pPr>
                <a:endParaRPr lang="en-US" sz="2000" b="0" dirty="0">
                  <a:solidFill>
                    <a:schemeClr val="tx1">
                      <a:lumMod val="85000"/>
                      <a:lumOff val="15000"/>
                    </a:schemeClr>
                  </a:solidFill>
                </a:endParaRPr>
              </a:p>
              <a:p>
                <a:pPr marL="76200" indent="0">
                  <a:buNone/>
                </a:pPr>
                <a:endParaRPr lang="en-US" sz="2000" b="0" dirty="0">
                  <a:solidFill>
                    <a:schemeClr val="tx1">
                      <a:lumMod val="85000"/>
                      <a:lumOff val="15000"/>
                    </a:schemeClr>
                  </a:solidFill>
                </a:endParaRPr>
              </a:p>
              <a:p>
                <a:pPr marL="76200" indent="0">
                  <a:buNone/>
                </a:pPr>
                <a:endParaRPr lang="en-US" sz="1800" b="0" dirty="0">
                  <a:solidFill>
                    <a:schemeClr val="tx1">
                      <a:lumMod val="85000"/>
                      <a:lumOff val="15000"/>
                    </a:schemeClr>
                  </a:solidFill>
                </a:endParaRPr>
              </a:p>
              <a:p>
                <a:pPr marL="76200" indent="0">
                  <a:buNone/>
                </a:pPr>
                <a:r>
                  <a:rPr lang="en-US" sz="1800" b="0" dirty="0">
                    <a:solidFill>
                      <a:schemeClr val="tx1">
                        <a:lumMod val="85000"/>
                        <a:lumOff val="15000"/>
                      </a:schemeClr>
                    </a:solidFill>
                  </a:rPr>
                  <a:t>Can be reduced to </a:t>
                </a:r>
                <a:r>
                  <a:rPr lang="en-US" sz="2000" b="0" dirty="0">
                    <a:solidFill>
                      <a:schemeClr val="tx1">
                        <a:lumMod val="85000"/>
                        <a:lumOff val="15000"/>
                      </a:schemeClr>
                    </a:solidFill>
                  </a:rPr>
                  <a:t>classical two-pole system transfer function:</a:t>
                </a:r>
              </a:p>
              <a:p>
                <a:pPr marL="76200" indent="0">
                  <a:buNone/>
                </a:pPr>
                <a:endParaRPr lang="en-US" sz="1800" b="0" dirty="0">
                  <a:solidFill>
                    <a:schemeClr val="tx1">
                      <a:lumMod val="85000"/>
                      <a:lumOff val="15000"/>
                    </a:schemeClr>
                  </a:solidFill>
                </a:endParaRPr>
              </a:p>
              <a:p>
                <a:pPr marL="76200" indent="0">
                  <a:buNone/>
                </a:pPr>
                <a:endParaRPr lang="en-US" sz="2000" b="0" dirty="0">
                  <a:solidFill>
                    <a:schemeClr val="tx1">
                      <a:lumMod val="85000"/>
                      <a:lumOff val="15000"/>
                    </a:schemeClr>
                  </a:solidFill>
                </a:endParaRPr>
              </a:p>
              <a:p>
                <a:pPr marL="76200" indent="0">
                  <a:buNone/>
                </a:pPr>
                <a:endParaRPr lang="en-US" sz="2000" b="0" dirty="0">
                  <a:solidFill>
                    <a:schemeClr val="tx1">
                      <a:lumMod val="85000"/>
                      <a:lumOff val="15000"/>
                    </a:schemeClr>
                  </a:solidFill>
                </a:endParaRPr>
              </a:p>
              <a:p>
                <a:pPr marL="76200" indent="0">
                  <a:lnSpc>
                    <a:spcPct val="150000"/>
                  </a:lnSpc>
                  <a:buNone/>
                </a:pPr>
                <a:r>
                  <a:rPr lang="en-US" sz="2000" b="0" dirty="0">
                    <a:solidFill>
                      <a:schemeClr val="tx1">
                        <a:lumMod val="85000"/>
                        <a:lumOff val="15000"/>
                      </a:schemeClr>
                    </a:solidFill>
                  </a:rPr>
                  <a:t>Where ζ is the damping coefficient and </a:t>
                </a:r>
                <a14:m>
                  <m:oMath xmlns:m="http://schemas.openxmlformats.org/officeDocument/2006/math">
                    <m:r>
                      <a:rPr lang="en-US" sz="2000" b="0" i="1" smtClean="0">
                        <a:solidFill>
                          <a:schemeClr val="tx1">
                            <a:lumMod val="85000"/>
                            <a:lumOff val="15000"/>
                          </a:schemeClr>
                        </a:solidFill>
                        <a:latin typeface="Cambria Math" panose="02040503050406030204" pitchFamily="18" charset="0"/>
                      </a:rPr>
                      <m:t>𝜔</m:t>
                    </m:r>
                    <m:r>
                      <a:rPr lang="en-US" sz="2000" b="0" i="1" smtClean="0">
                        <a:solidFill>
                          <a:schemeClr val="tx1">
                            <a:lumMod val="85000"/>
                            <a:lumOff val="15000"/>
                          </a:schemeClr>
                        </a:solidFill>
                        <a:latin typeface="Cambria Math" panose="02040503050406030204" pitchFamily="18" charset="0"/>
                      </a:rPr>
                      <m:t>𝑛</m:t>
                    </m:r>
                  </m:oMath>
                </a14:m>
                <a:r>
                  <a:rPr lang="en-US" sz="2000" b="0" dirty="0">
                    <a:solidFill>
                      <a:schemeClr val="tx1">
                        <a:lumMod val="85000"/>
                        <a:lumOff val="15000"/>
                      </a:schemeClr>
                    </a:solidFill>
                  </a:rPr>
                  <a:t> is the natural oscillation frequency:</a:t>
                </a:r>
              </a:p>
              <a:p>
                <a:pPr marL="76200" indent="0">
                  <a:buNone/>
                </a:pPr>
                <a:r>
                  <a:rPr lang="en-US" dirty="0">
                    <a:solidFill>
                      <a:schemeClr val="tx1">
                        <a:lumMod val="85000"/>
                        <a:lumOff val="15000"/>
                      </a:schemeClr>
                    </a:solidFill>
                  </a:rPr>
                  <a:t>  </a:t>
                </a:r>
                <a14:m>
                  <m:oMath xmlns:m="http://schemas.openxmlformats.org/officeDocument/2006/math">
                    <m:r>
                      <m:rPr>
                        <m:sty m:val="p"/>
                      </m:rPr>
                      <a:rPr lang="en-US">
                        <a:solidFill>
                          <a:schemeClr val="tx1">
                            <a:lumMod val="85000"/>
                            <a:lumOff val="15000"/>
                          </a:schemeClr>
                        </a:solidFill>
                        <a:latin typeface="Cambria Math" panose="02040503050406030204" pitchFamily="18" charset="0"/>
                      </a:rPr>
                      <m:t>ζ</m:t>
                    </m:r>
                    <m:r>
                      <a:rPr lang="en-US">
                        <a:solidFill>
                          <a:schemeClr val="tx1">
                            <a:lumMod val="85000"/>
                            <a:lumOff val="15000"/>
                          </a:schemeClr>
                        </a:solidFill>
                        <a:latin typeface="Cambria Math" panose="02040503050406030204" pitchFamily="18" charset="0"/>
                      </a:rPr>
                      <m:t> = </m:t>
                    </m:r>
                    <m:f>
                      <m:fPr>
                        <m:ctrlPr>
                          <a:rPr lang="en-US" i="1">
                            <a:solidFill>
                              <a:schemeClr val="tx1">
                                <a:lumMod val="85000"/>
                                <a:lumOff val="15000"/>
                              </a:schemeClr>
                            </a:solidFill>
                            <a:latin typeface="Cambria Math" panose="02040503050406030204" pitchFamily="18" charset="0"/>
                          </a:rPr>
                        </m:ctrlPr>
                      </m:fPr>
                      <m:num>
                        <m:r>
                          <m:rPr>
                            <m:sty m:val="p"/>
                          </m:rPr>
                          <a:rPr lang="en-US">
                            <a:solidFill>
                              <a:schemeClr val="tx1">
                                <a:lumMod val="85000"/>
                                <a:lumOff val="15000"/>
                              </a:schemeClr>
                            </a:solidFill>
                            <a:latin typeface="Cambria Math" panose="02040503050406030204" pitchFamily="18" charset="0"/>
                          </a:rPr>
                          <m:t>α</m:t>
                        </m:r>
                        <m:r>
                          <a:rPr lang="en-US">
                            <a:solidFill>
                              <a:schemeClr val="tx1">
                                <a:lumMod val="85000"/>
                                <a:lumOff val="15000"/>
                              </a:schemeClr>
                            </a:solidFill>
                            <a:latin typeface="Cambria Math" panose="02040503050406030204" pitchFamily="18" charset="0"/>
                          </a:rPr>
                          <m:t> </m:t>
                        </m:r>
                        <m:r>
                          <a:rPr lang="en-US" i="1">
                            <a:solidFill>
                              <a:schemeClr val="tx1">
                                <a:lumMod val="85000"/>
                                <a:lumOff val="15000"/>
                              </a:schemeClr>
                            </a:solidFill>
                            <a:latin typeface="Cambria Math" panose="02040503050406030204" pitchFamily="18" charset="0"/>
                          </a:rPr>
                          <m:t>𝑓𝑟</m:t>
                        </m:r>
                      </m:num>
                      <m:den>
                        <m:r>
                          <a:rPr lang="en-US" i="1">
                            <a:solidFill>
                              <a:schemeClr val="tx1">
                                <a:lumMod val="85000"/>
                                <a:lumOff val="15000"/>
                              </a:schemeClr>
                            </a:solidFill>
                            <a:latin typeface="Cambria Math" panose="02040503050406030204" pitchFamily="18" charset="0"/>
                          </a:rPr>
                          <m:t>2</m:t>
                        </m:r>
                        <m:r>
                          <a:rPr lang="en-US" i="1">
                            <a:solidFill>
                              <a:schemeClr val="tx1">
                                <a:lumMod val="85000"/>
                                <a:lumOff val="15000"/>
                              </a:schemeClr>
                            </a:solidFill>
                            <a:latin typeface="Cambria Math" panose="02040503050406030204" pitchFamily="18" charset="0"/>
                          </a:rPr>
                          <m:t>𝜔</m:t>
                        </m:r>
                        <m:r>
                          <a:rPr lang="en-US" i="1">
                            <a:solidFill>
                              <a:schemeClr val="tx1">
                                <a:lumMod val="85000"/>
                                <a:lumOff val="15000"/>
                              </a:schemeClr>
                            </a:solidFill>
                            <a:latin typeface="Cambria Math" panose="02040503050406030204" pitchFamily="18" charset="0"/>
                          </a:rPr>
                          <m:t>𝑛</m:t>
                        </m:r>
                        <m:r>
                          <a:rPr lang="en-US">
                            <a:solidFill>
                              <a:schemeClr val="tx1">
                                <a:lumMod val="85000"/>
                                <a:lumOff val="15000"/>
                              </a:schemeClr>
                            </a:solidFill>
                            <a:latin typeface="Cambria Math" panose="02040503050406030204" pitchFamily="18" charset="0"/>
                          </a:rPr>
                          <m:t> </m:t>
                        </m:r>
                      </m:den>
                    </m:f>
                    <m:r>
                      <a:rPr lang="en-US" i="1">
                        <a:solidFill>
                          <a:schemeClr val="tx1">
                            <a:lumMod val="85000"/>
                            <a:lumOff val="15000"/>
                          </a:schemeClr>
                        </a:solidFill>
                        <a:latin typeface="Cambria Math" panose="02040503050406030204" pitchFamily="18" charset="0"/>
                      </a:rPr>
                      <m:t>= </m:t>
                    </m:r>
                    <m:f>
                      <m:fPr>
                        <m:ctrlPr>
                          <a:rPr lang="en-US" i="1">
                            <a:solidFill>
                              <a:schemeClr val="tx1">
                                <a:lumMod val="85000"/>
                                <a:lumOff val="15000"/>
                              </a:schemeClr>
                            </a:solidFill>
                            <a:latin typeface="Cambria Math" panose="02040503050406030204" pitchFamily="18" charset="0"/>
                          </a:rPr>
                        </m:ctrlPr>
                      </m:fPr>
                      <m:num>
                        <m:r>
                          <a:rPr lang="en-US" i="1">
                            <a:solidFill>
                              <a:schemeClr val="tx1">
                                <a:lumMod val="85000"/>
                                <a:lumOff val="15000"/>
                              </a:schemeClr>
                            </a:solidFill>
                            <a:latin typeface="Cambria Math" panose="02040503050406030204" pitchFamily="18" charset="0"/>
                          </a:rPr>
                          <m:t>1</m:t>
                        </m:r>
                      </m:num>
                      <m:den>
                        <m:r>
                          <a:rPr lang="en-US" i="1">
                            <a:solidFill>
                              <a:schemeClr val="tx1">
                                <a:lumMod val="85000"/>
                                <a:lumOff val="15000"/>
                              </a:schemeClr>
                            </a:solidFill>
                            <a:latin typeface="Cambria Math" panose="02040503050406030204" pitchFamily="18" charset="0"/>
                          </a:rPr>
                          <m:t>2</m:t>
                        </m:r>
                      </m:den>
                    </m:f>
                    <m:r>
                      <a:rPr lang="en-US" i="1">
                        <a:solidFill>
                          <a:schemeClr val="tx1">
                            <a:lumMod val="85000"/>
                            <a:lumOff val="15000"/>
                          </a:schemeClr>
                        </a:solidFill>
                        <a:latin typeface="Cambria Math" panose="02040503050406030204" pitchFamily="18" charset="0"/>
                      </a:rPr>
                      <m:t>(</m:t>
                    </m:r>
                    <m:f>
                      <m:fPr>
                        <m:ctrlPr>
                          <a:rPr lang="en-US" i="1">
                            <a:solidFill>
                              <a:schemeClr val="tx1">
                                <a:lumMod val="85000"/>
                                <a:lumOff val="15000"/>
                              </a:schemeClr>
                            </a:solidFill>
                            <a:latin typeface="Cambria Math" panose="02040503050406030204" pitchFamily="18" charset="0"/>
                          </a:rPr>
                        </m:ctrlPr>
                      </m:fPr>
                      <m:num>
                        <m:r>
                          <a:rPr lang="en-US" i="1">
                            <a:solidFill>
                              <a:schemeClr val="tx1">
                                <a:lumMod val="85000"/>
                                <a:lumOff val="15000"/>
                              </a:schemeClr>
                            </a:solidFill>
                            <a:latin typeface="Cambria Math" panose="02040503050406030204" pitchFamily="18" charset="0"/>
                          </a:rPr>
                          <m:t>𝛼</m:t>
                        </m:r>
                      </m:num>
                      <m:den>
                        <m:rad>
                          <m:radPr>
                            <m:degHide m:val="on"/>
                            <m:ctrlPr>
                              <a:rPr lang="en-US" i="1">
                                <a:solidFill>
                                  <a:schemeClr val="tx1">
                                    <a:lumMod val="85000"/>
                                    <a:lumOff val="15000"/>
                                  </a:schemeClr>
                                </a:solidFill>
                                <a:latin typeface="Cambria Math" panose="02040503050406030204" pitchFamily="18" charset="0"/>
                              </a:rPr>
                            </m:ctrlPr>
                          </m:radPr>
                          <m:deg/>
                          <m:e>
                            <m:r>
                              <m:rPr>
                                <m:nor/>
                              </m:rPr>
                              <a:rPr lang="en-US" dirty="0">
                                <a:solidFill>
                                  <a:schemeClr val="tx1">
                                    <a:lumMod val="85000"/>
                                    <a:lumOff val="15000"/>
                                  </a:schemeClr>
                                </a:solidFill>
                              </a:rPr>
                              <m:t>ρ</m:t>
                            </m:r>
                            <m:r>
                              <m:rPr>
                                <m:nor/>
                              </m:rPr>
                              <a:rPr lang="en-US" dirty="0">
                                <a:solidFill>
                                  <a:schemeClr val="tx1">
                                    <a:lumMod val="85000"/>
                                    <a:lumOff val="15000"/>
                                  </a:schemeClr>
                                </a:solidFill>
                              </a:rPr>
                              <m:t> </m:t>
                            </m:r>
                          </m:e>
                        </m:rad>
                      </m:den>
                    </m:f>
                    <m:r>
                      <a:rPr lang="en-US" i="1">
                        <a:solidFill>
                          <a:schemeClr val="tx1">
                            <a:lumMod val="85000"/>
                            <a:lumOff val="15000"/>
                          </a:schemeClr>
                        </a:solidFill>
                        <a:latin typeface="Cambria Math" panose="02040503050406030204" pitchFamily="18" charset="0"/>
                      </a:rPr>
                      <m:t>)</m:t>
                    </m:r>
                  </m:oMath>
                </a14:m>
                <a:r>
                  <a:rPr lang="en-US" dirty="0">
                    <a:solidFill>
                      <a:schemeClr val="tx1">
                        <a:lumMod val="85000"/>
                        <a:lumOff val="15000"/>
                      </a:schemeClr>
                    </a:solidFill>
                  </a:rPr>
                  <a:t>                    </a:t>
                </a:r>
                <a14:m>
                  <m:oMath xmlns:m="http://schemas.openxmlformats.org/officeDocument/2006/math">
                    <m:r>
                      <a:rPr lang="en-US" b="0" i="0" smtClean="0">
                        <a:solidFill>
                          <a:schemeClr val="tx1">
                            <a:lumMod val="85000"/>
                            <a:lumOff val="15000"/>
                          </a:schemeClr>
                        </a:solidFill>
                        <a:latin typeface="Cambria Math" panose="02040503050406030204" pitchFamily="18" charset="0"/>
                      </a:rPr>
                      <m:t>  </m:t>
                    </m:r>
                    <m:r>
                      <a:rPr lang="en-US" i="1">
                        <a:solidFill>
                          <a:schemeClr val="tx1">
                            <a:lumMod val="85000"/>
                            <a:lumOff val="15000"/>
                          </a:schemeClr>
                        </a:solidFill>
                        <a:latin typeface="Cambria Math" panose="02040503050406030204" pitchFamily="18" charset="0"/>
                      </a:rPr>
                      <m:t>𝜔</m:t>
                    </m:r>
                    <m:r>
                      <a:rPr lang="en-US" i="1">
                        <a:solidFill>
                          <a:schemeClr val="tx1">
                            <a:lumMod val="85000"/>
                            <a:lumOff val="15000"/>
                          </a:schemeClr>
                        </a:solidFill>
                        <a:latin typeface="Cambria Math" panose="02040503050406030204" pitchFamily="18" charset="0"/>
                      </a:rPr>
                      <m:t>𝑛</m:t>
                    </m:r>
                    <m:r>
                      <a:rPr lang="en-US" i="1">
                        <a:solidFill>
                          <a:schemeClr val="tx1">
                            <a:lumMod val="85000"/>
                            <a:lumOff val="15000"/>
                          </a:schemeClr>
                        </a:solidFill>
                        <a:latin typeface="Cambria Math" panose="02040503050406030204" pitchFamily="18" charset="0"/>
                      </a:rPr>
                      <m:t>=</m:t>
                    </m:r>
                    <m:rad>
                      <m:radPr>
                        <m:degHide m:val="on"/>
                        <m:ctrlPr>
                          <a:rPr lang="en-US" i="1">
                            <a:solidFill>
                              <a:schemeClr val="tx1">
                                <a:lumMod val="85000"/>
                                <a:lumOff val="15000"/>
                              </a:schemeClr>
                            </a:solidFill>
                            <a:latin typeface="Cambria Math" panose="02040503050406030204" pitchFamily="18" charset="0"/>
                          </a:rPr>
                        </m:ctrlPr>
                      </m:radPr>
                      <m:deg/>
                      <m:e>
                        <m:r>
                          <m:rPr>
                            <m:nor/>
                          </m:rPr>
                          <a:rPr lang="en-US" dirty="0">
                            <a:solidFill>
                              <a:schemeClr val="tx1">
                                <a:lumMod val="85000"/>
                                <a:lumOff val="15000"/>
                              </a:schemeClr>
                            </a:solidFill>
                          </a:rPr>
                          <m:t>ρ</m:t>
                        </m:r>
                        <m:r>
                          <m:rPr>
                            <m:nor/>
                          </m:rPr>
                          <a:rPr lang="en-US" dirty="0">
                            <a:solidFill>
                              <a:schemeClr val="tx1">
                                <a:lumMod val="85000"/>
                                <a:lumOff val="15000"/>
                              </a:schemeClr>
                            </a:solidFill>
                          </a:rPr>
                          <m:t> </m:t>
                        </m:r>
                      </m:e>
                    </m:rad>
                    <m:r>
                      <a:rPr lang="en-US" i="1">
                        <a:solidFill>
                          <a:schemeClr val="tx1">
                            <a:lumMod val="85000"/>
                            <a:lumOff val="15000"/>
                          </a:schemeClr>
                        </a:solidFill>
                        <a:latin typeface="Cambria Math" panose="02040503050406030204" pitchFamily="18" charset="0"/>
                      </a:rPr>
                      <m:t> </m:t>
                    </m:r>
                    <m:r>
                      <a:rPr lang="en-US" i="1">
                        <a:solidFill>
                          <a:schemeClr val="tx1">
                            <a:lumMod val="85000"/>
                            <a:lumOff val="15000"/>
                          </a:schemeClr>
                        </a:solidFill>
                        <a:latin typeface="Cambria Math" panose="02040503050406030204" pitchFamily="18" charset="0"/>
                      </a:rPr>
                      <m:t>𝑓𝑟</m:t>
                    </m:r>
                    <m:r>
                      <a:rPr lang="en-US" i="1">
                        <a:solidFill>
                          <a:schemeClr val="tx1">
                            <a:lumMod val="85000"/>
                            <a:lumOff val="15000"/>
                          </a:schemeClr>
                        </a:solidFill>
                        <a:latin typeface="Cambria Math" panose="02040503050406030204" pitchFamily="18" charset="0"/>
                      </a:rPr>
                      <m:t> </m:t>
                    </m:r>
                  </m:oMath>
                </a14:m>
                <a:r>
                  <a:rPr lang="en-US" sz="2000" dirty="0">
                    <a:solidFill>
                      <a:schemeClr val="tx1">
                        <a:lumMod val="85000"/>
                        <a:lumOff val="15000"/>
                      </a:schemeClr>
                    </a:solidFill>
                  </a:rPr>
                  <a:t>        </a:t>
                </a:r>
              </a:p>
            </p:txBody>
          </p:sp>
        </mc:Choice>
        <mc:Fallback xmlns="">
          <p:sp>
            <p:nvSpPr>
              <p:cNvPr id="3" name="Text Placeholder 2">
                <a:extLst>
                  <a:ext uri="{FF2B5EF4-FFF2-40B4-BE49-F238E27FC236}">
                    <a16:creationId xmlns:a16="http://schemas.microsoft.com/office/drawing/2014/main" id="{752B0B14-E25D-DFA9-EC46-6BDBE457C6B5}"/>
                  </a:ext>
                </a:extLst>
              </p:cNvPr>
              <p:cNvSpPr>
                <a:spLocks noGrp="1" noRot="1" noChangeAspect="1" noMove="1" noResize="1" noEditPoints="1" noAdjustHandles="1" noChangeArrowheads="1" noChangeShapeType="1" noTextEdit="1"/>
              </p:cNvSpPr>
              <p:nvPr>
                <p:ph type="body" idx="1"/>
              </p:nvPr>
            </p:nvSpPr>
            <p:spPr>
              <a:xfrm>
                <a:off x="785714" y="1510748"/>
                <a:ext cx="10491886" cy="4984947"/>
              </a:xfrm>
              <a:blipFill>
                <a:blip r:embed="rId3"/>
                <a:stretch>
                  <a:fillRect/>
                </a:stretch>
              </a:blipFill>
            </p:spPr>
            <p:txBody>
              <a:bodyPr/>
              <a:lstStyle/>
              <a:p>
                <a:r>
                  <a:rPr lang="en-US">
                    <a:noFill/>
                  </a:rPr>
                  <a:t> </a:t>
                </a:r>
              </a:p>
            </p:txBody>
          </p:sp>
        </mc:Fallback>
      </mc:AlternateContent>
      <p:sp>
        <p:nvSpPr>
          <p:cNvPr id="4" name="Text Placeholder 3">
            <a:extLst>
              <a:ext uri="{FF2B5EF4-FFF2-40B4-BE49-F238E27FC236}">
                <a16:creationId xmlns="" xmlns:a16="http://schemas.microsoft.com/office/drawing/2014/main" id="{E13B4A6B-6EC9-BCD5-331A-41E84910F324}"/>
              </a:ext>
            </a:extLst>
          </p:cNvPr>
          <p:cNvSpPr>
            <a:spLocks noGrp="1"/>
          </p:cNvSpPr>
          <p:nvPr>
            <p:ph type="body" idx="4294967295"/>
          </p:nvPr>
        </p:nvSpPr>
        <p:spPr>
          <a:xfrm>
            <a:off x="0" y="1107580"/>
            <a:ext cx="10972800" cy="506412"/>
          </a:xfrm>
        </p:spPr>
        <p:txBody>
          <a:bodyPr>
            <a:normAutofit/>
          </a:bodyPr>
          <a:lstStyle/>
          <a:p>
            <a:pPr marL="101600" indent="0" algn="ctr">
              <a:buNone/>
            </a:pPr>
            <a:r>
              <a:rPr lang="en-US" sz="2000" b="1" dirty="0">
                <a:solidFill>
                  <a:schemeClr val="tx1">
                    <a:lumMod val="85000"/>
                    <a:lumOff val="15000"/>
                  </a:schemeClr>
                </a:solidFill>
              </a:rPr>
              <a:t>	  Frequency response:</a:t>
            </a:r>
          </a:p>
          <a:p>
            <a:endParaRPr lang="en-US" sz="2000" b="1" i="0" dirty="0"/>
          </a:p>
        </p:txBody>
      </p:sp>
      <p:grpSp>
        <p:nvGrpSpPr>
          <p:cNvPr id="11" name="Group 10">
            <a:extLst>
              <a:ext uri="{FF2B5EF4-FFF2-40B4-BE49-F238E27FC236}">
                <a16:creationId xmlns="" xmlns:a16="http://schemas.microsoft.com/office/drawing/2014/main" id="{5A74FBF8-1F29-BB7A-4E26-0135C2BEBF99}"/>
              </a:ext>
            </a:extLst>
          </p:cNvPr>
          <p:cNvGrpSpPr/>
          <p:nvPr/>
        </p:nvGrpSpPr>
        <p:grpSpPr>
          <a:xfrm>
            <a:off x="785714" y="2379306"/>
            <a:ext cx="4581050" cy="877895"/>
            <a:chOff x="785714" y="2379306"/>
            <a:chExt cx="4581050" cy="877895"/>
          </a:xfrm>
        </p:grpSpPr>
        <p:pic>
          <p:nvPicPr>
            <p:cNvPr id="6" name="Picture 5">
              <a:extLst>
                <a:ext uri="{FF2B5EF4-FFF2-40B4-BE49-F238E27FC236}">
                  <a16:creationId xmlns="" xmlns:a16="http://schemas.microsoft.com/office/drawing/2014/main" id="{EF0C73B3-26C4-8264-5401-32A7A85CAAAF}"/>
                </a:ext>
              </a:extLst>
            </p:cNvPr>
            <p:cNvPicPr>
              <a:picLocks noChangeAspect="1"/>
            </p:cNvPicPr>
            <p:nvPr/>
          </p:nvPicPr>
          <p:blipFill>
            <a:blip r:embed="rId4"/>
            <a:stretch>
              <a:fillRect/>
            </a:stretch>
          </p:blipFill>
          <p:spPr>
            <a:xfrm>
              <a:off x="785714" y="2379306"/>
              <a:ext cx="4581050" cy="848666"/>
            </a:xfrm>
            <a:prstGeom prst="rect">
              <a:avLst/>
            </a:prstGeom>
          </p:spPr>
        </p:pic>
        <p:sp>
          <p:nvSpPr>
            <p:cNvPr id="8" name="Rectangle 7">
              <a:extLst>
                <a:ext uri="{FF2B5EF4-FFF2-40B4-BE49-F238E27FC236}">
                  <a16:creationId xmlns="" xmlns:a16="http://schemas.microsoft.com/office/drawing/2014/main" id="{86B28C4D-C142-E1BA-77CB-9CD949E73106}"/>
                </a:ext>
              </a:extLst>
            </p:cNvPr>
            <p:cNvSpPr/>
            <p:nvPr/>
          </p:nvSpPr>
          <p:spPr>
            <a:xfrm>
              <a:off x="785714" y="2408535"/>
              <a:ext cx="4581050" cy="84866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17" name="Group 16">
            <a:extLst>
              <a:ext uri="{FF2B5EF4-FFF2-40B4-BE49-F238E27FC236}">
                <a16:creationId xmlns="" xmlns:a16="http://schemas.microsoft.com/office/drawing/2014/main" id="{6C954A2B-50B6-6E00-0922-9AF083483A98}"/>
              </a:ext>
            </a:extLst>
          </p:cNvPr>
          <p:cNvGrpSpPr/>
          <p:nvPr/>
        </p:nvGrpSpPr>
        <p:grpSpPr>
          <a:xfrm>
            <a:off x="946151" y="3962973"/>
            <a:ext cx="2890547" cy="848666"/>
            <a:chOff x="785713" y="3908914"/>
            <a:chExt cx="2890547" cy="848666"/>
          </a:xfrm>
        </p:grpSpPr>
        <p:pic>
          <p:nvPicPr>
            <p:cNvPr id="15" name="Picture 14">
              <a:extLst>
                <a:ext uri="{FF2B5EF4-FFF2-40B4-BE49-F238E27FC236}">
                  <a16:creationId xmlns="" xmlns:a16="http://schemas.microsoft.com/office/drawing/2014/main" id="{6B2F855C-34C8-1E3C-7322-E8C6654635DF}"/>
                </a:ext>
              </a:extLst>
            </p:cNvPr>
            <p:cNvPicPr>
              <a:picLocks noChangeAspect="1"/>
            </p:cNvPicPr>
            <p:nvPr/>
          </p:nvPicPr>
          <p:blipFill>
            <a:blip r:embed="rId5"/>
            <a:stretch>
              <a:fillRect/>
            </a:stretch>
          </p:blipFill>
          <p:spPr>
            <a:xfrm>
              <a:off x="785714" y="3908914"/>
              <a:ext cx="2791091" cy="848666"/>
            </a:xfrm>
            <a:prstGeom prst="rect">
              <a:avLst/>
            </a:prstGeom>
          </p:spPr>
        </p:pic>
        <p:sp>
          <p:nvSpPr>
            <p:cNvPr id="16" name="Rectangle 15">
              <a:extLst>
                <a:ext uri="{FF2B5EF4-FFF2-40B4-BE49-F238E27FC236}">
                  <a16:creationId xmlns="" xmlns:a16="http://schemas.microsoft.com/office/drawing/2014/main" id="{FB9D6638-4AF8-BCAF-6F6B-FC7DED271D76}"/>
                </a:ext>
              </a:extLst>
            </p:cNvPr>
            <p:cNvSpPr/>
            <p:nvPr/>
          </p:nvSpPr>
          <p:spPr>
            <a:xfrm>
              <a:off x="785713" y="3908914"/>
              <a:ext cx="2890547" cy="84866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22" name="Rectangle 21">
            <a:extLst>
              <a:ext uri="{FF2B5EF4-FFF2-40B4-BE49-F238E27FC236}">
                <a16:creationId xmlns="" xmlns:a16="http://schemas.microsoft.com/office/drawing/2014/main" id="{B274BCBD-DAFA-B7A9-ECA3-ED9D023D5646}"/>
              </a:ext>
            </a:extLst>
          </p:cNvPr>
          <p:cNvSpPr/>
          <p:nvPr/>
        </p:nvSpPr>
        <p:spPr>
          <a:xfrm>
            <a:off x="916342" y="5258078"/>
            <a:ext cx="2629290" cy="73711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3" name="Rectangle 22">
            <a:extLst>
              <a:ext uri="{FF2B5EF4-FFF2-40B4-BE49-F238E27FC236}">
                <a16:creationId xmlns="" xmlns:a16="http://schemas.microsoft.com/office/drawing/2014/main" id="{A4924ACF-6133-BE3D-5BEE-19BBA03990DF}"/>
              </a:ext>
            </a:extLst>
          </p:cNvPr>
          <p:cNvSpPr/>
          <p:nvPr/>
        </p:nvSpPr>
        <p:spPr>
          <a:xfrm>
            <a:off x="4361002" y="5347252"/>
            <a:ext cx="2011524" cy="63623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2" name="TextBox 31">
            <a:extLst>
              <a:ext uri="{FF2B5EF4-FFF2-40B4-BE49-F238E27FC236}">
                <a16:creationId xmlns="" xmlns:a16="http://schemas.microsoft.com/office/drawing/2014/main" id="{B0DEF932-7978-6DD8-F1FE-1918BF5ACE93}"/>
              </a:ext>
            </a:extLst>
          </p:cNvPr>
          <p:cNvSpPr txBox="1"/>
          <p:nvPr/>
        </p:nvSpPr>
        <p:spPr>
          <a:xfrm>
            <a:off x="2982496" y="3298195"/>
            <a:ext cx="272920" cy="261610"/>
          </a:xfrm>
          <a:prstGeom prst="rect">
            <a:avLst/>
          </a:prstGeom>
          <a:noFill/>
        </p:spPr>
        <p:txBody>
          <a:bodyPr wrap="square">
            <a:spAutoFit/>
          </a:bodyPr>
          <a:lstStyle/>
          <a:p>
            <a:r>
              <a:rPr lang="en-US" sz="1100" dirty="0"/>
              <a:t>ρ</a:t>
            </a:r>
          </a:p>
        </p:txBody>
      </p:sp>
    </p:spTree>
    <p:extLst>
      <p:ext uri="{BB962C8B-B14F-4D97-AF65-F5344CB8AC3E}">
        <p14:creationId xmlns:p14="http://schemas.microsoft.com/office/powerpoint/2010/main" val="283824028"/>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EEA8327D-0EDD-2FF9-D196-B830C2C8374E}"/>
            </a:ext>
          </a:extLst>
        </p:cNvPr>
        <p:cNvGrpSpPr/>
        <p:nvPr/>
      </p:nvGrpSpPr>
      <p:grpSpPr>
        <a:xfrm>
          <a:off x="0" y="0"/>
          <a:ext cx="0" cy="0"/>
          <a:chOff x="0" y="0"/>
          <a:chExt cx="0" cy="0"/>
        </a:xfrm>
      </p:grpSpPr>
      <p:sp>
        <p:nvSpPr>
          <p:cNvPr id="5" name="Title 1">
            <a:extLst>
              <a:ext uri="{FF2B5EF4-FFF2-40B4-BE49-F238E27FC236}">
                <a16:creationId xmlns="" xmlns:a16="http://schemas.microsoft.com/office/drawing/2014/main" id="{1B38F2E0-8B7C-6D9A-03C1-2D05376C0E24}"/>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Digital loop filter </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 xmlns:a16="http://schemas.microsoft.com/office/drawing/2014/main" id="{879EA464-B9C6-1035-2D6B-02125A7717E8}"/>
                  </a:ext>
                </a:extLst>
              </p:cNvPr>
              <p:cNvSpPr>
                <a:spLocks noGrp="1"/>
              </p:cNvSpPr>
              <p:nvPr>
                <p:ph type="body" idx="1"/>
              </p:nvPr>
            </p:nvSpPr>
            <p:spPr>
              <a:xfrm>
                <a:off x="552450" y="1510748"/>
                <a:ext cx="5369380" cy="4984947"/>
              </a:xfrm>
            </p:spPr>
            <p:txBody>
              <a:bodyPr/>
              <a:lstStyle/>
              <a:p>
                <a:pPr marL="457200" marR="0" lvl="0" indent="-381000" algn="l" defTabSz="914400" rtl="0" eaLnBrk="1" fontAlgn="auto" latinLnBrk="0" hangingPunct="1">
                  <a:lnSpc>
                    <a:spcPct val="100000"/>
                  </a:lnSpc>
                  <a:spcBef>
                    <a:spcPts val="480"/>
                  </a:spcBef>
                  <a:spcAft>
                    <a:spcPts val="0"/>
                  </a:spcAft>
                  <a:buClr>
                    <a:srgbClr val="000000"/>
                  </a:buClr>
                  <a:buSzPts val="2400"/>
                  <a:buFont typeface="Arial"/>
                  <a:buChar char="•"/>
                  <a:tabLst/>
                  <a:defRPr/>
                </a:pPr>
                <a:r>
                  <a:rPr kumimoji="0" lang="en-US" sz="2200" b="0" i="0" u="none" strike="noStrike" kern="0" cap="none" spc="0" normalizeH="0" baseline="0" noProof="0" dirty="0">
                    <a:ln>
                      <a:noFill/>
                    </a:ln>
                    <a:solidFill>
                      <a:srgbClr val="000000"/>
                    </a:solidFill>
                    <a:effectLst/>
                    <a:uLnTx/>
                    <a:uFillTx/>
                    <a:latin typeface="Calibri "/>
                    <a:sym typeface="Calibri"/>
                  </a:rPr>
                  <a:t>From previous equations, </a:t>
                </a:r>
                <a14:m>
                  <m:oMath xmlns:m="http://schemas.openxmlformats.org/officeDocument/2006/math">
                    <m:r>
                      <m:rPr>
                        <m:sty m:val="p"/>
                      </m:rPr>
                      <a:rPr kumimoji="0" lang="en-US" sz="2200" b="0" i="0" u="none" strike="noStrike" kern="0" cap="none" spc="0" normalizeH="0" baseline="0" noProof="0">
                        <a:ln>
                          <a:noFill/>
                        </a:ln>
                        <a:solidFill>
                          <a:srgbClr val="000000"/>
                        </a:solidFill>
                        <a:effectLst/>
                        <a:uLnTx/>
                        <a:uFillTx/>
                        <a:latin typeface="Cambria Math" panose="02040503050406030204" pitchFamily="18" charset="0"/>
                        <a:sym typeface="Calibri"/>
                      </a:rPr>
                      <m:t>ζ</m:t>
                    </m:r>
                  </m:oMath>
                </a14:m>
                <a:r>
                  <a:rPr kumimoji="0" lang="en-US" sz="2200" b="0" i="0" u="none" strike="noStrike" kern="0" cap="none" spc="0" normalizeH="0" baseline="0" noProof="0" dirty="0">
                    <a:ln>
                      <a:noFill/>
                    </a:ln>
                    <a:solidFill>
                      <a:srgbClr val="000000"/>
                    </a:solidFill>
                    <a:effectLst/>
                    <a:uLnTx/>
                    <a:uFillTx/>
                    <a:latin typeface="Calibri "/>
                    <a:sym typeface="Calibri"/>
                  </a:rPr>
                  <a:t> and </a:t>
                </a:r>
                <a14:m>
                  <m:oMath xmlns:m="http://schemas.openxmlformats.org/officeDocument/2006/math">
                    <m:r>
                      <a:rPr kumimoji="0" lang="en-US" sz="2200" b="0" i="1" u="none" strike="noStrike" kern="0" cap="none" spc="0" normalizeH="0" baseline="0" noProof="0">
                        <a:ln>
                          <a:noFill/>
                        </a:ln>
                        <a:solidFill>
                          <a:srgbClr val="000000"/>
                        </a:solidFill>
                        <a:effectLst/>
                        <a:uLnTx/>
                        <a:uFillTx/>
                        <a:latin typeface="Cambria Math" panose="02040503050406030204" pitchFamily="18" charset="0"/>
                        <a:sym typeface="Calibri"/>
                      </a:rPr>
                      <m:t>𝜔</m:t>
                    </m:r>
                    <m:r>
                      <a:rPr kumimoji="0" lang="en-US" sz="2200" b="0" i="1" u="none" strike="noStrike" kern="0" cap="none" spc="0" normalizeH="0" baseline="0" noProof="0">
                        <a:ln>
                          <a:noFill/>
                        </a:ln>
                        <a:solidFill>
                          <a:srgbClr val="000000"/>
                        </a:solidFill>
                        <a:effectLst/>
                        <a:uLnTx/>
                        <a:uFillTx/>
                        <a:latin typeface="Cambria Math" panose="02040503050406030204" pitchFamily="18" charset="0"/>
                        <a:sym typeface="Calibri"/>
                      </a:rPr>
                      <m:t>𝑛</m:t>
                    </m:r>
                  </m:oMath>
                </a14:m>
                <a:r>
                  <a:rPr kumimoji="0" lang="en-US" sz="2200" b="0" i="0" u="none" strike="noStrike" kern="0" cap="none" spc="0" normalizeH="0" baseline="0" noProof="0" dirty="0">
                    <a:ln>
                      <a:noFill/>
                    </a:ln>
                    <a:solidFill>
                      <a:srgbClr val="000000"/>
                    </a:solidFill>
                    <a:effectLst/>
                    <a:uLnTx/>
                    <a:uFillTx/>
                    <a:latin typeface="Calibri "/>
                    <a:sym typeface="Calibri"/>
                  </a:rPr>
                  <a:t> are controlled by filter coefficients.</a:t>
                </a:r>
              </a:p>
              <a:p>
                <a:pPr marL="457200" marR="0" lvl="0" indent="-381000" algn="l" defTabSz="914400" rtl="0" eaLnBrk="1" fontAlgn="auto" latinLnBrk="0" hangingPunct="1">
                  <a:lnSpc>
                    <a:spcPct val="100000"/>
                  </a:lnSpc>
                  <a:spcBef>
                    <a:spcPts val="480"/>
                  </a:spcBef>
                  <a:spcAft>
                    <a:spcPts val="0"/>
                  </a:spcAft>
                  <a:buClr>
                    <a:srgbClr val="000000"/>
                  </a:buClr>
                  <a:buSzPts val="2400"/>
                  <a:buFont typeface="Arial"/>
                  <a:buChar char="•"/>
                  <a:tabLst/>
                  <a:defRPr/>
                </a:pPr>
                <a:r>
                  <a:rPr kumimoji="0" lang="en-US" sz="2200" b="0" i="0" u="none" strike="noStrike" kern="0" cap="none" spc="0" normalizeH="0" baseline="0" noProof="0" dirty="0">
                    <a:ln>
                      <a:noFill/>
                    </a:ln>
                    <a:solidFill>
                      <a:srgbClr val="000000"/>
                    </a:solidFill>
                    <a:effectLst/>
                    <a:uLnTx/>
                    <a:uFillTx/>
                    <a:latin typeface="Calibri "/>
                    <a:sym typeface="Calibri"/>
                  </a:rPr>
                  <a:t>The figure shows The effect of damping coefficient </a:t>
                </a:r>
                <a14:m>
                  <m:oMath xmlns:m="http://schemas.openxmlformats.org/officeDocument/2006/math">
                    <m:r>
                      <m:rPr>
                        <m:sty m:val="p"/>
                      </m:rPr>
                      <a:rPr kumimoji="0" lang="en-US" sz="2200" b="0" i="0" u="none" strike="noStrike" kern="0" cap="none" spc="0" normalizeH="0" baseline="0" noProof="0">
                        <a:ln>
                          <a:noFill/>
                        </a:ln>
                        <a:solidFill>
                          <a:srgbClr val="000000"/>
                        </a:solidFill>
                        <a:effectLst/>
                        <a:uLnTx/>
                        <a:uFillTx/>
                        <a:latin typeface="Cambria Math" panose="02040503050406030204" pitchFamily="18" charset="0"/>
                        <a:sym typeface="Calibri"/>
                      </a:rPr>
                      <m:t>ζ</m:t>
                    </m:r>
                  </m:oMath>
                </a14:m>
                <a:r>
                  <a:rPr kumimoji="0" lang="en-US" sz="2200" b="0" i="0" u="none" strike="noStrike" kern="0" cap="none" spc="0" normalizeH="0" baseline="0" noProof="0" dirty="0">
                    <a:ln>
                      <a:noFill/>
                    </a:ln>
                    <a:solidFill>
                      <a:srgbClr val="000000"/>
                    </a:solidFill>
                    <a:effectLst/>
                    <a:uLnTx/>
                    <a:uFillTx/>
                    <a:latin typeface="Calibri "/>
                    <a:sym typeface="Calibri"/>
                  </a:rPr>
                  <a:t> on the loop.</a:t>
                </a:r>
              </a:p>
              <a:p>
                <a:pPr marL="457200" marR="0" lvl="0" indent="-381000" algn="l" defTabSz="914400" rtl="0" eaLnBrk="1" fontAlgn="auto" latinLnBrk="0" hangingPunct="1">
                  <a:lnSpc>
                    <a:spcPct val="100000"/>
                  </a:lnSpc>
                  <a:spcBef>
                    <a:spcPts val="480"/>
                  </a:spcBef>
                  <a:spcAft>
                    <a:spcPts val="0"/>
                  </a:spcAft>
                  <a:buClr>
                    <a:srgbClr val="000000"/>
                  </a:buClr>
                  <a:buSzPts val="2400"/>
                  <a:buFont typeface="Arial"/>
                  <a:buChar char="•"/>
                  <a:tabLst/>
                  <a:defRPr/>
                </a:pPr>
                <a:r>
                  <a:rPr kumimoji="0" lang="en-US" sz="2200" b="0" i="0" u="none" strike="noStrike" kern="0" cap="none" spc="0" normalizeH="0" baseline="0" noProof="0" dirty="0">
                    <a:ln>
                      <a:noFill/>
                    </a:ln>
                    <a:solidFill>
                      <a:srgbClr val="000000"/>
                    </a:solidFill>
                    <a:effectLst/>
                    <a:uLnTx/>
                    <a:uFillTx/>
                    <a:latin typeface="Calibri "/>
                    <a:sym typeface="Calibri"/>
                  </a:rPr>
                  <a:t>For system to be stable and exhibits acceptable peaking damping coefficient needs to be </a:t>
                </a:r>
                <a14:m>
                  <m:oMath xmlns:m="http://schemas.openxmlformats.org/officeDocument/2006/math">
                    <m:r>
                      <m:rPr>
                        <m:sty m:val="p"/>
                      </m:rPr>
                      <a:rPr kumimoji="0" lang="en-US" sz="2200" b="0" i="0" u="none" strike="noStrike" kern="0" cap="none" spc="0" normalizeH="0" baseline="0" noProof="0">
                        <a:ln>
                          <a:noFill/>
                        </a:ln>
                        <a:solidFill>
                          <a:srgbClr val="000000"/>
                        </a:solidFill>
                        <a:effectLst/>
                        <a:uLnTx/>
                        <a:uFillTx/>
                        <a:latin typeface="Cambria Math" panose="02040503050406030204" pitchFamily="18" charset="0"/>
                        <a:sym typeface="Calibri"/>
                      </a:rPr>
                      <m:t>ζ</m:t>
                    </m:r>
                    <m:r>
                      <a:rPr kumimoji="0" lang="en-US" sz="2200" b="0" i="0" u="none" strike="noStrike" kern="0" cap="none" spc="0" normalizeH="0" baseline="0" noProof="0">
                        <a:ln>
                          <a:noFill/>
                        </a:ln>
                        <a:solidFill>
                          <a:srgbClr val="000000"/>
                        </a:solidFill>
                        <a:effectLst/>
                        <a:uLnTx/>
                        <a:uFillTx/>
                        <a:latin typeface="Cambria Math" panose="02040503050406030204" pitchFamily="18" charset="0"/>
                        <a:sym typeface="Calibri"/>
                      </a:rPr>
                      <m:t>≥ </m:t>
                    </m:r>
                    <m:f>
                      <m:fPr>
                        <m:ctrlPr>
                          <a:rPr kumimoji="0" lang="en-US" sz="2200" b="0" i="1" u="none" strike="noStrike" kern="0" cap="none" spc="0" normalizeH="0" baseline="0" noProof="0">
                            <a:ln>
                              <a:noFill/>
                            </a:ln>
                            <a:solidFill>
                              <a:srgbClr val="000000"/>
                            </a:solidFill>
                            <a:effectLst/>
                            <a:uLnTx/>
                            <a:uFillTx/>
                            <a:latin typeface="Cambria Math" panose="02040503050406030204" pitchFamily="18" charset="0"/>
                            <a:sym typeface="Calibri"/>
                          </a:rPr>
                        </m:ctrlPr>
                      </m:fPr>
                      <m:num>
                        <m:r>
                          <a:rPr kumimoji="0" lang="en-US" sz="2200" b="0" i="1" u="none" strike="noStrike" kern="0" cap="none" spc="0" normalizeH="0" baseline="0" noProof="0">
                            <a:ln>
                              <a:noFill/>
                            </a:ln>
                            <a:solidFill>
                              <a:srgbClr val="000000"/>
                            </a:solidFill>
                            <a:effectLst/>
                            <a:uLnTx/>
                            <a:uFillTx/>
                            <a:latin typeface="Cambria Math" panose="02040503050406030204" pitchFamily="18" charset="0"/>
                            <a:sym typeface="Calibri"/>
                          </a:rPr>
                          <m:t>1</m:t>
                        </m:r>
                      </m:num>
                      <m:den>
                        <m:rad>
                          <m:radPr>
                            <m:degHide m:val="on"/>
                            <m:ctrlPr>
                              <a:rPr kumimoji="0" lang="en-US" sz="2200" b="0" i="1" u="none" strike="noStrike" kern="0" cap="none" spc="0" normalizeH="0" baseline="0" noProof="0">
                                <a:ln>
                                  <a:noFill/>
                                </a:ln>
                                <a:solidFill>
                                  <a:srgbClr val="000000"/>
                                </a:solidFill>
                                <a:effectLst/>
                                <a:uLnTx/>
                                <a:uFillTx/>
                                <a:latin typeface="Cambria Math" panose="02040503050406030204" pitchFamily="18" charset="0"/>
                                <a:sym typeface="Calibri"/>
                              </a:rPr>
                            </m:ctrlPr>
                          </m:radPr>
                          <m:deg/>
                          <m:e>
                            <m:r>
                              <a:rPr kumimoji="0" lang="en-US" sz="2200" b="0" i="1" u="none" strike="noStrike" kern="0" cap="none" spc="0" normalizeH="0" baseline="0" noProof="0">
                                <a:ln>
                                  <a:noFill/>
                                </a:ln>
                                <a:solidFill>
                                  <a:srgbClr val="000000"/>
                                </a:solidFill>
                                <a:effectLst/>
                                <a:uLnTx/>
                                <a:uFillTx/>
                                <a:latin typeface="Cambria Math" panose="02040503050406030204" pitchFamily="18" charset="0"/>
                                <a:sym typeface="Calibri"/>
                              </a:rPr>
                              <m:t>2</m:t>
                            </m:r>
                          </m:e>
                        </m:rad>
                      </m:den>
                    </m:f>
                  </m:oMath>
                </a14:m>
                <a:r>
                  <a:rPr kumimoji="0" lang="en-US" sz="2200" b="0" i="0" u="none" strike="noStrike" kern="0" cap="none" spc="0" normalizeH="0" baseline="0" noProof="0" dirty="0">
                    <a:ln>
                      <a:noFill/>
                    </a:ln>
                    <a:solidFill>
                      <a:srgbClr val="000000"/>
                    </a:solidFill>
                    <a:effectLst/>
                    <a:uLnTx/>
                    <a:uFillTx/>
                    <a:latin typeface="Calibri "/>
                    <a:sym typeface="Calibri"/>
                  </a:rPr>
                  <a:t> </a:t>
                </a:r>
              </a:p>
              <a:p>
                <a:pPr marL="457200" marR="0" lvl="0" indent="-381000" algn="l" defTabSz="914400" rtl="0" eaLnBrk="1" fontAlgn="auto" latinLnBrk="0" hangingPunct="1">
                  <a:lnSpc>
                    <a:spcPct val="100000"/>
                  </a:lnSpc>
                  <a:spcBef>
                    <a:spcPts val="480"/>
                  </a:spcBef>
                  <a:spcAft>
                    <a:spcPts val="0"/>
                  </a:spcAft>
                  <a:buClr>
                    <a:srgbClr val="000000"/>
                  </a:buClr>
                  <a:buSzPts val="2400"/>
                  <a:buFont typeface="Arial"/>
                  <a:buChar char="•"/>
                  <a:tabLst/>
                  <a:defRPr/>
                </a:pPr>
                <a:r>
                  <a:rPr kumimoji="0" lang="en-US" sz="2200" b="0" i="0" u="none" strike="noStrike" kern="0" cap="none" spc="0" normalizeH="0" baseline="0" noProof="0" dirty="0">
                    <a:ln>
                      <a:noFill/>
                    </a:ln>
                    <a:solidFill>
                      <a:srgbClr val="000000"/>
                    </a:solidFill>
                    <a:effectLst/>
                    <a:uLnTx/>
                    <a:uFillTx/>
                    <a:latin typeface="Calibri "/>
                    <a:sym typeface="Calibri"/>
                  </a:rPr>
                  <a:t>At </a:t>
                </a:r>
                <a14:m>
                  <m:oMath xmlns:m="http://schemas.openxmlformats.org/officeDocument/2006/math">
                    <m:r>
                      <m:rPr>
                        <m:sty m:val="p"/>
                      </m:rPr>
                      <a:rPr kumimoji="0" lang="en-US" sz="2200" b="0" i="0" u="none" strike="noStrike" kern="0" cap="none" spc="0" normalizeH="0" baseline="0" noProof="0">
                        <a:ln>
                          <a:noFill/>
                        </a:ln>
                        <a:solidFill>
                          <a:srgbClr val="000000"/>
                        </a:solidFill>
                        <a:effectLst/>
                        <a:uLnTx/>
                        <a:uFillTx/>
                        <a:latin typeface="Cambria Math" panose="02040503050406030204" pitchFamily="18" charset="0"/>
                        <a:sym typeface="Calibri"/>
                      </a:rPr>
                      <m:t>ζ</m:t>
                    </m:r>
                    <m:r>
                      <a:rPr kumimoji="0" lang="en-US" sz="2200" b="0" i="1" u="none" strike="noStrike" kern="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sym typeface="Calibri"/>
                      </a:rPr>
                      <m:t>&lt;</m:t>
                    </m:r>
                    <m:r>
                      <a:rPr kumimoji="0" lang="en-US" sz="2200" b="0" i="0" u="none" strike="noStrike" kern="0" cap="none" spc="0" normalizeH="0" baseline="0" noProof="0">
                        <a:ln>
                          <a:noFill/>
                        </a:ln>
                        <a:solidFill>
                          <a:srgbClr val="000000"/>
                        </a:solidFill>
                        <a:effectLst/>
                        <a:uLnTx/>
                        <a:uFillTx/>
                        <a:latin typeface="Cambria Math" panose="02040503050406030204" pitchFamily="18" charset="0"/>
                        <a:sym typeface="Calibri"/>
                      </a:rPr>
                      <m:t> </m:t>
                    </m:r>
                    <m:f>
                      <m:fPr>
                        <m:ctrlPr>
                          <a:rPr kumimoji="0" lang="en-US" sz="2200" b="0" i="1" u="none" strike="noStrike" kern="0" cap="none" spc="0" normalizeH="0" baseline="0" noProof="0">
                            <a:ln>
                              <a:noFill/>
                            </a:ln>
                            <a:solidFill>
                              <a:srgbClr val="000000"/>
                            </a:solidFill>
                            <a:effectLst/>
                            <a:uLnTx/>
                            <a:uFillTx/>
                            <a:latin typeface="Cambria Math" panose="02040503050406030204" pitchFamily="18" charset="0"/>
                            <a:sym typeface="Calibri"/>
                          </a:rPr>
                        </m:ctrlPr>
                      </m:fPr>
                      <m:num>
                        <m:r>
                          <a:rPr kumimoji="0" lang="en-US" sz="2200" b="0" i="1" u="none" strike="noStrike" kern="0" cap="none" spc="0" normalizeH="0" baseline="0" noProof="0">
                            <a:ln>
                              <a:noFill/>
                            </a:ln>
                            <a:solidFill>
                              <a:srgbClr val="000000"/>
                            </a:solidFill>
                            <a:effectLst/>
                            <a:uLnTx/>
                            <a:uFillTx/>
                            <a:latin typeface="Cambria Math" panose="02040503050406030204" pitchFamily="18" charset="0"/>
                            <a:sym typeface="Calibri"/>
                          </a:rPr>
                          <m:t>1</m:t>
                        </m:r>
                      </m:num>
                      <m:den>
                        <m:rad>
                          <m:radPr>
                            <m:degHide m:val="on"/>
                            <m:ctrlPr>
                              <a:rPr kumimoji="0" lang="en-US" sz="2200" b="0" i="1" u="none" strike="noStrike" kern="0" cap="none" spc="0" normalizeH="0" baseline="0" noProof="0">
                                <a:ln>
                                  <a:noFill/>
                                </a:ln>
                                <a:solidFill>
                                  <a:srgbClr val="000000"/>
                                </a:solidFill>
                                <a:effectLst/>
                                <a:uLnTx/>
                                <a:uFillTx/>
                                <a:latin typeface="Cambria Math" panose="02040503050406030204" pitchFamily="18" charset="0"/>
                                <a:sym typeface="Calibri"/>
                              </a:rPr>
                            </m:ctrlPr>
                          </m:radPr>
                          <m:deg/>
                          <m:e>
                            <m:r>
                              <a:rPr kumimoji="0" lang="en-US" sz="2200" b="0" i="1" u="none" strike="noStrike" kern="0" cap="none" spc="0" normalizeH="0" baseline="0" noProof="0">
                                <a:ln>
                                  <a:noFill/>
                                </a:ln>
                                <a:solidFill>
                                  <a:srgbClr val="000000"/>
                                </a:solidFill>
                                <a:effectLst/>
                                <a:uLnTx/>
                                <a:uFillTx/>
                                <a:latin typeface="Cambria Math" panose="02040503050406030204" pitchFamily="18" charset="0"/>
                                <a:sym typeface="Calibri"/>
                              </a:rPr>
                              <m:t>2</m:t>
                            </m:r>
                          </m:e>
                        </m:rad>
                      </m:den>
                    </m:f>
                  </m:oMath>
                </a14:m>
                <a:r>
                  <a:rPr kumimoji="0" lang="en-US" sz="2200" b="0" i="0" u="none" strike="noStrike" kern="0" cap="none" spc="0" normalizeH="0" baseline="0" noProof="0" dirty="0">
                    <a:ln>
                      <a:noFill/>
                    </a:ln>
                    <a:solidFill>
                      <a:srgbClr val="000000"/>
                    </a:solidFill>
                    <a:effectLst/>
                    <a:uLnTx/>
                    <a:uFillTx/>
                    <a:latin typeface="Calibri "/>
                    <a:sym typeface="Calibri"/>
                  </a:rPr>
                  <a:t> , the system is underdamped and exhibits peaking.</a:t>
                </a:r>
              </a:p>
              <a:p>
                <a:pPr marL="76200" indent="0">
                  <a:lnSpc>
                    <a:spcPct val="150000"/>
                  </a:lnSpc>
                  <a:buNone/>
                </a:pPr>
                <a:endParaRPr lang="en-US" sz="2000" dirty="0"/>
              </a:p>
              <a:p>
                <a:pPr marL="76200" indent="0">
                  <a:buNone/>
                </a:pPr>
                <a:endParaRPr lang="en-US" sz="2000" b="1" dirty="0"/>
              </a:p>
            </p:txBody>
          </p:sp>
        </mc:Choice>
        <mc:Fallback xmlns="">
          <p:sp>
            <p:nvSpPr>
              <p:cNvPr id="3" name="Text Placeholder 2">
                <a:extLst>
                  <a:ext uri="{FF2B5EF4-FFF2-40B4-BE49-F238E27FC236}">
                    <a16:creationId xmlns:a16="http://schemas.microsoft.com/office/drawing/2014/main" id="{879EA464-B9C6-1035-2D6B-02125A7717E8}"/>
                  </a:ext>
                </a:extLst>
              </p:cNvPr>
              <p:cNvSpPr>
                <a:spLocks noGrp="1" noRot="1" noChangeAspect="1" noMove="1" noResize="1" noEditPoints="1" noAdjustHandles="1" noChangeArrowheads="1" noChangeShapeType="1" noTextEdit="1"/>
              </p:cNvSpPr>
              <p:nvPr>
                <p:ph type="body" idx="1"/>
              </p:nvPr>
            </p:nvSpPr>
            <p:spPr>
              <a:xfrm>
                <a:off x="552450" y="1510748"/>
                <a:ext cx="5369380" cy="4984947"/>
              </a:xfrm>
              <a:blipFill>
                <a:blip r:embed="rId2"/>
                <a:stretch>
                  <a:fillRect l="-114"/>
                </a:stretch>
              </a:blipFill>
            </p:spPr>
            <p:txBody>
              <a:bodyPr/>
              <a:lstStyle/>
              <a:p>
                <a:r>
                  <a:rPr lang="en-US">
                    <a:noFill/>
                  </a:rPr>
                  <a:t> </a:t>
                </a:r>
              </a:p>
            </p:txBody>
          </p:sp>
        </mc:Fallback>
      </mc:AlternateContent>
      <p:sp>
        <p:nvSpPr>
          <p:cNvPr id="2" name="Text Placeholder 3">
            <a:extLst>
              <a:ext uri="{FF2B5EF4-FFF2-40B4-BE49-F238E27FC236}">
                <a16:creationId xmlns="" xmlns:a16="http://schemas.microsoft.com/office/drawing/2014/main" id="{D5157B65-9618-B463-C2F4-05A59F8A4DD9}"/>
              </a:ext>
            </a:extLst>
          </p:cNvPr>
          <p:cNvSpPr>
            <a:spLocks noGrp="1"/>
          </p:cNvSpPr>
          <p:nvPr>
            <p:ph type="body" idx="4294967295"/>
          </p:nvPr>
        </p:nvSpPr>
        <p:spPr>
          <a:xfrm>
            <a:off x="-171450" y="1075126"/>
            <a:ext cx="10972800" cy="506413"/>
          </a:xfrm>
        </p:spPr>
        <p:txBody>
          <a:bodyPr>
            <a:normAutofit/>
          </a:bodyPr>
          <a:lstStyle/>
          <a:p>
            <a:pPr marL="1473200" lvl="3" indent="0" algn="ctr">
              <a:buNone/>
            </a:pPr>
            <a:r>
              <a:rPr lang="en-US" b="1" dirty="0">
                <a:solidFill>
                  <a:schemeClr val="tx1">
                    <a:lumMod val="85000"/>
                    <a:lumOff val="15000"/>
                  </a:schemeClr>
                </a:solidFill>
              </a:rPr>
              <a:t>Magnitude response:</a:t>
            </a:r>
          </a:p>
          <a:p>
            <a:endParaRPr lang="en-US" sz="2000" b="1" i="0" dirty="0"/>
          </a:p>
        </p:txBody>
      </p:sp>
      <p:pic>
        <p:nvPicPr>
          <p:cNvPr id="4" name="Picture 3">
            <a:extLst>
              <a:ext uri="{FF2B5EF4-FFF2-40B4-BE49-F238E27FC236}">
                <a16:creationId xmlns="" xmlns:a16="http://schemas.microsoft.com/office/drawing/2014/main" id="{FB5CA768-BB41-7222-7A71-B29460BE208A}"/>
              </a:ext>
            </a:extLst>
          </p:cNvPr>
          <p:cNvPicPr>
            <a:picLocks noChangeAspect="1"/>
          </p:cNvPicPr>
          <p:nvPr/>
        </p:nvPicPr>
        <p:blipFill>
          <a:blip r:embed="rId3"/>
          <a:stretch>
            <a:fillRect/>
          </a:stretch>
        </p:blipFill>
        <p:spPr>
          <a:xfrm>
            <a:off x="6270171" y="1581539"/>
            <a:ext cx="5521528" cy="4460033"/>
          </a:xfrm>
          <a:prstGeom prst="rect">
            <a:avLst/>
          </a:prstGeom>
        </p:spPr>
      </p:pic>
    </p:spTree>
    <p:extLst>
      <p:ext uri="{BB962C8B-B14F-4D97-AF65-F5344CB8AC3E}">
        <p14:creationId xmlns:p14="http://schemas.microsoft.com/office/powerpoint/2010/main" val="2558970595"/>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 xmlns:a16="http://schemas.microsoft.com/office/drawing/2014/main" id="{F625A8B1-8679-1D56-69DF-699154125C85}"/>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Digital loop filter </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 xmlns:a16="http://schemas.microsoft.com/office/drawing/2014/main" id="{D56E8069-2B2A-508A-F656-69E7BC5C9C55}"/>
                  </a:ext>
                </a:extLst>
              </p:cNvPr>
              <p:cNvSpPr>
                <a:spLocks noGrp="1"/>
              </p:cNvSpPr>
              <p:nvPr>
                <p:ph type="body" idx="1"/>
              </p:nvPr>
            </p:nvSpPr>
            <p:spPr>
              <a:xfrm>
                <a:off x="706016" y="1510748"/>
                <a:ext cx="10571584" cy="4984947"/>
              </a:xfrm>
            </p:spPr>
            <p:txBody>
              <a:bodyPr/>
              <a:lstStyle/>
              <a:p>
                <a:pPr marL="76200" indent="0">
                  <a:buNone/>
                </a:pPr>
                <a:r>
                  <a:rPr lang="en-US" sz="2200" b="0" dirty="0">
                    <a:solidFill>
                      <a:schemeClr val="tx1">
                        <a:lumMod val="85000"/>
                        <a:lumOff val="15000"/>
                      </a:schemeClr>
                    </a:solidFill>
                    <a:latin typeface="+mn-lt"/>
                  </a:rPr>
                  <a:t>The figure illustrates the closed-loop transfer function for different values of a with constant </a:t>
                </a:r>
                <a14:m>
                  <m:oMath xmlns:m="http://schemas.openxmlformats.org/officeDocument/2006/math">
                    <m:r>
                      <m:rPr>
                        <m:sty m:val="p"/>
                      </m:rPr>
                      <a:rPr lang="en-US" sz="2200" b="0">
                        <a:solidFill>
                          <a:schemeClr val="tx1">
                            <a:lumMod val="85000"/>
                            <a:lumOff val="15000"/>
                          </a:schemeClr>
                        </a:solidFill>
                        <a:latin typeface="Cambria Math" panose="02040503050406030204" pitchFamily="18" charset="0"/>
                      </a:rPr>
                      <m:t>ζ</m:t>
                    </m:r>
                    <m:r>
                      <a:rPr lang="en-US" sz="2200" b="0" i="1" smtClean="0">
                        <a:solidFill>
                          <a:schemeClr val="tx1">
                            <a:lumMod val="85000"/>
                            <a:lumOff val="15000"/>
                          </a:schemeClr>
                        </a:solidFill>
                        <a:latin typeface="Cambria Math" panose="02040503050406030204" pitchFamily="18" charset="0"/>
                      </a:rPr>
                      <m:t>=</m:t>
                    </m:r>
                    <m:f>
                      <m:fPr>
                        <m:ctrlPr>
                          <a:rPr lang="en-US" sz="2200" b="0" i="1" smtClean="0">
                            <a:solidFill>
                              <a:schemeClr val="tx1">
                                <a:lumMod val="85000"/>
                                <a:lumOff val="15000"/>
                              </a:schemeClr>
                            </a:solidFill>
                            <a:latin typeface="Cambria Math" panose="02040503050406030204" pitchFamily="18" charset="0"/>
                          </a:rPr>
                        </m:ctrlPr>
                      </m:fPr>
                      <m:num>
                        <m:r>
                          <a:rPr lang="en-US" sz="2200" b="0" i="1" smtClean="0">
                            <a:solidFill>
                              <a:schemeClr val="tx1">
                                <a:lumMod val="85000"/>
                                <a:lumOff val="15000"/>
                              </a:schemeClr>
                            </a:solidFill>
                            <a:latin typeface="Cambria Math" panose="02040503050406030204" pitchFamily="18" charset="0"/>
                          </a:rPr>
                          <m:t>1</m:t>
                        </m:r>
                      </m:num>
                      <m:den>
                        <m:r>
                          <a:rPr lang="en-US" sz="2200" b="0" i="1" smtClean="0">
                            <a:solidFill>
                              <a:schemeClr val="tx1">
                                <a:lumMod val="85000"/>
                                <a:lumOff val="15000"/>
                              </a:schemeClr>
                            </a:solidFill>
                            <a:latin typeface="Cambria Math" panose="02040503050406030204" pitchFamily="18" charset="0"/>
                          </a:rPr>
                          <m:t>4</m:t>
                        </m:r>
                      </m:den>
                    </m:f>
                  </m:oMath>
                </a14:m>
                <a:r>
                  <a:rPr lang="en-US" sz="2200" b="0" dirty="0">
                    <a:solidFill>
                      <a:schemeClr val="tx1">
                        <a:lumMod val="85000"/>
                        <a:lumOff val="15000"/>
                      </a:schemeClr>
                    </a:solidFill>
                    <a:latin typeface="+mn-lt"/>
                  </a:rPr>
                  <a:t>.</a:t>
                </a:r>
              </a:p>
              <a:p>
                <a:r>
                  <a:rPr lang="en-US" sz="2200" dirty="0">
                    <a:solidFill>
                      <a:schemeClr val="tx1">
                        <a:lumMod val="85000"/>
                        <a:lumOff val="15000"/>
                      </a:schemeClr>
                    </a:solidFill>
                    <a:latin typeface="+mn-lt"/>
                  </a:rPr>
                  <a:t>Large </a:t>
                </a:r>
                <a:r>
                  <a:rPr lang="el-GR" sz="2200" dirty="0">
                    <a:solidFill>
                      <a:schemeClr val="tx1">
                        <a:lumMod val="85000"/>
                        <a:lumOff val="15000"/>
                      </a:schemeClr>
                    </a:solidFill>
                    <a:latin typeface="+mn-lt"/>
                  </a:rPr>
                  <a:t>α</a:t>
                </a:r>
                <a:r>
                  <a:rPr lang="en-US" sz="2200" dirty="0">
                    <a:solidFill>
                      <a:schemeClr val="tx1">
                        <a:lumMod val="85000"/>
                        <a:lumOff val="15000"/>
                      </a:schemeClr>
                    </a:solidFill>
                    <a:latin typeface="+mn-lt"/>
                  </a:rPr>
                  <a:t> </a:t>
                </a:r>
              </a:p>
              <a:p>
                <a:pPr lvl="1"/>
                <a:r>
                  <a:rPr lang="en-US" sz="2200" b="0" dirty="0">
                    <a:solidFill>
                      <a:schemeClr val="tx1">
                        <a:lumMod val="85000"/>
                        <a:lumOff val="15000"/>
                      </a:schemeClr>
                    </a:solidFill>
                    <a:latin typeface="+mn-lt"/>
                  </a:rPr>
                  <a:t>Fast response.</a:t>
                </a:r>
              </a:p>
              <a:p>
                <a:pPr lvl="1"/>
                <a:r>
                  <a:rPr lang="en-US" sz="2200" b="0" dirty="0">
                    <a:solidFill>
                      <a:schemeClr val="tx1">
                        <a:lumMod val="85000"/>
                        <a:lumOff val="15000"/>
                      </a:schemeClr>
                    </a:solidFill>
                    <a:latin typeface="+mn-lt"/>
                  </a:rPr>
                  <a:t>Wider bandwidth.</a:t>
                </a:r>
              </a:p>
              <a:p>
                <a:pPr lvl="1"/>
                <a:r>
                  <a:rPr lang="en-US" sz="2200" b="0" dirty="0">
                    <a:solidFill>
                      <a:schemeClr val="tx1">
                        <a:lumMod val="85000"/>
                        <a:lumOff val="15000"/>
                      </a:schemeClr>
                    </a:solidFill>
                    <a:latin typeface="+mn-lt"/>
                  </a:rPr>
                  <a:t>Less noise suppression.</a:t>
                </a:r>
              </a:p>
              <a:p>
                <a:r>
                  <a:rPr lang="en-US" sz="2200" dirty="0">
                    <a:solidFill>
                      <a:schemeClr val="tx1">
                        <a:lumMod val="85000"/>
                        <a:lumOff val="15000"/>
                      </a:schemeClr>
                    </a:solidFill>
                    <a:latin typeface="+mn-lt"/>
                  </a:rPr>
                  <a:t>Small </a:t>
                </a:r>
                <a:r>
                  <a:rPr lang="el-GR" sz="2200" dirty="0">
                    <a:solidFill>
                      <a:schemeClr val="tx1">
                        <a:lumMod val="85000"/>
                        <a:lumOff val="15000"/>
                      </a:schemeClr>
                    </a:solidFill>
                    <a:latin typeface="+mn-lt"/>
                  </a:rPr>
                  <a:t>α</a:t>
                </a:r>
                <a:endParaRPr lang="en-US" sz="2200" dirty="0">
                  <a:solidFill>
                    <a:schemeClr val="tx1">
                      <a:lumMod val="85000"/>
                      <a:lumOff val="15000"/>
                    </a:schemeClr>
                  </a:solidFill>
                  <a:latin typeface="+mn-lt"/>
                </a:endParaRPr>
              </a:p>
              <a:p>
                <a:pPr lvl="1"/>
                <a:r>
                  <a:rPr lang="en-US" sz="2200" b="0" dirty="0">
                    <a:solidFill>
                      <a:schemeClr val="tx1">
                        <a:lumMod val="85000"/>
                        <a:lumOff val="15000"/>
                      </a:schemeClr>
                    </a:solidFill>
                    <a:latin typeface="+mn-lt"/>
                  </a:rPr>
                  <a:t>Slower response. </a:t>
                </a:r>
              </a:p>
              <a:p>
                <a:pPr lvl="1"/>
                <a:r>
                  <a:rPr lang="en-US" sz="2200" b="0" dirty="0">
                    <a:solidFill>
                      <a:schemeClr val="tx1">
                        <a:lumMod val="85000"/>
                        <a:lumOff val="15000"/>
                      </a:schemeClr>
                    </a:solidFill>
                    <a:latin typeface="+mn-lt"/>
                  </a:rPr>
                  <a:t>Narrower bandwidth.</a:t>
                </a:r>
              </a:p>
              <a:p>
                <a:pPr lvl="1"/>
                <a:r>
                  <a:rPr lang="en-US" sz="2200" b="0" dirty="0">
                    <a:solidFill>
                      <a:schemeClr val="tx1">
                        <a:lumMod val="85000"/>
                        <a:lumOff val="15000"/>
                      </a:schemeClr>
                    </a:solidFill>
                    <a:latin typeface="+mn-lt"/>
                  </a:rPr>
                  <a:t>Better noise suppression.</a:t>
                </a:r>
              </a:p>
            </p:txBody>
          </p:sp>
        </mc:Choice>
        <mc:Fallback xmlns="">
          <p:sp>
            <p:nvSpPr>
              <p:cNvPr id="3" name="Text Placeholder 2">
                <a:extLst>
                  <a:ext uri="{FF2B5EF4-FFF2-40B4-BE49-F238E27FC236}">
                    <a16:creationId xmlns:a16="http://schemas.microsoft.com/office/drawing/2014/main" id="{D56E8069-2B2A-508A-F656-69E7BC5C9C55}"/>
                  </a:ext>
                </a:extLst>
              </p:cNvPr>
              <p:cNvSpPr>
                <a:spLocks noGrp="1" noRot="1" noChangeAspect="1" noMove="1" noResize="1" noEditPoints="1" noAdjustHandles="1" noChangeArrowheads="1" noChangeShapeType="1" noTextEdit="1"/>
              </p:cNvSpPr>
              <p:nvPr>
                <p:ph type="body" idx="1"/>
              </p:nvPr>
            </p:nvSpPr>
            <p:spPr>
              <a:xfrm>
                <a:off x="706016" y="1510748"/>
                <a:ext cx="10571584" cy="4984947"/>
              </a:xfrm>
              <a:blipFill>
                <a:blip r:embed="rId2"/>
                <a:stretch>
                  <a:fillRect/>
                </a:stretch>
              </a:blipFill>
            </p:spPr>
            <p:txBody>
              <a:bodyPr/>
              <a:lstStyle/>
              <a:p>
                <a:r>
                  <a:rPr lang="en-US">
                    <a:noFill/>
                  </a:rPr>
                  <a:t> </a:t>
                </a:r>
              </a:p>
            </p:txBody>
          </p:sp>
        </mc:Fallback>
      </mc:AlternateContent>
      <p:sp>
        <p:nvSpPr>
          <p:cNvPr id="4" name="Text Placeholder 3">
            <a:extLst>
              <a:ext uri="{FF2B5EF4-FFF2-40B4-BE49-F238E27FC236}">
                <a16:creationId xmlns="" xmlns:a16="http://schemas.microsoft.com/office/drawing/2014/main" id="{207290DB-3568-4E09-2764-4B853E571525}"/>
              </a:ext>
            </a:extLst>
          </p:cNvPr>
          <p:cNvSpPr>
            <a:spLocks noGrp="1"/>
          </p:cNvSpPr>
          <p:nvPr>
            <p:ph type="body" idx="4294967295"/>
          </p:nvPr>
        </p:nvSpPr>
        <p:spPr>
          <a:xfrm>
            <a:off x="0" y="1044575"/>
            <a:ext cx="10972800" cy="506413"/>
          </a:xfrm>
        </p:spPr>
        <p:txBody>
          <a:bodyPr>
            <a:normAutofit/>
          </a:bodyPr>
          <a:lstStyle/>
          <a:p>
            <a:pPr marL="101600" indent="0" algn="ctr">
              <a:buNone/>
            </a:pPr>
            <a:r>
              <a:rPr lang="en-US" sz="2000" b="1" dirty="0">
                <a:solidFill>
                  <a:schemeClr val="tx1">
                    <a:lumMod val="85000"/>
                    <a:lumOff val="15000"/>
                  </a:schemeClr>
                </a:solidFill>
              </a:rPr>
              <a:t>	       Proportional gain tradeoff :</a:t>
            </a:r>
          </a:p>
          <a:p>
            <a:endParaRPr lang="en-US" sz="2000" b="1" i="0" dirty="0"/>
          </a:p>
        </p:txBody>
      </p:sp>
      <p:pic>
        <p:nvPicPr>
          <p:cNvPr id="2" name="Picture 1">
            <a:extLst>
              <a:ext uri="{FF2B5EF4-FFF2-40B4-BE49-F238E27FC236}">
                <a16:creationId xmlns="" xmlns:a16="http://schemas.microsoft.com/office/drawing/2014/main" id="{31B136FE-82D4-3B08-53F5-4D31A08E9DEF}"/>
              </a:ext>
            </a:extLst>
          </p:cNvPr>
          <p:cNvPicPr>
            <a:picLocks noChangeAspect="1"/>
          </p:cNvPicPr>
          <p:nvPr/>
        </p:nvPicPr>
        <p:blipFill>
          <a:blip r:embed="rId3"/>
          <a:stretch>
            <a:fillRect/>
          </a:stretch>
        </p:blipFill>
        <p:spPr>
          <a:xfrm>
            <a:off x="5963816" y="2202024"/>
            <a:ext cx="4914044" cy="3841069"/>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 xmlns:a16="http://schemas.microsoft.com/office/drawing/2014/main" id="{D40EBB04-7F46-A8F7-A822-1BA298256930}"/>
                  </a:ext>
                </a:extLst>
              </p:cNvPr>
              <p:cNvSpPr txBox="1"/>
              <p:nvPr/>
            </p:nvSpPr>
            <p:spPr>
              <a:xfrm>
                <a:off x="706016" y="5583664"/>
                <a:ext cx="6097554" cy="604396"/>
              </a:xfrm>
              <a:prstGeom prst="rect">
                <a:avLst/>
              </a:prstGeom>
              <a:noFill/>
            </p:spPr>
            <p:txBody>
              <a:bodyPr wrap="square">
                <a:spAutoFit/>
              </a:bodyPr>
              <a:lstStyle/>
              <a:p>
                <a14:m>
                  <m:oMath xmlns:m="http://schemas.openxmlformats.org/officeDocument/2006/math">
                    <m:r>
                      <m:rPr>
                        <m:sty m:val="p"/>
                      </m:rPr>
                      <a:rPr lang="en-US" sz="2000" smtClean="0">
                        <a:latin typeface="Cambria Math" panose="02040503050406030204" pitchFamily="18" charset="0"/>
                      </a:rPr>
                      <m:t>ζ</m:t>
                    </m:r>
                    <m:r>
                      <a:rPr lang="en-US" sz="2000" smtClean="0">
                        <a:latin typeface="Cambria Math" panose="02040503050406030204" pitchFamily="18" charset="0"/>
                      </a:rPr>
                      <m:t> = </m:t>
                    </m:r>
                    <m:f>
                      <m:fPr>
                        <m:ctrlPr>
                          <a:rPr lang="en-US" sz="2000" i="1">
                            <a:latin typeface="Cambria Math" panose="02040503050406030204" pitchFamily="18" charset="0"/>
                          </a:rPr>
                        </m:ctrlPr>
                      </m:fPr>
                      <m:num>
                        <m:r>
                          <m:rPr>
                            <m:sty m:val="p"/>
                          </m:rPr>
                          <a:rPr lang="en-US" sz="2000">
                            <a:latin typeface="Cambria Math" panose="02040503050406030204" pitchFamily="18" charset="0"/>
                          </a:rPr>
                          <m:t>α</m:t>
                        </m:r>
                        <m:r>
                          <a:rPr lang="en-US" sz="2000">
                            <a:latin typeface="Cambria Math" panose="02040503050406030204" pitchFamily="18" charset="0"/>
                          </a:rPr>
                          <m:t> </m:t>
                        </m:r>
                        <m:r>
                          <a:rPr lang="en-US" sz="2000" i="1">
                            <a:latin typeface="Cambria Math" panose="02040503050406030204" pitchFamily="18" charset="0"/>
                          </a:rPr>
                          <m:t>𝑓𝑟</m:t>
                        </m:r>
                      </m:num>
                      <m:den>
                        <m:r>
                          <a:rPr lang="en-US" sz="2000" i="1">
                            <a:latin typeface="Cambria Math" panose="02040503050406030204" pitchFamily="18" charset="0"/>
                          </a:rPr>
                          <m:t>2</m:t>
                        </m:r>
                        <m:r>
                          <a:rPr lang="en-US" sz="2000" i="1">
                            <a:latin typeface="Cambria Math" panose="02040503050406030204" pitchFamily="18" charset="0"/>
                          </a:rPr>
                          <m:t>𝜔</m:t>
                        </m:r>
                        <m:r>
                          <a:rPr lang="en-US" sz="2000" i="1">
                            <a:latin typeface="Cambria Math" panose="02040503050406030204" pitchFamily="18" charset="0"/>
                          </a:rPr>
                          <m:t>𝑛</m:t>
                        </m:r>
                        <m:r>
                          <a:rPr lang="en-US" sz="2000">
                            <a:latin typeface="Cambria Math" panose="02040503050406030204" pitchFamily="18" charset="0"/>
                          </a:rPr>
                          <m:t> </m:t>
                        </m:r>
                      </m:den>
                    </m:f>
                    <m:r>
                      <a:rPr lang="en-US" sz="2000" i="1">
                        <a:latin typeface="Cambria Math" panose="02040503050406030204" pitchFamily="18" charset="0"/>
                      </a:rPr>
                      <m:t>= </m:t>
                    </m:r>
                    <m:f>
                      <m:fPr>
                        <m:ctrlPr>
                          <a:rPr lang="en-US" sz="2000" i="1">
                            <a:latin typeface="Cambria Math" panose="02040503050406030204" pitchFamily="18" charset="0"/>
                          </a:rPr>
                        </m:ctrlPr>
                      </m:fPr>
                      <m:num>
                        <m:r>
                          <a:rPr lang="en-US" sz="2000" i="1">
                            <a:latin typeface="Cambria Math" panose="02040503050406030204" pitchFamily="18" charset="0"/>
                          </a:rPr>
                          <m:t>1</m:t>
                        </m:r>
                      </m:num>
                      <m:den>
                        <m:r>
                          <a:rPr lang="en-US" sz="2000" i="1">
                            <a:latin typeface="Cambria Math" panose="02040503050406030204" pitchFamily="18" charset="0"/>
                          </a:rPr>
                          <m:t>2</m:t>
                        </m:r>
                      </m:den>
                    </m:f>
                    <m:r>
                      <a:rPr lang="en-US" sz="2000" i="1">
                        <a:latin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rPr>
                          <m:t>𝛼</m:t>
                        </m:r>
                      </m:num>
                      <m:den>
                        <m:rad>
                          <m:radPr>
                            <m:degHide m:val="on"/>
                            <m:ctrlPr>
                              <a:rPr lang="en-US" sz="2000" i="1">
                                <a:latin typeface="Cambria Math" panose="02040503050406030204" pitchFamily="18" charset="0"/>
                              </a:rPr>
                            </m:ctrlPr>
                          </m:radPr>
                          <m:deg/>
                          <m:e>
                            <m:r>
                              <m:rPr>
                                <m:nor/>
                              </m:rPr>
                              <a:rPr lang="en-US" sz="2000" dirty="0"/>
                              <m:t>ρ</m:t>
                            </m:r>
                            <m:r>
                              <m:rPr>
                                <m:nor/>
                              </m:rPr>
                              <a:rPr lang="en-US" sz="2000" dirty="0"/>
                              <m:t> </m:t>
                            </m:r>
                          </m:e>
                        </m:rad>
                      </m:den>
                    </m:f>
                    <m:r>
                      <a:rPr lang="en-US" sz="2000" i="1">
                        <a:latin typeface="Cambria Math" panose="02040503050406030204" pitchFamily="18" charset="0"/>
                      </a:rPr>
                      <m:t>)</m:t>
                    </m:r>
                  </m:oMath>
                </a14:m>
                <a:r>
                  <a:rPr lang="en-US" sz="2000" dirty="0"/>
                  <a:t>                    </a:t>
                </a:r>
                <a14:m>
                  <m:oMath xmlns:m="http://schemas.openxmlformats.org/officeDocument/2006/math">
                    <m:r>
                      <a:rPr lang="en-US" sz="2000" b="0" i="0" smtClean="0">
                        <a:latin typeface="Cambria Math" panose="02040503050406030204" pitchFamily="18" charset="0"/>
                      </a:rPr>
                      <m:t>  </m:t>
                    </m:r>
                    <m:r>
                      <a:rPr lang="en-US" sz="2000" i="1">
                        <a:latin typeface="Cambria Math" panose="02040503050406030204" pitchFamily="18" charset="0"/>
                      </a:rPr>
                      <m:t>𝜔</m:t>
                    </m:r>
                    <m:r>
                      <a:rPr lang="en-US" sz="2000" i="1">
                        <a:latin typeface="Cambria Math" panose="02040503050406030204" pitchFamily="18" charset="0"/>
                      </a:rPr>
                      <m:t>𝑛</m:t>
                    </m:r>
                    <m:r>
                      <a:rPr lang="en-US" sz="2000" i="1">
                        <a:latin typeface="Cambria Math" panose="02040503050406030204" pitchFamily="18" charset="0"/>
                      </a:rPr>
                      <m:t>=</m:t>
                    </m:r>
                    <m:rad>
                      <m:radPr>
                        <m:degHide m:val="on"/>
                        <m:ctrlPr>
                          <a:rPr lang="en-US" sz="2000" i="1">
                            <a:latin typeface="Cambria Math" panose="02040503050406030204" pitchFamily="18" charset="0"/>
                          </a:rPr>
                        </m:ctrlPr>
                      </m:radPr>
                      <m:deg/>
                      <m:e>
                        <m:r>
                          <m:rPr>
                            <m:nor/>
                          </m:rPr>
                          <a:rPr lang="en-US" sz="2000" dirty="0"/>
                          <m:t>ρ</m:t>
                        </m:r>
                        <m:r>
                          <m:rPr>
                            <m:nor/>
                          </m:rPr>
                          <a:rPr lang="en-US" sz="2000" dirty="0"/>
                          <m:t> </m:t>
                        </m:r>
                      </m:e>
                    </m:rad>
                    <m:r>
                      <a:rPr lang="en-US" sz="2000" i="1">
                        <a:latin typeface="Cambria Math" panose="02040503050406030204" pitchFamily="18" charset="0"/>
                      </a:rPr>
                      <m:t> </m:t>
                    </m:r>
                    <m:r>
                      <a:rPr lang="en-US" sz="2000" i="1">
                        <a:latin typeface="Cambria Math" panose="02040503050406030204" pitchFamily="18" charset="0"/>
                      </a:rPr>
                      <m:t>𝑓𝑟</m:t>
                    </m:r>
                    <m:r>
                      <a:rPr lang="en-US" sz="2000" i="1">
                        <a:latin typeface="Cambria Math" panose="02040503050406030204" pitchFamily="18" charset="0"/>
                      </a:rPr>
                      <m:t> </m:t>
                    </m:r>
                  </m:oMath>
                </a14:m>
                <a:endParaRPr lang="en-US" sz="2000" dirty="0"/>
              </a:p>
            </p:txBody>
          </p:sp>
        </mc:Choice>
        <mc:Fallback xmlns="">
          <p:sp>
            <p:nvSpPr>
              <p:cNvPr id="7" name="TextBox 6">
                <a:extLst>
                  <a:ext uri="{FF2B5EF4-FFF2-40B4-BE49-F238E27FC236}">
                    <a16:creationId xmlns:a16="http://schemas.microsoft.com/office/drawing/2014/main" id="{D40EBB04-7F46-A8F7-A822-1BA298256930}"/>
                  </a:ext>
                </a:extLst>
              </p:cNvPr>
              <p:cNvSpPr txBox="1">
                <a:spLocks noRot="1" noChangeAspect="1" noMove="1" noResize="1" noEditPoints="1" noAdjustHandles="1" noChangeArrowheads="1" noChangeShapeType="1" noTextEdit="1"/>
              </p:cNvSpPr>
              <p:nvPr/>
            </p:nvSpPr>
            <p:spPr>
              <a:xfrm>
                <a:off x="706016" y="5583664"/>
                <a:ext cx="6097554" cy="604396"/>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631346467"/>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8E949EE6-DADD-8DDE-ACA2-039D89C87307}"/>
            </a:ext>
          </a:extLst>
        </p:cNvPr>
        <p:cNvGrpSpPr/>
        <p:nvPr/>
      </p:nvGrpSpPr>
      <p:grpSpPr>
        <a:xfrm>
          <a:off x="0" y="0"/>
          <a:ext cx="0" cy="0"/>
          <a:chOff x="0" y="0"/>
          <a:chExt cx="0" cy="0"/>
        </a:xfrm>
      </p:grpSpPr>
      <p:sp>
        <p:nvSpPr>
          <p:cNvPr id="5" name="Title 1">
            <a:extLst>
              <a:ext uri="{FF2B5EF4-FFF2-40B4-BE49-F238E27FC236}">
                <a16:creationId xmlns="" xmlns:a16="http://schemas.microsoft.com/office/drawing/2014/main" id="{1D1D4435-85B5-B11F-0E0B-B5E7DD5E0D3D}"/>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Digital loop filter </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 xmlns:a16="http://schemas.microsoft.com/office/drawing/2014/main" id="{E7FD6E35-3AF5-9327-4458-A29E8BDB6EE5}"/>
                  </a:ext>
                </a:extLst>
              </p:cNvPr>
              <p:cNvSpPr>
                <a:spLocks noGrp="1"/>
              </p:cNvSpPr>
              <p:nvPr>
                <p:ph type="body" idx="1"/>
              </p:nvPr>
            </p:nvSpPr>
            <p:spPr>
              <a:xfrm>
                <a:off x="571500" y="1510748"/>
                <a:ext cx="10706100" cy="4984947"/>
              </a:xfrm>
            </p:spPr>
            <p:txBody>
              <a:bodyPr/>
              <a:lstStyle/>
              <a:p>
                <a:pPr marL="76200" indent="0">
                  <a:buNone/>
                </a:pPr>
                <a:r>
                  <a:rPr lang="en-US" sz="2000" b="0" dirty="0">
                    <a:solidFill>
                      <a:schemeClr val="tx1">
                        <a:lumMod val="85000"/>
                        <a:lumOff val="15000"/>
                      </a:schemeClr>
                    </a:solidFill>
                    <a:latin typeface="+mn-lt"/>
                  </a:rPr>
                  <a:t>To verify the loop filter functionality and the effect on changing </a:t>
                </a:r>
                <a:r>
                  <a:rPr lang="el-GR" sz="2000" b="0" dirty="0">
                    <a:solidFill>
                      <a:schemeClr val="tx1">
                        <a:lumMod val="85000"/>
                        <a:lumOff val="15000"/>
                      </a:schemeClr>
                    </a:solidFill>
                    <a:latin typeface="+mn-lt"/>
                  </a:rPr>
                  <a:t>α</a:t>
                </a:r>
                <a:r>
                  <a:rPr lang="en-US" sz="2000" b="0" dirty="0">
                    <a:solidFill>
                      <a:schemeClr val="tx1">
                        <a:lumMod val="85000"/>
                        <a:lumOff val="15000"/>
                      </a:schemeClr>
                    </a:solidFill>
                    <a:latin typeface="+mn-lt"/>
                  </a:rPr>
                  <a:t> on the closed loop system, an ideal sample based ADPLL model assuming DCO central frequency = 2.35GHz , target frequency = 2.432GHz</a:t>
                </a:r>
              </a:p>
              <a:p>
                <a:pPr marL="76200" indent="0">
                  <a:buNone/>
                </a:pPr>
                <a:r>
                  <a:rPr lang="en-US" sz="2000" b="0" dirty="0">
                    <a:solidFill>
                      <a:schemeClr val="tx1">
                        <a:lumMod val="85000"/>
                        <a:lumOff val="15000"/>
                      </a:schemeClr>
                    </a:solidFill>
                    <a:latin typeface="+mn-lt"/>
                  </a:rPr>
                  <a:t>critically damped (</a:t>
                </a:r>
                <a:r>
                  <a:rPr lang="en-US" sz="2000" dirty="0">
                    <a:solidFill>
                      <a:schemeClr val="tx1">
                        <a:lumMod val="85000"/>
                        <a:lumOff val="15000"/>
                      </a:schemeClr>
                    </a:solidFill>
                    <a:latin typeface="+mn-lt"/>
                  </a:rPr>
                  <a:t>Large </a:t>
                </a:r>
                <a:r>
                  <a:rPr lang="el-GR" sz="2000" dirty="0">
                    <a:solidFill>
                      <a:schemeClr val="tx1">
                        <a:lumMod val="85000"/>
                        <a:lumOff val="15000"/>
                      </a:schemeClr>
                    </a:solidFill>
                    <a:latin typeface="+mn-lt"/>
                  </a:rPr>
                  <a:t>α</a:t>
                </a:r>
                <a:r>
                  <a:rPr lang="en-US" sz="2000" b="0" dirty="0">
                    <a:solidFill>
                      <a:schemeClr val="tx1">
                        <a:lumMod val="85000"/>
                        <a:lumOff val="15000"/>
                      </a:schemeClr>
                    </a:solidFill>
                    <a:latin typeface="+mn-lt"/>
                  </a:rPr>
                  <a:t>) </a:t>
                </a:r>
                <a:r>
                  <a:rPr lang="el-GR" sz="2000" b="0" dirty="0">
                    <a:solidFill>
                      <a:schemeClr val="tx1">
                        <a:lumMod val="85000"/>
                        <a:lumOff val="15000"/>
                      </a:schemeClr>
                    </a:solidFill>
                    <a:latin typeface="+mn-lt"/>
                  </a:rPr>
                  <a:t>α</a:t>
                </a:r>
                <a:r>
                  <a:rPr lang="en-US" sz="2000" b="0" dirty="0">
                    <a:solidFill>
                      <a:schemeClr val="tx1">
                        <a:lumMod val="85000"/>
                        <a:lumOff val="15000"/>
                      </a:schemeClr>
                    </a:solidFill>
                    <a:latin typeface="+mn-lt"/>
                  </a:rPr>
                  <a:t> = </a:t>
                </a:r>
                <a14:m>
                  <m:oMath xmlns:m="http://schemas.openxmlformats.org/officeDocument/2006/math">
                    <m:sSup>
                      <m:sSupPr>
                        <m:ctrlPr>
                          <a:rPr lang="en-US" sz="2000" b="0" i="1">
                            <a:solidFill>
                              <a:schemeClr val="tx1">
                                <a:lumMod val="85000"/>
                                <a:lumOff val="15000"/>
                              </a:schemeClr>
                            </a:solidFill>
                            <a:latin typeface="Cambria Math" panose="02040503050406030204" pitchFamily="18" charset="0"/>
                          </a:rPr>
                        </m:ctrlPr>
                      </m:sSupPr>
                      <m:e>
                        <m:r>
                          <a:rPr lang="en-US" sz="2000" b="0" i="1" smtClean="0">
                            <a:solidFill>
                              <a:schemeClr val="tx1">
                                <a:lumMod val="85000"/>
                                <a:lumOff val="15000"/>
                              </a:schemeClr>
                            </a:solidFill>
                            <a:latin typeface="Cambria Math" panose="02040503050406030204" pitchFamily="18" charset="0"/>
                          </a:rPr>
                          <m:t>2</m:t>
                        </m:r>
                      </m:e>
                      <m:sup>
                        <m:r>
                          <a:rPr lang="en-US" sz="2000" b="0" i="1" smtClean="0">
                            <a:solidFill>
                              <a:schemeClr val="tx1">
                                <a:lumMod val="85000"/>
                                <a:lumOff val="15000"/>
                              </a:schemeClr>
                            </a:solidFill>
                            <a:latin typeface="Cambria Math" panose="02040503050406030204" pitchFamily="18" charset="0"/>
                          </a:rPr>
                          <m:t>−</m:t>
                        </m:r>
                        <m:r>
                          <a:rPr lang="en-US" sz="2000" b="0" i="1" smtClean="0">
                            <a:solidFill>
                              <a:schemeClr val="tx1">
                                <a:lumMod val="85000"/>
                                <a:lumOff val="15000"/>
                              </a:schemeClr>
                            </a:solidFill>
                            <a:latin typeface="Cambria Math" panose="02040503050406030204" pitchFamily="18" charset="0"/>
                          </a:rPr>
                          <m:t>2</m:t>
                        </m:r>
                      </m:sup>
                    </m:sSup>
                  </m:oMath>
                </a14:m>
                <a:r>
                  <a:rPr lang="en-US" sz="2000" b="0" dirty="0">
                    <a:solidFill>
                      <a:schemeClr val="tx1">
                        <a:lumMod val="85000"/>
                        <a:lumOff val="15000"/>
                      </a:schemeClr>
                    </a:solidFill>
                    <a:latin typeface="+mn-lt"/>
                  </a:rPr>
                  <a:t>, </a:t>
                </a:r>
                <a14:m>
                  <m:oMath xmlns:m="http://schemas.openxmlformats.org/officeDocument/2006/math">
                    <m:r>
                      <m:rPr>
                        <m:nor/>
                      </m:rPr>
                      <a:rPr lang="en-US" sz="2000" b="0" dirty="0">
                        <a:solidFill>
                          <a:schemeClr val="tx1">
                            <a:lumMod val="85000"/>
                            <a:lumOff val="15000"/>
                          </a:schemeClr>
                        </a:solidFill>
                        <a:latin typeface="+mn-lt"/>
                      </a:rPr>
                      <m:t>ρ</m:t>
                    </m:r>
                    <m:r>
                      <a:rPr lang="en-US" sz="2000" b="0" i="1" dirty="0" smtClean="0">
                        <a:solidFill>
                          <a:schemeClr val="tx1">
                            <a:lumMod val="85000"/>
                            <a:lumOff val="15000"/>
                          </a:schemeClr>
                        </a:solidFill>
                        <a:latin typeface="Cambria Math" panose="02040503050406030204" pitchFamily="18" charset="0"/>
                      </a:rPr>
                      <m:t> </m:t>
                    </m:r>
                  </m:oMath>
                </a14:m>
                <a:r>
                  <a:rPr lang="en-US" sz="2000" b="0" dirty="0">
                    <a:solidFill>
                      <a:schemeClr val="tx1">
                        <a:lumMod val="85000"/>
                        <a:lumOff val="15000"/>
                      </a:schemeClr>
                    </a:solidFill>
                    <a:latin typeface="+mn-lt"/>
                  </a:rPr>
                  <a:t>= </a:t>
                </a:r>
                <a14:m>
                  <m:oMath xmlns:m="http://schemas.openxmlformats.org/officeDocument/2006/math">
                    <m:sSup>
                      <m:sSupPr>
                        <m:ctrlPr>
                          <a:rPr lang="en-US" sz="2000" b="0" i="1">
                            <a:solidFill>
                              <a:schemeClr val="tx1">
                                <a:lumMod val="85000"/>
                                <a:lumOff val="15000"/>
                              </a:schemeClr>
                            </a:solidFill>
                            <a:latin typeface="Cambria Math" panose="02040503050406030204" pitchFamily="18" charset="0"/>
                          </a:rPr>
                        </m:ctrlPr>
                      </m:sSupPr>
                      <m:e>
                        <m:r>
                          <a:rPr lang="en-US" sz="2000" b="0" i="1" smtClean="0">
                            <a:solidFill>
                              <a:schemeClr val="tx1">
                                <a:lumMod val="85000"/>
                                <a:lumOff val="15000"/>
                              </a:schemeClr>
                            </a:solidFill>
                            <a:latin typeface="Cambria Math" panose="02040503050406030204" pitchFamily="18" charset="0"/>
                          </a:rPr>
                          <m:t>2</m:t>
                        </m:r>
                      </m:e>
                      <m:sup>
                        <m:r>
                          <a:rPr lang="en-US" sz="2000" b="0" i="1" smtClean="0">
                            <a:solidFill>
                              <a:schemeClr val="tx1">
                                <a:lumMod val="85000"/>
                                <a:lumOff val="15000"/>
                              </a:schemeClr>
                            </a:solidFill>
                            <a:latin typeface="Cambria Math" panose="02040503050406030204" pitchFamily="18" charset="0"/>
                          </a:rPr>
                          <m:t>−</m:t>
                        </m:r>
                        <m:r>
                          <a:rPr lang="en-US" sz="2000" b="0" i="1" smtClean="0">
                            <a:solidFill>
                              <a:schemeClr val="tx1">
                                <a:lumMod val="85000"/>
                                <a:lumOff val="15000"/>
                              </a:schemeClr>
                            </a:solidFill>
                            <a:latin typeface="Cambria Math" panose="02040503050406030204" pitchFamily="18" charset="0"/>
                          </a:rPr>
                          <m:t>5</m:t>
                        </m:r>
                      </m:sup>
                    </m:sSup>
                    <m:r>
                      <a:rPr lang="en-US" sz="2000" b="0" i="1" smtClean="0">
                        <a:solidFill>
                          <a:schemeClr val="tx1">
                            <a:lumMod val="85000"/>
                            <a:lumOff val="15000"/>
                          </a:schemeClr>
                        </a:solidFill>
                        <a:latin typeface="Cambria Math" panose="02040503050406030204" pitchFamily="18" charset="0"/>
                      </a:rPr>
                      <m:t> </m:t>
                    </m:r>
                  </m:oMath>
                </a14:m>
                <a:r>
                  <a:rPr lang="en-US" sz="2000" b="0" dirty="0">
                    <a:solidFill>
                      <a:schemeClr val="tx1">
                        <a:lumMod val="85000"/>
                        <a:lumOff val="15000"/>
                      </a:schemeClr>
                    </a:solidFill>
                    <a:latin typeface="+mn-lt"/>
                  </a:rPr>
                  <a:t>                    critically damped (</a:t>
                </a:r>
                <a:r>
                  <a:rPr lang="en-US" sz="2000" dirty="0">
                    <a:solidFill>
                      <a:schemeClr val="tx1">
                        <a:lumMod val="85000"/>
                        <a:lumOff val="15000"/>
                      </a:schemeClr>
                    </a:solidFill>
                    <a:latin typeface="+mn-lt"/>
                  </a:rPr>
                  <a:t>small </a:t>
                </a:r>
                <a:r>
                  <a:rPr lang="el-GR" sz="2000" dirty="0">
                    <a:solidFill>
                      <a:schemeClr val="tx1">
                        <a:lumMod val="85000"/>
                        <a:lumOff val="15000"/>
                      </a:schemeClr>
                    </a:solidFill>
                    <a:latin typeface="+mn-lt"/>
                  </a:rPr>
                  <a:t>α</a:t>
                </a:r>
                <a:r>
                  <a:rPr lang="en-US" sz="2000" b="0" dirty="0">
                    <a:solidFill>
                      <a:schemeClr val="tx1">
                        <a:lumMod val="85000"/>
                        <a:lumOff val="15000"/>
                      </a:schemeClr>
                    </a:solidFill>
                    <a:latin typeface="+mn-lt"/>
                  </a:rPr>
                  <a:t>) </a:t>
                </a:r>
                <a:r>
                  <a:rPr lang="el-GR" sz="2000" b="0" dirty="0">
                    <a:solidFill>
                      <a:schemeClr val="tx1">
                        <a:lumMod val="85000"/>
                        <a:lumOff val="15000"/>
                      </a:schemeClr>
                    </a:solidFill>
                    <a:latin typeface="+mn-lt"/>
                  </a:rPr>
                  <a:t>α</a:t>
                </a:r>
                <a:r>
                  <a:rPr lang="en-US" sz="2000" b="0" dirty="0">
                    <a:solidFill>
                      <a:schemeClr val="tx1">
                        <a:lumMod val="85000"/>
                        <a:lumOff val="15000"/>
                      </a:schemeClr>
                    </a:solidFill>
                    <a:latin typeface="+mn-lt"/>
                  </a:rPr>
                  <a:t> = </a:t>
                </a:r>
                <a14:m>
                  <m:oMath xmlns:m="http://schemas.openxmlformats.org/officeDocument/2006/math">
                    <m:sSup>
                      <m:sSupPr>
                        <m:ctrlPr>
                          <a:rPr lang="en-US" sz="2000" b="0" i="1" smtClean="0">
                            <a:solidFill>
                              <a:schemeClr val="tx1">
                                <a:lumMod val="85000"/>
                                <a:lumOff val="15000"/>
                              </a:schemeClr>
                            </a:solidFill>
                            <a:latin typeface="Cambria Math" panose="02040503050406030204" pitchFamily="18" charset="0"/>
                          </a:rPr>
                        </m:ctrlPr>
                      </m:sSupPr>
                      <m:e>
                        <m:r>
                          <a:rPr lang="en-US" sz="2000" b="0" i="1" smtClean="0">
                            <a:solidFill>
                              <a:schemeClr val="tx1">
                                <a:lumMod val="85000"/>
                                <a:lumOff val="15000"/>
                              </a:schemeClr>
                            </a:solidFill>
                            <a:latin typeface="Cambria Math" panose="02040503050406030204" pitchFamily="18" charset="0"/>
                          </a:rPr>
                          <m:t>2</m:t>
                        </m:r>
                      </m:e>
                      <m:sup>
                        <m:r>
                          <a:rPr lang="en-US" sz="2000" b="0" i="1" smtClean="0">
                            <a:solidFill>
                              <a:schemeClr val="tx1">
                                <a:lumMod val="85000"/>
                                <a:lumOff val="15000"/>
                              </a:schemeClr>
                            </a:solidFill>
                            <a:latin typeface="Cambria Math" panose="02040503050406030204" pitchFamily="18" charset="0"/>
                          </a:rPr>
                          <m:t>−</m:t>
                        </m:r>
                        <m:r>
                          <a:rPr lang="en-US" sz="2000" b="0" i="1" smtClean="0">
                            <a:solidFill>
                              <a:schemeClr val="tx1">
                                <a:lumMod val="85000"/>
                                <a:lumOff val="15000"/>
                              </a:schemeClr>
                            </a:solidFill>
                            <a:latin typeface="Cambria Math" panose="02040503050406030204" pitchFamily="18" charset="0"/>
                          </a:rPr>
                          <m:t>3</m:t>
                        </m:r>
                      </m:sup>
                    </m:sSup>
                  </m:oMath>
                </a14:m>
                <a:r>
                  <a:rPr lang="en-US" sz="2000" b="0" dirty="0">
                    <a:solidFill>
                      <a:schemeClr val="tx1">
                        <a:lumMod val="85000"/>
                        <a:lumOff val="15000"/>
                      </a:schemeClr>
                    </a:solidFill>
                    <a:latin typeface="+mn-lt"/>
                  </a:rPr>
                  <a:t>, </a:t>
                </a:r>
                <a14:m>
                  <m:oMath xmlns:m="http://schemas.openxmlformats.org/officeDocument/2006/math">
                    <m:r>
                      <m:rPr>
                        <m:nor/>
                      </m:rPr>
                      <a:rPr lang="en-US" sz="2000" b="0" dirty="0">
                        <a:solidFill>
                          <a:schemeClr val="tx1">
                            <a:lumMod val="85000"/>
                            <a:lumOff val="15000"/>
                          </a:schemeClr>
                        </a:solidFill>
                        <a:latin typeface="+mn-lt"/>
                      </a:rPr>
                      <m:t>ρ</m:t>
                    </m:r>
                    <m:r>
                      <a:rPr lang="en-US" sz="2000" b="0" i="1" dirty="0" smtClean="0">
                        <a:solidFill>
                          <a:schemeClr val="tx1">
                            <a:lumMod val="85000"/>
                            <a:lumOff val="15000"/>
                          </a:schemeClr>
                        </a:solidFill>
                        <a:latin typeface="Cambria Math" panose="02040503050406030204" pitchFamily="18" charset="0"/>
                      </a:rPr>
                      <m:t> </m:t>
                    </m:r>
                  </m:oMath>
                </a14:m>
                <a:r>
                  <a:rPr lang="en-US" sz="2000" b="0" dirty="0">
                    <a:solidFill>
                      <a:schemeClr val="tx1">
                        <a:lumMod val="85000"/>
                        <a:lumOff val="15000"/>
                      </a:schemeClr>
                    </a:solidFill>
                    <a:latin typeface="+mn-lt"/>
                  </a:rPr>
                  <a:t>= </a:t>
                </a:r>
                <a14:m>
                  <m:oMath xmlns:m="http://schemas.openxmlformats.org/officeDocument/2006/math">
                    <m:sSup>
                      <m:sSupPr>
                        <m:ctrlPr>
                          <a:rPr lang="en-US" sz="2000" b="0" i="1">
                            <a:solidFill>
                              <a:schemeClr val="tx1">
                                <a:lumMod val="85000"/>
                                <a:lumOff val="15000"/>
                              </a:schemeClr>
                            </a:solidFill>
                            <a:latin typeface="Cambria Math" panose="02040503050406030204" pitchFamily="18" charset="0"/>
                          </a:rPr>
                        </m:ctrlPr>
                      </m:sSupPr>
                      <m:e>
                        <m:r>
                          <a:rPr lang="en-US" sz="2000" b="0" i="1" smtClean="0">
                            <a:solidFill>
                              <a:schemeClr val="tx1">
                                <a:lumMod val="85000"/>
                                <a:lumOff val="15000"/>
                              </a:schemeClr>
                            </a:solidFill>
                            <a:latin typeface="Cambria Math" panose="02040503050406030204" pitchFamily="18" charset="0"/>
                          </a:rPr>
                          <m:t>2</m:t>
                        </m:r>
                      </m:e>
                      <m:sup>
                        <m:r>
                          <a:rPr lang="en-US" sz="2000" b="0" i="1" smtClean="0">
                            <a:solidFill>
                              <a:schemeClr val="tx1">
                                <a:lumMod val="85000"/>
                                <a:lumOff val="15000"/>
                              </a:schemeClr>
                            </a:solidFill>
                            <a:latin typeface="Cambria Math" panose="02040503050406030204" pitchFamily="18" charset="0"/>
                          </a:rPr>
                          <m:t>−</m:t>
                        </m:r>
                        <m:r>
                          <a:rPr lang="en-US" sz="2000" b="0" i="1" smtClean="0">
                            <a:solidFill>
                              <a:schemeClr val="tx1">
                                <a:lumMod val="85000"/>
                                <a:lumOff val="15000"/>
                              </a:schemeClr>
                            </a:solidFill>
                            <a:latin typeface="Cambria Math" panose="02040503050406030204" pitchFamily="18" charset="0"/>
                          </a:rPr>
                          <m:t>7</m:t>
                        </m:r>
                      </m:sup>
                    </m:sSup>
                  </m:oMath>
                </a14:m>
                <a:endParaRPr lang="en-US" sz="2000" b="0" dirty="0">
                  <a:latin typeface="+mn-lt"/>
                </a:endParaRPr>
              </a:p>
              <a:p>
                <a:pPr marL="76200" indent="0">
                  <a:buNone/>
                </a:pPr>
                <a:r>
                  <a:rPr lang="en-US" sz="2000" dirty="0"/>
                  <a:t> </a:t>
                </a:r>
              </a:p>
              <a:p>
                <a:pPr marL="76200" indent="0">
                  <a:buNone/>
                </a:pPr>
                <a:endParaRPr lang="en-US" sz="2000" dirty="0"/>
              </a:p>
              <a:p>
                <a:pPr marL="76200" indent="0">
                  <a:buNone/>
                </a:pPr>
                <a:endParaRPr lang="en-US" sz="2000" dirty="0"/>
              </a:p>
            </p:txBody>
          </p:sp>
        </mc:Choice>
        <mc:Fallback xmlns="">
          <p:sp>
            <p:nvSpPr>
              <p:cNvPr id="3" name="Text Placeholder 2">
                <a:extLst>
                  <a:ext uri="{FF2B5EF4-FFF2-40B4-BE49-F238E27FC236}">
                    <a16:creationId xmlns:a16="http://schemas.microsoft.com/office/drawing/2014/main" id="{E7FD6E35-3AF5-9327-4458-A29E8BDB6EE5}"/>
                  </a:ext>
                </a:extLst>
              </p:cNvPr>
              <p:cNvSpPr>
                <a:spLocks noGrp="1" noRot="1" noChangeAspect="1" noMove="1" noResize="1" noEditPoints="1" noAdjustHandles="1" noChangeArrowheads="1" noChangeShapeType="1" noTextEdit="1"/>
              </p:cNvSpPr>
              <p:nvPr>
                <p:ph type="body" idx="1"/>
              </p:nvPr>
            </p:nvSpPr>
            <p:spPr>
              <a:xfrm>
                <a:off x="571500" y="1510748"/>
                <a:ext cx="10706100" cy="4984947"/>
              </a:xfrm>
              <a:blipFill>
                <a:blip r:embed="rId2"/>
                <a:stretch>
                  <a:fillRect r="-968"/>
                </a:stretch>
              </a:blipFill>
            </p:spPr>
            <p:txBody>
              <a:bodyPr/>
              <a:lstStyle/>
              <a:p>
                <a:r>
                  <a:rPr lang="en-US">
                    <a:noFill/>
                  </a:rPr>
                  <a:t> </a:t>
                </a:r>
              </a:p>
            </p:txBody>
          </p:sp>
        </mc:Fallback>
      </mc:AlternateContent>
      <p:sp>
        <p:nvSpPr>
          <p:cNvPr id="9" name="Text Placeholder 3">
            <a:extLst>
              <a:ext uri="{FF2B5EF4-FFF2-40B4-BE49-F238E27FC236}">
                <a16:creationId xmlns="" xmlns:a16="http://schemas.microsoft.com/office/drawing/2014/main" id="{F5FE31F8-8BE9-60B3-ECEB-5A5E625307C3}"/>
              </a:ext>
            </a:extLst>
          </p:cNvPr>
          <p:cNvSpPr>
            <a:spLocks noGrp="1"/>
          </p:cNvSpPr>
          <p:nvPr>
            <p:ph type="body" idx="4294967295"/>
          </p:nvPr>
        </p:nvSpPr>
        <p:spPr>
          <a:xfrm>
            <a:off x="0" y="1156649"/>
            <a:ext cx="10972800" cy="506413"/>
          </a:xfrm>
        </p:spPr>
        <p:txBody>
          <a:bodyPr>
            <a:normAutofit/>
          </a:bodyPr>
          <a:lstStyle/>
          <a:p>
            <a:pPr marL="101600" indent="0" algn="ctr">
              <a:buNone/>
            </a:pPr>
            <a:r>
              <a:rPr lang="en-US" sz="2000" b="1" dirty="0">
                <a:solidFill>
                  <a:schemeClr val="tx1">
                    <a:lumMod val="85000"/>
                    <a:lumOff val="15000"/>
                  </a:schemeClr>
                </a:solidFill>
              </a:rPr>
              <a:t>	 Simulation results:</a:t>
            </a:r>
          </a:p>
          <a:p>
            <a:endParaRPr lang="en-US" sz="2000" b="1" dirty="0"/>
          </a:p>
          <a:p>
            <a:endParaRPr lang="en-US" sz="2000" b="1" i="0" dirty="0"/>
          </a:p>
        </p:txBody>
      </p:sp>
      <p:pic>
        <p:nvPicPr>
          <p:cNvPr id="4" name="Picture 3">
            <a:extLst>
              <a:ext uri="{FF2B5EF4-FFF2-40B4-BE49-F238E27FC236}">
                <a16:creationId xmlns="" xmlns:a16="http://schemas.microsoft.com/office/drawing/2014/main" id="{C565E7B3-5384-F419-02FB-FD245DB02FE7}"/>
              </a:ext>
            </a:extLst>
          </p:cNvPr>
          <p:cNvPicPr>
            <a:picLocks noChangeAspect="1"/>
          </p:cNvPicPr>
          <p:nvPr/>
        </p:nvPicPr>
        <p:blipFill>
          <a:blip r:embed="rId3"/>
          <a:stretch>
            <a:fillRect/>
          </a:stretch>
        </p:blipFill>
        <p:spPr>
          <a:xfrm>
            <a:off x="1085795" y="3234164"/>
            <a:ext cx="4400605" cy="3463316"/>
          </a:xfrm>
          <a:prstGeom prst="rect">
            <a:avLst/>
          </a:prstGeom>
        </p:spPr>
      </p:pic>
      <p:pic>
        <p:nvPicPr>
          <p:cNvPr id="7" name="Picture 6">
            <a:extLst>
              <a:ext uri="{FF2B5EF4-FFF2-40B4-BE49-F238E27FC236}">
                <a16:creationId xmlns="" xmlns:a16="http://schemas.microsoft.com/office/drawing/2014/main" id="{FDD17A4B-6984-7651-EFBC-C005B82D9CD1}"/>
              </a:ext>
            </a:extLst>
          </p:cNvPr>
          <p:cNvPicPr>
            <a:picLocks noChangeAspect="1"/>
          </p:cNvPicPr>
          <p:nvPr/>
        </p:nvPicPr>
        <p:blipFill>
          <a:blip r:embed="rId4"/>
          <a:stretch>
            <a:fillRect/>
          </a:stretch>
        </p:blipFill>
        <p:spPr>
          <a:xfrm>
            <a:off x="6486127" y="3133272"/>
            <a:ext cx="4620078" cy="3463316"/>
          </a:xfrm>
          <a:prstGeom prst="rect">
            <a:avLst/>
          </a:prstGeom>
        </p:spPr>
      </p:pic>
    </p:spTree>
    <p:extLst>
      <p:ext uri="{BB962C8B-B14F-4D97-AF65-F5344CB8AC3E}">
        <p14:creationId xmlns:p14="http://schemas.microsoft.com/office/powerpoint/2010/main" val="4107864021"/>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CCAE0CBB-95E5-6565-AE93-269B3FBC4030}"/>
            </a:ext>
          </a:extLst>
        </p:cNvPr>
        <p:cNvGrpSpPr/>
        <p:nvPr/>
      </p:nvGrpSpPr>
      <p:grpSpPr>
        <a:xfrm>
          <a:off x="0" y="0"/>
          <a:ext cx="0" cy="0"/>
          <a:chOff x="0" y="0"/>
          <a:chExt cx="0" cy="0"/>
        </a:xfrm>
      </p:grpSpPr>
      <p:sp>
        <p:nvSpPr>
          <p:cNvPr id="5" name="Title 1">
            <a:extLst>
              <a:ext uri="{FF2B5EF4-FFF2-40B4-BE49-F238E27FC236}">
                <a16:creationId xmlns="" xmlns:a16="http://schemas.microsoft.com/office/drawing/2014/main" id="{1943292F-5292-F48E-3C88-AD0A2A47B453}"/>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Digital loop filter </a:t>
            </a:r>
          </a:p>
        </p:txBody>
      </p:sp>
      <p:sp>
        <p:nvSpPr>
          <p:cNvPr id="3" name="Text Placeholder 2">
            <a:extLst>
              <a:ext uri="{FF2B5EF4-FFF2-40B4-BE49-F238E27FC236}">
                <a16:creationId xmlns="" xmlns:a16="http://schemas.microsoft.com/office/drawing/2014/main" id="{5B744E60-1D1A-5319-493D-51986951D7B6}"/>
              </a:ext>
            </a:extLst>
          </p:cNvPr>
          <p:cNvSpPr>
            <a:spLocks noGrp="1"/>
          </p:cNvSpPr>
          <p:nvPr>
            <p:ph type="body" idx="1"/>
          </p:nvPr>
        </p:nvSpPr>
        <p:spPr>
          <a:xfrm>
            <a:off x="914400" y="1663062"/>
            <a:ext cx="10363200" cy="4832633"/>
          </a:xfrm>
        </p:spPr>
        <p:txBody>
          <a:bodyPr/>
          <a:lstStyle/>
          <a:p>
            <a:pPr marL="76200" indent="0">
              <a:buNone/>
            </a:pPr>
            <a:r>
              <a:rPr lang="en-US" sz="2000" b="0" dirty="0">
                <a:solidFill>
                  <a:schemeClr val="tx1">
                    <a:lumMod val="85000"/>
                    <a:lumOff val="15000"/>
                  </a:schemeClr>
                </a:solidFill>
              </a:rPr>
              <a:t>To verify the loop filter functionality and the effect on changing </a:t>
            </a:r>
            <a:r>
              <a:rPr lang="el-GR" sz="2000" b="0" dirty="0">
                <a:solidFill>
                  <a:schemeClr val="tx1">
                    <a:lumMod val="85000"/>
                    <a:lumOff val="15000"/>
                  </a:schemeClr>
                </a:solidFill>
              </a:rPr>
              <a:t>α</a:t>
            </a:r>
            <a:r>
              <a:rPr lang="en-US" sz="2000" b="0" dirty="0">
                <a:solidFill>
                  <a:schemeClr val="tx1">
                    <a:lumMod val="85000"/>
                    <a:lumOff val="15000"/>
                  </a:schemeClr>
                </a:solidFill>
              </a:rPr>
              <a:t> on the closed loop system, an ideal sample based ADPLL model assuming DCO central frequency = 2.35GHz , target frequency = </a:t>
            </a:r>
            <a:r>
              <a:rPr lang="en-US" sz="2000" dirty="0">
                <a:solidFill>
                  <a:schemeClr val="tx1">
                    <a:lumMod val="85000"/>
                    <a:lumOff val="15000"/>
                  </a:schemeClr>
                </a:solidFill>
              </a:rPr>
              <a:t>2.432GHz</a:t>
            </a:r>
          </a:p>
          <a:p>
            <a:pPr marL="76200" indent="0">
              <a:buNone/>
            </a:pPr>
            <a:r>
              <a:rPr lang="en-US" sz="2000" dirty="0"/>
              <a:t> </a:t>
            </a:r>
          </a:p>
          <a:p>
            <a:pPr marL="76200" indent="0" algn="ctr">
              <a:buNone/>
            </a:pPr>
            <a:endParaRPr lang="en-US" sz="2000" dirty="0"/>
          </a:p>
          <a:p>
            <a:pPr marL="76200" indent="0">
              <a:buNone/>
            </a:pPr>
            <a:endParaRPr lang="en-US" sz="2000" dirty="0"/>
          </a:p>
        </p:txBody>
      </p:sp>
      <p:sp>
        <p:nvSpPr>
          <p:cNvPr id="2" name="Text Placeholder 3">
            <a:extLst>
              <a:ext uri="{FF2B5EF4-FFF2-40B4-BE49-F238E27FC236}">
                <a16:creationId xmlns="" xmlns:a16="http://schemas.microsoft.com/office/drawing/2014/main" id="{15B6C2E6-B718-7AA0-197F-6B78D67EC797}"/>
              </a:ext>
            </a:extLst>
          </p:cNvPr>
          <p:cNvSpPr>
            <a:spLocks noGrp="1"/>
          </p:cNvSpPr>
          <p:nvPr>
            <p:ph type="body" idx="4294967295"/>
          </p:nvPr>
        </p:nvSpPr>
        <p:spPr>
          <a:xfrm>
            <a:off x="0" y="1156649"/>
            <a:ext cx="10972800" cy="506413"/>
          </a:xfrm>
        </p:spPr>
        <p:txBody>
          <a:bodyPr>
            <a:normAutofit/>
          </a:bodyPr>
          <a:lstStyle/>
          <a:p>
            <a:pPr marL="101600" indent="0" algn="ctr">
              <a:buNone/>
            </a:pPr>
            <a:r>
              <a:rPr lang="en-US" sz="2000" b="1" dirty="0">
                <a:solidFill>
                  <a:schemeClr val="tx1">
                    <a:lumMod val="85000"/>
                    <a:lumOff val="15000"/>
                  </a:schemeClr>
                </a:solidFill>
              </a:rPr>
              <a:t>	Simulation results:</a:t>
            </a:r>
          </a:p>
          <a:p>
            <a:endParaRPr lang="en-US" sz="2000" b="1" i="0" dirty="0"/>
          </a:p>
        </p:txBody>
      </p:sp>
      <p:pic>
        <p:nvPicPr>
          <p:cNvPr id="4" name="Picture 3">
            <a:extLst>
              <a:ext uri="{FF2B5EF4-FFF2-40B4-BE49-F238E27FC236}">
                <a16:creationId xmlns="" xmlns:a16="http://schemas.microsoft.com/office/drawing/2014/main" id="{3D5E0315-E692-20EB-96C6-15E59A628516}"/>
              </a:ext>
            </a:extLst>
          </p:cNvPr>
          <p:cNvPicPr>
            <a:picLocks noChangeAspect="1"/>
          </p:cNvPicPr>
          <p:nvPr/>
        </p:nvPicPr>
        <p:blipFill>
          <a:blip r:embed="rId2"/>
          <a:stretch>
            <a:fillRect/>
          </a:stretch>
        </p:blipFill>
        <p:spPr>
          <a:xfrm>
            <a:off x="3632458" y="2849884"/>
            <a:ext cx="4830874" cy="3645811"/>
          </a:xfrm>
          <a:prstGeom prst="rect">
            <a:avLst/>
          </a:prstGeom>
        </p:spPr>
      </p:pic>
      <mc:AlternateContent xmlns:mc="http://schemas.openxmlformats.org/markup-compatibility/2006" xmlns:a14="http://schemas.microsoft.com/office/drawing/2010/main">
        <mc:Choice Requires="a14">
          <p:sp>
            <p:nvSpPr>
              <p:cNvPr id="6" name="Text Placeholder 2">
                <a:extLst>
                  <a:ext uri="{FF2B5EF4-FFF2-40B4-BE49-F238E27FC236}">
                    <a16:creationId xmlns="" xmlns:a16="http://schemas.microsoft.com/office/drawing/2014/main" id="{7A91FA81-84AE-2CFD-0C58-CFCDE86C34A6}"/>
                  </a:ext>
                </a:extLst>
              </p:cNvPr>
              <p:cNvSpPr txBox="1">
                <a:spLocks/>
              </p:cNvSpPr>
              <p:nvPr/>
            </p:nvSpPr>
            <p:spPr>
              <a:xfrm>
                <a:off x="3632458" y="2336181"/>
                <a:ext cx="10876384" cy="102740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rgbClr val="5D5D5E"/>
                  </a:buClr>
                  <a:buSzPts val="2400"/>
                  <a:buFont typeface="Arial"/>
                  <a:buChar char="•"/>
                  <a:defRPr sz="2400" b="1" i="0" u="none" strike="noStrike" cap="none">
                    <a:solidFill>
                      <a:srgbClr val="0B5F9F"/>
                    </a:solidFill>
                    <a:latin typeface="Calibri"/>
                    <a:ea typeface="Calibri"/>
                    <a:cs typeface="Calibri"/>
                    <a:sym typeface="Calibri"/>
                  </a:defRPr>
                </a:lvl1pPr>
                <a:lvl2pPr marL="914400" marR="0" lvl="1" indent="-342900" algn="l" rtl="0">
                  <a:lnSpc>
                    <a:spcPct val="100000"/>
                  </a:lnSpc>
                  <a:spcBef>
                    <a:spcPts val="400"/>
                  </a:spcBef>
                  <a:spcAft>
                    <a:spcPts val="0"/>
                  </a:spcAft>
                  <a:buClr>
                    <a:srgbClr val="5D5D5E"/>
                  </a:buClr>
                  <a:buSzPts val="1800"/>
                  <a:buFont typeface="Arial"/>
                  <a:buChar char="–"/>
                  <a:defRPr sz="2000" b="1" i="0" u="none" strike="noStrike" cap="none">
                    <a:solidFill>
                      <a:srgbClr val="0B5F9F"/>
                    </a:solidFill>
                    <a:latin typeface="Calibri"/>
                    <a:ea typeface="Calibri"/>
                    <a:cs typeface="Calibri"/>
                    <a:sym typeface="Calibri"/>
                  </a:defRPr>
                </a:lvl2pPr>
                <a:lvl3pPr marL="1371600" marR="0" lvl="2" indent="-342900" algn="l" rtl="0">
                  <a:lnSpc>
                    <a:spcPct val="100000"/>
                  </a:lnSpc>
                  <a:spcBef>
                    <a:spcPts val="360"/>
                  </a:spcBef>
                  <a:spcAft>
                    <a:spcPts val="0"/>
                  </a:spcAft>
                  <a:buClr>
                    <a:srgbClr val="5D5D5E"/>
                  </a:buClr>
                  <a:buSzPts val="1800"/>
                  <a:buFont typeface="Arial"/>
                  <a:buChar char="–"/>
                  <a:defRPr sz="1800" b="1" i="0" u="none" strike="noStrike" cap="none">
                    <a:solidFill>
                      <a:srgbClr val="0B5F9F"/>
                    </a:solidFill>
                    <a:latin typeface="Calibri"/>
                    <a:ea typeface="Calibri"/>
                    <a:cs typeface="Calibri"/>
                    <a:sym typeface="Calibri"/>
                  </a:defRPr>
                </a:lvl3pPr>
                <a:lvl4pPr marL="1828800" marR="0" lvl="3" indent="-330200" algn="l" rtl="0">
                  <a:lnSpc>
                    <a:spcPct val="100000"/>
                  </a:lnSpc>
                  <a:spcBef>
                    <a:spcPts val="336"/>
                  </a:spcBef>
                  <a:spcAft>
                    <a:spcPts val="0"/>
                  </a:spcAft>
                  <a:buClr>
                    <a:srgbClr val="5D5D5E"/>
                  </a:buClr>
                  <a:buSzPts val="1600"/>
                  <a:buFont typeface="Arial"/>
                  <a:buChar char="–"/>
                  <a:defRPr sz="1600" b="1" i="0" u="none" strike="noStrike" cap="none">
                    <a:solidFill>
                      <a:srgbClr val="0B5F9F"/>
                    </a:solidFill>
                    <a:latin typeface="Calibri"/>
                    <a:ea typeface="Calibri"/>
                    <a:cs typeface="Calibri"/>
                    <a:sym typeface="Calibri"/>
                  </a:defRPr>
                </a:lvl4pPr>
                <a:lvl5pPr marL="2286000" marR="0" lvl="4" indent="-330200" algn="l" rtl="0">
                  <a:lnSpc>
                    <a:spcPct val="100000"/>
                  </a:lnSpc>
                  <a:spcBef>
                    <a:spcPts val="336"/>
                  </a:spcBef>
                  <a:spcAft>
                    <a:spcPts val="0"/>
                  </a:spcAft>
                  <a:buClr>
                    <a:srgbClr val="5D5D5E"/>
                  </a:buClr>
                  <a:buSzPts val="1600"/>
                  <a:buFont typeface="Arial"/>
                  <a:buChar char="–"/>
                  <a:defRPr sz="1600" b="1" i="0" u="none" strike="noStrike" cap="none">
                    <a:solidFill>
                      <a:srgbClr val="0B5F9F"/>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Garamond"/>
                  <a:buChar char="•"/>
                  <a:defRPr sz="1800" b="1" i="0" u="none" strike="noStrike" cap="none">
                    <a:solidFill>
                      <a:schemeClr val="dk1"/>
                    </a:solidFill>
                    <a:latin typeface="Garamond"/>
                    <a:ea typeface="Garamond"/>
                    <a:cs typeface="Garamond"/>
                    <a:sym typeface="Garamond"/>
                  </a:defRPr>
                </a:lvl6pPr>
                <a:lvl7pPr marL="3200400" marR="0" lvl="6" indent="-342900" algn="l" rtl="0">
                  <a:lnSpc>
                    <a:spcPct val="100000"/>
                  </a:lnSpc>
                  <a:spcBef>
                    <a:spcPts val="360"/>
                  </a:spcBef>
                  <a:spcAft>
                    <a:spcPts val="0"/>
                  </a:spcAft>
                  <a:buClr>
                    <a:schemeClr val="dk1"/>
                  </a:buClr>
                  <a:buSzPts val="1800"/>
                  <a:buFont typeface="Garamond"/>
                  <a:buChar char="•"/>
                  <a:defRPr sz="1800" b="1" i="0" u="none" strike="noStrike" cap="none">
                    <a:solidFill>
                      <a:schemeClr val="dk1"/>
                    </a:solidFill>
                    <a:latin typeface="Garamond"/>
                    <a:ea typeface="Garamond"/>
                    <a:cs typeface="Garamond"/>
                    <a:sym typeface="Garamond"/>
                  </a:defRPr>
                </a:lvl7pPr>
                <a:lvl8pPr marL="3657600" marR="0" lvl="7" indent="-342900" algn="l" rtl="0">
                  <a:lnSpc>
                    <a:spcPct val="100000"/>
                  </a:lnSpc>
                  <a:spcBef>
                    <a:spcPts val="360"/>
                  </a:spcBef>
                  <a:spcAft>
                    <a:spcPts val="0"/>
                  </a:spcAft>
                  <a:buClr>
                    <a:schemeClr val="dk1"/>
                  </a:buClr>
                  <a:buSzPts val="1800"/>
                  <a:buFont typeface="Garamond"/>
                  <a:buChar char="•"/>
                  <a:defRPr sz="1800" b="1" i="0" u="none" strike="noStrike" cap="none">
                    <a:solidFill>
                      <a:schemeClr val="dk1"/>
                    </a:solidFill>
                    <a:latin typeface="Garamond"/>
                    <a:ea typeface="Garamond"/>
                    <a:cs typeface="Garamond"/>
                    <a:sym typeface="Garamond"/>
                  </a:defRPr>
                </a:lvl8pPr>
                <a:lvl9pPr marL="4114800" marR="0" lvl="8" indent="-342900" algn="l" rtl="0">
                  <a:lnSpc>
                    <a:spcPct val="100000"/>
                  </a:lnSpc>
                  <a:spcBef>
                    <a:spcPts val="360"/>
                  </a:spcBef>
                  <a:spcAft>
                    <a:spcPts val="0"/>
                  </a:spcAft>
                  <a:buClr>
                    <a:schemeClr val="dk1"/>
                  </a:buClr>
                  <a:buSzPts val="1800"/>
                  <a:buFont typeface="Garamond"/>
                  <a:buChar char="•"/>
                  <a:defRPr sz="1800" b="1" i="0" u="none" strike="noStrike" cap="none">
                    <a:solidFill>
                      <a:schemeClr val="dk1"/>
                    </a:solidFill>
                    <a:latin typeface="Garamond"/>
                    <a:ea typeface="Garamond"/>
                    <a:cs typeface="Garamond"/>
                    <a:sym typeface="Garamond"/>
                  </a:defRPr>
                </a:lvl9pPr>
              </a:lstStyle>
              <a:p>
                <a:pPr marL="76200" indent="0">
                  <a:buNone/>
                </a:pPr>
                <a:r>
                  <a:rPr lang="en-US" sz="2000" b="0" dirty="0">
                    <a:solidFill>
                      <a:srgbClr val="000000">
                        <a:lumMod val="85000"/>
                        <a:lumOff val="15000"/>
                      </a:srgbClr>
                    </a:solidFill>
                    <a:latin typeface="+mn-lt"/>
                  </a:rPr>
                  <a:t>Underdamped system </a:t>
                </a:r>
                <a14:m>
                  <m:oMath xmlns:m="http://schemas.openxmlformats.org/officeDocument/2006/math">
                    <m:r>
                      <m:rPr>
                        <m:sty m:val="p"/>
                      </m:rPr>
                      <a:rPr lang="en-US" sz="2000" b="0">
                        <a:solidFill>
                          <a:srgbClr val="000000">
                            <a:lumMod val="85000"/>
                            <a:lumOff val="15000"/>
                          </a:srgbClr>
                        </a:solidFill>
                        <a:latin typeface="Cambria Math" panose="02040503050406030204" pitchFamily="18" charset="0"/>
                      </a:rPr>
                      <m:t>ζ</m:t>
                    </m:r>
                    <m:r>
                      <a:rPr lang="en-US" sz="2000" b="0" i="1">
                        <a:solidFill>
                          <a:srgbClr val="000000">
                            <a:lumMod val="85000"/>
                            <a:lumOff val="15000"/>
                          </a:srgbClr>
                        </a:solidFill>
                        <a:latin typeface="Cambria Math" panose="02040503050406030204" pitchFamily="18" charset="0"/>
                        <a:ea typeface="Cambria Math" panose="02040503050406030204" pitchFamily="18" charset="0"/>
                      </a:rPr>
                      <m:t>&lt;</m:t>
                    </m:r>
                    <m:r>
                      <a:rPr lang="en-US" sz="2000" b="0">
                        <a:solidFill>
                          <a:srgbClr val="000000">
                            <a:lumMod val="85000"/>
                            <a:lumOff val="15000"/>
                          </a:srgbClr>
                        </a:solidFill>
                        <a:latin typeface="Cambria Math" panose="02040503050406030204" pitchFamily="18" charset="0"/>
                      </a:rPr>
                      <m:t> </m:t>
                    </m:r>
                    <m:f>
                      <m:fPr>
                        <m:ctrlPr>
                          <a:rPr lang="en-US" sz="2000" b="0" i="1">
                            <a:solidFill>
                              <a:srgbClr val="000000">
                                <a:lumMod val="85000"/>
                                <a:lumOff val="15000"/>
                              </a:srgbClr>
                            </a:solidFill>
                            <a:latin typeface="Cambria Math" panose="02040503050406030204" pitchFamily="18" charset="0"/>
                          </a:rPr>
                        </m:ctrlPr>
                      </m:fPr>
                      <m:num>
                        <m:r>
                          <a:rPr lang="en-US" sz="2000" b="0" i="1">
                            <a:solidFill>
                              <a:srgbClr val="000000">
                                <a:lumMod val="85000"/>
                                <a:lumOff val="15000"/>
                              </a:srgbClr>
                            </a:solidFill>
                            <a:latin typeface="Cambria Math" panose="02040503050406030204" pitchFamily="18" charset="0"/>
                          </a:rPr>
                          <m:t>1</m:t>
                        </m:r>
                      </m:num>
                      <m:den>
                        <m:rad>
                          <m:radPr>
                            <m:degHide m:val="on"/>
                            <m:ctrlPr>
                              <a:rPr lang="en-US" sz="2000" b="0" i="1">
                                <a:solidFill>
                                  <a:srgbClr val="000000">
                                    <a:lumMod val="85000"/>
                                    <a:lumOff val="15000"/>
                                  </a:srgbClr>
                                </a:solidFill>
                                <a:latin typeface="Cambria Math" panose="02040503050406030204" pitchFamily="18" charset="0"/>
                              </a:rPr>
                            </m:ctrlPr>
                          </m:radPr>
                          <m:deg/>
                          <m:e>
                            <m:r>
                              <a:rPr lang="en-US" sz="2000" b="0" i="1">
                                <a:solidFill>
                                  <a:srgbClr val="000000">
                                    <a:lumMod val="85000"/>
                                    <a:lumOff val="15000"/>
                                  </a:srgbClr>
                                </a:solidFill>
                                <a:latin typeface="Cambria Math" panose="02040503050406030204" pitchFamily="18" charset="0"/>
                              </a:rPr>
                              <m:t>2</m:t>
                            </m:r>
                          </m:e>
                        </m:rad>
                      </m:den>
                    </m:f>
                  </m:oMath>
                </a14:m>
                <a:r>
                  <a:rPr lang="en-US" sz="2000" b="0" dirty="0">
                    <a:solidFill>
                      <a:srgbClr val="000000">
                        <a:lumMod val="85000"/>
                        <a:lumOff val="15000"/>
                      </a:srgbClr>
                    </a:solidFill>
                    <a:latin typeface="+mn-lt"/>
                  </a:rPr>
                  <a:t> , </a:t>
                </a:r>
                <a:r>
                  <a:rPr lang="el-GR" sz="2000" b="0" dirty="0">
                    <a:solidFill>
                      <a:srgbClr val="000000">
                        <a:lumMod val="85000"/>
                        <a:lumOff val="15000"/>
                      </a:srgbClr>
                    </a:solidFill>
                    <a:latin typeface="+mn-lt"/>
                  </a:rPr>
                  <a:t>α</a:t>
                </a:r>
                <a:r>
                  <a:rPr lang="en-US" sz="2000" b="0" dirty="0">
                    <a:solidFill>
                      <a:srgbClr val="000000">
                        <a:lumMod val="85000"/>
                        <a:lumOff val="15000"/>
                      </a:srgbClr>
                    </a:solidFill>
                    <a:latin typeface="+mn-lt"/>
                  </a:rPr>
                  <a:t> = </a:t>
                </a:r>
                <a14:m>
                  <m:oMath xmlns:m="http://schemas.openxmlformats.org/officeDocument/2006/math">
                    <m:sSup>
                      <m:sSupPr>
                        <m:ctrlPr>
                          <a:rPr lang="en-US" sz="2000" b="0" i="1">
                            <a:solidFill>
                              <a:srgbClr val="000000">
                                <a:lumMod val="85000"/>
                                <a:lumOff val="15000"/>
                              </a:srgbClr>
                            </a:solidFill>
                            <a:latin typeface="Cambria Math" panose="02040503050406030204" pitchFamily="18" charset="0"/>
                          </a:rPr>
                        </m:ctrlPr>
                      </m:sSupPr>
                      <m:e>
                        <m:r>
                          <a:rPr lang="en-US" sz="2000" b="0" i="1">
                            <a:solidFill>
                              <a:srgbClr val="000000">
                                <a:lumMod val="85000"/>
                                <a:lumOff val="15000"/>
                              </a:srgbClr>
                            </a:solidFill>
                            <a:latin typeface="Cambria Math" panose="02040503050406030204" pitchFamily="18" charset="0"/>
                          </a:rPr>
                          <m:t>2</m:t>
                        </m:r>
                      </m:e>
                      <m:sup>
                        <m:r>
                          <a:rPr lang="en-US" sz="2000" b="0" i="1">
                            <a:solidFill>
                              <a:srgbClr val="000000">
                                <a:lumMod val="85000"/>
                                <a:lumOff val="15000"/>
                              </a:srgbClr>
                            </a:solidFill>
                            <a:latin typeface="Cambria Math" panose="02040503050406030204" pitchFamily="18" charset="0"/>
                          </a:rPr>
                          <m:t>−</m:t>
                        </m:r>
                        <m:r>
                          <a:rPr lang="en-US" sz="2000" b="0" i="1">
                            <a:solidFill>
                              <a:srgbClr val="000000">
                                <a:lumMod val="85000"/>
                                <a:lumOff val="15000"/>
                              </a:srgbClr>
                            </a:solidFill>
                            <a:latin typeface="Cambria Math" panose="02040503050406030204" pitchFamily="18" charset="0"/>
                          </a:rPr>
                          <m:t>3</m:t>
                        </m:r>
                      </m:sup>
                    </m:sSup>
                  </m:oMath>
                </a14:m>
                <a:r>
                  <a:rPr lang="en-US" sz="2000" b="0" dirty="0">
                    <a:solidFill>
                      <a:srgbClr val="000000">
                        <a:lumMod val="85000"/>
                        <a:lumOff val="15000"/>
                      </a:srgbClr>
                    </a:solidFill>
                    <a:latin typeface="+mn-lt"/>
                  </a:rPr>
                  <a:t>, </a:t>
                </a:r>
                <a14:m>
                  <m:oMath xmlns:m="http://schemas.openxmlformats.org/officeDocument/2006/math">
                    <m:r>
                      <m:rPr>
                        <m:nor/>
                      </m:rPr>
                      <a:rPr lang="en-US" sz="2000" b="0" dirty="0">
                        <a:solidFill>
                          <a:srgbClr val="000000">
                            <a:lumMod val="85000"/>
                            <a:lumOff val="15000"/>
                          </a:srgbClr>
                        </a:solidFill>
                        <a:latin typeface="+mn-lt"/>
                      </a:rPr>
                      <m:t>ρ</m:t>
                    </m:r>
                    <m:r>
                      <a:rPr lang="en-US" sz="2000" b="0" i="1" dirty="0">
                        <a:solidFill>
                          <a:srgbClr val="000000">
                            <a:lumMod val="85000"/>
                            <a:lumOff val="15000"/>
                          </a:srgbClr>
                        </a:solidFill>
                        <a:latin typeface="Cambria Math" panose="02040503050406030204" pitchFamily="18" charset="0"/>
                      </a:rPr>
                      <m:t> </m:t>
                    </m:r>
                  </m:oMath>
                </a14:m>
                <a:r>
                  <a:rPr lang="en-US" sz="2000" b="0" dirty="0">
                    <a:solidFill>
                      <a:srgbClr val="000000">
                        <a:lumMod val="85000"/>
                        <a:lumOff val="15000"/>
                      </a:srgbClr>
                    </a:solidFill>
                    <a:latin typeface="+mn-lt"/>
                  </a:rPr>
                  <a:t>= </a:t>
                </a:r>
                <a14:m>
                  <m:oMath xmlns:m="http://schemas.openxmlformats.org/officeDocument/2006/math">
                    <m:sSup>
                      <m:sSupPr>
                        <m:ctrlPr>
                          <a:rPr lang="en-US" sz="2000" b="0" i="1">
                            <a:solidFill>
                              <a:srgbClr val="000000">
                                <a:lumMod val="85000"/>
                                <a:lumOff val="15000"/>
                              </a:srgbClr>
                            </a:solidFill>
                            <a:latin typeface="Cambria Math" panose="02040503050406030204" pitchFamily="18" charset="0"/>
                          </a:rPr>
                        </m:ctrlPr>
                      </m:sSupPr>
                      <m:e>
                        <m:r>
                          <a:rPr lang="en-US" sz="2000" b="0" i="1">
                            <a:solidFill>
                              <a:srgbClr val="000000">
                                <a:lumMod val="85000"/>
                                <a:lumOff val="15000"/>
                              </a:srgbClr>
                            </a:solidFill>
                            <a:latin typeface="Cambria Math" panose="02040503050406030204" pitchFamily="18" charset="0"/>
                          </a:rPr>
                          <m:t>2</m:t>
                        </m:r>
                      </m:e>
                      <m:sup>
                        <m:r>
                          <a:rPr lang="en-US" sz="2000" b="0" i="1">
                            <a:solidFill>
                              <a:srgbClr val="000000">
                                <a:lumMod val="85000"/>
                                <a:lumOff val="15000"/>
                              </a:srgbClr>
                            </a:solidFill>
                            <a:latin typeface="Cambria Math" panose="02040503050406030204" pitchFamily="18" charset="0"/>
                          </a:rPr>
                          <m:t>−</m:t>
                        </m:r>
                        <m:r>
                          <a:rPr lang="en-US" sz="2000" b="0" i="1">
                            <a:solidFill>
                              <a:srgbClr val="000000">
                                <a:lumMod val="85000"/>
                                <a:lumOff val="15000"/>
                              </a:srgbClr>
                            </a:solidFill>
                            <a:latin typeface="Cambria Math" panose="02040503050406030204" pitchFamily="18" charset="0"/>
                          </a:rPr>
                          <m:t>5</m:t>
                        </m:r>
                      </m:sup>
                    </m:sSup>
                  </m:oMath>
                </a14:m>
                <a:r>
                  <a:rPr lang="en-US" sz="2000" b="0" dirty="0">
                    <a:latin typeface="+mn-lt"/>
                  </a:rPr>
                  <a:t> </a:t>
                </a:r>
              </a:p>
              <a:p>
                <a:pPr marL="76200" indent="0" algn="ctr">
                  <a:buFont typeface="Arial"/>
                  <a:buNone/>
                </a:pPr>
                <a:endParaRPr lang="en-US" sz="2000" dirty="0"/>
              </a:p>
              <a:p>
                <a:pPr marL="76200" indent="0">
                  <a:buFont typeface="Arial"/>
                  <a:buNone/>
                </a:pPr>
                <a:endParaRPr lang="en-US" sz="1800" dirty="0">
                  <a:solidFill>
                    <a:srgbClr val="000000">
                      <a:lumMod val="85000"/>
                      <a:lumOff val="15000"/>
                    </a:srgbClr>
                  </a:solidFill>
                  <a:latin typeface="Calibri "/>
                </a:endParaRPr>
              </a:p>
              <a:p>
                <a:pPr marL="76200" indent="0">
                  <a:buFont typeface="Arial"/>
                  <a:buNone/>
                </a:pPr>
                <a:endParaRPr lang="en-US" sz="2000" dirty="0"/>
              </a:p>
            </p:txBody>
          </p:sp>
        </mc:Choice>
        <mc:Fallback xmlns="">
          <p:sp>
            <p:nvSpPr>
              <p:cNvPr id="6" name="Text Placeholder 2">
                <a:extLst>
                  <a:ext uri="{FF2B5EF4-FFF2-40B4-BE49-F238E27FC236}">
                    <a16:creationId xmlns:a16="http://schemas.microsoft.com/office/drawing/2014/main" id="{7A91FA81-84AE-2CFD-0C58-CFCDE86C34A6}"/>
                  </a:ext>
                </a:extLst>
              </p:cNvPr>
              <p:cNvSpPr txBox="1">
                <a:spLocks noRot="1" noChangeAspect="1" noMove="1" noResize="1" noEditPoints="1" noAdjustHandles="1" noChangeArrowheads="1" noChangeShapeType="1" noTextEdit="1"/>
              </p:cNvSpPr>
              <p:nvPr/>
            </p:nvSpPr>
            <p:spPr>
              <a:xfrm>
                <a:off x="3632458" y="2336181"/>
                <a:ext cx="10876384" cy="1027405"/>
              </a:xfrm>
              <a:prstGeom prst="rect">
                <a:avLst/>
              </a:prstGeom>
              <a:blipFill>
                <a:blip r:embed="rId3"/>
                <a:stretch>
                  <a:fillRect/>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2836519653"/>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 xmlns:a16="http://schemas.microsoft.com/office/drawing/2014/main" id="{E12194E4-877C-217F-BC95-DB91962136C7}"/>
              </a:ext>
            </a:extLst>
          </p:cNvPr>
          <p:cNvPicPr>
            <a:picLocks noChangeAspect="1"/>
          </p:cNvPicPr>
          <p:nvPr/>
        </p:nvPicPr>
        <p:blipFill>
          <a:blip r:embed="rId2"/>
          <a:srcRect r="4892"/>
          <a:stretch>
            <a:fillRect/>
          </a:stretch>
        </p:blipFill>
        <p:spPr>
          <a:xfrm>
            <a:off x="7239000" y="1076653"/>
            <a:ext cx="4914900" cy="5419041"/>
          </a:xfrm>
          <a:prstGeom prst="rect">
            <a:avLst/>
          </a:prstGeom>
        </p:spPr>
      </p:pic>
      <p:pic>
        <p:nvPicPr>
          <p:cNvPr id="9" name="Picture 8">
            <a:extLst>
              <a:ext uri="{FF2B5EF4-FFF2-40B4-BE49-F238E27FC236}">
                <a16:creationId xmlns="" xmlns:a16="http://schemas.microsoft.com/office/drawing/2014/main" id="{D1604D25-BA2F-41D5-9820-7B473A822EF2}"/>
              </a:ext>
            </a:extLst>
          </p:cNvPr>
          <p:cNvPicPr>
            <a:picLocks noChangeAspect="1"/>
          </p:cNvPicPr>
          <p:nvPr/>
        </p:nvPicPr>
        <p:blipFill>
          <a:blip r:embed="rId3"/>
          <a:stretch>
            <a:fillRect/>
          </a:stretch>
        </p:blipFill>
        <p:spPr>
          <a:xfrm>
            <a:off x="609600" y="1986628"/>
            <a:ext cx="5848523" cy="3541530"/>
          </a:xfrm>
          <a:prstGeom prst="rect">
            <a:avLst/>
          </a:prstGeom>
        </p:spPr>
      </p:pic>
      <p:sp>
        <p:nvSpPr>
          <p:cNvPr id="10" name="Title 1">
            <a:extLst>
              <a:ext uri="{FF2B5EF4-FFF2-40B4-BE49-F238E27FC236}">
                <a16:creationId xmlns="" xmlns:a16="http://schemas.microsoft.com/office/drawing/2014/main" id="{8F8B4042-AE5D-B28F-FE3D-2DFBB0B0867D}"/>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Digital loop filter </a:t>
            </a:r>
          </a:p>
        </p:txBody>
      </p:sp>
      <p:sp>
        <p:nvSpPr>
          <p:cNvPr id="2" name="Text Placeholder 3">
            <a:extLst>
              <a:ext uri="{FF2B5EF4-FFF2-40B4-BE49-F238E27FC236}">
                <a16:creationId xmlns="" xmlns:a16="http://schemas.microsoft.com/office/drawing/2014/main" id="{AA2E38FE-8816-E400-83C6-F35B32816AAC}"/>
              </a:ext>
            </a:extLst>
          </p:cNvPr>
          <p:cNvSpPr>
            <a:spLocks noGrp="1"/>
          </p:cNvSpPr>
          <p:nvPr>
            <p:ph type="body" idx="1"/>
          </p:nvPr>
        </p:nvSpPr>
        <p:spPr/>
        <p:txBody>
          <a:bodyPr>
            <a:normAutofit/>
          </a:bodyPr>
          <a:lstStyle/>
          <a:p>
            <a:pPr marL="76200" indent="0"/>
            <a:r>
              <a:rPr lang="en-US" sz="2000" dirty="0">
                <a:solidFill>
                  <a:schemeClr val="tx1">
                    <a:lumMod val="85000"/>
                    <a:lumOff val="15000"/>
                  </a:schemeClr>
                </a:solidFill>
              </a:rPr>
              <a:t>ADPLL operating modes:</a:t>
            </a:r>
          </a:p>
        </p:txBody>
      </p:sp>
    </p:spTree>
    <p:extLst>
      <p:ext uri="{BB962C8B-B14F-4D97-AF65-F5344CB8AC3E}">
        <p14:creationId xmlns:p14="http://schemas.microsoft.com/office/powerpoint/2010/main" val="3340989049"/>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a:extLst>
              <a:ext uri="{FF2B5EF4-FFF2-40B4-BE49-F238E27FC236}">
                <a16:creationId xmlns="" xmlns:a16="http://schemas.microsoft.com/office/drawing/2014/main" id="{DF52DFD3-DFF0-3130-B0C7-12C708949D1C}"/>
              </a:ext>
            </a:extLst>
          </p:cNvPr>
          <p:cNvGrpSpPr/>
          <p:nvPr/>
        </p:nvGrpSpPr>
        <p:grpSpPr>
          <a:xfrm>
            <a:off x="4624590" y="1815783"/>
            <a:ext cx="7293711" cy="3697372"/>
            <a:chOff x="4643252" y="1974404"/>
            <a:chExt cx="7293711" cy="3697372"/>
          </a:xfrm>
        </p:grpSpPr>
        <p:grpSp>
          <p:nvGrpSpPr>
            <p:cNvPr id="8" name="Group 7">
              <a:extLst>
                <a:ext uri="{FF2B5EF4-FFF2-40B4-BE49-F238E27FC236}">
                  <a16:creationId xmlns="" xmlns:a16="http://schemas.microsoft.com/office/drawing/2014/main" id="{E234BFB6-1CA7-066E-42FE-04834E86D6EF}"/>
                </a:ext>
              </a:extLst>
            </p:cNvPr>
            <p:cNvGrpSpPr/>
            <p:nvPr/>
          </p:nvGrpSpPr>
          <p:grpSpPr>
            <a:xfrm>
              <a:off x="4643252" y="1974404"/>
              <a:ext cx="7293711" cy="3697372"/>
              <a:chOff x="4459751" y="1675826"/>
              <a:chExt cx="7293711" cy="3697372"/>
            </a:xfrm>
          </p:grpSpPr>
          <p:pic>
            <p:nvPicPr>
              <p:cNvPr id="7" name="Picture 6" descr="A diagram of a machine&#10;&#10;AI-generated content may be incorrect.">
                <a:extLst>
                  <a:ext uri="{FF2B5EF4-FFF2-40B4-BE49-F238E27FC236}">
                    <a16:creationId xmlns="" xmlns:a16="http://schemas.microsoft.com/office/drawing/2014/main" id="{CA231FEB-59F3-55DD-C933-20AF065263B3}"/>
                  </a:ext>
                </a:extLst>
              </p:cNvPr>
              <p:cNvPicPr>
                <a:picLocks noChangeAspect="1"/>
              </p:cNvPicPr>
              <p:nvPr/>
            </p:nvPicPr>
            <p:blipFill>
              <a:blip r:embed="rId2"/>
              <a:srcRect r="3642"/>
              <a:stretch>
                <a:fillRect/>
              </a:stretch>
            </p:blipFill>
            <p:spPr>
              <a:xfrm>
                <a:off x="4459751" y="1675826"/>
                <a:ext cx="7293711" cy="3697372"/>
              </a:xfrm>
              <a:prstGeom prst="rect">
                <a:avLst/>
              </a:prstGeom>
            </p:spPr>
          </p:pic>
          <p:grpSp>
            <p:nvGrpSpPr>
              <p:cNvPr id="4" name="Group 3">
                <a:extLst>
                  <a:ext uri="{FF2B5EF4-FFF2-40B4-BE49-F238E27FC236}">
                    <a16:creationId xmlns="" xmlns:a16="http://schemas.microsoft.com/office/drawing/2014/main" id="{3CC5F776-CD99-15A0-9227-0F662CAFC5C1}"/>
                  </a:ext>
                </a:extLst>
              </p:cNvPr>
              <p:cNvGrpSpPr/>
              <p:nvPr/>
            </p:nvGrpSpPr>
            <p:grpSpPr>
              <a:xfrm>
                <a:off x="6307325" y="3069110"/>
                <a:ext cx="899640" cy="47520"/>
                <a:chOff x="6307325" y="3069110"/>
                <a:chExt cx="899640" cy="47520"/>
              </a:xfrm>
            </p:grpSpPr>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 xmlns:a16="http://schemas.microsoft.com/office/drawing/2014/main" id="{6B67A33B-167F-E2B6-533B-9F4AC6405DC5}"/>
                        </a:ext>
                      </a:extLst>
                    </p14:cNvPr>
                    <p14:cNvContentPartPr/>
                    <p14:nvPr/>
                  </p14:nvContentPartPr>
                  <p14:xfrm>
                    <a:off x="6307325" y="3071270"/>
                    <a:ext cx="177840" cy="26640"/>
                  </p14:xfrm>
                </p:contentPart>
              </mc:Choice>
              <mc:Fallback xmlns="">
                <p:pic>
                  <p:nvPicPr>
                    <p:cNvPr id="2" name="Ink 1">
                      <a:extLst>
                        <a:ext uri="{FF2B5EF4-FFF2-40B4-BE49-F238E27FC236}">
                          <a16:creationId xmlns:a16="http://schemas.microsoft.com/office/drawing/2014/main" id="{6B67A33B-167F-E2B6-533B-9F4AC6405DC5}"/>
                        </a:ext>
                      </a:extLst>
                    </p:cNvPr>
                    <p:cNvPicPr/>
                    <p:nvPr/>
                  </p:nvPicPr>
                  <p:blipFill>
                    <a:blip r:embed="rId4"/>
                    <a:stretch>
                      <a:fillRect/>
                    </a:stretch>
                  </p:blipFill>
                  <p:spPr>
                    <a:xfrm>
                      <a:off x="6244325" y="3008630"/>
                      <a:ext cx="303480" cy="1522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 xmlns:a16="http://schemas.microsoft.com/office/drawing/2014/main" id="{6382B115-784C-07E8-763A-939561BB9AFC}"/>
                        </a:ext>
                      </a:extLst>
                    </p14:cNvPr>
                    <p14:cNvContentPartPr/>
                    <p14:nvPr/>
                  </p14:nvContentPartPr>
                  <p14:xfrm>
                    <a:off x="6417845" y="3069110"/>
                    <a:ext cx="789120" cy="47520"/>
                  </p14:xfrm>
                </p:contentPart>
              </mc:Choice>
              <mc:Fallback xmlns="">
                <p:pic>
                  <p:nvPicPr>
                    <p:cNvPr id="3" name="Ink 2">
                      <a:extLst>
                        <a:ext uri="{FF2B5EF4-FFF2-40B4-BE49-F238E27FC236}">
                          <a16:creationId xmlns:a16="http://schemas.microsoft.com/office/drawing/2014/main" id="{6382B115-784C-07E8-763A-939561BB9AFC}"/>
                        </a:ext>
                      </a:extLst>
                    </p:cNvPr>
                    <p:cNvPicPr/>
                    <p:nvPr/>
                  </p:nvPicPr>
                  <p:blipFill>
                    <a:blip r:embed="rId6"/>
                    <a:stretch>
                      <a:fillRect/>
                    </a:stretch>
                  </p:blipFill>
                  <p:spPr>
                    <a:xfrm>
                      <a:off x="6355205" y="3006470"/>
                      <a:ext cx="914760" cy="173160"/>
                    </a:xfrm>
                    <a:prstGeom prst="rect">
                      <a:avLst/>
                    </a:prstGeom>
                  </p:spPr>
                </p:pic>
              </mc:Fallback>
            </mc:AlternateContent>
          </p:grpSp>
        </p:grpSp>
        <mc:AlternateContent xmlns:mc="http://schemas.openxmlformats.org/markup-compatibility/2006" xmlns:p14="http://schemas.microsoft.com/office/powerpoint/2010/main">
          <mc:Choice Requires="p14">
            <p:contentPart p14:bwMode="auto" r:id="rId7">
              <p14:nvContentPartPr>
                <p14:cNvPr id="10" name="Ink 9">
                  <a:extLst>
                    <a:ext uri="{FF2B5EF4-FFF2-40B4-BE49-F238E27FC236}">
                      <a16:creationId xmlns="" xmlns:a16="http://schemas.microsoft.com/office/drawing/2014/main" id="{A3D3B471-4945-064E-D218-69D52D8024E5}"/>
                    </a:ext>
                  </a:extLst>
                </p14:cNvPr>
                <p14:cNvContentPartPr/>
                <p14:nvPr/>
              </p14:nvContentPartPr>
              <p14:xfrm>
                <a:off x="8490365" y="3395990"/>
                <a:ext cx="1213920" cy="720"/>
              </p14:xfrm>
            </p:contentPart>
          </mc:Choice>
          <mc:Fallback xmlns="">
            <p:pic>
              <p:nvPicPr>
                <p:cNvPr id="10" name="Ink 9">
                  <a:extLst>
                    <a:ext uri="{FF2B5EF4-FFF2-40B4-BE49-F238E27FC236}">
                      <a16:creationId xmlns:a16="http://schemas.microsoft.com/office/drawing/2014/main" id="{A3D3B471-4945-064E-D218-69D52D8024E5}"/>
                    </a:ext>
                  </a:extLst>
                </p:cNvPr>
                <p:cNvPicPr/>
                <p:nvPr/>
              </p:nvPicPr>
              <p:blipFill>
                <a:blip r:embed="rId8"/>
                <a:stretch>
                  <a:fillRect/>
                </a:stretch>
              </p:blipFill>
              <p:spPr>
                <a:xfrm>
                  <a:off x="8427725" y="3269990"/>
                  <a:ext cx="1339560" cy="252000"/>
                </a:xfrm>
                <a:prstGeom prst="rect">
                  <a:avLst/>
                </a:prstGeom>
              </p:spPr>
            </p:pic>
          </mc:Fallback>
        </mc:AlternateContent>
      </p:grpSp>
      <p:sp>
        <p:nvSpPr>
          <p:cNvPr id="5" name="Title 1">
            <a:extLst>
              <a:ext uri="{FF2B5EF4-FFF2-40B4-BE49-F238E27FC236}">
                <a16:creationId xmlns="" xmlns:a16="http://schemas.microsoft.com/office/drawing/2014/main" id="{F6311D93-068B-9F15-8930-95CA743ED844}"/>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Digital loop filter </a:t>
            </a:r>
          </a:p>
        </p:txBody>
      </p:sp>
      <mc:AlternateContent xmlns:mc="http://schemas.openxmlformats.org/markup-compatibility/2006" xmlns:a14="http://schemas.microsoft.com/office/drawing/2010/main">
        <mc:Choice Requires="a14">
          <p:sp>
            <p:nvSpPr>
              <p:cNvPr id="6" name="Text Placeholder 2">
                <a:extLst>
                  <a:ext uri="{FF2B5EF4-FFF2-40B4-BE49-F238E27FC236}">
                    <a16:creationId xmlns="" xmlns:a16="http://schemas.microsoft.com/office/drawing/2014/main" id="{1CB3324A-AF6C-4B0D-D081-99F7AFC35007}"/>
                  </a:ext>
                </a:extLst>
              </p:cNvPr>
              <p:cNvSpPr>
                <a:spLocks noGrp="1"/>
              </p:cNvSpPr>
              <p:nvPr>
                <p:ph type="body" idx="1"/>
              </p:nvPr>
            </p:nvSpPr>
            <p:spPr>
              <a:xfrm>
                <a:off x="647700" y="1510748"/>
                <a:ext cx="4312920" cy="4984947"/>
              </a:xfrm>
            </p:spPr>
            <p:txBody>
              <a:bodyPr/>
              <a:lstStyle/>
              <a:p>
                <a:endParaRPr lang="en-US" sz="2000" dirty="0">
                  <a:solidFill>
                    <a:schemeClr val="tx1">
                      <a:lumMod val="85000"/>
                      <a:lumOff val="15000"/>
                    </a:schemeClr>
                  </a:solidFill>
                  <a:latin typeface="+mn-lt"/>
                </a:endParaRPr>
              </a:p>
              <a:p>
                <a:endParaRPr lang="en-US" sz="2000" dirty="0">
                  <a:solidFill>
                    <a:schemeClr val="tx1">
                      <a:lumMod val="85000"/>
                      <a:lumOff val="15000"/>
                    </a:schemeClr>
                  </a:solidFill>
                  <a:latin typeface="+mn-lt"/>
                </a:endParaRPr>
              </a:p>
              <a:p>
                <a:r>
                  <a:rPr lang="en-US" sz="2200" b="0" dirty="0">
                    <a:solidFill>
                      <a:schemeClr val="tx1">
                        <a:lumMod val="85000"/>
                        <a:lumOff val="15000"/>
                      </a:schemeClr>
                    </a:solidFill>
                    <a:latin typeface="+mn-lt"/>
                  </a:rPr>
                  <a:t>α and  </a:t>
                </a:r>
                <a14:m>
                  <m:oMath xmlns:m="http://schemas.openxmlformats.org/officeDocument/2006/math">
                    <m:r>
                      <m:rPr>
                        <m:nor/>
                      </m:rPr>
                      <a:rPr lang="en-US" sz="2200" b="0" dirty="0">
                        <a:solidFill>
                          <a:schemeClr val="tx1">
                            <a:lumMod val="85000"/>
                            <a:lumOff val="15000"/>
                          </a:schemeClr>
                        </a:solidFill>
                        <a:latin typeface="+mn-lt"/>
                      </a:rPr>
                      <m:t>ρ</m:t>
                    </m:r>
                    <m:r>
                      <a:rPr lang="en-US" sz="2200" b="0" i="1" dirty="0">
                        <a:solidFill>
                          <a:schemeClr val="tx1">
                            <a:lumMod val="85000"/>
                            <a:lumOff val="15000"/>
                          </a:schemeClr>
                        </a:solidFill>
                        <a:latin typeface="Cambria Math" panose="02040503050406030204" pitchFamily="18" charset="0"/>
                      </a:rPr>
                      <m:t> </m:t>
                    </m:r>
                  </m:oMath>
                </a14:m>
                <a:r>
                  <a:rPr lang="en-US" sz="2200" b="0" dirty="0">
                    <a:solidFill>
                      <a:schemeClr val="tx1">
                        <a:lumMod val="85000"/>
                        <a:lumOff val="15000"/>
                      </a:schemeClr>
                    </a:solidFill>
                    <a:latin typeface="+mn-lt"/>
                  </a:rPr>
                  <a:t> loop gain factors are implemented as right-bit-shift operations.</a:t>
                </a:r>
              </a:p>
              <a:p>
                <a:r>
                  <a:rPr lang="en-US" sz="2200" b="0" dirty="0">
                    <a:solidFill>
                      <a:schemeClr val="tx1">
                        <a:lumMod val="85000"/>
                        <a:lumOff val="15000"/>
                      </a:schemeClr>
                    </a:solidFill>
                    <a:latin typeface="+mn-lt"/>
                  </a:rPr>
                  <a:t>The phase error </a:t>
                </a:r>
                <a14:m>
                  <m:oMath xmlns:m="http://schemas.openxmlformats.org/officeDocument/2006/math">
                    <m:r>
                      <a:rPr lang="en-US" sz="2200" b="0" i="1">
                        <a:solidFill>
                          <a:schemeClr val="tx1">
                            <a:lumMod val="85000"/>
                            <a:lumOff val="15000"/>
                          </a:schemeClr>
                        </a:solidFill>
                        <a:latin typeface="Cambria Math" panose="02040503050406030204" pitchFamily="18" charset="0"/>
                      </a:rPr>
                      <m:t>∅</m:t>
                    </m:r>
                    <m:d>
                      <m:dPr>
                        <m:begChr m:val="["/>
                        <m:endChr m:val="]"/>
                        <m:ctrlPr>
                          <a:rPr lang="en-US" sz="2200" b="0" i="1">
                            <a:solidFill>
                              <a:schemeClr val="tx1">
                                <a:lumMod val="85000"/>
                                <a:lumOff val="15000"/>
                              </a:schemeClr>
                            </a:solidFill>
                            <a:latin typeface="Cambria Math" panose="02040503050406030204" pitchFamily="18" charset="0"/>
                          </a:rPr>
                        </m:ctrlPr>
                      </m:dPr>
                      <m:e>
                        <m:r>
                          <a:rPr lang="en-US" sz="2200" b="0" i="1">
                            <a:solidFill>
                              <a:schemeClr val="tx1">
                                <a:lumMod val="85000"/>
                                <a:lumOff val="15000"/>
                              </a:schemeClr>
                            </a:solidFill>
                            <a:latin typeface="Cambria Math" panose="02040503050406030204" pitchFamily="18" charset="0"/>
                          </a:rPr>
                          <m:t>𝑘</m:t>
                        </m:r>
                        <m:r>
                          <a:rPr lang="en-US" sz="2200" b="0" i="1">
                            <a:solidFill>
                              <a:schemeClr val="tx1">
                                <a:lumMod val="85000"/>
                                <a:lumOff val="15000"/>
                              </a:schemeClr>
                            </a:solidFill>
                            <a:latin typeface="Cambria Math" panose="02040503050406030204" pitchFamily="18" charset="0"/>
                          </a:rPr>
                          <m:t>0</m:t>
                        </m:r>
                      </m:e>
                    </m:d>
                  </m:oMath>
                </a14:m>
                <a:r>
                  <a:rPr lang="en-US" sz="2200" b="0" dirty="0">
                    <a:solidFill>
                      <a:schemeClr val="tx1">
                        <a:lumMod val="85000"/>
                        <a:lumOff val="15000"/>
                      </a:schemeClr>
                    </a:solidFill>
                    <a:latin typeface="+mn-lt"/>
                  </a:rPr>
                  <a:t> is sampled at the beginning of type II loop operation and outputs the adjusted phase error </a:t>
                </a:r>
                <a14:m>
                  <m:oMath xmlns:m="http://schemas.openxmlformats.org/officeDocument/2006/math">
                    <m:r>
                      <a:rPr lang="en-US" sz="2200" b="0" i="1">
                        <a:solidFill>
                          <a:schemeClr val="tx1">
                            <a:lumMod val="85000"/>
                            <a:lumOff val="15000"/>
                          </a:schemeClr>
                        </a:solidFill>
                        <a:latin typeface="Cambria Math" panose="02040503050406030204" pitchFamily="18" charset="0"/>
                      </a:rPr>
                      <m:t>∅</m:t>
                    </m:r>
                    <m:d>
                      <m:dPr>
                        <m:begChr m:val="["/>
                        <m:endChr m:val="]"/>
                        <m:ctrlPr>
                          <a:rPr lang="en-US" sz="2200" b="0" i="1">
                            <a:solidFill>
                              <a:schemeClr val="tx1">
                                <a:lumMod val="85000"/>
                                <a:lumOff val="15000"/>
                              </a:schemeClr>
                            </a:solidFill>
                            <a:latin typeface="Cambria Math" panose="02040503050406030204" pitchFamily="18" charset="0"/>
                          </a:rPr>
                        </m:ctrlPr>
                      </m:dPr>
                      <m:e>
                        <m:r>
                          <a:rPr lang="en-US" sz="2200" b="0" i="1">
                            <a:solidFill>
                              <a:schemeClr val="tx1">
                                <a:lumMod val="85000"/>
                                <a:lumOff val="15000"/>
                              </a:schemeClr>
                            </a:solidFill>
                            <a:latin typeface="Cambria Math" panose="02040503050406030204" pitchFamily="18" charset="0"/>
                          </a:rPr>
                          <m:t>𝑘</m:t>
                        </m:r>
                      </m:e>
                    </m:d>
                    <m:r>
                      <a:rPr lang="en-US" sz="2200" b="0" i="1">
                        <a:solidFill>
                          <a:schemeClr val="tx1">
                            <a:lumMod val="85000"/>
                            <a:lumOff val="15000"/>
                          </a:schemeClr>
                        </a:solidFill>
                        <a:latin typeface="Cambria Math" panose="02040503050406030204" pitchFamily="18" charset="0"/>
                      </a:rPr>
                      <m:t>−</m:t>
                    </m:r>
                    <m:r>
                      <a:rPr lang="en-US" sz="2200" b="0" i="1">
                        <a:solidFill>
                          <a:schemeClr val="tx1">
                            <a:lumMod val="85000"/>
                            <a:lumOff val="15000"/>
                          </a:schemeClr>
                        </a:solidFill>
                        <a:latin typeface="Cambria Math" panose="02040503050406030204" pitchFamily="18" charset="0"/>
                      </a:rPr>
                      <m:t>∅</m:t>
                    </m:r>
                    <m:r>
                      <a:rPr lang="en-US" sz="2200" b="0" i="1">
                        <a:solidFill>
                          <a:schemeClr val="tx1">
                            <a:lumMod val="85000"/>
                            <a:lumOff val="15000"/>
                          </a:schemeClr>
                        </a:solidFill>
                        <a:latin typeface="Cambria Math" panose="02040503050406030204" pitchFamily="18" charset="0"/>
                      </a:rPr>
                      <m:t>[</m:t>
                    </m:r>
                    <m:r>
                      <a:rPr lang="en-US" sz="2200" b="0" i="1">
                        <a:solidFill>
                          <a:schemeClr val="tx1">
                            <a:lumMod val="85000"/>
                            <a:lumOff val="15000"/>
                          </a:schemeClr>
                        </a:solidFill>
                        <a:latin typeface="Cambria Math" panose="02040503050406030204" pitchFamily="18" charset="0"/>
                      </a:rPr>
                      <m:t>𝑘</m:t>
                    </m:r>
                    <m:r>
                      <a:rPr lang="en-US" sz="2200" b="0" i="1">
                        <a:solidFill>
                          <a:schemeClr val="tx1">
                            <a:lumMod val="85000"/>
                            <a:lumOff val="15000"/>
                          </a:schemeClr>
                        </a:solidFill>
                        <a:latin typeface="Cambria Math" panose="02040503050406030204" pitchFamily="18" charset="0"/>
                      </a:rPr>
                      <m:t>0</m:t>
                    </m:r>
                    <m:r>
                      <a:rPr lang="en-US" sz="2200" b="0" i="1">
                        <a:solidFill>
                          <a:schemeClr val="tx1">
                            <a:lumMod val="85000"/>
                            <a:lumOff val="15000"/>
                          </a:schemeClr>
                        </a:solidFill>
                        <a:latin typeface="Cambria Math" panose="02040503050406030204" pitchFamily="18" charset="0"/>
                      </a:rPr>
                      <m:t>]</m:t>
                    </m:r>
                  </m:oMath>
                </a14:m>
                <a:r>
                  <a:rPr lang="en-US" sz="2200" b="0" dirty="0">
                    <a:solidFill>
                      <a:schemeClr val="tx1">
                        <a:lumMod val="85000"/>
                        <a:lumOff val="15000"/>
                      </a:schemeClr>
                    </a:solidFill>
                    <a:latin typeface="+mn-lt"/>
                  </a:rPr>
                  <a:t> to eliminate DC offset from previous mode.</a:t>
                </a:r>
              </a:p>
              <a:p>
                <a:pPr marL="76200" indent="0">
                  <a:buNone/>
                </a:pPr>
                <a:endParaRPr lang="en-US" sz="1800" dirty="0"/>
              </a:p>
            </p:txBody>
          </p:sp>
        </mc:Choice>
        <mc:Fallback xmlns="">
          <p:sp>
            <p:nvSpPr>
              <p:cNvPr id="6" name="Text Placeholder 2">
                <a:extLst>
                  <a:ext uri="{FF2B5EF4-FFF2-40B4-BE49-F238E27FC236}">
                    <a16:creationId xmlns:a16="http://schemas.microsoft.com/office/drawing/2014/main" id="{1CB3324A-AF6C-4B0D-D081-99F7AFC35007}"/>
                  </a:ext>
                </a:extLst>
              </p:cNvPr>
              <p:cNvSpPr>
                <a:spLocks noGrp="1" noRot="1" noChangeAspect="1" noMove="1" noResize="1" noEditPoints="1" noAdjustHandles="1" noChangeArrowheads="1" noChangeShapeType="1" noTextEdit="1"/>
              </p:cNvSpPr>
              <p:nvPr>
                <p:ph type="body" idx="1"/>
              </p:nvPr>
            </p:nvSpPr>
            <p:spPr>
              <a:xfrm>
                <a:off x="647700" y="1510748"/>
                <a:ext cx="4312920" cy="4984947"/>
              </a:xfrm>
              <a:blipFill>
                <a:blip r:embed="rId9"/>
                <a:stretch>
                  <a:fillRect r="-2119"/>
                </a:stretch>
              </a:blipFill>
            </p:spPr>
            <p:txBody>
              <a:bodyPr/>
              <a:lstStyle/>
              <a:p>
                <a:r>
                  <a:rPr lang="en-US">
                    <a:noFill/>
                  </a:rPr>
                  <a:t> </a:t>
                </a:r>
              </a:p>
            </p:txBody>
          </p:sp>
        </mc:Fallback>
      </mc:AlternateContent>
      <p:sp>
        <p:nvSpPr>
          <p:cNvPr id="12" name="Text Placeholder 3">
            <a:extLst>
              <a:ext uri="{FF2B5EF4-FFF2-40B4-BE49-F238E27FC236}">
                <a16:creationId xmlns="" xmlns:a16="http://schemas.microsoft.com/office/drawing/2014/main" id="{B51AA99D-DA57-51A2-FF48-6CE703EA532E}"/>
              </a:ext>
            </a:extLst>
          </p:cNvPr>
          <p:cNvSpPr>
            <a:spLocks noGrp="1"/>
          </p:cNvSpPr>
          <p:nvPr>
            <p:ph type="body" idx="4294967295"/>
          </p:nvPr>
        </p:nvSpPr>
        <p:spPr>
          <a:xfrm>
            <a:off x="0" y="1156852"/>
            <a:ext cx="10972800" cy="506413"/>
          </a:xfrm>
        </p:spPr>
        <p:txBody>
          <a:bodyPr>
            <a:normAutofit/>
          </a:bodyPr>
          <a:lstStyle/>
          <a:p>
            <a:pPr marL="76200" indent="0" algn="ctr">
              <a:buNone/>
            </a:pPr>
            <a:r>
              <a:rPr lang="en-US" sz="2000" b="1" dirty="0">
                <a:solidFill>
                  <a:schemeClr val="tx1">
                    <a:lumMod val="85000"/>
                    <a:lumOff val="15000"/>
                  </a:schemeClr>
                </a:solidFill>
              </a:rPr>
              <a:t>	Hardware realization of PI loop filter:</a:t>
            </a:r>
          </a:p>
        </p:txBody>
      </p:sp>
    </p:spTree>
    <p:extLst>
      <p:ext uri="{BB962C8B-B14F-4D97-AF65-F5344CB8AC3E}">
        <p14:creationId xmlns:p14="http://schemas.microsoft.com/office/powerpoint/2010/main" val="3928748219"/>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F8390730-BBC9-20BB-48E4-66C900FED943}"/>
            </a:ext>
          </a:extLst>
        </p:cNvPr>
        <p:cNvGrpSpPr/>
        <p:nvPr/>
      </p:nvGrpSpPr>
      <p:grpSpPr>
        <a:xfrm>
          <a:off x="0" y="0"/>
          <a:ext cx="0" cy="0"/>
          <a:chOff x="0" y="0"/>
          <a:chExt cx="0" cy="0"/>
        </a:xfrm>
      </p:grpSpPr>
      <p:pic>
        <p:nvPicPr>
          <p:cNvPr id="4" name="Picture 3">
            <a:extLst>
              <a:ext uri="{FF2B5EF4-FFF2-40B4-BE49-F238E27FC236}">
                <a16:creationId xmlns="" xmlns:a16="http://schemas.microsoft.com/office/drawing/2014/main" id="{F66F053F-B49D-F49D-B990-20F2A453FD50}"/>
              </a:ext>
            </a:extLst>
          </p:cNvPr>
          <p:cNvPicPr>
            <a:picLocks noChangeAspect="1"/>
          </p:cNvPicPr>
          <p:nvPr/>
        </p:nvPicPr>
        <p:blipFill>
          <a:blip r:embed="rId2"/>
          <a:srcRect l="6736" r="2518"/>
          <a:stretch>
            <a:fillRect/>
          </a:stretch>
        </p:blipFill>
        <p:spPr>
          <a:xfrm>
            <a:off x="6441911" y="1411016"/>
            <a:ext cx="5750089" cy="2318657"/>
          </a:xfrm>
          <a:prstGeom prst="rect">
            <a:avLst/>
          </a:prstGeom>
        </p:spPr>
      </p:pic>
      <p:sp>
        <p:nvSpPr>
          <p:cNvPr id="5" name="Title 1">
            <a:extLst>
              <a:ext uri="{FF2B5EF4-FFF2-40B4-BE49-F238E27FC236}">
                <a16:creationId xmlns="" xmlns:a16="http://schemas.microsoft.com/office/drawing/2014/main" id="{5D727A2B-63EA-2A7B-2245-7741B9E6D2D3}"/>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Digital loop filter </a:t>
            </a:r>
          </a:p>
        </p:txBody>
      </p:sp>
      <p:sp>
        <p:nvSpPr>
          <p:cNvPr id="3" name="Text Placeholder 2">
            <a:extLst>
              <a:ext uri="{FF2B5EF4-FFF2-40B4-BE49-F238E27FC236}">
                <a16:creationId xmlns="" xmlns:a16="http://schemas.microsoft.com/office/drawing/2014/main" id="{451E5BB6-86DD-C3C1-643B-761393DE41F4}"/>
              </a:ext>
            </a:extLst>
          </p:cNvPr>
          <p:cNvSpPr>
            <a:spLocks noGrp="1"/>
          </p:cNvSpPr>
          <p:nvPr>
            <p:ph type="body" idx="1"/>
          </p:nvPr>
        </p:nvSpPr>
        <p:spPr>
          <a:xfrm>
            <a:off x="435359" y="1510748"/>
            <a:ext cx="10842241" cy="4984947"/>
          </a:xfrm>
        </p:spPr>
        <p:txBody>
          <a:bodyPr/>
          <a:lstStyle/>
          <a:p>
            <a:pPr latinLnBrk="1"/>
            <a:endParaRPr lang="en-US" sz="2000" b="0" dirty="0">
              <a:solidFill>
                <a:schemeClr val="tx1">
                  <a:lumMod val="85000"/>
                  <a:lumOff val="15000"/>
                </a:schemeClr>
              </a:solidFill>
            </a:endParaRPr>
          </a:p>
          <a:p>
            <a:pPr latinLnBrk="1"/>
            <a:r>
              <a:rPr lang="en-US" sz="2000" b="0" dirty="0">
                <a:solidFill>
                  <a:schemeClr val="tx1">
                    <a:lumMod val="85000"/>
                    <a:lumOff val="15000"/>
                  </a:schemeClr>
                </a:solidFill>
              </a:rPr>
              <a:t>Abrupt α change may cause:</a:t>
            </a:r>
          </a:p>
          <a:p>
            <a:pPr marL="876300" lvl="1">
              <a:buFont typeface="+mj-lt"/>
              <a:buAutoNum type="arabicPeriod"/>
            </a:pPr>
            <a:r>
              <a:rPr lang="en-US" b="0" dirty="0">
                <a:solidFill>
                  <a:schemeClr val="tx1">
                    <a:lumMod val="85000"/>
                    <a:lumOff val="15000"/>
                  </a:schemeClr>
                </a:solidFill>
              </a:rPr>
              <a:t>Large step response.</a:t>
            </a:r>
          </a:p>
          <a:p>
            <a:pPr marL="876300" lvl="1">
              <a:buFont typeface="+mj-lt"/>
              <a:buAutoNum type="arabicPeriod"/>
            </a:pPr>
            <a:r>
              <a:rPr lang="en-US" b="0" dirty="0">
                <a:solidFill>
                  <a:schemeClr val="tx1">
                    <a:lumMod val="85000"/>
                    <a:lumOff val="15000"/>
                  </a:schemeClr>
                </a:solidFill>
              </a:rPr>
              <a:t>Possible loss of lock.</a:t>
            </a:r>
          </a:p>
          <a:p>
            <a:pPr marL="876300" lvl="1">
              <a:buFont typeface="+mj-lt"/>
              <a:buAutoNum type="arabicPeriod"/>
            </a:pPr>
            <a:r>
              <a:rPr lang="en-US" b="0" dirty="0">
                <a:solidFill>
                  <a:schemeClr val="tx1">
                    <a:lumMod val="85000"/>
                    <a:lumOff val="15000"/>
                  </a:schemeClr>
                </a:solidFill>
              </a:rPr>
              <a:t>Overshoot. </a:t>
            </a:r>
          </a:p>
          <a:p>
            <a:pPr marL="876300" lvl="1">
              <a:buFont typeface="+mj-lt"/>
              <a:buAutoNum type="arabicPeriod"/>
            </a:pPr>
            <a:r>
              <a:rPr lang="en-US" b="0" dirty="0">
                <a:solidFill>
                  <a:schemeClr val="tx1">
                    <a:lumMod val="85000"/>
                    <a:lumOff val="15000"/>
                  </a:schemeClr>
                </a:solidFill>
              </a:rPr>
              <a:t>Extended settling time.</a:t>
            </a:r>
          </a:p>
          <a:p>
            <a:r>
              <a:rPr lang="en-US" sz="2000" b="0" dirty="0">
                <a:solidFill>
                  <a:schemeClr val="tx1">
                    <a:lumMod val="85000"/>
                    <a:lumOff val="15000"/>
                  </a:schemeClr>
                </a:solidFill>
              </a:rPr>
              <a:t>Gear shifting is used to change </a:t>
            </a:r>
            <a:r>
              <a:rPr lang="el-GR" sz="2000" b="0" dirty="0">
                <a:solidFill>
                  <a:schemeClr val="tx1">
                    <a:lumMod val="85000"/>
                    <a:lumOff val="15000"/>
                  </a:schemeClr>
                </a:solidFill>
              </a:rPr>
              <a:t>α</a:t>
            </a:r>
            <a:r>
              <a:rPr lang="en-US" sz="2000" b="0" dirty="0">
                <a:solidFill>
                  <a:schemeClr val="tx1">
                    <a:lumMod val="85000"/>
                    <a:lumOff val="15000"/>
                  </a:schemeClr>
                </a:solidFill>
              </a:rPr>
              <a:t> seamlessly without sharp transitions. </a:t>
            </a:r>
          </a:p>
          <a:p>
            <a:r>
              <a:rPr lang="en-US" sz="2000" b="0" dirty="0">
                <a:solidFill>
                  <a:schemeClr val="tx1">
                    <a:lumMod val="85000"/>
                    <a:lumOff val="15000"/>
                  </a:schemeClr>
                </a:solidFill>
              </a:rPr>
              <a:t>By keeping </a:t>
            </a:r>
            <a:r>
              <a:rPr lang="en-US" sz="2000" dirty="0">
                <a:solidFill>
                  <a:schemeClr val="tx1">
                    <a:lumMod val="85000"/>
                    <a:lumOff val="15000"/>
                  </a:schemeClr>
                </a:solidFill>
              </a:rPr>
              <a:t>Normalized Tuning Word (NTW) unchanged </a:t>
            </a:r>
            <a:r>
              <a:rPr lang="en-US" sz="2000" b="0" dirty="0">
                <a:solidFill>
                  <a:schemeClr val="tx1">
                    <a:lumMod val="85000"/>
                    <a:lumOff val="15000"/>
                  </a:schemeClr>
                </a:solidFill>
              </a:rPr>
              <a:t>before and after the gear shift to maintain frequency continuity.</a:t>
            </a:r>
          </a:p>
          <a:p>
            <a:r>
              <a:rPr lang="en-US" sz="2000" b="0" dirty="0">
                <a:solidFill>
                  <a:schemeClr val="tx1">
                    <a:lumMod val="85000"/>
                    <a:lumOff val="15000"/>
                  </a:schemeClr>
                </a:solidFill>
              </a:rPr>
              <a:t>following two operations are performed simultaneously:</a:t>
            </a:r>
          </a:p>
          <a:p>
            <a:pPr marL="876300" lvl="1">
              <a:buFont typeface="+mj-lt"/>
              <a:buAutoNum type="arabicPeriod"/>
            </a:pPr>
            <a:r>
              <a:rPr lang="en-US" b="0" dirty="0">
                <a:solidFill>
                  <a:schemeClr val="tx1">
                    <a:lumMod val="85000"/>
                    <a:lumOff val="15000"/>
                  </a:schemeClr>
                </a:solidFill>
              </a:rPr>
              <a:t> Add the dc offset to the phase error or the DCO tuning word.</a:t>
            </a:r>
          </a:p>
          <a:p>
            <a:pPr marL="876300" lvl="1">
              <a:buFont typeface="+mj-lt"/>
              <a:buAutoNum type="arabicPeriod"/>
            </a:pPr>
            <a:r>
              <a:rPr lang="en-US" b="0" dirty="0">
                <a:solidFill>
                  <a:schemeClr val="tx1">
                    <a:lumMod val="85000"/>
                    <a:lumOff val="15000"/>
                  </a:schemeClr>
                </a:solidFill>
              </a:rPr>
              <a:t> Reduce the loop constant from </a:t>
            </a:r>
            <a:r>
              <a:rPr lang="el-GR" b="0" dirty="0">
                <a:solidFill>
                  <a:schemeClr val="tx1">
                    <a:lumMod val="85000"/>
                    <a:lumOff val="15000"/>
                  </a:schemeClr>
                </a:solidFill>
              </a:rPr>
              <a:t>α</a:t>
            </a:r>
            <a:r>
              <a:rPr lang="en-US" b="0" dirty="0">
                <a:solidFill>
                  <a:schemeClr val="tx1">
                    <a:lumMod val="85000"/>
                    <a:lumOff val="15000"/>
                  </a:schemeClr>
                </a:solidFill>
              </a:rPr>
              <a:t>1 to </a:t>
            </a:r>
            <a:r>
              <a:rPr lang="el-GR" b="0" dirty="0">
                <a:solidFill>
                  <a:schemeClr val="tx1">
                    <a:lumMod val="85000"/>
                    <a:lumOff val="15000"/>
                  </a:schemeClr>
                </a:solidFill>
              </a:rPr>
              <a:t>α</a:t>
            </a:r>
            <a:r>
              <a:rPr lang="en-US" b="0" dirty="0">
                <a:solidFill>
                  <a:schemeClr val="tx1">
                    <a:lumMod val="85000"/>
                    <a:lumOff val="15000"/>
                  </a:schemeClr>
                </a:solidFill>
              </a:rPr>
              <a:t>2.</a:t>
            </a:r>
          </a:p>
          <a:p>
            <a:pPr marL="533400" lvl="1" indent="0">
              <a:buNone/>
            </a:pPr>
            <a:endParaRPr lang="en-US" sz="1600" dirty="0"/>
          </a:p>
        </p:txBody>
      </p:sp>
      <p:sp>
        <p:nvSpPr>
          <p:cNvPr id="2" name="Text Placeholder 3">
            <a:extLst>
              <a:ext uri="{FF2B5EF4-FFF2-40B4-BE49-F238E27FC236}">
                <a16:creationId xmlns="" xmlns:a16="http://schemas.microsoft.com/office/drawing/2014/main" id="{99A040F3-E3C4-AABB-8A98-04C72CCE1888}"/>
              </a:ext>
            </a:extLst>
          </p:cNvPr>
          <p:cNvSpPr>
            <a:spLocks noGrp="1"/>
          </p:cNvSpPr>
          <p:nvPr>
            <p:ph type="body" idx="4294967295"/>
          </p:nvPr>
        </p:nvSpPr>
        <p:spPr>
          <a:xfrm>
            <a:off x="0" y="1157810"/>
            <a:ext cx="10972800" cy="506413"/>
          </a:xfrm>
        </p:spPr>
        <p:txBody>
          <a:bodyPr>
            <a:normAutofit/>
          </a:bodyPr>
          <a:lstStyle/>
          <a:p>
            <a:pPr marL="76200" indent="0" algn="ctr">
              <a:buNone/>
            </a:pPr>
            <a:r>
              <a:rPr lang="en-US" sz="2000" b="1" dirty="0">
                <a:solidFill>
                  <a:schemeClr val="tx1">
                    <a:lumMod val="85000"/>
                    <a:lumOff val="15000"/>
                  </a:schemeClr>
                </a:solidFill>
              </a:rPr>
              <a:t>	Gear shifting of proportional gain:</a:t>
            </a:r>
          </a:p>
        </p:txBody>
      </p:sp>
      <p:grpSp>
        <p:nvGrpSpPr>
          <p:cNvPr id="13" name="Group 12">
            <a:extLst>
              <a:ext uri="{FF2B5EF4-FFF2-40B4-BE49-F238E27FC236}">
                <a16:creationId xmlns="" xmlns:a16="http://schemas.microsoft.com/office/drawing/2014/main" id="{D353BDCF-D145-2C38-CC0A-FDC1F1C453A7}"/>
              </a:ext>
            </a:extLst>
          </p:cNvPr>
          <p:cNvGrpSpPr/>
          <p:nvPr/>
        </p:nvGrpSpPr>
        <p:grpSpPr>
          <a:xfrm>
            <a:off x="8355632" y="4640850"/>
            <a:ext cx="2892490" cy="488427"/>
            <a:chOff x="7819053" y="4441371"/>
            <a:chExt cx="2892490" cy="488427"/>
          </a:xfrm>
        </p:grpSpPr>
        <p:pic>
          <p:nvPicPr>
            <p:cNvPr id="7" name="Picture 6">
              <a:extLst>
                <a:ext uri="{FF2B5EF4-FFF2-40B4-BE49-F238E27FC236}">
                  <a16:creationId xmlns="" xmlns:a16="http://schemas.microsoft.com/office/drawing/2014/main" id="{11049EF4-CCF1-7E0B-2D67-8E86F4C35B31}"/>
                </a:ext>
              </a:extLst>
            </p:cNvPr>
            <p:cNvPicPr>
              <a:picLocks noChangeAspect="1"/>
            </p:cNvPicPr>
            <p:nvPr/>
          </p:nvPicPr>
          <p:blipFill>
            <a:blip r:embed="rId3"/>
            <a:stretch>
              <a:fillRect/>
            </a:stretch>
          </p:blipFill>
          <p:spPr>
            <a:xfrm>
              <a:off x="7862910" y="4443575"/>
              <a:ext cx="2841702" cy="486223"/>
            </a:xfrm>
            <a:prstGeom prst="rect">
              <a:avLst/>
            </a:prstGeom>
          </p:spPr>
        </p:pic>
        <p:sp>
          <p:nvSpPr>
            <p:cNvPr id="10" name="Rectangle 9">
              <a:extLst>
                <a:ext uri="{FF2B5EF4-FFF2-40B4-BE49-F238E27FC236}">
                  <a16:creationId xmlns="" xmlns:a16="http://schemas.microsoft.com/office/drawing/2014/main" id="{17FFB311-B8D0-0337-77CC-9627A60207FC}"/>
                </a:ext>
              </a:extLst>
            </p:cNvPr>
            <p:cNvSpPr/>
            <p:nvPr/>
          </p:nvSpPr>
          <p:spPr>
            <a:xfrm>
              <a:off x="7819053" y="4441371"/>
              <a:ext cx="2892490" cy="48842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 name="Group 13">
            <a:extLst>
              <a:ext uri="{FF2B5EF4-FFF2-40B4-BE49-F238E27FC236}">
                <a16:creationId xmlns="" xmlns:a16="http://schemas.microsoft.com/office/drawing/2014/main" id="{5AEAE309-AA18-77CA-308E-60CFA68271BD}"/>
              </a:ext>
            </a:extLst>
          </p:cNvPr>
          <p:cNvGrpSpPr/>
          <p:nvPr/>
        </p:nvGrpSpPr>
        <p:grpSpPr>
          <a:xfrm>
            <a:off x="7656035" y="5468488"/>
            <a:ext cx="4124131" cy="931161"/>
            <a:chOff x="7137918" y="5194103"/>
            <a:chExt cx="4124131" cy="931161"/>
          </a:xfrm>
        </p:grpSpPr>
        <p:pic>
          <p:nvPicPr>
            <p:cNvPr id="9" name="Picture 8">
              <a:extLst>
                <a:ext uri="{FF2B5EF4-FFF2-40B4-BE49-F238E27FC236}">
                  <a16:creationId xmlns="" xmlns:a16="http://schemas.microsoft.com/office/drawing/2014/main" id="{16C99D27-8FD9-7AFF-55A2-79FEBFB77BFB}"/>
                </a:ext>
              </a:extLst>
            </p:cNvPr>
            <p:cNvPicPr>
              <a:picLocks noChangeAspect="1"/>
            </p:cNvPicPr>
            <p:nvPr/>
          </p:nvPicPr>
          <p:blipFill>
            <a:blip r:embed="rId4"/>
            <a:stretch>
              <a:fillRect/>
            </a:stretch>
          </p:blipFill>
          <p:spPr>
            <a:xfrm>
              <a:off x="7328997" y="5296157"/>
              <a:ext cx="3909527" cy="829107"/>
            </a:xfrm>
            <a:prstGeom prst="rect">
              <a:avLst/>
            </a:prstGeom>
          </p:spPr>
        </p:pic>
        <p:sp>
          <p:nvSpPr>
            <p:cNvPr id="12" name="Rectangle 11">
              <a:extLst>
                <a:ext uri="{FF2B5EF4-FFF2-40B4-BE49-F238E27FC236}">
                  <a16:creationId xmlns="" xmlns:a16="http://schemas.microsoft.com/office/drawing/2014/main" id="{02103319-57AE-8D6D-9DF2-FD9283B9BB06}"/>
                </a:ext>
              </a:extLst>
            </p:cNvPr>
            <p:cNvSpPr/>
            <p:nvPr/>
          </p:nvSpPr>
          <p:spPr>
            <a:xfrm>
              <a:off x="7137918" y="5194103"/>
              <a:ext cx="4124131" cy="87461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4256446347"/>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Table of content </a:t>
            </a:r>
          </a:p>
        </p:txBody>
      </p:sp>
      <p:sp>
        <p:nvSpPr>
          <p:cNvPr id="3" name="Text Placeholder 2"/>
          <p:cNvSpPr>
            <a:spLocks noGrp="1"/>
          </p:cNvSpPr>
          <p:nvPr>
            <p:ph type="body" idx="1"/>
          </p:nvPr>
        </p:nvSpPr>
        <p:spPr/>
        <p:txBody>
          <a:bodyPr/>
          <a:lstStyle/>
          <a:p>
            <a:r>
              <a:rPr lang="en-US" b="1" dirty="0"/>
              <a:t>Control Frequency of Digital Oscillators</a:t>
            </a:r>
          </a:p>
          <a:p>
            <a:r>
              <a:rPr lang="en-US" b="1" dirty="0"/>
              <a:t>DCO Operational Modes</a:t>
            </a:r>
            <a:endParaRPr lang="en-US" dirty="0"/>
          </a:p>
          <a:p>
            <a:r>
              <a:rPr lang="en-US" b="1" dirty="0"/>
              <a:t>DCO Architecture and Implementation</a:t>
            </a:r>
          </a:p>
          <a:p>
            <a:r>
              <a:rPr lang="en-US" b="1" dirty="0"/>
              <a:t>Sign-Sign LMS (SS-LMS) </a:t>
            </a:r>
            <a:endParaRPr lang="ar-EG" b="1" dirty="0"/>
          </a:p>
          <a:p>
            <a:r>
              <a:rPr lang="en-US" b="1" dirty="0"/>
              <a:t>DCO simulation Result</a:t>
            </a: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70FE662-1E18-97EE-8DA7-B21A986E3635}"/>
              </a:ext>
            </a:extLst>
          </p:cNvPr>
          <p:cNvSpPr>
            <a:spLocks noGrp="1"/>
          </p:cNvSpPr>
          <p:nvPr>
            <p:ph type="title"/>
          </p:nvPr>
        </p:nvSpPr>
        <p:spPr/>
        <p:txBody>
          <a:bodyPr/>
          <a:lstStyle/>
          <a:p>
            <a:r>
              <a:rPr lang="en-US" dirty="0"/>
              <a:t>DCO</a:t>
            </a:r>
          </a:p>
        </p:txBody>
      </p:sp>
      <p:pic>
        <p:nvPicPr>
          <p:cNvPr id="4" name="Picture 3">
            <a:extLst>
              <a:ext uri="{FF2B5EF4-FFF2-40B4-BE49-F238E27FC236}">
                <a16:creationId xmlns="" xmlns:a16="http://schemas.microsoft.com/office/drawing/2014/main" id="{64101133-2AED-40C2-F7BA-F49707DB31B1}"/>
              </a:ext>
            </a:extLst>
          </p:cNvPr>
          <p:cNvPicPr>
            <a:picLocks noChangeAspect="1"/>
          </p:cNvPicPr>
          <p:nvPr/>
        </p:nvPicPr>
        <p:blipFill>
          <a:blip r:embed="rId2"/>
          <a:stretch>
            <a:fillRect/>
          </a:stretch>
        </p:blipFill>
        <p:spPr>
          <a:xfrm>
            <a:off x="783772" y="1436914"/>
            <a:ext cx="10798628" cy="4644798"/>
          </a:xfrm>
          <a:prstGeom prst="rect">
            <a:avLst/>
          </a:prstGeom>
        </p:spPr>
      </p:pic>
      <p:sp>
        <p:nvSpPr>
          <p:cNvPr id="5" name="Rectangle 4">
            <a:extLst>
              <a:ext uri="{FF2B5EF4-FFF2-40B4-BE49-F238E27FC236}">
                <a16:creationId xmlns="" xmlns:a16="http://schemas.microsoft.com/office/drawing/2014/main" id="{FA55F68B-0DC5-BA13-4257-D874A9DADFAA}"/>
              </a:ext>
            </a:extLst>
          </p:cNvPr>
          <p:cNvSpPr/>
          <p:nvPr/>
        </p:nvSpPr>
        <p:spPr>
          <a:xfrm>
            <a:off x="8534400" y="3429000"/>
            <a:ext cx="901700" cy="54610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59597854"/>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E19EA3A-76E5-6F17-32F9-0B0A4EEC443A}"/>
              </a:ext>
            </a:extLst>
          </p:cNvPr>
          <p:cNvSpPr>
            <a:spLocks noGrp="1"/>
          </p:cNvSpPr>
          <p:nvPr>
            <p:ph type="title"/>
          </p:nvPr>
        </p:nvSpPr>
        <p:spPr/>
        <p:txBody>
          <a:bodyPr/>
          <a:lstStyle/>
          <a:p>
            <a:r>
              <a:rPr lang="en-US" dirty="0"/>
              <a:t>Control Frequency of Digital Oscillators</a:t>
            </a:r>
          </a:p>
        </p:txBody>
      </p:sp>
      <p:sp>
        <p:nvSpPr>
          <p:cNvPr id="3" name="Text Placeholder 2">
            <a:extLst>
              <a:ext uri="{FF2B5EF4-FFF2-40B4-BE49-F238E27FC236}">
                <a16:creationId xmlns="" xmlns:a16="http://schemas.microsoft.com/office/drawing/2014/main" id="{F4D4B019-9B21-5982-41B6-54EC710FEBA4}"/>
              </a:ext>
            </a:extLst>
          </p:cNvPr>
          <p:cNvSpPr>
            <a:spLocks noGrp="1"/>
          </p:cNvSpPr>
          <p:nvPr>
            <p:ph type="body" idx="1"/>
          </p:nvPr>
        </p:nvSpPr>
        <p:spPr>
          <a:xfrm>
            <a:off x="624588" y="1510748"/>
            <a:ext cx="10653012" cy="4984947"/>
          </a:xfrm>
        </p:spPr>
        <p:txBody>
          <a:bodyPr/>
          <a:lstStyle/>
          <a:p>
            <a:r>
              <a:rPr lang="en-US" sz="2200" b="0" dirty="0">
                <a:solidFill>
                  <a:schemeClr val="tx1">
                    <a:lumMod val="85000"/>
                    <a:lumOff val="15000"/>
                  </a:schemeClr>
                </a:solidFill>
              </a:rPr>
              <a:t>A Digitally Controlled Oscillator (DCO) is an oscillator whose output frequency is controlled by a digital control word instead of an analog tuning voltage “VCO”.</a:t>
            </a:r>
          </a:p>
        </p:txBody>
      </p:sp>
      <p:pic>
        <p:nvPicPr>
          <p:cNvPr id="6" name="Picture 5">
            <a:extLst>
              <a:ext uri="{FF2B5EF4-FFF2-40B4-BE49-F238E27FC236}">
                <a16:creationId xmlns="" xmlns:a16="http://schemas.microsoft.com/office/drawing/2014/main" id="{304F6C7F-10F3-A62C-0ACF-295F21BC932E}"/>
              </a:ext>
            </a:extLst>
          </p:cNvPr>
          <p:cNvPicPr>
            <a:picLocks noChangeAspect="1"/>
          </p:cNvPicPr>
          <p:nvPr/>
        </p:nvPicPr>
        <p:blipFill>
          <a:blip r:embed="rId2"/>
          <a:stretch>
            <a:fillRect/>
          </a:stretch>
        </p:blipFill>
        <p:spPr>
          <a:xfrm>
            <a:off x="6545942" y="2612419"/>
            <a:ext cx="5675085" cy="1969923"/>
          </a:xfrm>
          <a:prstGeom prst="rect">
            <a:avLst/>
          </a:prstGeom>
        </p:spPr>
      </p:pic>
      <mc:AlternateContent xmlns:mc="http://schemas.openxmlformats.org/markup-compatibility/2006" xmlns:a14="http://schemas.microsoft.com/office/drawing/2010/main">
        <mc:Choice Requires="a14">
          <p:sp>
            <p:nvSpPr>
              <p:cNvPr id="8" name="Text Placeholder 2">
                <a:extLst>
                  <a:ext uri="{FF2B5EF4-FFF2-40B4-BE49-F238E27FC236}">
                    <a16:creationId xmlns="" xmlns:a16="http://schemas.microsoft.com/office/drawing/2014/main" id="{0C83FE2B-BCD7-DDA8-5D2B-C0FE8ECE71CA}"/>
                  </a:ext>
                </a:extLst>
              </p:cNvPr>
              <p:cNvSpPr txBox="1">
                <a:spLocks/>
              </p:cNvSpPr>
              <p:nvPr/>
            </p:nvSpPr>
            <p:spPr>
              <a:xfrm>
                <a:off x="609599" y="2495550"/>
                <a:ext cx="5936343" cy="3079749"/>
              </a:xfrm>
              <a:prstGeom prst="rect">
                <a:avLst/>
              </a:prstGeom>
              <a:noFill/>
              <a:ln>
                <a:noFill/>
              </a:ln>
            </p:spPr>
            <p:txBody>
              <a:bodyPr spcFirstLastPara="1" vert="horz" wrap="square" lIns="91425" tIns="45700" rIns="91425" bIns="45700" rtlCol="0" anchor="t" anchorCtr="0">
                <a:noAutofit/>
              </a:bodyPr>
              <a:lstStyle>
                <a:lvl1pPr marL="457200" lvl="0" indent="-381000" algn="l" defTabSz="914400" rtl="0" eaLnBrk="1" latinLnBrk="0" hangingPunct="1">
                  <a:lnSpc>
                    <a:spcPct val="90000"/>
                  </a:lnSpc>
                  <a:spcBef>
                    <a:spcPts val="480"/>
                  </a:spcBef>
                  <a:spcAft>
                    <a:spcPts val="0"/>
                  </a:spcAft>
                  <a:buSzPts val="2400"/>
                  <a:buFont typeface="Arial" panose="020B0604020202020204" pitchFamily="34" charset="0"/>
                  <a:buChar char="•"/>
                  <a:defRPr sz="2400" kern="1200">
                    <a:solidFill>
                      <a:schemeClr val="tx1"/>
                    </a:solidFill>
                    <a:latin typeface="+mn-lt"/>
                    <a:ea typeface="+mn-ea"/>
                    <a:cs typeface="+mn-cs"/>
                  </a:defRPr>
                </a:lvl1pPr>
                <a:lvl2pPr marL="914400" lvl="1" indent="-342900" algn="l" defTabSz="914400" rtl="0" eaLnBrk="1" latinLnBrk="0" hangingPunct="1">
                  <a:lnSpc>
                    <a:spcPct val="90000"/>
                  </a:lnSpc>
                  <a:spcBef>
                    <a:spcPts val="400"/>
                  </a:spcBef>
                  <a:spcAft>
                    <a:spcPts val="0"/>
                  </a:spcAft>
                  <a:buSzPts val="1800"/>
                  <a:buFont typeface="Arial" panose="020B0604020202020204" pitchFamily="34" charset="0"/>
                  <a:buChar char="–"/>
                  <a:defRPr sz="2000" kern="1200">
                    <a:solidFill>
                      <a:schemeClr val="tx1"/>
                    </a:solidFill>
                    <a:latin typeface="+mn-lt"/>
                    <a:ea typeface="+mn-ea"/>
                    <a:cs typeface="+mn-cs"/>
                  </a:defRPr>
                </a:lvl2pPr>
                <a:lvl3pPr marL="1371600" lvl="2" indent="-342900" algn="l" defTabSz="914400" rtl="0" eaLnBrk="1" latinLnBrk="0" hangingPunct="1">
                  <a:lnSpc>
                    <a:spcPct val="90000"/>
                  </a:lnSpc>
                  <a:spcBef>
                    <a:spcPts val="360"/>
                  </a:spcBef>
                  <a:spcAft>
                    <a:spcPts val="0"/>
                  </a:spcAft>
                  <a:buSzPts val="1800"/>
                  <a:buFont typeface="Arial" panose="020B0604020202020204" pitchFamily="34" charset="0"/>
                  <a:buChar char="–"/>
                  <a:defRPr sz="1800" kern="1200">
                    <a:solidFill>
                      <a:schemeClr val="tx1"/>
                    </a:solidFill>
                    <a:latin typeface="+mn-lt"/>
                    <a:ea typeface="+mn-ea"/>
                    <a:cs typeface="+mn-cs"/>
                  </a:defRPr>
                </a:lvl3pPr>
                <a:lvl4pPr marL="1828800" lvl="3" indent="-330200" algn="l" defTabSz="914400" rtl="0" eaLnBrk="1" latinLnBrk="0" hangingPunct="1">
                  <a:lnSpc>
                    <a:spcPct val="100000"/>
                  </a:lnSpc>
                  <a:spcBef>
                    <a:spcPts val="336"/>
                  </a:spcBef>
                  <a:spcAft>
                    <a:spcPts val="0"/>
                  </a:spcAft>
                  <a:buSzPts val="1600"/>
                  <a:buFont typeface="Arial" panose="020B0604020202020204" pitchFamily="34" charset="0"/>
                  <a:buChar char="–"/>
                  <a:defRPr sz="1600" kern="1200">
                    <a:solidFill>
                      <a:schemeClr val="tx1"/>
                    </a:solidFill>
                    <a:latin typeface="+mn-lt"/>
                    <a:ea typeface="+mn-ea"/>
                    <a:cs typeface="+mn-cs"/>
                  </a:defRPr>
                </a:lvl4pPr>
                <a:lvl5pPr marL="2286000" lvl="4" indent="-330200" algn="l" defTabSz="914400" rtl="0" eaLnBrk="1" latinLnBrk="0" hangingPunct="1">
                  <a:lnSpc>
                    <a:spcPct val="100000"/>
                  </a:lnSpc>
                  <a:spcBef>
                    <a:spcPts val="336"/>
                  </a:spcBef>
                  <a:spcAft>
                    <a:spcPts val="0"/>
                  </a:spcAft>
                  <a:buSzPts val="1600"/>
                  <a:buFont typeface="Arial" panose="020B0604020202020204" pitchFamily="34" charset="0"/>
                  <a:buChar char="–"/>
                  <a:defRPr sz="1600" kern="1200">
                    <a:solidFill>
                      <a:schemeClr val="tx1"/>
                    </a:solidFill>
                    <a:latin typeface="+mn-lt"/>
                    <a:ea typeface="+mn-ea"/>
                    <a:cs typeface="+mn-cs"/>
                  </a:defRPr>
                </a:lvl5pPr>
                <a:lvl6pPr marL="2743200" lvl="5" indent="-355600" algn="l" defTabSz="914400" rtl="0" eaLnBrk="1" latinLnBrk="0" hangingPunct="1">
                  <a:lnSpc>
                    <a:spcPct val="90000"/>
                  </a:lnSpc>
                  <a:spcBef>
                    <a:spcPts val="400"/>
                  </a:spcBef>
                  <a:spcAft>
                    <a:spcPts val="0"/>
                  </a:spcAft>
                  <a:buClr>
                    <a:schemeClr val="dk1"/>
                  </a:buClr>
                  <a:buSzPts val="2000"/>
                  <a:buFont typeface="Arial" panose="020B0604020202020204" pitchFamily="34" charset="0"/>
                  <a:buChar char="•"/>
                  <a:defRPr sz="1800" kern="1200">
                    <a:solidFill>
                      <a:schemeClr val="tx1"/>
                    </a:solidFill>
                    <a:latin typeface="+mn-lt"/>
                    <a:ea typeface="+mn-ea"/>
                    <a:cs typeface="+mn-cs"/>
                  </a:defRPr>
                </a:lvl6pPr>
                <a:lvl7pPr marL="3200400" lvl="6" indent="-342900" algn="l" defTabSz="914400" rtl="0" eaLnBrk="1" latinLnBrk="0" hangingPunct="1">
                  <a:lnSpc>
                    <a:spcPct val="90000"/>
                  </a:lnSpc>
                  <a:spcBef>
                    <a:spcPts val="360"/>
                  </a:spcBef>
                  <a:spcAft>
                    <a:spcPts val="0"/>
                  </a:spcAft>
                  <a:buClr>
                    <a:schemeClr val="dk1"/>
                  </a:buClr>
                  <a:buSzPts val="1800"/>
                  <a:buFont typeface="Arial" panose="020B0604020202020204" pitchFamily="34" charset="0"/>
                  <a:buChar char="•"/>
                  <a:defRPr sz="1800" kern="1200">
                    <a:solidFill>
                      <a:schemeClr val="tx1"/>
                    </a:solidFill>
                    <a:latin typeface="+mn-lt"/>
                    <a:ea typeface="+mn-ea"/>
                    <a:cs typeface="+mn-cs"/>
                  </a:defRPr>
                </a:lvl7pPr>
                <a:lvl8pPr marL="3657600" lvl="7" indent="-342900" algn="l" defTabSz="914400" rtl="0" eaLnBrk="1" latinLnBrk="0" hangingPunct="1">
                  <a:lnSpc>
                    <a:spcPct val="90000"/>
                  </a:lnSpc>
                  <a:spcBef>
                    <a:spcPts val="360"/>
                  </a:spcBef>
                  <a:spcAft>
                    <a:spcPts val="0"/>
                  </a:spcAft>
                  <a:buClr>
                    <a:schemeClr val="dk1"/>
                  </a:buClr>
                  <a:buSzPts val="1800"/>
                  <a:buFont typeface="Arial" panose="020B0604020202020204" pitchFamily="34" charset="0"/>
                  <a:buChar char="•"/>
                  <a:defRPr sz="1800" kern="1200">
                    <a:solidFill>
                      <a:schemeClr val="tx1"/>
                    </a:solidFill>
                    <a:latin typeface="+mn-lt"/>
                    <a:ea typeface="+mn-ea"/>
                    <a:cs typeface="+mn-cs"/>
                  </a:defRPr>
                </a:lvl8pPr>
                <a:lvl9pPr marL="4114800" lvl="8" indent="-342900" algn="l" defTabSz="914400" rtl="0" eaLnBrk="1" latinLnBrk="0" hangingPunct="1">
                  <a:lnSpc>
                    <a:spcPct val="90000"/>
                  </a:lnSpc>
                  <a:spcBef>
                    <a:spcPts val="360"/>
                  </a:spcBef>
                  <a:spcAft>
                    <a:spcPts val="0"/>
                  </a:spcAft>
                  <a:buClr>
                    <a:schemeClr val="dk1"/>
                  </a:buClr>
                  <a:buSzPts val="1800"/>
                  <a:buFont typeface="Arial" panose="020B0604020202020204" pitchFamily="34" charset="0"/>
                  <a:buChar char="•"/>
                  <a:defRPr sz="1800" kern="1200">
                    <a:solidFill>
                      <a:schemeClr val="tx1"/>
                    </a:solidFill>
                    <a:latin typeface="+mn-lt"/>
                    <a:ea typeface="+mn-ea"/>
                    <a:cs typeface="+mn-cs"/>
                  </a:defRPr>
                </a:lvl9pPr>
              </a:lstStyle>
              <a:p>
                <a:r>
                  <a:rPr lang="en-US" sz="2200" dirty="0"/>
                  <a:t>For LC tank frequency is determined by:</a:t>
                </a:r>
              </a:p>
              <a:p>
                <a:pPr marL="76200" indent="0" algn="ctr">
                  <a:buNone/>
                </a:pPr>
                <a:r>
                  <a:rPr lang="en-US" sz="2200" dirty="0"/>
                  <a:t>	</a:t>
                </a:r>
                <a14:m>
                  <m:oMath xmlns:m="http://schemas.openxmlformats.org/officeDocument/2006/math">
                    <m:r>
                      <m:rPr>
                        <m:nor/>
                      </m:rPr>
                      <a:rPr lang="en-US" sz="2200" dirty="0"/>
                      <m:t>F</m:t>
                    </m:r>
                    <m:r>
                      <m:rPr>
                        <m:nor/>
                      </m:rPr>
                      <a:rPr lang="en-US" sz="2200" dirty="0"/>
                      <m:t> </m:t>
                    </m:r>
                    <m:r>
                      <m:rPr>
                        <m:nor/>
                      </m:rPr>
                      <a:rPr lang="en-US" sz="2200" dirty="0"/>
                      <m:t>= </m:t>
                    </m:r>
                    <m:f>
                      <m:fPr>
                        <m:ctrlPr>
                          <a:rPr lang="en-US" sz="2200" i="1" dirty="0">
                            <a:latin typeface="Cambria Math" panose="02040503050406030204" pitchFamily="18" charset="0"/>
                          </a:rPr>
                        </m:ctrlPr>
                      </m:fPr>
                      <m:num>
                        <m:r>
                          <a:rPr lang="en-US" sz="2200" i="1" dirty="0">
                            <a:latin typeface="Cambria Math" panose="02040503050406030204" pitchFamily="18" charset="0"/>
                          </a:rPr>
                          <m:t>1</m:t>
                        </m:r>
                      </m:num>
                      <m:den>
                        <m:r>
                          <a:rPr lang="en-US" sz="2200" i="1" dirty="0">
                            <a:latin typeface="Cambria Math" panose="02040503050406030204" pitchFamily="18" charset="0"/>
                          </a:rPr>
                          <m:t>2</m:t>
                        </m:r>
                        <m:r>
                          <a:rPr lang="en-US" sz="2200" i="1" dirty="0">
                            <a:latin typeface="Cambria Math" panose="02040503050406030204" pitchFamily="18" charset="0"/>
                          </a:rPr>
                          <m:t>𝜋</m:t>
                        </m:r>
                        <m:r>
                          <a:rPr lang="en-US" sz="2200" i="1" dirty="0">
                            <a:latin typeface="Cambria Math" panose="02040503050406030204" pitchFamily="18" charset="0"/>
                          </a:rPr>
                          <m:t>∗</m:t>
                        </m:r>
                        <m:rad>
                          <m:radPr>
                            <m:degHide m:val="on"/>
                            <m:ctrlPr>
                              <a:rPr lang="en-US" sz="2200" i="1" dirty="0">
                                <a:latin typeface="Cambria Math" panose="02040503050406030204" pitchFamily="18" charset="0"/>
                              </a:rPr>
                            </m:ctrlPr>
                          </m:radPr>
                          <m:deg/>
                          <m:e>
                            <m:r>
                              <a:rPr lang="en-US" sz="2200" i="1" dirty="0">
                                <a:latin typeface="Cambria Math" panose="02040503050406030204" pitchFamily="18" charset="0"/>
                              </a:rPr>
                              <m:t>𝐿𝐶</m:t>
                            </m:r>
                          </m:e>
                        </m:rad>
                      </m:den>
                    </m:f>
                  </m:oMath>
                </a14:m>
                <a:r>
                  <a:rPr lang="en-US" sz="2200" dirty="0"/>
                  <a:t> </a:t>
                </a:r>
              </a:p>
              <a:p>
                <a:r>
                  <a:rPr lang="en-US" sz="2200" i="1" dirty="0"/>
                  <a:t>We control frequency by controlling C</a:t>
                </a:r>
              </a:p>
              <a:p>
                <a14:m>
                  <m:oMath xmlns:m="http://schemas.openxmlformats.org/officeDocument/2006/math">
                    <m:sSub>
                      <m:sSubPr>
                        <m:ctrlPr>
                          <a:rPr lang="en-US" sz="2200" i="1">
                            <a:latin typeface="Cambria Math" panose="02040503050406030204" pitchFamily="18" charset="0"/>
                          </a:rPr>
                        </m:ctrlPr>
                      </m:sSubPr>
                      <m:e>
                        <m:r>
                          <a:rPr lang="en-US" sz="2200" i="1">
                            <a:latin typeface="Cambria Math" panose="02040503050406030204" pitchFamily="18" charset="0"/>
                          </a:rPr>
                          <m:t>𝐶</m:t>
                        </m:r>
                      </m:e>
                      <m:sub>
                        <m:r>
                          <a:rPr lang="en-US" sz="2200" i="1">
                            <a:latin typeface="Cambria Math" panose="02040503050406030204" pitchFamily="18" charset="0"/>
                          </a:rPr>
                          <m:t>𝑘</m:t>
                        </m:r>
                      </m:sub>
                    </m:sSub>
                    <m:r>
                      <a:rPr lang="en-US" sz="2200" i="1">
                        <a:latin typeface="Cambria Math" panose="02040503050406030204" pitchFamily="18" charset="0"/>
                      </a:rPr>
                      <m:t> = </m:t>
                    </m:r>
                    <m:sSub>
                      <m:sSubPr>
                        <m:ctrlPr>
                          <a:rPr lang="en-US" sz="2200" i="1">
                            <a:latin typeface="Cambria Math" panose="02040503050406030204" pitchFamily="18" charset="0"/>
                          </a:rPr>
                        </m:ctrlPr>
                      </m:sSubPr>
                      <m:e>
                        <m:r>
                          <a:rPr lang="en-US" sz="2200" i="1">
                            <a:latin typeface="Cambria Math" panose="02040503050406030204" pitchFamily="18" charset="0"/>
                          </a:rPr>
                          <m:t>𝐶</m:t>
                        </m:r>
                      </m:e>
                      <m:sub>
                        <m:r>
                          <a:rPr lang="en-US" sz="2200" i="1">
                            <a:latin typeface="Cambria Math" panose="02040503050406030204" pitchFamily="18" charset="0"/>
                          </a:rPr>
                          <m:t>𝑜</m:t>
                        </m:r>
                      </m:sub>
                    </m:sSub>
                    <m:r>
                      <a:rPr lang="en-US" sz="2200" i="1">
                        <a:latin typeface="Cambria Math" panose="02040503050406030204" pitchFamily="18" charset="0"/>
                      </a:rPr>
                      <m:t>+</m:t>
                    </m:r>
                    <m:nary>
                      <m:naryPr>
                        <m:chr m:val="∑"/>
                        <m:limLoc m:val="undOvr"/>
                        <m:ctrlPr>
                          <a:rPr lang="en-US" sz="2200" i="1">
                            <a:latin typeface="Cambria Math" panose="02040503050406030204" pitchFamily="18" charset="0"/>
                          </a:rPr>
                        </m:ctrlPr>
                      </m:naryPr>
                      <m:sub>
                        <m:r>
                          <a:rPr lang="en-US" sz="2200" i="1">
                            <a:latin typeface="Cambria Math" panose="02040503050406030204" pitchFamily="18" charset="0"/>
                          </a:rPr>
                          <m:t>𝑘</m:t>
                        </m:r>
                        <m:r>
                          <a:rPr lang="en-US" sz="2200" i="1">
                            <a:latin typeface="Cambria Math" panose="02040503050406030204" pitchFamily="18" charset="0"/>
                          </a:rPr>
                          <m:t>=</m:t>
                        </m:r>
                        <m:r>
                          <a:rPr lang="en-US" sz="2200" i="1">
                            <a:latin typeface="Cambria Math" panose="02040503050406030204" pitchFamily="18" charset="0"/>
                          </a:rPr>
                          <m:t>0</m:t>
                        </m:r>
                      </m:sub>
                      <m:sup>
                        <m:r>
                          <a:rPr lang="en-US" sz="2200" i="1">
                            <a:latin typeface="Cambria Math" panose="02040503050406030204" pitchFamily="18" charset="0"/>
                          </a:rPr>
                          <m:t>𝑁</m:t>
                        </m:r>
                        <m:r>
                          <a:rPr lang="en-US" sz="2200" i="1">
                            <a:latin typeface="Cambria Math" panose="02040503050406030204" pitchFamily="18" charset="0"/>
                          </a:rPr>
                          <m:t>−</m:t>
                        </m:r>
                        <m:r>
                          <a:rPr lang="en-US" sz="2200" i="1">
                            <a:latin typeface="Cambria Math" panose="02040503050406030204" pitchFamily="18" charset="0"/>
                          </a:rPr>
                          <m:t>1</m:t>
                        </m:r>
                      </m:sup>
                      <m:e>
                        <m:sSub>
                          <m:sSubPr>
                            <m:ctrlPr>
                              <a:rPr lang="en-US" sz="2200" i="1">
                                <a:latin typeface="Cambria Math" panose="02040503050406030204" pitchFamily="18" charset="0"/>
                              </a:rPr>
                            </m:ctrlPr>
                          </m:sSubPr>
                          <m:e>
                            <m:r>
                              <a:rPr lang="en-US" sz="2200" i="1">
                                <a:latin typeface="Cambria Math" panose="02040503050406030204" pitchFamily="18" charset="0"/>
                              </a:rPr>
                              <m:t>𝑑</m:t>
                            </m:r>
                          </m:e>
                          <m:sub>
                            <m:r>
                              <a:rPr lang="en-US" sz="2200" i="1">
                                <a:latin typeface="Cambria Math" panose="02040503050406030204" pitchFamily="18" charset="0"/>
                              </a:rPr>
                              <m:t>𝑘</m:t>
                            </m:r>
                          </m:sub>
                        </m:sSub>
                        <m:r>
                          <a:rPr lang="en-US" sz="2200" i="1">
                            <a:latin typeface="Cambria Math" panose="02040503050406030204" pitchFamily="18" charset="0"/>
                          </a:rPr>
                          <m:t>∗∆</m:t>
                        </m:r>
                        <m:sSub>
                          <m:sSubPr>
                            <m:ctrlPr>
                              <a:rPr lang="en-US" sz="2200" i="1">
                                <a:latin typeface="Cambria Math" panose="02040503050406030204" pitchFamily="18" charset="0"/>
                              </a:rPr>
                            </m:ctrlPr>
                          </m:sSubPr>
                          <m:e>
                            <m:r>
                              <a:rPr lang="en-US" sz="2200" i="1">
                                <a:latin typeface="Cambria Math" panose="02040503050406030204" pitchFamily="18" charset="0"/>
                              </a:rPr>
                              <m:t>𝐶</m:t>
                            </m:r>
                          </m:e>
                          <m:sub>
                            <m:r>
                              <a:rPr lang="en-US" sz="2200" i="1">
                                <a:latin typeface="Cambria Math" panose="02040503050406030204" pitchFamily="18" charset="0"/>
                              </a:rPr>
                              <m:t>𝑘</m:t>
                            </m:r>
                          </m:sub>
                        </m:sSub>
                      </m:e>
                    </m:nary>
                  </m:oMath>
                </a14:m>
                <a:endParaRPr lang="en-US" sz="2200" dirty="0"/>
              </a:p>
              <a:p>
                <a:r>
                  <a:rPr lang="en-US" sz="2200" dirty="0"/>
                  <a:t>Where :</a:t>
                </a:r>
              </a:p>
              <a:p>
                <a14:m>
                  <m:oMath xmlns:m="http://schemas.openxmlformats.org/officeDocument/2006/math">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𝐶</m:t>
                        </m:r>
                      </m:e>
                      <m:sub>
                        <m:r>
                          <a:rPr lang="en-US" sz="2200" b="0" i="1" smtClean="0">
                            <a:latin typeface="Cambria Math" panose="02040503050406030204" pitchFamily="18" charset="0"/>
                          </a:rPr>
                          <m:t>𝑜</m:t>
                        </m:r>
                      </m:sub>
                    </m:sSub>
                  </m:oMath>
                </a14:m>
                <a:r>
                  <a:rPr lang="en-US" sz="2200" b="0" dirty="0"/>
                  <a:t> is fixed capacitor </a:t>
                </a:r>
              </a:p>
              <a:p>
                <a:endParaRPr lang="en-US" dirty="0"/>
              </a:p>
              <a:p>
                <a:endParaRPr lang="en-US" dirty="0"/>
              </a:p>
            </p:txBody>
          </p:sp>
        </mc:Choice>
        <mc:Fallback xmlns="">
          <p:sp>
            <p:nvSpPr>
              <p:cNvPr id="8" name="Text Placeholder 2">
                <a:extLst>
                  <a:ext uri="{FF2B5EF4-FFF2-40B4-BE49-F238E27FC236}">
                    <a16:creationId xmlns:a16="http://schemas.microsoft.com/office/drawing/2014/main" id="{0C83FE2B-BCD7-DDA8-5D2B-C0FE8ECE71CA}"/>
                  </a:ext>
                </a:extLst>
              </p:cNvPr>
              <p:cNvSpPr txBox="1">
                <a:spLocks noRot="1" noChangeAspect="1" noMove="1" noResize="1" noEditPoints="1" noAdjustHandles="1" noChangeArrowheads="1" noChangeShapeType="1" noTextEdit="1"/>
              </p:cNvSpPr>
              <p:nvPr/>
            </p:nvSpPr>
            <p:spPr>
              <a:xfrm>
                <a:off x="609599" y="2495550"/>
                <a:ext cx="5936343" cy="3079749"/>
              </a:xfrm>
              <a:prstGeom prst="rect">
                <a:avLst/>
              </a:prstGeom>
              <a:blipFill>
                <a:blip r:embed="rId3"/>
                <a:stretch>
                  <a:fillRect l="-103" t="-791"/>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 Placeholder 2">
                <a:extLst>
                  <a:ext uri="{FF2B5EF4-FFF2-40B4-BE49-F238E27FC236}">
                    <a16:creationId xmlns="" xmlns:a16="http://schemas.microsoft.com/office/drawing/2014/main" id="{1F2FBD2B-605A-2240-D229-80F07C6FA7E1}"/>
                  </a:ext>
                </a:extLst>
              </p:cNvPr>
              <p:cNvSpPr txBox="1">
                <a:spLocks/>
              </p:cNvSpPr>
              <p:nvPr/>
            </p:nvSpPr>
            <p:spPr>
              <a:xfrm>
                <a:off x="624588" y="4948468"/>
                <a:ext cx="10972800" cy="1181101"/>
              </a:xfrm>
              <a:prstGeom prst="rect">
                <a:avLst/>
              </a:prstGeom>
              <a:noFill/>
              <a:ln>
                <a:noFill/>
              </a:ln>
            </p:spPr>
            <p:txBody>
              <a:bodyPr spcFirstLastPara="1" vert="horz" wrap="square" lIns="91425" tIns="45700" rIns="91425" bIns="45700" rtlCol="0" anchor="t" anchorCtr="0">
                <a:noAutofit/>
              </a:bodyPr>
              <a:lstStyle>
                <a:lvl1pPr marL="457200" lvl="0" indent="-381000" algn="l" defTabSz="914400" rtl="0" eaLnBrk="1" latinLnBrk="0" hangingPunct="1">
                  <a:lnSpc>
                    <a:spcPct val="90000"/>
                  </a:lnSpc>
                  <a:spcBef>
                    <a:spcPts val="480"/>
                  </a:spcBef>
                  <a:spcAft>
                    <a:spcPts val="0"/>
                  </a:spcAft>
                  <a:buSzPts val="2400"/>
                  <a:buFont typeface="Arial" panose="020B0604020202020204" pitchFamily="34" charset="0"/>
                  <a:buChar char="•"/>
                  <a:defRPr sz="2400" kern="1200">
                    <a:solidFill>
                      <a:schemeClr val="tx1"/>
                    </a:solidFill>
                    <a:latin typeface="+mn-lt"/>
                    <a:ea typeface="+mn-ea"/>
                    <a:cs typeface="+mn-cs"/>
                  </a:defRPr>
                </a:lvl1pPr>
                <a:lvl2pPr marL="914400" lvl="1" indent="-342900" algn="l" defTabSz="914400" rtl="0" eaLnBrk="1" latinLnBrk="0" hangingPunct="1">
                  <a:lnSpc>
                    <a:spcPct val="90000"/>
                  </a:lnSpc>
                  <a:spcBef>
                    <a:spcPts val="400"/>
                  </a:spcBef>
                  <a:spcAft>
                    <a:spcPts val="0"/>
                  </a:spcAft>
                  <a:buSzPts val="1800"/>
                  <a:buFont typeface="Arial" panose="020B0604020202020204" pitchFamily="34" charset="0"/>
                  <a:buChar char="–"/>
                  <a:defRPr sz="2000" kern="1200">
                    <a:solidFill>
                      <a:schemeClr val="tx1"/>
                    </a:solidFill>
                    <a:latin typeface="+mn-lt"/>
                    <a:ea typeface="+mn-ea"/>
                    <a:cs typeface="+mn-cs"/>
                  </a:defRPr>
                </a:lvl2pPr>
                <a:lvl3pPr marL="1371600" lvl="2" indent="-342900" algn="l" defTabSz="914400" rtl="0" eaLnBrk="1" latinLnBrk="0" hangingPunct="1">
                  <a:lnSpc>
                    <a:spcPct val="90000"/>
                  </a:lnSpc>
                  <a:spcBef>
                    <a:spcPts val="360"/>
                  </a:spcBef>
                  <a:spcAft>
                    <a:spcPts val="0"/>
                  </a:spcAft>
                  <a:buSzPts val="1800"/>
                  <a:buFont typeface="Arial" panose="020B0604020202020204" pitchFamily="34" charset="0"/>
                  <a:buChar char="–"/>
                  <a:defRPr sz="1800" kern="1200">
                    <a:solidFill>
                      <a:schemeClr val="tx1"/>
                    </a:solidFill>
                    <a:latin typeface="+mn-lt"/>
                    <a:ea typeface="+mn-ea"/>
                    <a:cs typeface="+mn-cs"/>
                  </a:defRPr>
                </a:lvl3pPr>
                <a:lvl4pPr marL="1828800" lvl="3" indent="-330200" algn="l" defTabSz="914400" rtl="0" eaLnBrk="1" latinLnBrk="0" hangingPunct="1">
                  <a:lnSpc>
                    <a:spcPct val="100000"/>
                  </a:lnSpc>
                  <a:spcBef>
                    <a:spcPts val="336"/>
                  </a:spcBef>
                  <a:spcAft>
                    <a:spcPts val="0"/>
                  </a:spcAft>
                  <a:buSzPts val="1600"/>
                  <a:buFont typeface="Arial" panose="020B0604020202020204" pitchFamily="34" charset="0"/>
                  <a:buChar char="–"/>
                  <a:defRPr sz="1600" kern="1200">
                    <a:solidFill>
                      <a:schemeClr val="tx1"/>
                    </a:solidFill>
                    <a:latin typeface="+mn-lt"/>
                    <a:ea typeface="+mn-ea"/>
                    <a:cs typeface="+mn-cs"/>
                  </a:defRPr>
                </a:lvl4pPr>
                <a:lvl5pPr marL="2286000" lvl="4" indent="-330200" algn="l" defTabSz="914400" rtl="0" eaLnBrk="1" latinLnBrk="0" hangingPunct="1">
                  <a:lnSpc>
                    <a:spcPct val="100000"/>
                  </a:lnSpc>
                  <a:spcBef>
                    <a:spcPts val="336"/>
                  </a:spcBef>
                  <a:spcAft>
                    <a:spcPts val="0"/>
                  </a:spcAft>
                  <a:buSzPts val="1600"/>
                  <a:buFont typeface="Arial" panose="020B0604020202020204" pitchFamily="34" charset="0"/>
                  <a:buChar char="–"/>
                  <a:defRPr sz="1600" kern="1200">
                    <a:solidFill>
                      <a:schemeClr val="tx1"/>
                    </a:solidFill>
                    <a:latin typeface="+mn-lt"/>
                    <a:ea typeface="+mn-ea"/>
                    <a:cs typeface="+mn-cs"/>
                  </a:defRPr>
                </a:lvl5pPr>
                <a:lvl6pPr marL="2743200" lvl="5" indent="-355600" algn="l" defTabSz="914400" rtl="0" eaLnBrk="1" latinLnBrk="0" hangingPunct="1">
                  <a:lnSpc>
                    <a:spcPct val="90000"/>
                  </a:lnSpc>
                  <a:spcBef>
                    <a:spcPts val="400"/>
                  </a:spcBef>
                  <a:spcAft>
                    <a:spcPts val="0"/>
                  </a:spcAft>
                  <a:buClr>
                    <a:schemeClr val="dk1"/>
                  </a:buClr>
                  <a:buSzPts val="2000"/>
                  <a:buFont typeface="Arial" panose="020B0604020202020204" pitchFamily="34" charset="0"/>
                  <a:buChar char="•"/>
                  <a:defRPr sz="1800" kern="1200">
                    <a:solidFill>
                      <a:schemeClr val="tx1"/>
                    </a:solidFill>
                    <a:latin typeface="+mn-lt"/>
                    <a:ea typeface="+mn-ea"/>
                    <a:cs typeface="+mn-cs"/>
                  </a:defRPr>
                </a:lvl6pPr>
                <a:lvl7pPr marL="3200400" lvl="6" indent="-342900" algn="l" defTabSz="914400" rtl="0" eaLnBrk="1" latinLnBrk="0" hangingPunct="1">
                  <a:lnSpc>
                    <a:spcPct val="90000"/>
                  </a:lnSpc>
                  <a:spcBef>
                    <a:spcPts val="360"/>
                  </a:spcBef>
                  <a:spcAft>
                    <a:spcPts val="0"/>
                  </a:spcAft>
                  <a:buClr>
                    <a:schemeClr val="dk1"/>
                  </a:buClr>
                  <a:buSzPts val="1800"/>
                  <a:buFont typeface="Arial" panose="020B0604020202020204" pitchFamily="34" charset="0"/>
                  <a:buChar char="•"/>
                  <a:defRPr sz="1800" kern="1200">
                    <a:solidFill>
                      <a:schemeClr val="tx1"/>
                    </a:solidFill>
                    <a:latin typeface="+mn-lt"/>
                    <a:ea typeface="+mn-ea"/>
                    <a:cs typeface="+mn-cs"/>
                  </a:defRPr>
                </a:lvl7pPr>
                <a:lvl8pPr marL="3657600" lvl="7" indent="-342900" algn="l" defTabSz="914400" rtl="0" eaLnBrk="1" latinLnBrk="0" hangingPunct="1">
                  <a:lnSpc>
                    <a:spcPct val="90000"/>
                  </a:lnSpc>
                  <a:spcBef>
                    <a:spcPts val="360"/>
                  </a:spcBef>
                  <a:spcAft>
                    <a:spcPts val="0"/>
                  </a:spcAft>
                  <a:buClr>
                    <a:schemeClr val="dk1"/>
                  </a:buClr>
                  <a:buSzPts val="1800"/>
                  <a:buFont typeface="Arial" panose="020B0604020202020204" pitchFamily="34" charset="0"/>
                  <a:buChar char="•"/>
                  <a:defRPr sz="1800" kern="1200">
                    <a:solidFill>
                      <a:schemeClr val="tx1"/>
                    </a:solidFill>
                    <a:latin typeface="+mn-lt"/>
                    <a:ea typeface="+mn-ea"/>
                    <a:cs typeface="+mn-cs"/>
                  </a:defRPr>
                </a:lvl8pPr>
                <a:lvl9pPr marL="4114800" lvl="8" indent="-342900" algn="l" defTabSz="914400" rtl="0" eaLnBrk="1" latinLnBrk="0" hangingPunct="1">
                  <a:lnSpc>
                    <a:spcPct val="90000"/>
                  </a:lnSpc>
                  <a:spcBef>
                    <a:spcPts val="360"/>
                  </a:spcBef>
                  <a:spcAft>
                    <a:spcPts val="0"/>
                  </a:spcAft>
                  <a:buClr>
                    <a:schemeClr val="dk1"/>
                  </a:buClr>
                  <a:buSzPts val="1800"/>
                  <a:buFont typeface="Arial" panose="020B0604020202020204" pitchFamily="34" charset="0"/>
                  <a:buChar char="•"/>
                  <a:defRPr sz="1800" kern="1200">
                    <a:solidFill>
                      <a:schemeClr val="tx1"/>
                    </a:solidFill>
                    <a:latin typeface="+mn-lt"/>
                    <a:ea typeface="+mn-ea"/>
                    <a:cs typeface="+mn-cs"/>
                  </a:defRPr>
                </a:lvl9pPr>
              </a:lstStyle>
              <a:p>
                <a14:m>
                  <m:oMath xmlns:m="http://schemas.openxmlformats.org/officeDocument/2006/math">
                    <m:sSub>
                      <m:sSubPr>
                        <m:ctrlPr>
                          <a:rPr lang="en-US" sz="2200" b="0" i="1" dirty="0" smtClean="0">
                            <a:latin typeface="Cambria Math" panose="02040503050406030204" pitchFamily="18" charset="0"/>
                          </a:rPr>
                        </m:ctrlPr>
                      </m:sSubPr>
                      <m:e>
                        <m:r>
                          <a:rPr lang="en-US" sz="2200" i="1" dirty="0" smtClean="0">
                            <a:latin typeface="Cambria Math" panose="02040503050406030204" pitchFamily="18" charset="0"/>
                          </a:rPr>
                          <m:t>𝑑</m:t>
                        </m:r>
                      </m:e>
                      <m:sub>
                        <m:r>
                          <a:rPr lang="en-US" sz="2200" i="1" dirty="0" smtClean="0">
                            <a:latin typeface="Cambria Math" panose="02040503050406030204" pitchFamily="18" charset="0"/>
                          </a:rPr>
                          <m:t>𝑘</m:t>
                        </m:r>
                      </m:sub>
                    </m:sSub>
                    <m:r>
                      <m:rPr>
                        <m:nor/>
                      </m:rPr>
                      <a:rPr lang="en-US" sz="2200" b="0" i="0" dirty="0" smtClean="0">
                        <a:latin typeface="Calibri "/>
                      </a:rPr>
                      <m:t> </m:t>
                    </m:r>
                    <m:r>
                      <m:rPr>
                        <m:nor/>
                      </m:rPr>
                      <a:rPr lang="en-US" sz="2200">
                        <a:latin typeface="Calibri "/>
                      </a:rPr>
                      <m:t>∈</m:t>
                    </m:r>
                    <m:r>
                      <m:rPr>
                        <m:nor/>
                      </m:rPr>
                      <a:rPr lang="en-US" sz="2200">
                        <a:latin typeface="Calibri "/>
                      </a:rPr>
                      <m:t>{</m:t>
                    </m:r>
                    <m:r>
                      <m:rPr>
                        <m:nor/>
                      </m:rPr>
                      <a:rPr lang="en-US" sz="2200">
                        <a:latin typeface="Calibri "/>
                      </a:rPr>
                      <m:t>0,1</m:t>
                    </m:r>
                    <m:r>
                      <m:rPr>
                        <m:nor/>
                      </m:rPr>
                      <a:rPr lang="en-US" sz="2200">
                        <a:latin typeface="Calibri "/>
                      </a:rPr>
                      <m:t>} </m:t>
                    </m:r>
                    <m:r>
                      <m:rPr>
                        <m:nor/>
                      </m:rPr>
                      <a:rPr lang="en-US" sz="2200">
                        <a:latin typeface="Calibri "/>
                      </a:rPr>
                      <m:t>is</m:t>
                    </m:r>
                    <m:r>
                      <m:rPr>
                        <m:nor/>
                      </m:rPr>
                      <a:rPr lang="en-US" sz="2200">
                        <a:latin typeface="Calibri "/>
                      </a:rPr>
                      <m:t> </m:t>
                    </m:r>
                    <m:r>
                      <m:rPr>
                        <m:nor/>
                      </m:rPr>
                      <a:rPr lang="en-US" sz="2200">
                        <a:latin typeface="Calibri "/>
                      </a:rPr>
                      <m:t>the</m:t>
                    </m:r>
                    <m:r>
                      <m:rPr>
                        <m:nor/>
                      </m:rPr>
                      <a:rPr lang="en-US" sz="2200">
                        <a:latin typeface="Calibri "/>
                      </a:rPr>
                      <m:t> </m:t>
                    </m:r>
                    <m:r>
                      <m:rPr>
                        <m:nor/>
                      </m:rPr>
                      <a:rPr lang="en-US" sz="2200">
                        <a:latin typeface="Calibri "/>
                      </a:rPr>
                      <m:t>digital</m:t>
                    </m:r>
                    <m:r>
                      <m:rPr>
                        <m:nor/>
                      </m:rPr>
                      <a:rPr lang="en-US" sz="2200">
                        <a:latin typeface="Calibri "/>
                      </a:rPr>
                      <m:t> </m:t>
                    </m:r>
                    <m:r>
                      <m:rPr>
                        <m:nor/>
                      </m:rPr>
                      <a:rPr lang="en-US" sz="2200">
                        <a:latin typeface="Calibri "/>
                      </a:rPr>
                      <m:t>control</m:t>
                    </m:r>
                    <m:r>
                      <m:rPr>
                        <m:nor/>
                      </m:rPr>
                      <a:rPr lang="en-US" sz="2200">
                        <a:latin typeface="Calibri "/>
                      </a:rPr>
                      <m:t> </m:t>
                    </m:r>
                    <m:r>
                      <m:rPr>
                        <m:nor/>
                      </m:rPr>
                      <a:rPr lang="en-US" sz="2200">
                        <a:latin typeface="Calibri "/>
                      </a:rPr>
                      <m:t>bit</m:t>
                    </m:r>
                    <m:r>
                      <m:rPr>
                        <m:nor/>
                      </m:rPr>
                      <a:rPr lang="en-US" sz="2200">
                        <a:latin typeface="Calibri "/>
                      </a:rPr>
                      <m:t> </m:t>
                    </m:r>
                    <m:r>
                      <m:rPr>
                        <m:nor/>
                      </m:rPr>
                      <a:rPr lang="en-US" sz="2200">
                        <a:latin typeface="Calibri "/>
                      </a:rPr>
                      <m:t>selecting</m:t>
                    </m:r>
                    <m:r>
                      <m:rPr>
                        <m:nor/>
                      </m:rPr>
                      <a:rPr lang="en-US" sz="2200">
                        <a:latin typeface="Calibri "/>
                      </a:rPr>
                      <m:t> </m:t>
                    </m:r>
                    <m:r>
                      <m:rPr>
                        <m:nor/>
                      </m:rPr>
                      <a:rPr lang="en-US" sz="2200">
                        <a:latin typeface="Calibri "/>
                      </a:rPr>
                      <m:t>each</m:t>
                    </m:r>
                    <m:r>
                      <m:rPr>
                        <m:nor/>
                      </m:rPr>
                      <a:rPr lang="en-US" sz="2200">
                        <a:latin typeface="Calibri "/>
                      </a:rPr>
                      <m:t> </m:t>
                    </m:r>
                    <m:r>
                      <m:rPr>
                        <m:nor/>
                      </m:rPr>
                      <a:rPr lang="en-US" sz="2200">
                        <a:latin typeface="Calibri "/>
                      </a:rPr>
                      <m:t>unit</m:t>
                    </m:r>
                  </m:oMath>
                </a14:m>
                <a:endParaRPr lang="en-US" sz="2200" dirty="0">
                  <a:latin typeface="Calibri "/>
                </a:endParaRPr>
              </a:p>
              <a:p>
                <a14:m>
                  <m:oMath xmlns:m="http://schemas.openxmlformats.org/officeDocument/2006/math">
                    <m:r>
                      <a:rPr lang="en-US" sz="2200" i="1" dirty="0" smtClean="0">
                        <a:latin typeface="Cambria Math" panose="02040503050406030204" pitchFamily="18" charset="0"/>
                      </a:rPr>
                      <m:t>∆</m:t>
                    </m:r>
                    <m:sSub>
                      <m:sSubPr>
                        <m:ctrlPr>
                          <a:rPr lang="en-US" sz="2200" b="0" i="1" dirty="0" smtClean="0">
                            <a:latin typeface="Cambria Math" panose="02040503050406030204" pitchFamily="18" charset="0"/>
                          </a:rPr>
                        </m:ctrlPr>
                      </m:sSubPr>
                      <m:e>
                        <m:r>
                          <a:rPr lang="en-US" sz="2200" i="1" dirty="0" smtClean="0">
                            <a:latin typeface="Cambria Math" panose="02040503050406030204" pitchFamily="18" charset="0"/>
                          </a:rPr>
                          <m:t>𝐶</m:t>
                        </m:r>
                      </m:e>
                      <m:sub>
                        <m:r>
                          <a:rPr lang="en-US" sz="2200" i="1" dirty="0" smtClean="0">
                            <a:latin typeface="Cambria Math" panose="02040503050406030204" pitchFamily="18" charset="0"/>
                          </a:rPr>
                          <m:t>𝑘</m:t>
                        </m:r>
                      </m:sub>
                    </m:sSub>
                  </m:oMath>
                </a14:m>
                <a:r>
                  <a:rPr lang="en-US" sz="2200" dirty="0">
                    <a:latin typeface="Calibri "/>
                  </a:rPr>
                  <a:t> is the capacitance increment associated with that bit,</a:t>
                </a:r>
              </a:p>
            </p:txBody>
          </p:sp>
        </mc:Choice>
        <mc:Fallback xmlns="">
          <p:sp>
            <p:nvSpPr>
              <p:cNvPr id="10" name="Text Placeholder 2">
                <a:extLst>
                  <a:ext uri="{FF2B5EF4-FFF2-40B4-BE49-F238E27FC236}">
                    <a16:creationId xmlns:a16="http://schemas.microsoft.com/office/drawing/2014/main" id="{1F2FBD2B-605A-2240-D229-80F07C6FA7E1}"/>
                  </a:ext>
                </a:extLst>
              </p:cNvPr>
              <p:cNvSpPr txBox="1">
                <a:spLocks noRot="1" noChangeAspect="1" noMove="1" noResize="1" noEditPoints="1" noAdjustHandles="1" noChangeArrowheads="1" noChangeShapeType="1" noTextEdit="1"/>
              </p:cNvSpPr>
              <p:nvPr/>
            </p:nvSpPr>
            <p:spPr>
              <a:xfrm>
                <a:off x="624588" y="4948468"/>
                <a:ext cx="10972800" cy="1181101"/>
              </a:xfrm>
              <a:prstGeom prst="rect">
                <a:avLst/>
              </a:prstGeom>
              <a:blipFill>
                <a:blip r:embed="rId4"/>
                <a:stretch>
                  <a:fillRect t="-2062"/>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31390565"/>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EF3D11E-3BC8-1C95-6EE2-4FD83F2C0D61}"/>
              </a:ext>
            </a:extLst>
          </p:cNvPr>
          <p:cNvSpPr>
            <a:spLocks noGrp="1"/>
          </p:cNvSpPr>
          <p:nvPr>
            <p:ph type="title"/>
          </p:nvPr>
        </p:nvSpPr>
        <p:spPr/>
        <p:txBody>
          <a:bodyPr>
            <a:normAutofit fontScale="90000"/>
          </a:bodyPr>
          <a:lstStyle/>
          <a:p>
            <a:r>
              <a:rPr lang="en-US" dirty="0"/>
              <a:t> DCO Operational Modes</a:t>
            </a:r>
            <a:br>
              <a:rPr lang="en-US" dirty="0"/>
            </a:br>
            <a:endParaRPr lang="en-US" dirty="0"/>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 xmlns:a16="http://schemas.microsoft.com/office/drawing/2014/main" id="{E0687313-5959-D352-F489-C108A99D743F}"/>
                  </a:ext>
                </a:extLst>
              </p:cNvPr>
              <p:cNvSpPr>
                <a:spLocks noGrp="1"/>
              </p:cNvSpPr>
              <p:nvPr>
                <p:ph type="body" idx="1"/>
              </p:nvPr>
            </p:nvSpPr>
            <p:spPr>
              <a:xfrm>
                <a:off x="781050" y="1510748"/>
                <a:ext cx="10496550" cy="4984947"/>
              </a:xfrm>
            </p:spPr>
            <p:txBody>
              <a:bodyPr/>
              <a:lstStyle/>
              <a:p>
                <a:r>
                  <a:rPr lang="en-US" b="0" dirty="0">
                    <a:solidFill>
                      <a:schemeClr val="tx1">
                        <a:lumMod val="85000"/>
                        <a:lumOff val="15000"/>
                      </a:schemeClr>
                    </a:solidFill>
                    <a:latin typeface="+mn-lt"/>
                  </a:rPr>
                  <a:t>We are fundamentally limited in frequency resolution by the relation:</a:t>
                </a:r>
                <a14:m>
                  <m:oMath xmlns:m="http://schemas.openxmlformats.org/officeDocument/2006/math">
                    <m:f>
                      <m:fPr>
                        <m:ctrlPr>
                          <a:rPr lang="en-US" b="0" i="1">
                            <a:solidFill>
                              <a:schemeClr val="tx1">
                                <a:lumMod val="85000"/>
                                <a:lumOff val="15000"/>
                              </a:schemeClr>
                            </a:solidFill>
                            <a:latin typeface="Cambria Math" panose="02040503050406030204" pitchFamily="18" charset="0"/>
                          </a:rPr>
                        </m:ctrlPr>
                      </m:fPr>
                      <m:num>
                        <m:r>
                          <a:rPr lang="en-US" b="0" i="1">
                            <a:solidFill>
                              <a:schemeClr val="tx1">
                                <a:lumMod val="85000"/>
                                <a:lumOff val="15000"/>
                              </a:schemeClr>
                            </a:solidFill>
                            <a:latin typeface="Cambria Math" panose="02040503050406030204" pitchFamily="18" charset="0"/>
                          </a:rPr>
                          <m:t>∆</m:t>
                        </m:r>
                        <m:r>
                          <a:rPr lang="en-US" b="0" i="1">
                            <a:solidFill>
                              <a:schemeClr val="tx1">
                                <a:lumMod val="85000"/>
                                <a:lumOff val="15000"/>
                              </a:schemeClr>
                            </a:solidFill>
                            <a:latin typeface="Cambria Math" panose="02040503050406030204" pitchFamily="18" charset="0"/>
                          </a:rPr>
                          <m:t>𝑓</m:t>
                        </m:r>
                      </m:num>
                      <m:den>
                        <m:sSub>
                          <m:sSubPr>
                            <m:ctrlPr>
                              <a:rPr lang="en-US" b="0" i="1">
                                <a:solidFill>
                                  <a:schemeClr val="tx1">
                                    <a:lumMod val="85000"/>
                                    <a:lumOff val="15000"/>
                                  </a:schemeClr>
                                </a:solidFill>
                                <a:latin typeface="Cambria Math" panose="02040503050406030204" pitchFamily="18" charset="0"/>
                              </a:rPr>
                            </m:ctrlPr>
                          </m:sSubPr>
                          <m:e>
                            <m:r>
                              <a:rPr lang="en-US" b="0" i="1">
                                <a:solidFill>
                                  <a:schemeClr val="tx1">
                                    <a:lumMod val="85000"/>
                                    <a:lumOff val="15000"/>
                                  </a:schemeClr>
                                </a:solidFill>
                                <a:latin typeface="Cambria Math" panose="02040503050406030204" pitchFamily="18" charset="0"/>
                              </a:rPr>
                              <m:t>𝑓</m:t>
                            </m:r>
                          </m:e>
                          <m:sub>
                            <m:r>
                              <a:rPr lang="en-US" b="0" i="1">
                                <a:solidFill>
                                  <a:schemeClr val="tx1">
                                    <a:lumMod val="85000"/>
                                    <a:lumOff val="15000"/>
                                  </a:schemeClr>
                                </a:solidFill>
                                <a:latin typeface="Cambria Math" panose="02040503050406030204" pitchFamily="18" charset="0"/>
                              </a:rPr>
                              <m:t>𝑜</m:t>
                            </m:r>
                          </m:sub>
                        </m:sSub>
                      </m:den>
                    </m:f>
                    <m:r>
                      <a:rPr lang="en-US" b="0" i="1">
                        <a:solidFill>
                          <a:schemeClr val="tx1">
                            <a:lumMod val="85000"/>
                            <a:lumOff val="15000"/>
                          </a:schemeClr>
                        </a:solidFill>
                        <a:latin typeface="Cambria Math" panose="02040503050406030204" pitchFamily="18" charset="0"/>
                      </a:rPr>
                      <m:t>= −</m:t>
                    </m:r>
                    <m:f>
                      <m:fPr>
                        <m:ctrlPr>
                          <a:rPr lang="en-US" b="0" i="1">
                            <a:solidFill>
                              <a:schemeClr val="tx1">
                                <a:lumMod val="85000"/>
                                <a:lumOff val="15000"/>
                              </a:schemeClr>
                            </a:solidFill>
                            <a:latin typeface="Cambria Math" panose="02040503050406030204" pitchFamily="18" charset="0"/>
                          </a:rPr>
                        </m:ctrlPr>
                      </m:fPr>
                      <m:num>
                        <m:r>
                          <m:rPr>
                            <m:sty m:val="p"/>
                          </m:rPr>
                          <a:rPr lang="en-US" b="0">
                            <a:solidFill>
                              <a:schemeClr val="tx1">
                                <a:lumMod val="85000"/>
                                <a:lumOff val="15000"/>
                              </a:schemeClr>
                            </a:solidFill>
                            <a:latin typeface="Cambria Math" panose="02040503050406030204" pitchFamily="18" charset="0"/>
                          </a:rPr>
                          <m:t>Δ</m:t>
                        </m:r>
                        <m:r>
                          <a:rPr lang="en-US" b="0" i="1">
                            <a:solidFill>
                              <a:schemeClr val="tx1">
                                <a:lumMod val="85000"/>
                                <a:lumOff val="15000"/>
                              </a:schemeClr>
                            </a:solidFill>
                            <a:latin typeface="Cambria Math" panose="02040503050406030204" pitchFamily="18" charset="0"/>
                          </a:rPr>
                          <m:t>𝐶</m:t>
                        </m:r>
                      </m:num>
                      <m:den>
                        <m:r>
                          <a:rPr lang="en-US" b="0">
                            <a:solidFill>
                              <a:schemeClr val="tx1">
                                <a:lumMod val="85000"/>
                                <a:lumOff val="15000"/>
                              </a:schemeClr>
                            </a:solidFill>
                            <a:latin typeface="Cambria Math" panose="02040503050406030204" pitchFamily="18" charset="0"/>
                          </a:rPr>
                          <m:t>2</m:t>
                        </m:r>
                        <m:sSub>
                          <m:sSubPr>
                            <m:ctrlPr>
                              <a:rPr lang="en-US" b="0" i="1">
                                <a:solidFill>
                                  <a:schemeClr val="tx1">
                                    <a:lumMod val="85000"/>
                                    <a:lumOff val="15000"/>
                                  </a:schemeClr>
                                </a:solidFill>
                                <a:latin typeface="Cambria Math" panose="02040503050406030204" pitchFamily="18" charset="0"/>
                              </a:rPr>
                            </m:ctrlPr>
                          </m:sSubPr>
                          <m:e>
                            <m:r>
                              <a:rPr lang="en-US" b="0" i="1">
                                <a:solidFill>
                                  <a:schemeClr val="tx1">
                                    <a:lumMod val="85000"/>
                                    <a:lumOff val="15000"/>
                                  </a:schemeClr>
                                </a:solidFill>
                                <a:latin typeface="Cambria Math" panose="02040503050406030204" pitchFamily="18" charset="0"/>
                              </a:rPr>
                              <m:t>𝐶</m:t>
                            </m:r>
                          </m:e>
                          <m:sub>
                            <m:r>
                              <a:rPr lang="en-US" b="0">
                                <a:solidFill>
                                  <a:schemeClr val="tx1">
                                    <a:lumMod val="85000"/>
                                    <a:lumOff val="15000"/>
                                  </a:schemeClr>
                                </a:solidFill>
                                <a:latin typeface="Cambria Math" panose="02040503050406030204" pitchFamily="18" charset="0"/>
                              </a:rPr>
                              <m:t>0</m:t>
                            </m:r>
                          </m:sub>
                        </m:sSub>
                      </m:den>
                    </m:f>
                  </m:oMath>
                </a14:m>
                <a:r>
                  <a:rPr lang="en-US" b="0" dirty="0">
                    <a:solidFill>
                      <a:schemeClr val="tx1">
                        <a:lumMod val="85000"/>
                        <a:lumOff val="15000"/>
                      </a:schemeClr>
                    </a:solidFill>
                    <a:latin typeface="+mn-lt"/>
                  </a:rPr>
                  <a:t> also fully linear tuning curve would require impractically tight matching between capacitor elements, the DCO operation is divided into three modes.</a:t>
                </a:r>
              </a:p>
              <a:p>
                <a:pPr marL="76200" indent="0">
                  <a:buNone/>
                </a:pPr>
                <a:endParaRPr lang="en-US" dirty="0"/>
              </a:p>
              <a:p>
                <a:endParaRPr lang="en-US" dirty="0"/>
              </a:p>
            </p:txBody>
          </p:sp>
        </mc:Choice>
        <mc:Fallback xmlns="">
          <p:sp>
            <p:nvSpPr>
              <p:cNvPr id="3" name="Text Placeholder 2">
                <a:extLst>
                  <a:ext uri="{FF2B5EF4-FFF2-40B4-BE49-F238E27FC236}">
                    <a16:creationId xmlns:a16="http://schemas.microsoft.com/office/drawing/2014/main" id="{E0687313-5959-D352-F489-C108A99D743F}"/>
                  </a:ext>
                </a:extLst>
              </p:cNvPr>
              <p:cNvSpPr>
                <a:spLocks noGrp="1" noRot="1" noChangeAspect="1" noMove="1" noResize="1" noEditPoints="1" noAdjustHandles="1" noChangeArrowheads="1" noChangeShapeType="1" noTextEdit="1"/>
              </p:cNvSpPr>
              <p:nvPr>
                <p:ph type="body" idx="1"/>
              </p:nvPr>
            </p:nvSpPr>
            <p:spPr>
              <a:xfrm>
                <a:off x="781050" y="1510748"/>
                <a:ext cx="10496550" cy="4984947"/>
              </a:xfr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 Placeholder 2">
                <a:extLst>
                  <a:ext uri="{FF2B5EF4-FFF2-40B4-BE49-F238E27FC236}">
                    <a16:creationId xmlns="" xmlns:a16="http://schemas.microsoft.com/office/drawing/2014/main" id="{98E3C116-B64A-589E-0B94-AAD73A1B2689}"/>
                  </a:ext>
                </a:extLst>
              </p:cNvPr>
              <p:cNvSpPr txBox="1">
                <a:spLocks/>
              </p:cNvSpPr>
              <p:nvPr/>
            </p:nvSpPr>
            <p:spPr>
              <a:xfrm>
                <a:off x="627067" y="3046573"/>
                <a:ext cx="7141030" cy="3631483"/>
              </a:xfrm>
              <a:prstGeom prst="rect">
                <a:avLst/>
              </a:prstGeom>
              <a:noFill/>
              <a:ln>
                <a:noFill/>
              </a:ln>
            </p:spPr>
            <p:txBody>
              <a:bodyPr spcFirstLastPara="1" vert="horz" wrap="square" lIns="91425" tIns="45700" rIns="91425" bIns="45700" rtlCol="0" anchor="t" anchorCtr="0">
                <a:noAutofit/>
              </a:bodyPr>
              <a:lstStyle>
                <a:lvl1pPr marL="457200" lvl="0" indent="-381000" algn="l" defTabSz="914400" rtl="0" eaLnBrk="1" latinLnBrk="0" hangingPunct="1">
                  <a:lnSpc>
                    <a:spcPct val="90000"/>
                  </a:lnSpc>
                  <a:spcBef>
                    <a:spcPts val="480"/>
                  </a:spcBef>
                  <a:spcAft>
                    <a:spcPts val="0"/>
                  </a:spcAft>
                  <a:buSzPts val="2400"/>
                  <a:buFont typeface="Arial" panose="020B0604020202020204" pitchFamily="34" charset="0"/>
                  <a:buChar char="•"/>
                  <a:defRPr sz="2400" kern="1200">
                    <a:solidFill>
                      <a:schemeClr val="tx1"/>
                    </a:solidFill>
                    <a:latin typeface="+mn-lt"/>
                    <a:ea typeface="+mn-ea"/>
                    <a:cs typeface="+mn-cs"/>
                  </a:defRPr>
                </a:lvl1pPr>
                <a:lvl2pPr marL="914400" lvl="1" indent="-342900" algn="l" defTabSz="914400" rtl="0" eaLnBrk="1" latinLnBrk="0" hangingPunct="1">
                  <a:lnSpc>
                    <a:spcPct val="90000"/>
                  </a:lnSpc>
                  <a:spcBef>
                    <a:spcPts val="400"/>
                  </a:spcBef>
                  <a:spcAft>
                    <a:spcPts val="0"/>
                  </a:spcAft>
                  <a:buSzPts val="1800"/>
                  <a:buFont typeface="Arial" panose="020B0604020202020204" pitchFamily="34" charset="0"/>
                  <a:buChar char="–"/>
                  <a:defRPr sz="2000" kern="1200">
                    <a:solidFill>
                      <a:schemeClr val="tx1"/>
                    </a:solidFill>
                    <a:latin typeface="+mn-lt"/>
                    <a:ea typeface="+mn-ea"/>
                    <a:cs typeface="+mn-cs"/>
                  </a:defRPr>
                </a:lvl2pPr>
                <a:lvl3pPr marL="1371600" lvl="2" indent="-342900" algn="l" defTabSz="914400" rtl="0" eaLnBrk="1" latinLnBrk="0" hangingPunct="1">
                  <a:lnSpc>
                    <a:spcPct val="90000"/>
                  </a:lnSpc>
                  <a:spcBef>
                    <a:spcPts val="360"/>
                  </a:spcBef>
                  <a:spcAft>
                    <a:spcPts val="0"/>
                  </a:spcAft>
                  <a:buSzPts val="1800"/>
                  <a:buFont typeface="Arial" panose="020B0604020202020204" pitchFamily="34" charset="0"/>
                  <a:buChar char="–"/>
                  <a:defRPr sz="1800" kern="1200">
                    <a:solidFill>
                      <a:schemeClr val="tx1"/>
                    </a:solidFill>
                    <a:latin typeface="+mn-lt"/>
                    <a:ea typeface="+mn-ea"/>
                    <a:cs typeface="+mn-cs"/>
                  </a:defRPr>
                </a:lvl3pPr>
                <a:lvl4pPr marL="1828800" lvl="3" indent="-330200" algn="l" defTabSz="914400" rtl="0" eaLnBrk="1" latinLnBrk="0" hangingPunct="1">
                  <a:lnSpc>
                    <a:spcPct val="100000"/>
                  </a:lnSpc>
                  <a:spcBef>
                    <a:spcPts val="336"/>
                  </a:spcBef>
                  <a:spcAft>
                    <a:spcPts val="0"/>
                  </a:spcAft>
                  <a:buSzPts val="1600"/>
                  <a:buFont typeface="Arial" panose="020B0604020202020204" pitchFamily="34" charset="0"/>
                  <a:buChar char="–"/>
                  <a:defRPr sz="1600" kern="1200">
                    <a:solidFill>
                      <a:schemeClr val="tx1"/>
                    </a:solidFill>
                    <a:latin typeface="+mn-lt"/>
                    <a:ea typeface="+mn-ea"/>
                    <a:cs typeface="+mn-cs"/>
                  </a:defRPr>
                </a:lvl4pPr>
                <a:lvl5pPr marL="2286000" lvl="4" indent="-330200" algn="l" defTabSz="914400" rtl="0" eaLnBrk="1" latinLnBrk="0" hangingPunct="1">
                  <a:lnSpc>
                    <a:spcPct val="100000"/>
                  </a:lnSpc>
                  <a:spcBef>
                    <a:spcPts val="336"/>
                  </a:spcBef>
                  <a:spcAft>
                    <a:spcPts val="0"/>
                  </a:spcAft>
                  <a:buSzPts val="1600"/>
                  <a:buFont typeface="Arial" panose="020B0604020202020204" pitchFamily="34" charset="0"/>
                  <a:buChar char="–"/>
                  <a:defRPr sz="1600" kern="1200">
                    <a:solidFill>
                      <a:schemeClr val="tx1"/>
                    </a:solidFill>
                    <a:latin typeface="+mn-lt"/>
                    <a:ea typeface="+mn-ea"/>
                    <a:cs typeface="+mn-cs"/>
                  </a:defRPr>
                </a:lvl5pPr>
                <a:lvl6pPr marL="2743200" lvl="5" indent="-355600" algn="l" defTabSz="914400" rtl="0" eaLnBrk="1" latinLnBrk="0" hangingPunct="1">
                  <a:lnSpc>
                    <a:spcPct val="90000"/>
                  </a:lnSpc>
                  <a:spcBef>
                    <a:spcPts val="400"/>
                  </a:spcBef>
                  <a:spcAft>
                    <a:spcPts val="0"/>
                  </a:spcAft>
                  <a:buClr>
                    <a:schemeClr val="dk1"/>
                  </a:buClr>
                  <a:buSzPts val="2000"/>
                  <a:buFont typeface="Arial" panose="020B0604020202020204" pitchFamily="34" charset="0"/>
                  <a:buChar char="•"/>
                  <a:defRPr sz="1800" kern="1200">
                    <a:solidFill>
                      <a:schemeClr val="tx1"/>
                    </a:solidFill>
                    <a:latin typeface="+mn-lt"/>
                    <a:ea typeface="+mn-ea"/>
                    <a:cs typeface="+mn-cs"/>
                  </a:defRPr>
                </a:lvl6pPr>
                <a:lvl7pPr marL="3200400" lvl="6" indent="-342900" algn="l" defTabSz="914400" rtl="0" eaLnBrk="1" latinLnBrk="0" hangingPunct="1">
                  <a:lnSpc>
                    <a:spcPct val="90000"/>
                  </a:lnSpc>
                  <a:spcBef>
                    <a:spcPts val="360"/>
                  </a:spcBef>
                  <a:spcAft>
                    <a:spcPts val="0"/>
                  </a:spcAft>
                  <a:buClr>
                    <a:schemeClr val="dk1"/>
                  </a:buClr>
                  <a:buSzPts val="1800"/>
                  <a:buFont typeface="Arial" panose="020B0604020202020204" pitchFamily="34" charset="0"/>
                  <a:buChar char="•"/>
                  <a:defRPr sz="1800" kern="1200">
                    <a:solidFill>
                      <a:schemeClr val="tx1"/>
                    </a:solidFill>
                    <a:latin typeface="+mn-lt"/>
                    <a:ea typeface="+mn-ea"/>
                    <a:cs typeface="+mn-cs"/>
                  </a:defRPr>
                </a:lvl7pPr>
                <a:lvl8pPr marL="3657600" lvl="7" indent="-342900" algn="l" defTabSz="914400" rtl="0" eaLnBrk="1" latinLnBrk="0" hangingPunct="1">
                  <a:lnSpc>
                    <a:spcPct val="90000"/>
                  </a:lnSpc>
                  <a:spcBef>
                    <a:spcPts val="360"/>
                  </a:spcBef>
                  <a:spcAft>
                    <a:spcPts val="0"/>
                  </a:spcAft>
                  <a:buClr>
                    <a:schemeClr val="dk1"/>
                  </a:buClr>
                  <a:buSzPts val="1800"/>
                  <a:buFont typeface="Arial" panose="020B0604020202020204" pitchFamily="34" charset="0"/>
                  <a:buChar char="•"/>
                  <a:defRPr sz="1800" kern="1200">
                    <a:solidFill>
                      <a:schemeClr val="tx1"/>
                    </a:solidFill>
                    <a:latin typeface="+mn-lt"/>
                    <a:ea typeface="+mn-ea"/>
                    <a:cs typeface="+mn-cs"/>
                  </a:defRPr>
                </a:lvl8pPr>
                <a:lvl9pPr marL="4114800" lvl="8" indent="-342900" algn="l" defTabSz="914400" rtl="0" eaLnBrk="1" latinLnBrk="0" hangingPunct="1">
                  <a:lnSpc>
                    <a:spcPct val="90000"/>
                  </a:lnSpc>
                  <a:spcBef>
                    <a:spcPts val="360"/>
                  </a:spcBef>
                  <a:spcAft>
                    <a:spcPts val="0"/>
                  </a:spcAft>
                  <a:buClr>
                    <a:schemeClr val="dk1"/>
                  </a:buClr>
                  <a:buSzPts val="1800"/>
                  <a:buFont typeface="Arial" panose="020B0604020202020204" pitchFamily="34" charset="0"/>
                  <a:buChar char="•"/>
                  <a:defRPr sz="1800" kern="1200">
                    <a:solidFill>
                      <a:schemeClr val="tx1"/>
                    </a:solidFill>
                    <a:latin typeface="+mn-lt"/>
                    <a:ea typeface="+mn-ea"/>
                    <a:cs typeface="+mn-cs"/>
                  </a:defRPr>
                </a:lvl9pPr>
              </a:lstStyle>
              <a:p>
                <a:pPr marL="457200" lvl="1" indent="-381000">
                  <a:lnSpc>
                    <a:spcPct val="100000"/>
                  </a:lnSpc>
                  <a:spcBef>
                    <a:spcPts val="480"/>
                  </a:spcBef>
                  <a:buClr>
                    <a:srgbClr val="5D5D5E"/>
                  </a:buClr>
                  <a:buSzPts val="2400"/>
                  <a:buFont typeface="Arial" panose="020B0604020202020204" pitchFamily="34" charset="0"/>
                  <a:buChar char="•"/>
                </a:pPr>
                <a:r>
                  <a:rPr lang="en-US" sz="2200" b="1" dirty="0">
                    <a:solidFill>
                      <a:schemeClr val="tx1">
                        <a:lumMod val="85000"/>
                        <a:lumOff val="15000"/>
                      </a:schemeClr>
                    </a:solidFill>
                    <a:latin typeface="Calibri"/>
                    <a:ea typeface="Calibri"/>
                    <a:cs typeface="Calibri"/>
                    <a:sym typeface="Calibri"/>
                  </a:rPr>
                  <a:t>PVT Calibration</a:t>
                </a:r>
                <a:r>
                  <a:rPr lang="ar-EG" sz="2200" b="1" dirty="0">
                    <a:solidFill>
                      <a:schemeClr val="tx1">
                        <a:lumMod val="85000"/>
                        <a:lumOff val="15000"/>
                      </a:schemeClr>
                    </a:solidFill>
                    <a:latin typeface="Calibri"/>
                    <a:ea typeface="Calibri"/>
                    <a:cs typeface="Calibri"/>
                    <a:sym typeface="Calibri"/>
                  </a:rPr>
                  <a:t>:</a:t>
                </a:r>
                <a:endParaRPr lang="en-US" sz="2200" b="1" dirty="0">
                  <a:solidFill>
                    <a:schemeClr val="tx1">
                      <a:lumMod val="85000"/>
                      <a:lumOff val="15000"/>
                    </a:schemeClr>
                  </a:solidFill>
                  <a:latin typeface="Calibri"/>
                  <a:ea typeface="Calibri"/>
                  <a:cs typeface="Calibri"/>
                  <a:sym typeface="Calibri"/>
                </a:endParaRPr>
              </a:p>
              <a:p>
                <a:pPr marL="533400" lvl="1" indent="0">
                  <a:buNone/>
                </a:pPr>
                <a:r>
                  <a:rPr lang="en-US" dirty="0"/>
                  <a:t>Compensates for PVT</a:t>
                </a:r>
              </a:p>
              <a:p>
                <a:pPr marL="533400" lvl="1" indent="0">
                  <a:buNone/>
                </a:pPr>
                <a:r>
                  <a:rPr lang="en-US" dirty="0"/>
                  <a:t>Coarse frequency tuning with frequency step </a:t>
                </a:r>
                <a14:m>
                  <m:oMath xmlns:m="http://schemas.openxmlformats.org/officeDocument/2006/math">
                    <m:r>
                      <a:rPr lang="en-US" i="1" dirty="0">
                        <a:latin typeface="Cambria Math" panose="02040503050406030204" pitchFamily="18" charset="0"/>
                      </a:rPr>
                      <m:t>≈</m:t>
                    </m:r>
                    <m:r>
                      <a:rPr lang="en-US" i="1" dirty="0">
                        <a:latin typeface="Cambria Math" panose="02040503050406030204" pitchFamily="18" charset="0"/>
                      </a:rPr>
                      <m:t>2</m:t>
                    </m:r>
                    <m:r>
                      <a:rPr lang="en-US" i="1" dirty="0">
                        <a:latin typeface="Cambria Math" panose="02040503050406030204" pitchFamily="18" charset="0"/>
                      </a:rPr>
                      <m:t>𝑀𝐻𝑧</m:t>
                    </m:r>
                    <m:r>
                      <a:rPr lang="en-US" i="1" dirty="0">
                        <a:latin typeface="Cambria Math" panose="02040503050406030204" pitchFamily="18" charset="0"/>
                      </a:rPr>
                      <m:t> </m:t>
                    </m:r>
                  </m:oMath>
                </a14:m>
                <a:endParaRPr lang="en-US" dirty="0"/>
              </a:p>
              <a:p>
                <a:pPr marL="457200" lvl="1" indent="-381000">
                  <a:lnSpc>
                    <a:spcPct val="100000"/>
                  </a:lnSpc>
                  <a:spcBef>
                    <a:spcPts val="480"/>
                  </a:spcBef>
                  <a:buClr>
                    <a:srgbClr val="5D5D5E"/>
                  </a:buClr>
                  <a:buSzPts val="2400"/>
                  <a:buFont typeface="Arial" panose="020B0604020202020204" pitchFamily="34" charset="0"/>
                  <a:buChar char="•"/>
                </a:pPr>
                <a:r>
                  <a:rPr lang="en-US" sz="2200" b="1" dirty="0">
                    <a:solidFill>
                      <a:schemeClr val="tx1">
                        <a:lumMod val="85000"/>
                        <a:lumOff val="15000"/>
                      </a:schemeClr>
                    </a:solidFill>
                    <a:latin typeface="Calibri"/>
                    <a:ea typeface="Calibri"/>
                    <a:cs typeface="Calibri"/>
                    <a:sym typeface="Calibri"/>
                  </a:rPr>
                  <a:t>Acquisition</a:t>
                </a:r>
                <a:r>
                  <a:rPr lang="ar-EG" sz="2200" b="1" dirty="0">
                    <a:solidFill>
                      <a:schemeClr val="tx1">
                        <a:lumMod val="85000"/>
                        <a:lumOff val="15000"/>
                      </a:schemeClr>
                    </a:solidFill>
                    <a:latin typeface="Calibri"/>
                    <a:ea typeface="Calibri"/>
                    <a:cs typeface="Calibri"/>
                    <a:sym typeface="Calibri"/>
                  </a:rPr>
                  <a:t>:</a:t>
                </a:r>
                <a:endParaRPr lang="en-US" sz="2200" b="1" dirty="0">
                  <a:solidFill>
                    <a:schemeClr val="tx1">
                      <a:lumMod val="85000"/>
                      <a:lumOff val="15000"/>
                    </a:schemeClr>
                  </a:solidFill>
                  <a:latin typeface="Calibri"/>
                  <a:ea typeface="Calibri"/>
                  <a:cs typeface="Calibri"/>
                  <a:sym typeface="Calibri"/>
                </a:endParaRPr>
              </a:p>
              <a:p>
                <a:pPr marL="533400" lvl="1" indent="0">
                  <a:buNone/>
                </a:pPr>
                <a:r>
                  <a:rPr lang="en-US" dirty="0"/>
                  <a:t>Selects target BLE channel frequency</a:t>
                </a:r>
              </a:p>
              <a:p>
                <a:pPr marL="533400" lvl="1" indent="0">
                  <a:buNone/>
                </a:pPr>
                <a:r>
                  <a:rPr lang="en-US" dirty="0"/>
                  <a:t>Intermediate resolution </a:t>
                </a:r>
                <a14:m>
                  <m:oMath xmlns:m="http://schemas.openxmlformats.org/officeDocument/2006/math">
                    <m:r>
                      <a:rPr lang="en-US" i="1">
                        <a:latin typeface="Cambria Math" panose="02040503050406030204" pitchFamily="18" charset="0"/>
                      </a:rPr>
                      <m:t>≈</m:t>
                    </m:r>
                    <m:r>
                      <a:rPr lang="en-US" i="1">
                        <a:latin typeface="Cambria Math" panose="02040503050406030204" pitchFamily="18" charset="0"/>
                      </a:rPr>
                      <m:t>0</m:t>
                    </m:r>
                    <m:r>
                      <a:rPr lang="en-US" i="1">
                        <a:latin typeface="Cambria Math" panose="02040503050406030204" pitchFamily="18" charset="0"/>
                      </a:rPr>
                      <m:t>.</m:t>
                    </m:r>
                    <m:r>
                      <a:rPr lang="en-US" i="1">
                        <a:latin typeface="Cambria Math" panose="02040503050406030204" pitchFamily="18" charset="0"/>
                      </a:rPr>
                      <m:t>5</m:t>
                    </m:r>
                    <m:r>
                      <a:rPr lang="en-US" i="1">
                        <a:latin typeface="Cambria Math" panose="02040503050406030204" pitchFamily="18" charset="0"/>
                      </a:rPr>
                      <m:t>𝑀𝐻𝑧</m:t>
                    </m:r>
                  </m:oMath>
                </a14:m>
                <a:endParaRPr lang="en-US" dirty="0"/>
              </a:p>
              <a:p>
                <a:pPr marL="457200" lvl="1" indent="-381000">
                  <a:lnSpc>
                    <a:spcPct val="100000"/>
                  </a:lnSpc>
                  <a:spcBef>
                    <a:spcPts val="480"/>
                  </a:spcBef>
                  <a:buClr>
                    <a:srgbClr val="5D5D5E"/>
                  </a:buClr>
                  <a:buSzPts val="2400"/>
                  <a:buFont typeface="Arial" panose="020B0604020202020204" pitchFamily="34" charset="0"/>
                  <a:buChar char="•"/>
                </a:pPr>
                <a:r>
                  <a:rPr lang="en-US" sz="2200" b="1" dirty="0">
                    <a:solidFill>
                      <a:schemeClr val="tx1">
                        <a:lumMod val="85000"/>
                        <a:lumOff val="15000"/>
                      </a:schemeClr>
                    </a:solidFill>
                    <a:latin typeface="Calibri"/>
                    <a:ea typeface="Calibri"/>
                    <a:cs typeface="Calibri"/>
                    <a:sym typeface="Calibri"/>
                  </a:rPr>
                  <a:t>Tracking</a:t>
                </a:r>
                <a:r>
                  <a:rPr lang="ar-EG" sz="2200" b="1" dirty="0">
                    <a:solidFill>
                      <a:schemeClr val="tx1">
                        <a:lumMod val="85000"/>
                        <a:lumOff val="15000"/>
                      </a:schemeClr>
                    </a:solidFill>
                    <a:latin typeface="Calibri"/>
                    <a:ea typeface="Calibri"/>
                    <a:cs typeface="Calibri"/>
                    <a:sym typeface="Calibri"/>
                  </a:rPr>
                  <a:t>:</a:t>
                </a:r>
                <a:endParaRPr lang="en-US" sz="2200" b="1" dirty="0">
                  <a:solidFill>
                    <a:schemeClr val="tx1">
                      <a:lumMod val="85000"/>
                      <a:lumOff val="15000"/>
                    </a:schemeClr>
                  </a:solidFill>
                  <a:latin typeface="Calibri"/>
                  <a:ea typeface="Calibri"/>
                  <a:cs typeface="Calibri"/>
                  <a:sym typeface="Calibri"/>
                </a:endParaRPr>
              </a:p>
              <a:p>
                <a:pPr marL="533400" lvl="1" indent="0">
                  <a:buNone/>
                </a:pPr>
                <a:r>
                  <a:rPr lang="en-US" dirty="0"/>
                  <a:t>Fine alignment and modulation frequency step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25</m:t>
                    </m:r>
                    <m:r>
                      <a:rPr lang="en-US" b="0" i="1" smtClean="0">
                        <a:latin typeface="Cambria Math" panose="02040503050406030204" pitchFamily="18" charset="0"/>
                      </a:rPr>
                      <m:t>𝐾𝐻𝑧</m:t>
                    </m:r>
                  </m:oMath>
                </a14:m>
                <a:endParaRPr lang="en-US" dirty="0"/>
              </a:p>
              <a:p>
                <a:pPr marL="533400" lvl="1" indent="0">
                  <a:buNone/>
                </a:pPr>
                <a:r>
                  <a:rPr lang="en-US" dirty="0"/>
                  <a:t>Highest resolution tuning with Sigma-delta for smoothing</a:t>
                </a:r>
              </a:p>
              <a:p>
                <a:endParaRPr lang="en-US" dirty="0"/>
              </a:p>
              <a:p>
                <a:pPr marL="76200" indent="0">
                  <a:buFont typeface="Arial" panose="020B0604020202020204" pitchFamily="34" charset="0"/>
                  <a:buNone/>
                </a:pPr>
                <a:endParaRPr lang="en-US" dirty="0"/>
              </a:p>
              <a:p>
                <a:endParaRPr lang="en-US" dirty="0"/>
              </a:p>
            </p:txBody>
          </p:sp>
        </mc:Choice>
        <mc:Fallback xmlns="">
          <p:sp>
            <p:nvSpPr>
              <p:cNvPr id="6" name="Text Placeholder 2">
                <a:extLst>
                  <a:ext uri="{FF2B5EF4-FFF2-40B4-BE49-F238E27FC236}">
                    <a16:creationId xmlns:a16="http://schemas.microsoft.com/office/drawing/2014/main" id="{98E3C116-B64A-589E-0B94-AAD73A1B2689}"/>
                  </a:ext>
                </a:extLst>
              </p:cNvPr>
              <p:cNvSpPr txBox="1">
                <a:spLocks noRot="1" noChangeAspect="1" noMove="1" noResize="1" noEditPoints="1" noAdjustHandles="1" noChangeArrowheads="1" noChangeShapeType="1" noTextEdit="1"/>
              </p:cNvSpPr>
              <p:nvPr/>
            </p:nvSpPr>
            <p:spPr>
              <a:xfrm>
                <a:off x="627067" y="3046573"/>
                <a:ext cx="7141030" cy="3631483"/>
              </a:xfrm>
              <a:prstGeom prst="rect">
                <a:avLst/>
              </a:prstGeom>
              <a:blipFill>
                <a:blip r:embed="rId3"/>
                <a:stretch>
                  <a:fillRect l="-85"/>
                </a:stretch>
              </a:blipFill>
              <a:ln>
                <a:noFill/>
              </a:ln>
            </p:spPr>
            <p:txBody>
              <a:bodyPr/>
              <a:lstStyle/>
              <a:p>
                <a:r>
                  <a:rPr lang="en-US">
                    <a:noFill/>
                  </a:rPr>
                  <a:t> </a:t>
                </a:r>
              </a:p>
            </p:txBody>
          </p:sp>
        </mc:Fallback>
      </mc:AlternateContent>
      <p:grpSp>
        <p:nvGrpSpPr>
          <p:cNvPr id="7" name="Group 6">
            <a:extLst>
              <a:ext uri="{FF2B5EF4-FFF2-40B4-BE49-F238E27FC236}">
                <a16:creationId xmlns="" xmlns:a16="http://schemas.microsoft.com/office/drawing/2014/main" id="{3B578497-09F5-2D92-475F-4B3AAC5AA261}"/>
              </a:ext>
            </a:extLst>
          </p:cNvPr>
          <p:cNvGrpSpPr/>
          <p:nvPr/>
        </p:nvGrpSpPr>
        <p:grpSpPr>
          <a:xfrm>
            <a:off x="7903118" y="2943490"/>
            <a:ext cx="3998596" cy="3407237"/>
            <a:chOff x="0" y="0"/>
            <a:chExt cx="3120522" cy="2919255"/>
          </a:xfrm>
        </p:grpSpPr>
        <p:pic>
          <p:nvPicPr>
            <p:cNvPr id="8" name="Picture 7" descr="A diagram of a diagram&#10;&#10;AI-generated content may be incorrect.">
              <a:extLst>
                <a:ext uri="{FF2B5EF4-FFF2-40B4-BE49-F238E27FC236}">
                  <a16:creationId xmlns="" xmlns:a16="http://schemas.microsoft.com/office/drawing/2014/main" id="{4532E2AD-8AF0-AB16-17FF-485FE4D4D5B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0"/>
              <a:ext cx="2980690" cy="2605405"/>
            </a:xfrm>
            <a:prstGeom prst="rect">
              <a:avLst/>
            </a:prstGeom>
          </p:spPr>
        </p:pic>
        <p:sp>
          <p:nvSpPr>
            <p:cNvPr id="9" name="Text Box 2">
              <a:extLst>
                <a:ext uri="{FF2B5EF4-FFF2-40B4-BE49-F238E27FC236}">
                  <a16:creationId xmlns="" xmlns:a16="http://schemas.microsoft.com/office/drawing/2014/main" id="{1A29D65C-4820-BCE9-4761-9D0C10D6770C}"/>
                </a:ext>
              </a:extLst>
            </p:cNvPr>
            <p:cNvSpPr txBox="1">
              <a:spLocks noChangeArrowheads="1"/>
            </p:cNvSpPr>
            <p:nvPr/>
          </p:nvSpPr>
          <p:spPr bwMode="auto">
            <a:xfrm>
              <a:off x="71252" y="2565070"/>
              <a:ext cx="3049270" cy="354185"/>
            </a:xfrm>
            <a:prstGeom prst="rect">
              <a:avLst/>
            </a:prstGeom>
            <a:noFill/>
            <a:ln w="9525">
              <a:noFill/>
              <a:miter lim="800000"/>
              <a:headEnd/>
              <a:tailEnd/>
            </a:ln>
          </p:spPr>
          <p:txBody>
            <a:bodyPr rot="0" vert="horz" wrap="square" lIns="91440" tIns="45720" rIns="91440" bIns="45720" anchor="t" anchorCtr="0">
              <a:noAutofit/>
            </a:bodyPr>
            <a:lstStyle/>
            <a:p>
              <a:pPr marL="0" marR="0">
                <a:lnSpc>
                  <a:spcPct val="115000"/>
                </a:lnSpc>
                <a:spcAft>
                  <a:spcPts val="800"/>
                </a:spcAft>
                <a:buNone/>
              </a:pPr>
              <a:r>
                <a:rPr lang="en-US" sz="600" kern="100">
                  <a:ln>
                    <a:noFill/>
                  </a:ln>
                  <a:solidFill>
                    <a:srgbClr val="3A3A3A"/>
                  </a:solidFill>
                  <a:effectLst/>
                  <a:latin typeface="Aptos" panose="020B0004020202020204" pitchFamily="34" charset="0"/>
                  <a:ea typeface="Aptos" panose="020B0004020202020204" pitchFamily="34" charset="0"/>
                  <a:cs typeface="Arial" panose="020B0604020202020204" pitchFamily="34" charset="0"/>
                </a:rPr>
                <a:t>ALL-DIGITALFREQUENCY SYNTHESIZER IN DEEP-SUBMICRON CMOS ROBERT BOGDAN STASZEWSKI</a:t>
              </a:r>
              <a:endParaRPr lang="en-US" sz="1200" kern="100">
                <a:effectLst/>
                <a:latin typeface="Aptos" panose="020B0004020202020204" pitchFamily="34" charset="0"/>
                <a:ea typeface="Aptos" panose="020B0004020202020204" pitchFamily="34" charset="0"/>
                <a:cs typeface="Arial" panose="020B0604020202020204" pitchFamily="34" charset="0"/>
              </a:endParaRPr>
            </a:p>
            <a:p>
              <a:pPr marL="0" marR="0">
                <a:lnSpc>
                  <a:spcPct val="115000"/>
                </a:lnSpc>
                <a:spcAft>
                  <a:spcPts val="800"/>
                </a:spcAft>
                <a:buNone/>
              </a:pPr>
              <a:r>
                <a:rPr lang="en-US" sz="1200" kern="100">
                  <a:effectLst/>
                  <a:latin typeface="Aptos" panose="020B0004020202020204" pitchFamily="34" charset="0"/>
                  <a:ea typeface="Aptos" panose="020B0004020202020204" pitchFamily="34" charset="0"/>
                  <a:cs typeface="Arial" panose="020B0604020202020204" pitchFamily="34" charset="0"/>
                </a:rPr>
                <a:t> </a:t>
              </a:r>
            </a:p>
          </p:txBody>
        </p:sp>
      </p:grpSp>
    </p:spTree>
    <p:extLst>
      <p:ext uri="{BB962C8B-B14F-4D97-AF65-F5344CB8AC3E}">
        <p14:creationId xmlns:p14="http://schemas.microsoft.com/office/powerpoint/2010/main" val="2563571554"/>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C16529C-CDDF-09BE-E2D9-FC641A293E00}"/>
              </a:ext>
            </a:extLst>
          </p:cNvPr>
          <p:cNvSpPr>
            <a:spLocks noGrp="1"/>
          </p:cNvSpPr>
          <p:nvPr>
            <p:ph type="title"/>
          </p:nvPr>
        </p:nvSpPr>
        <p:spPr/>
        <p:txBody>
          <a:bodyPr>
            <a:normAutofit fontScale="90000"/>
          </a:bodyPr>
          <a:lstStyle/>
          <a:p>
            <a:r>
              <a:rPr lang="en-US" dirty="0"/>
              <a:t>DCO Architecture and Implementation</a:t>
            </a:r>
            <a:br>
              <a:rPr lang="en-US" dirty="0"/>
            </a:br>
            <a:endParaRPr lang="en-US" dirty="0"/>
          </a:p>
        </p:txBody>
      </p:sp>
      <p:sp>
        <p:nvSpPr>
          <p:cNvPr id="3" name="Text Placeholder 2">
            <a:extLst>
              <a:ext uri="{FF2B5EF4-FFF2-40B4-BE49-F238E27FC236}">
                <a16:creationId xmlns="" xmlns:a16="http://schemas.microsoft.com/office/drawing/2014/main" id="{EC3B6CAC-D899-A082-68B3-6DAFF76BE0FD}"/>
              </a:ext>
            </a:extLst>
          </p:cNvPr>
          <p:cNvSpPr>
            <a:spLocks noGrp="1"/>
          </p:cNvSpPr>
          <p:nvPr>
            <p:ph type="body" idx="1"/>
          </p:nvPr>
        </p:nvSpPr>
        <p:spPr>
          <a:xfrm>
            <a:off x="514350" y="1510748"/>
            <a:ext cx="4000500" cy="4984947"/>
          </a:xfrm>
        </p:spPr>
        <p:txBody>
          <a:bodyPr/>
          <a:lstStyle/>
          <a:p>
            <a:pPr marL="457200" lvl="1" indent="-381000">
              <a:spcBef>
                <a:spcPts val="480"/>
              </a:spcBef>
              <a:buSzPts val="2400"/>
              <a:buFont typeface="Arial" panose="020B0604020202020204" pitchFamily="34" charset="0"/>
              <a:buChar char="•"/>
            </a:pPr>
            <a:r>
              <a:rPr lang="en-US" sz="2200" dirty="0">
                <a:solidFill>
                  <a:schemeClr val="tx1">
                    <a:lumMod val="85000"/>
                    <a:lumOff val="15000"/>
                  </a:schemeClr>
                </a:solidFill>
              </a:rPr>
              <a:t>Normalization:</a:t>
            </a:r>
          </a:p>
          <a:p>
            <a:pPr marL="533400" lvl="1" indent="0">
              <a:buNone/>
            </a:pPr>
            <a:r>
              <a:rPr lang="en-US" b="0" dirty="0">
                <a:solidFill>
                  <a:schemeClr val="tx1">
                    <a:lumMod val="85000"/>
                    <a:lumOff val="15000"/>
                  </a:schemeClr>
                </a:solidFill>
              </a:rPr>
              <a:t>Converts the normalized tuning word (NTW) into the physical oscillator tuning word (OTW) </a:t>
            </a:r>
            <a:endParaRPr lang="ar-EG" b="0" dirty="0">
              <a:solidFill>
                <a:schemeClr val="tx1">
                  <a:lumMod val="85000"/>
                  <a:lumOff val="15000"/>
                </a:schemeClr>
              </a:solidFill>
            </a:endParaRPr>
          </a:p>
          <a:p>
            <a:pPr marL="533400" lvl="1" indent="0">
              <a:buNone/>
            </a:pPr>
            <a:endParaRPr lang="en-US" dirty="0">
              <a:solidFill>
                <a:schemeClr val="tx1">
                  <a:lumMod val="85000"/>
                  <a:lumOff val="15000"/>
                </a:schemeClr>
              </a:solidFill>
            </a:endParaRPr>
          </a:p>
          <a:p>
            <a:pPr marL="457200" lvl="1" indent="-381000">
              <a:spcBef>
                <a:spcPts val="480"/>
              </a:spcBef>
              <a:buSzPts val="2400"/>
              <a:buFont typeface="Arial" panose="020B0604020202020204" pitchFamily="34" charset="0"/>
              <a:buChar char="•"/>
            </a:pPr>
            <a:r>
              <a:rPr lang="en-US" sz="2200" dirty="0">
                <a:solidFill>
                  <a:schemeClr val="tx1">
                    <a:lumMod val="85000"/>
                    <a:lumOff val="15000"/>
                  </a:schemeClr>
                </a:solidFill>
              </a:rPr>
              <a:t>LMS gain calibration:</a:t>
            </a:r>
          </a:p>
          <a:p>
            <a:pPr marL="533400" lvl="1" indent="0">
              <a:buNone/>
            </a:pPr>
            <a:r>
              <a:rPr lang="en-US" b="0" dirty="0">
                <a:solidFill>
                  <a:schemeClr val="tx1">
                    <a:lumMod val="85000"/>
                    <a:lumOff val="15000"/>
                  </a:schemeClr>
                </a:solidFill>
              </a:rPr>
              <a:t>estimates the effective DCO gain, so requested deviation matches actual output</a:t>
            </a:r>
            <a:endParaRPr lang="ar-EG" b="0" dirty="0">
              <a:solidFill>
                <a:schemeClr val="tx1">
                  <a:lumMod val="85000"/>
                  <a:lumOff val="15000"/>
                </a:schemeClr>
              </a:solidFill>
            </a:endParaRPr>
          </a:p>
          <a:p>
            <a:pPr marL="533400" lvl="1" indent="0">
              <a:buNone/>
            </a:pPr>
            <a:endParaRPr lang="en-US" dirty="0">
              <a:solidFill>
                <a:schemeClr val="tx1">
                  <a:lumMod val="85000"/>
                  <a:lumOff val="15000"/>
                </a:schemeClr>
              </a:solidFill>
            </a:endParaRPr>
          </a:p>
          <a:p>
            <a:pPr marL="457200" lvl="1" indent="-381000">
              <a:spcBef>
                <a:spcPts val="480"/>
              </a:spcBef>
              <a:buSzPts val="2400"/>
              <a:buFont typeface="Arial" panose="020B0604020202020204" pitchFamily="34" charset="0"/>
              <a:buChar char="•"/>
            </a:pPr>
            <a:r>
              <a:rPr lang="en-US" sz="2200" dirty="0">
                <a:solidFill>
                  <a:schemeClr val="tx1">
                    <a:lumMod val="85000"/>
                    <a:lumOff val="15000"/>
                  </a:schemeClr>
                </a:solidFill>
              </a:rPr>
              <a:t>Sigma-Delta:</a:t>
            </a:r>
          </a:p>
          <a:p>
            <a:pPr marL="533400" lvl="1" indent="0">
              <a:buNone/>
            </a:pPr>
            <a:r>
              <a:rPr lang="en-US" b="0" dirty="0">
                <a:solidFill>
                  <a:schemeClr val="tx1">
                    <a:lumMod val="85000"/>
                    <a:lumOff val="15000"/>
                  </a:schemeClr>
                </a:solidFill>
              </a:rPr>
              <a:t>high‑resolution frequency steps during modulation</a:t>
            </a:r>
          </a:p>
          <a:p>
            <a:pPr marL="533400" lvl="1" indent="0">
              <a:buNone/>
            </a:pPr>
            <a:endParaRPr lang="en-US" dirty="0"/>
          </a:p>
          <a:p>
            <a:pPr marL="533400" lvl="2" indent="0">
              <a:spcBef>
                <a:spcPts val="480"/>
              </a:spcBef>
              <a:buSzPts val="2400"/>
              <a:buNone/>
            </a:pPr>
            <a:endParaRPr lang="en-US" sz="2200" dirty="0"/>
          </a:p>
          <a:p>
            <a:pPr marL="76200" lvl="1" indent="0">
              <a:spcBef>
                <a:spcPts val="480"/>
              </a:spcBef>
              <a:buSzPts val="2400"/>
              <a:buNone/>
            </a:pPr>
            <a:endParaRPr lang="en-US" sz="2200" dirty="0"/>
          </a:p>
          <a:p>
            <a:pPr marL="76200" lvl="1" indent="0">
              <a:spcBef>
                <a:spcPts val="480"/>
              </a:spcBef>
              <a:buSzPts val="2400"/>
              <a:buNone/>
            </a:pPr>
            <a:endParaRPr lang="en-US" sz="2400" dirty="0"/>
          </a:p>
        </p:txBody>
      </p:sp>
      <p:pic>
        <p:nvPicPr>
          <p:cNvPr id="5" name="Picture 4" descr="A diagram of a computer system&#10;&#10;AI-generated content may be incorrect.">
            <a:extLst>
              <a:ext uri="{FF2B5EF4-FFF2-40B4-BE49-F238E27FC236}">
                <a16:creationId xmlns="" xmlns:a16="http://schemas.microsoft.com/office/drawing/2014/main" id="{3D9814F3-C83B-9905-D822-5CABEA5BAF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14850" y="1506409"/>
            <a:ext cx="7544513" cy="3840843"/>
          </a:xfrm>
          <a:prstGeom prst="rect">
            <a:avLst/>
          </a:prstGeom>
        </p:spPr>
      </p:pic>
    </p:spTree>
    <p:extLst>
      <p:ext uri="{BB962C8B-B14F-4D97-AF65-F5344CB8AC3E}">
        <p14:creationId xmlns:p14="http://schemas.microsoft.com/office/powerpoint/2010/main" val="3007855466"/>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CDF5ECC-5B4F-B3BC-3973-5444A9D53E38}"/>
              </a:ext>
            </a:extLst>
          </p:cNvPr>
          <p:cNvSpPr>
            <a:spLocks noGrp="1"/>
          </p:cNvSpPr>
          <p:nvPr>
            <p:ph type="title"/>
          </p:nvPr>
        </p:nvSpPr>
        <p:spPr/>
        <p:txBody>
          <a:bodyPr>
            <a:normAutofit/>
          </a:bodyPr>
          <a:lstStyle/>
          <a:p>
            <a:r>
              <a:rPr lang="en-US" dirty="0"/>
              <a:t>DCO Architecture and Implementation</a:t>
            </a:r>
          </a:p>
        </p:txBody>
      </p:sp>
      <p:sp>
        <p:nvSpPr>
          <p:cNvPr id="3" name="Text Placeholder 2">
            <a:extLst>
              <a:ext uri="{FF2B5EF4-FFF2-40B4-BE49-F238E27FC236}">
                <a16:creationId xmlns="" xmlns:a16="http://schemas.microsoft.com/office/drawing/2014/main" id="{511D2B29-7585-CFDB-B565-3EC57837F94A}"/>
              </a:ext>
            </a:extLst>
          </p:cNvPr>
          <p:cNvSpPr>
            <a:spLocks noGrp="1"/>
          </p:cNvSpPr>
          <p:nvPr>
            <p:ph type="body" idx="1"/>
          </p:nvPr>
        </p:nvSpPr>
        <p:spPr>
          <a:xfrm>
            <a:off x="914400" y="4965349"/>
            <a:ext cx="10363200" cy="1530346"/>
          </a:xfrm>
        </p:spPr>
        <p:txBody>
          <a:bodyPr/>
          <a:lstStyle/>
          <a:p>
            <a:pPr marL="457200" lvl="1" indent="-381000">
              <a:spcBef>
                <a:spcPts val="480"/>
              </a:spcBef>
              <a:buSzPts val="2400"/>
              <a:buFont typeface="Arial" panose="020B0604020202020204" pitchFamily="34" charset="0"/>
              <a:buChar char="•"/>
            </a:pPr>
            <a:r>
              <a:rPr lang="en-US" sz="2200" b="1" dirty="0">
                <a:solidFill>
                  <a:schemeClr val="tx1">
                    <a:lumMod val="85000"/>
                    <a:lumOff val="15000"/>
                  </a:schemeClr>
                </a:solidFill>
              </a:rPr>
              <a:t>Interface logic:</a:t>
            </a:r>
          </a:p>
          <a:p>
            <a:pPr marL="533400" lvl="1" indent="0">
              <a:buNone/>
            </a:pPr>
            <a:r>
              <a:rPr lang="en-US" b="0" dirty="0">
                <a:solidFill>
                  <a:schemeClr val="tx1">
                    <a:lumMod val="85000"/>
                    <a:lumOff val="15000"/>
                  </a:schemeClr>
                </a:solidFill>
              </a:rPr>
              <a:t>Routes the selected tuning words from the different operating modes, applies ZPR and control signals, and delivers a single consistent DCO control word</a:t>
            </a:r>
          </a:p>
          <a:p>
            <a:pPr marL="533400" lvl="2" indent="0">
              <a:spcBef>
                <a:spcPts val="480"/>
              </a:spcBef>
              <a:buSzPts val="2400"/>
              <a:buNone/>
            </a:pPr>
            <a:endParaRPr lang="en-US" sz="2200" dirty="0"/>
          </a:p>
          <a:p>
            <a:endParaRPr lang="en-US" dirty="0"/>
          </a:p>
        </p:txBody>
      </p:sp>
      <p:pic>
        <p:nvPicPr>
          <p:cNvPr id="8" name="Picture 7">
            <a:extLst>
              <a:ext uri="{FF2B5EF4-FFF2-40B4-BE49-F238E27FC236}">
                <a16:creationId xmlns="" xmlns:a16="http://schemas.microsoft.com/office/drawing/2014/main" id="{02DD310C-C3CA-41B5-90DE-008BC9457665}"/>
              </a:ext>
            </a:extLst>
          </p:cNvPr>
          <p:cNvPicPr>
            <a:picLocks noChangeAspect="1"/>
          </p:cNvPicPr>
          <p:nvPr/>
        </p:nvPicPr>
        <p:blipFill>
          <a:blip r:embed="rId2"/>
          <a:stretch>
            <a:fillRect/>
          </a:stretch>
        </p:blipFill>
        <p:spPr>
          <a:xfrm>
            <a:off x="2698250" y="1526344"/>
            <a:ext cx="7163800" cy="3439005"/>
          </a:xfrm>
          <a:prstGeom prst="rect">
            <a:avLst/>
          </a:prstGeom>
        </p:spPr>
      </p:pic>
    </p:spTree>
    <p:extLst>
      <p:ext uri="{BB962C8B-B14F-4D97-AF65-F5344CB8AC3E}">
        <p14:creationId xmlns:p14="http://schemas.microsoft.com/office/powerpoint/2010/main" val="2599333592"/>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0066F86-15A1-E7CA-1462-D34A29C5FFB9}"/>
              </a:ext>
            </a:extLst>
          </p:cNvPr>
          <p:cNvSpPr>
            <a:spLocks noGrp="1"/>
          </p:cNvSpPr>
          <p:nvPr>
            <p:ph type="title"/>
          </p:nvPr>
        </p:nvSpPr>
        <p:spPr/>
        <p:txBody>
          <a:bodyPr>
            <a:normAutofit fontScale="90000"/>
          </a:bodyPr>
          <a:lstStyle/>
          <a:p>
            <a:r>
              <a:rPr lang="en-US" dirty="0"/>
              <a:t>Sign-Sign LMS (SS-LMS) </a:t>
            </a:r>
            <a:br>
              <a:rPr lang="en-US" dirty="0"/>
            </a:br>
            <a:endParaRPr lang="en-US" dirty="0"/>
          </a:p>
        </p:txBody>
      </p:sp>
      <p:sp>
        <p:nvSpPr>
          <p:cNvPr id="3" name="Text Placeholder 2">
            <a:extLst>
              <a:ext uri="{FF2B5EF4-FFF2-40B4-BE49-F238E27FC236}">
                <a16:creationId xmlns="" xmlns:a16="http://schemas.microsoft.com/office/drawing/2014/main" id="{52DA3C99-B374-0EBD-8B0D-DA778A202E59}"/>
              </a:ext>
            </a:extLst>
          </p:cNvPr>
          <p:cNvSpPr>
            <a:spLocks noGrp="1"/>
          </p:cNvSpPr>
          <p:nvPr>
            <p:ph type="body" idx="1"/>
          </p:nvPr>
        </p:nvSpPr>
        <p:spPr>
          <a:xfrm>
            <a:off x="914400" y="1510748"/>
            <a:ext cx="4406900" cy="4984947"/>
          </a:xfrm>
        </p:spPr>
        <p:txBody>
          <a:bodyPr/>
          <a:lstStyle/>
          <a:p>
            <a:r>
              <a:rPr lang="en-US" b="0" dirty="0">
                <a:solidFill>
                  <a:schemeClr val="tx1">
                    <a:lumMod val="85000"/>
                    <a:lumOff val="15000"/>
                  </a:schemeClr>
                </a:solidFill>
              </a:rPr>
              <a:t>We use sign–sign LMS to estimate the DCO gain.</a:t>
            </a:r>
            <a:endParaRPr lang="ar-EG" b="0" dirty="0">
              <a:solidFill>
                <a:schemeClr val="tx1">
                  <a:lumMod val="85000"/>
                  <a:lumOff val="15000"/>
                </a:schemeClr>
              </a:solidFill>
            </a:endParaRPr>
          </a:p>
          <a:p>
            <a:pPr marL="101600" indent="0">
              <a:buNone/>
            </a:pPr>
            <a:endParaRPr lang="en-US" b="0" dirty="0">
              <a:solidFill>
                <a:schemeClr val="tx1">
                  <a:lumMod val="85000"/>
                  <a:lumOff val="15000"/>
                </a:schemeClr>
              </a:solidFill>
            </a:endParaRPr>
          </a:p>
          <a:p>
            <a:r>
              <a:rPr lang="en-US" b="0" dirty="0">
                <a:solidFill>
                  <a:schemeClr val="tx1">
                    <a:lumMod val="85000"/>
                    <a:lumOff val="15000"/>
                  </a:schemeClr>
                </a:solidFill>
              </a:rPr>
              <a:t>Faster LMS variants like NLMS need extra logic for a variable step size, which adds power and complexity.</a:t>
            </a:r>
            <a:endParaRPr lang="ar-EG" b="0" dirty="0">
              <a:solidFill>
                <a:schemeClr val="tx1">
                  <a:lumMod val="85000"/>
                  <a:lumOff val="15000"/>
                </a:schemeClr>
              </a:solidFill>
            </a:endParaRPr>
          </a:p>
          <a:p>
            <a:pPr marL="101600" indent="0">
              <a:buNone/>
            </a:pPr>
            <a:endParaRPr lang="en-US" b="0" dirty="0">
              <a:solidFill>
                <a:schemeClr val="tx1">
                  <a:lumMod val="85000"/>
                  <a:lumOff val="15000"/>
                </a:schemeClr>
              </a:solidFill>
            </a:endParaRPr>
          </a:p>
          <a:p>
            <a:r>
              <a:rPr lang="en-US" b="0" dirty="0">
                <a:solidFill>
                  <a:schemeClr val="tx1">
                    <a:lumMod val="85000"/>
                    <a:lumOff val="15000"/>
                  </a:schemeClr>
                </a:solidFill>
              </a:rPr>
              <a:t>For a low‑power implementation, SS‑LMS offers a good trade‑off between hardware simplicity and calibration performance</a:t>
            </a:r>
          </a:p>
          <a:p>
            <a:endParaRPr lang="en-US" dirty="0"/>
          </a:p>
        </p:txBody>
      </p:sp>
      <p:pic>
        <p:nvPicPr>
          <p:cNvPr id="6" name="Picture 5">
            <a:extLst>
              <a:ext uri="{FF2B5EF4-FFF2-40B4-BE49-F238E27FC236}">
                <a16:creationId xmlns="" xmlns:a16="http://schemas.microsoft.com/office/drawing/2014/main" id="{1469EDBF-978D-1F27-A7A5-11D12FB5CEF9}"/>
              </a:ext>
            </a:extLst>
          </p:cNvPr>
          <p:cNvPicPr>
            <a:picLocks noChangeAspect="1"/>
          </p:cNvPicPr>
          <p:nvPr/>
        </p:nvPicPr>
        <p:blipFill>
          <a:blip r:embed="rId2"/>
          <a:stretch>
            <a:fillRect/>
          </a:stretch>
        </p:blipFill>
        <p:spPr>
          <a:xfrm>
            <a:off x="5321300" y="1464482"/>
            <a:ext cx="6835863" cy="2866383"/>
          </a:xfrm>
          <a:prstGeom prst="rect">
            <a:avLst/>
          </a:prstGeom>
        </p:spPr>
      </p:pic>
    </p:spTree>
    <p:extLst>
      <p:ext uri="{BB962C8B-B14F-4D97-AF65-F5344CB8AC3E}">
        <p14:creationId xmlns:p14="http://schemas.microsoft.com/office/powerpoint/2010/main" val="2335789895"/>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6C79016-1CAA-CE8E-7DD0-F9A09EB97DAC}"/>
              </a:ext>
            </a:extLst>
          </p:cNvPr>
          <p:cNvSpPr>
            <a:spLocks noGrp="1"/>
          </p:cNvSpPr>
          <p:nvPr>
            <p:ph type="title"/>
          </p:nvPr>
        </p:nvSpPr>
        <p:spPr/>
        <p:txBody>
          <a:bodyPr/>
          <a:lstStyle/>
          <a:p>
            <a:r>
              <a:rPr lang="en-US" dirty="0"/>
              <a:t>DCO simulation Result</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 xmlns:a16="http://schemas.microsoft.com/office/drawing/2014/main" id="{B88D8B2A-21F9-BE9A-05E2-429A1A47D578}"/>
                  </a:ext>
                </a:extLst>
              </p:cNvPr>
              <p:cNvSpPr>
                <a:spLocks noGrp="1"/>
              </p:cNvSpPr>
              <p:nvPr>
                <p:ph type="body" idx="1"/>
              </p:nvPr>
            </p:nvSpPr>
            <p:spPr/>
            <p:txBody>
              <a:bodyPr/>
              <a:lstStyle/>
              <a:p>
                <a:pPr marL="76200" indent="0">
                  <a:buNone/>
                </a:pPr>
                <a:r>
                  <a:rPr lang="en-US" sz="2200" dirty="0">
                    <a:solidFill>
                      <a:schemeClr val="tx1">
                        <a:lumMod val="85000"/>
                        <a:lumOff val="15000"/>
                      </a:schemeClr>
                    </a:solidFill>
                  </a:rPr>
                  <a:t>Assumptions for DCO Standalone Validation: </a:t>
                </a:r>
              </a:p>
              <a:p>
                <a:pPr lvl="1">
                  <a:buFont typeface="Arial" panose="020B0604020202020204" pitchFamily="34" charset="0"/>
                  <a:buChar char="•"/>
                </a:pPr>
                <a:r>
                  <a:rPr lang="en-US" b="0" dirty="0">
                    <a:solidFill>
                      <a:schemeClr val="tx1">
                        <a:lumMod val="85000"/>
                        <a:lumOff val="15000"/>
                      </a:schemeClr>
                    </a:solidFill>
                  </a:rPr>
                  <a:t>Fixed capacitor </a:t>
                </a:r>
                <a14:m>
                  <m:oMath xmlns:m="http://schemas.openxmlformats.org/officeDocument/2006/math">
                    <m:sSub>
                      <m:sSubPr>
                        <m:ctrlPr>
                          <a:rPr lang="ar-EG" b="0" i="1">
                            <a:solidFill>
                              <a:schemeClr val="tx1">
                                <a:lumMod val="85000"/>
                                <a:lumOff val="15000"/>
                              </a:schemeClr>
                            </a:solidFill>
                            <a:latin typeface="Cambria Math" panose="02040503050406030204" pitchFamily="18" charset="0"/>
                          </a:rPr>
                        </m:ctrlPr>
                      </m:sSubPr>
                      <m:e>
                        <m:r>
                          <a:rPr lang="ar-EG" b="0" i="1">
                            <a:solidFill>
                              <a:schemeClr val="tx1">
                                <a:lumMod val="85000"/>
                                <a:lumOff val="15000"/>
                              </a:schemeClr>
                            </a:solidFill>
                            <a:latin typeface="Cambria Math" panose="02040503050406030204" pitchFamily="18" charset="0"/>
                          </a:rPr>
                          <m:t>𝐶</m:t>
                        </m:r>
                      </m:e>
                      <m:sub>
                        <m:r>
                          <a:rPr lang="ar-EG" b="0">
                            <a:solidFill>
                              <a:schemeClr val="tx1">
                                <a:lumMod val="85000"/>
                                <a:lumOff val="15000"/>
                              </a:schemeClr>
                            </a:solidFill>
                            <a:latin typeface="Cambria Math" panose="02040503050406030204" pitchFamily="18" charset="0"/>
                          </a:rPr>
                          <m:t>0</m:t>
                        </m:r>
                      </m:sub>
                    </m:sSub>
                  </m:oMath>
                </a14:m>
                <a:r>
                  <a:rPr lang="ar-EG" b="0" dirty="0">
                    <a:solidFill>
                      <a:schemeClr val="tx1">
                        <a:lumMod val="85000"/>
                        <a:lumOff val="15000"/>
                      </a:schemeClr>
                    </a:solidFill>
                  </a:rPr>
                  <a:t>: ±15% </a:t>
                </a:r>
                <a:r>
                  <a:rPr lang="en-US" b="0" dirty="0">
                    <a:solidFill>
                      <a:schemeClr val="tx1">
                        <a:lumMod val="85000"/>
                        <a:lumOff val="15000"/>
                      </a:schemeClr>
                    </a:solidFill>
                  </a:rPr>
                  <a:t>PVT variation (≈ ±225 MHz drift).</a:t>
                </a:r>
              </a:p>
              <a:p>
                <a:pPr lvl="1">
                  <a:buFont typeface="Arial" panose="020B0604020202020204" pitchFamily="34" charset="0"/>
                  <a:buChar char="•"/>
                </a:pPr>
                <a:r>
                  <a:rPr lang="en-US" b="0" dirty="0">
                    <a:solidFill>
                      <a:schemeClr val="tx1">
                        <a:lumMod val="85000"/>
                        <a:lumOff val="15000"/>
                      </a:schemeClr>
                    </a:solidFill>
                  </a:rPr>
                  <a:t>Variable capacitors: ideal matching in each mode; PVT variation assumed up to ±30%.</a:t>
                </a:r>
              </a:p>
              <a:p>
                <a:pPr lvl="1">
                  <a:buFont typeface="Arial" panose="020B0604020202020204" pitchFamily="34" charset="0"/>
                  <a:buChar char="•"/>
                </a:pPr>
                <a:r>
                  <a:rPr lang="en-US" b="0" dirty="0">
                    <a:solidFill>
                      <a:schemeClr val="tx1">
                        <a:lumMod val="85000"/>
                        <a:lumOff val="15000"/>
                      </a:schemeClr>
                    </a:solidFill>
                  </a:rPr>
                  <a:t>No loop filter during PVT calibration to keep setup fast.</a:t>
                </a:r>
              </a:p>
              <a:p>
                <a:pPr lvl="1">
                  <a:buFont typeface="Arial" panose="020B0604020202020204" pitchFamily="34" charset="0"/>
                  <a:buChar char="•"/>
                </a:pPr>
                <a:r>
                  <a:rPr lang="en-US" b="0" dirty="0">
                    <a:solidFill>
                      <a:schemeClr val="tx1">
                        <a:lumMod val="85000"/>
                        <a:lumOff val="15000"/>
                      </a:schemeClr>
                    </a:solidFill>
                  </a:rPr>
                  <a:t>Other blocks (phase detector, loop filter, etc.) are modeled as ideal.</a:t>
                </a:r>
              </a:p>
              <a:p>
                <a:pPr lvl="1">
                  <a:buFont typeface="Arial" panose="020B0604020202020204" pitchFamily="34" charset="0"/>
                  <a:buChar char="•"/>
                </a:pPr>
                <a:r>
                  <a:rPr lang="en-US" b="0" dirty="0">
                    <a:solidFill>
                      <a:schemeClr val="tx1">
                        <a:lumMod val="85000"/>
                        <a:lumOff val="15000"/>
                      </a:schemeClr>
                    </a:solidFill>
                  </a:rPr>
                  <a:t>FSK is used instead of GMSK to simplify standalone DCO debugging.</a:t>
                </a:r>
              </a:p>
              <a:p>
                <a:pPr marL="101600" indent="0">
                  <a:buNone/>
                </a:pPr>
                <a:endParaRPr lang="en-US" dirty="0"/>
              </a:p>
            </p:txBody>
          </p:sp>
        </mc:Choice>
        <mc:Fallback xmlns="">
          <p:sp>
            <p:nvSpPr>
              <p:cNvPr id="3" name="Text Placeholder 2">
                <a:extLst>
                  <a:ext uri="{FF2B5EF4-FFF2-40B4-BE49-F238E27FC236}">
                    <a16:creationId xmlns:a16="http://schemas.microsoft.com/office/drawing/2014/main" id="{B88D8B2A-21F9-BE9A-05E2-429A1A47D578}"/>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285515816"/>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E65EB5E-55DB-9435-58F9-E8CA7C99D204}"/>
              </a:ext>
            </a:extLst>
          </p:cNvPr>
          <p:cNvSpPr>
            <a:spLocks noGrp="1"/>
          </p:cNvSpPr>
          <p:nvPr>
            <p:ph type="title"/>
          </p:nvPr>
        </p:nvSpPr>
        <p:spPr/>
        <p:txBody>
          <a:bodyPr/>
          <a:lstStyle/>
          <a:p>
            <a:r>
              <a:rPr lang="en-US" dirty="0"/>
              <a:t>DCO simulation Result</a:t>
            </a:r>
          </a:p>
        </p:txBody>
      </p:sp>
      <p:sp>
        <p:nvSpPr>
          <p:cNvPr id="5" name="Text Placeholder 2">
            <a:extLst>
              <a:ext uri="{FF2B5EF4-FFF2-40B4-BE49-F238E27FC236}">
                <a16:creationId xmlns="" xmlns:a16="http://schemas.microsoft.com/office/drawing/2014/main" id="{5F5997CB-5EF0-FDFE-661C-FCAB52DF1B06}"/>
              </a:ext>
            </a:extLst>
          </p:cNvPr>
          <p:cNvSpPr txBox="1">
            <a:spLocks/>
          </p:cNvSpPr>
          <p:nvPr/>
        </p:nvSpPr>
        <p:spPr>
          <a:xfrm>
            <a:off x="609600" y="1234046"/>
            <a:ext cx="9515337" cy="581297"/>
          </a:xfrm>
          <a:prstGeom prst="rect">
            <a:avLst/>
          </a:prstGeom>
          <a:noFill/>
          <a:ln>
            <a:noFill/>
          </a:ln>
        </p:spPr>
        <p:txBody>
          <a:bodyPr spcFirstLastPara="1" vert="horz" wrap="square" lIns="91425" tIns="45700" rIns="91425" bIns="45700" rtlCol="0" anchor="t" anchorCtr="0">
            <a:noAutofit/>
          </a:bodyPr>
          <a:lstStyle>
            <a:lvl1pPr marL="457200" lvl="0" indent="-381000" algn="l" defTabSz="914400" rtl="0" eaLnBrk="1" latinLnBrk="0" hangingPunct="1">
              <a:lnSpc>
                <a:spcPct val="90000"/>
              </a:lnSpc>
              <a:spcBef>
                <a:spcPts val="480"/>
              </a:spcBef>
              <a:spcAft>
                <a:spcPts val="0"/>
              </a:spcAft>
              <a:buSzPts val="2400"/>
              <a:buFont typeface="Arial" panose="020B0604020202020204" pitchFamily="34" charset="0"/>
              <a:buChar char="•"/>
              <a:defRPr sz="2400" kern="1200">
                <a:solidFill>
                  <a:schemeClr val="tx1"/>
                </a:solidFill>
                <a:latin typeface="+mn-lt"/>
                <a:ea typeface="+mn-ea"/>
                <a:cs typeface="+mn-cs"/>
              </a:defRPr>
            </a:lvl1pPr>
            <a:lvl2pPr marL="914400" lvl="1" indent="-342900" algn="l" defTabSz="914400" rtl="0" eaLnBrk="1" latinLnBrk="0" hangingPunct="1">
              <a:lnSpc>
                <a:spcPct val="90000"/>
              </a:lnSpc>
              <a:spcBef>
                <a:spcPts val="400"/>
              </a:spcBef>
              <a:spcAft>
                <a:spcPts val="0"/>
              </a:spcAft>
              <a:buSzPts val="1800"/>
              <a:buFont typeface="Arial" panose="020B0604020202020204" pitchFamily="34" charset="0"/>
              <a:buChar char="–"/>
              <a:defRPr sz="2000" kern="1200">
                <a:solidFill>
                  <a:schemeClr val="tx1"/>
                </a:solidFill>
                <a:latin typeface="+mn-lt"/>
                <a:ea typeface="+mn-ea"/>
                <a:cs typeface="+mn-cs"/>
              </a:defRPr>
            </a:lvl2pPr>
            <a:lvl3pPr marL="1371600" lvl="2" indent="-342900" algn="l" defTabSz="914400" rtl="0" eaLnBrk="1" latinLnBrk="0" hangingPunct="1">
              <a:lnSpc>
                <a:spcPct val="90000"/>
              </a:lnSpc>
              <a:spcBef>
                <a:spcPts val="360"/>
              </a:spcBef>
              <a:spcAft>
                <a:spcPts val="0"/>
              </a:spcAft>
              <a:buSzPts val="1800"/>
              <a:buFont typeface="Arial" panose="020B0604020202020204" pitchFamily="34" charset="0"/>
              <a:buChar char="–"/>
              <a:defRPr sz="1800" kern="1200">
                <a:solidFill>
                  <a:schemeClr val="tx1"/>
                </a:solidFill>
                <a:latin typeface="+mn-lt"/>
                <a:ea typeface="+mn-ea"/>
                <a:cs typeface="+mn-cs"/>
              </a:defRPr>
            </a:lvl3pPr>
            <a:lvl4pPr marL="1828800" lvl="3" indent="-330200" algn="l" defTabSz="914400" rtl="0" eaLnBrk="1" latinLnBrk="0" hangingPunct="1">
              <a:lnSpc>
                <a:spcPct val="100000"/>
              </a:lnSpc>
              <a:spcBef>
                <a:spcPts val="336"/>
              </a:spcBef>
              <a:spcAft>
                <a:spcPts val="0"/>
              </a:spcAft>
              <a:buSzPts val="1600"/>
              <a:buFont typeface="Arial" panose="020B0604020202020204" pitchFamily="34" charset="0"/>
              <a:buChar char="–"/>
              <a:defRPr sz="1600" kern="1200">
                <a:solidFill>
                  <a:schemeClr val="tx1"/>
                </a:solidFill>
                <a:latin typeface="+mn-lt"/>
                <a:ea typeface="+mn-ea"/>
                <a:cs typeface="+mn-cs"/>
              </a:defRPr>
            </a:lvl4pPr>
            <a:lvl5pPr marL="2286000" lvl="4" indent="-330200" algn="l" defTabSz="914400" rtl="0" eaLnBrk="1" latinLnBrk="0" hangingPunct="1">
              <a:lnSpc>
                <a:spcPct val="100000"/>
              </a:lnSpc>
              <a:spcBef>
                <a:spcPts val="336"/>
              </a:spcBef>
              <a:spcAft>
                <a:spcPts val="0"/>
              </a:spcAft>
              <a:buSzPts val="1600"/>
              <a:buFont typeface="Arial" panose="020B0604020202020204" pitchFamily="34" charset="0"/>
              <a:buChar char="–"/>
              <a:defRPr sz="1600" kern="1200">
                <a:solidFill>
                  <a:schemeClr val="tx1"/>
                </a:solidFill>
                <a:latin typeface="+mn-lt"/>
                <a:ea typeface="+mn-ea"/>
                <a:cs typeface="+mn-cs"/>
              </a:defRPr>
            </a:lvl5pPr>
            <a:lvl6pPr marL="2743200" lvl="5" indent="-355600" algn="l" defTabSz="914400" rtl="0" eaLnBrk="1" latinLnBrk="0" hangingPunct="1">
              <a:lnSpc>
                <a:spcPct val="90000"/>
              </a:lnSpc>
              <a:spcBef>
                <a:spcPts val="400"/>
              </a:spcBef>
              <a:spcAft>
                <a:spcPts val="0"/>
              </a:spcAft>
              <a:buClr>
                <a:schemeClr val="dk1"/>
              </a:buClr>
              <a:buSzPts val="2000"/>
              <a:buFont typeface="Arial" panose="020B0604020202020204" pitchFamily="34" charset="0"/>
              <a:buChar char="•"/>
              <a:defRPr sz="1800" kern="1200">
                <a:solidFill>
                  <a:schemeClr val="tx1"/>
                </a:solidFill>
                <a:latin typeface="+mn-lt"/>
                <a:ea typeface="+mn-ea"/>
                <a:cs typeface="+mn-cs"/>
              </a:defRPr>
            </a:lvl6pPr>
            <a:lvl7pPr marL="3200400" lvl="6" indent="-342900" algn="l" defTabSz="914400" rtl="0" eaLnBrk="1" latinLnBrk="0" hangingPunct="1">
              <a:lnSpc>
                <a:spcPct val="90000"/>
              </a:lnSpc>
              <a:spcBef>
                <a:spcPts val="360"/>
              </a:spcBef>
              <a:spcAft>
                <a:spcPts val="0"/>
              </a:spcAft>
              <a:buClr>
                <a:schemeClr val="dk1"/>
              </a:buClr>
              <a:buSzPts val="1800"/>
              <a:buFont typeface="Arial" panose="020B0604020202020204" pitchFamily="34" charset="0"/>
              <a:buChar char="•"/>
              <a:defRPr sz="1800" kern="1200">
                <a:solidFill>
                  <a:schemeClr val="tx1"/>
                </a:solidFill>
                <a:latin typeface="+mn-lt"/>
                <a:ea typeface="+mn-ea"/>
                <a:cs typeface="+mn-cs"/>
              </a:defRPr>
            </a:lvl7pPr>
            <a:lvl8pPr marL="3657600" lvl="7" indent="-342900" algn="l" defTabSz="914400" rtl="0" eaLnBrk="1" latinLnBrk="0" hangingPunct="1">
              <a:lnSpc>
                <a:spcPct val="90000"/>
              </a:lnSpc>
              <a:spcBef>
                <a:spcPts val="360"/>
              </a:spcBef>
              <a:spcAft>
                <a:spcPts val="0"/>
              </a:spcAft>
              <a:buClr>
                <a:schemeClr val="dk1"/>
              </a:buClr>
              <a:buSzPts val="1800"/>
              <a:buFont typeface="Arial" panose="020B0604020202020204" pitchFamily="34" charset="0"/>
              <a:buChar char="•"/>
              <a:defRPr sz="1800" kern="1200">
                <a:solidFill>
                  <a:schemeClr val="tx1"/>
                </a:solidFill>
                <a:latin typeface="+mn-lt"/>
                <a:ea typeface="+mn-ea"/>
                <a:cs typeface="+mn-cs"/>
              </a:defRPr>
            </a:lvl8pPr>
            <a:lvl9pPr marL="4114800" lvl="8" indent="-342900" algn="l" defTabSz="914400" rtl="0" eaLnBrk="1" latinLnBrk="0" hangingPunct="1">
              <a:lnSpc>
                <a:spcPct val="90000"/>
              </a:lnSpc>
              <a:spcBef>
                <a:spcPts val="360"/>
              </a:spcBef>
              <a:spcAft>
                <a:spcPts val="0"/>
              </a:spcAft>
              <a:buClr>
                <a:schemeClr val="dk1"/>
              </a:buClr>
              <a:buSzPts val="1800"/>
              <a:buFont typeface="Arial" panose="020B0604020202020204" pitchFamily="34" charset="0"/>
              <a:buChar char="•"/>
              <a:defRPr sz="1800" kern="1200">
                <a:solidFill>
                  <a:schemeClr val="tx1"/>
                </a:solidFill>
                <a:latin typeface="+mn-lt"/>
                <a:ea typeface="+mn-ea"/>
                <a:cs typeface="+mn-cs"/>
              </a:defRPr>
            </a:lvl9pPr>
          </a:lstStyle>
          <a:p>
            <a:r>
              <a:rPr lang="en-US" sz="2200" b="1" dirty="0"/>
              <a:t>Simulation results for Ideal situation no PVT change:</a:t>
            </a:r>
          </a:p>
        </p:txBody>
      </p:sp>
      <p:pic>
        <p:nvPicPr>
          <p:cNvPr id="7" name="Picture 6">
            <a:extLst>
              <a:ext uri="{FF2B5EF4-FFF2-40B4-BE49-F238E27FC236}">
                <a16:creationId xmlns="" xmlns:a16="http://schemas.microsoft.com/office/drawing/2014/main" id="{EC797507-9C03-0759-FE4D-A41812111928}"/>
              </a:ext>
            </a:extLst>
          </p:cNvPr>
          <p:cNvPicPr>
            <a:picLocks noChangeAspect="1"/>
          </p:cNvPicPr>
          <p:nvPr/>
        </p:nvPicPr>
        <p:blipFill>
          <a:blip r:embed="rId2"/>
          <a:stretch>
            <a:fillRect/>
          </a:stretch>
        </p:blipFill>
        <p:spPr>
          <a:xfrm>
            <a:off x="5136806" y="1841512"/>
            <a:ext cx="6870529" cy="3756273"/>
          </a:xfrm>
          <a:prstGeom prst="rect">
            <a:avLst/>
          </a:prstGeom>
        </p:spPr>
      </p:pic>
      <p:sp>
        <p:nvSpPr>
          <p:cNvPr id="8" name="Text Placeholder 2">
            <a:extLst>
              <a:ext uri="{FF2B5EF4-FFF2-40B4-BE49-F238E27FC236}">
                <a16:creationId xmlns="" xmlns:a16="http://schemas.microsoft.com/office/drawing/2014/main" id="{F0D594D2-8DDE-324B-AD89-6550C878D28F}"/>
              </a:ext>
            </a:extLst>
          </p:cNvPr>
          <p:cNvSpPr txBox="1">
            <a:spLocks/>
          </p:cNvSpPr>
          <p:nvPr/>
        </p:nvSpPr>
        <p:spPr>
          <a:xfrm>
            <a:off x="5225143" y="5560399"/>
            <a:ext cx="7193986" cy="796859"/>
          </a:xfrm>
          <a:prstGeom prst="rect">
            <a:avLst/>
          </a:prstGeom>
          <a:noFill/>
          <a:ln>
            <a:noFill/>
          </a:ln>
        </p:spPr>
        <p:txBody>
          <a:bodyPr spcFirstLastPara="1" vert="horz" wrap="square" lIns="91425" tIns="45700" rIns="91425" bIns="45700" rtlCol="0" anchor="t" anchorCtr="0">
            <a:noAutofit/>
          </a:bodyPr>
          <a:lstStyle>
            <a:lvl1pPr marL="457200" lvl="0" indent="-381000" algn="l" defTabSz="914400" rtl="0" eaLnBrk="1" latinLnBrk="0" hangingPunct="1">
              <a:lnSpc>
                <a:spcPct val="90000"/>
              </a:lnSpc>
              <a:spcBef>
                <a:spcPts val="480"/>
              </a:spcBef>
              <a:spcAft>
                <a:spcPts val="0"/>
              </a:spcAft>
              <a:buSzPts val="2400"/>
              <a:buFont typeface="Arial" panose="020B0604020202020204" pitchFamily="34" charset="0"/>
              <a:buChar char="•"/>
              <a:defRPr sz="2400" kern="1200">
                <a:solidFill>
                  <a:schemeClr val="tx1"/>
                </a:solidFill>
                <a:latin typeface="+mn-lt"/>
                <a:ea typeface="+mn-ea"/>
                <a:cs typeface="+mn-cs"/>
              </a:defRPr>
            </a:lvl1pPr>
            <a:lvl2pPr marL="914400" lvl="1" indent="-342900" algn="l" defTabSz="914400" rtl="0" eaLnBrk="1" latinLnBrk="0" hangingPunct="1">
              <a:lnSpc>
                <a:spcPct val="90000"/>
              </a:lnSpc>
              <a:spcBef>
                <a:spcPts val="400"/>
              </a:spcBef>
              <a:spcAft>
                <a:spcPts val="0"/>
              </a:spcAft>
              <a:buSzPts val="1800"/>
              <a:buFont typeface="Arial" panose="020B0604020202020204" pitchFamily="34" charset="0"/>
              <a:buChar char="–"/>
              <a:defRPr sz="2000" kern="1200">
                <a:solidFill>
                  <a:schemeClr val="tx1"/>
                </a:solidFill>
                <a:latin typeface="+mn-lt"/>
                <a:ea typeface="+mn-ea"/>
                <a:cs typeface="+mn-cs"/>
              </a:defRPr>
            </a:lvl2pPr>
            <a:lvl3pPr marL="1371600" lvl="2" indent="-342900" algn="l" defTabSz="914400" rtl="0" eaLnBrk="1" latinLnBrk="0" hangingPunct="1">
              <a:lnSpc>
                <a:spcPct val="90000"/>
              </a:lnSpc>
              <a:spcBef>
                <a:spcPts val="360"/>
              </a:spcBef>
              <a:spcAft>
                <a:spcPts val="0"/>
              </a:spcAft>
              <a:buSzPts val="1800"/>
              <a:buFont typeface="Arial" panose="020B0604020202020204" pitchFamily="34" charset="0"/>
              <a:buChar char="–"/>
              <a:defRPr sz="1800" kern="1200">
                <a:solidFill>
                  <a:schemeClr val="tx1"/>
                </a:solidFill>
                <a:latin typeface="+mn-lt"/>
                <a:ea typeface="+mn-ea"/>
                <a:cs typeface="+mn-cs"/>
              </a:defRPr>
            </a:lvl3pPr>
            <a:lvl4pPr marL="1828800" lvl="3" indent="-330200" algn="l" defTabSz="914400" rtl="0" eaLnBrk="1" latinLnBrk="0" hangingPunct="1">
              <a:lnSpc>
                <a:spcPct val="100000"/>
              </a:lnSpc>
              <a:spcBef>
                <a:spcPts val="336"/>
              </a:spcBef>
              <a:spcAft>
                <a:spcPts val="0"/>
              </a:spcAft>
              <a:buSzPts val="1600"/>
              <a:buFont typeface="Arial" panose="020B0604020202020204" pitchFamily="34" charset="0"/>
              <a:buChar char="–"/>
              <a:defRPr sz="1600" kern="1200">
                <a:solidFill>
                  <a:schemeClr val="tx1"/>
                </a:solidFill>
                <a:latin typeface="+mn-lt"/>
                <a:ea typeface="+mn-ea"/>
                <a:cs typeface="+mn-cs"/>
              </a:defRPr>
            </a:lvl4pPr>
            <a:lvl5pPr marL="2286000" lvl="4" indent="-330200" algn="l" defTabSz="914400" rtl="0" eaLnBrk="1" latinLnBrk="0" hangingPunct="1">
              <a:lnSpc>
                <a:spcPct val="100000"/>
              </a:lnSpc>
              <a:spcBef>
                <a:spcPts val="336"/>
              </a:spcBef>
              <a:spcAft>
                <a:spcPts val="0"/>
              </a:spcAft>
              <a:buSzPts val="1600"/>
              <a:buFont typeface="Arial" panose="020B0604020202020204" pitchFamily="34" charset="0"/>
              <a:buChar char="–"/>
              <a:defRPr sz="1600" kern="1200">
                <a:solidFill>
                  <a:schemeClr val="tx1"/>
                </a:solidFill>
                <a:latin typeface="+mn-lt"/>
                <a:ea typeface="+mn-ea"/>
                <a:cs typeface="+mn-cs"/>
              </a:defRPr>
            </a:lvl5pPr>
            <a:lvl6pPr marL="2743200" lvl="5" indent="-355600" algn="l" defTabSz="914400" rtl="0" eaLnBrk="1" latinLnBrk="0" hangingPunct="1">
              <a:lnSpc>
                <a:spcPct val="90000"/>
              </a:lnSpc>
              <a:spcBef>
                <a:spcPts val="400"/>
              </a:spcBef>
              <a:spcAft>
                <a:spcPts val="0"/>
              </a:spcAft>
              <a:buClr>
                <a:schemeClr val="dk1"/>
              </a:buClr>
              <a:buSzPts val="2000"/>
              <a:buFont typeface="Arial" panose="020B0604020202020204" pitchFamily="34" charset="0"/>
              <a:buChar char="•"/>
              <a:defRPr sz="1800" kern="1200">
                <a:solidFill>
                  <a:schemeClr val="tx1"/>
                </a:solidFill>
                <a:latin typeface="+mn-lt"/>
                <a:ea typeface="+mn-ea"/>
                <a:cs typeface="+mn-cs"/>
              </a:defRPr>
            </a:lvl6pPr>
            <a:lvl7pPr marL="3200400" lvl="6" indent="-342900" algn="l" defTabSz="914400" rtl="0" eaLnBrk="1" latinLnBrk="0" hangingPunct="1">
              <a:lnSpc>
                <a:spcPct val="90000"/>
              </a:lnSpc>
              <a:spcBef>
                <a:spcPts val="360"/>
              </a:spcBef>
              <a:spcAft>
                <a:spcPts val="0"/>
              </a:spcAft>
              <a:buClr>
                <a:schemeClr val="dk1"/>
              </a:buClr>
              <a:buSzPts val="1800"/>
              <a:buFont typeface="Arial" panose="020B0604020202020204" pitchFamily="34" charset="0"/>
              <a:buChar char="•"/>
              <a:defRPr sz="1800" kern="1200">
                <a:solidFill>
                  <a:schemeClr val="tx1"/>
                </a:solidFill>
                <a:latin typeface="+mn-lt"/>
                <a:ea typeface="+mn-ea"/>
                <a:cs typeface="+mn-cs"/>
              </a:defRPr>
            </a:lvl7pPr>
            <a:lvl8pPr marL="3657600" lvl="7" indent="-342900" algn="l" defTabSz="914400" rtl="0" eaLnBrk="1" latinLnBrk="0" hangingPunct="1">
              <a:lnSpc>
                <a:spcPct val="90000"/>
              </a:lnSpc>
              <a:spcBef>
                <a:spcPts val="360"/>
              </a:spcBef>
              <a:spcAft>
                <a:spcPts val="0"/>
              </a:spcAft>
              <a:buClr>
                <a:schemeClr val="dk1"/>
              </a:buClr>
              <a:buSzPts val="1800"/>
              <a:buFont typeface="Arial" panose="020B0604020202020204" pitchFamily="34" charset="0"/>
              <a:buChar char="•"/>
              <a:defRPr sz="1800" kern="1200">
                <a:solidFill>
                  <a:schemeClr val="tx1"/>
                </a:solidFill>
                <a:latin typeface="+mn-lt"/>
                <a:ea typeface="+mn-ea"/>
                <a:cs typeface="+mn-cs"/>
              </a:defRPr>
            </a:lvl8pPr>
            <a:lvl9pPr marL="4114800" lvl="8" indent="-342900" algn="l" defTabSz="914400" rtl="0" eaLnBrk="1" latinLnBrk="0" hangingPunct="1">
              <a:lnSpc>
                <a:spcPct val="90000"/>
              </a:lnSpc>
              <a:spcBef>
                <a:spcPts val="360"/>
              </a:spcBef>
              <a:spcAft>
                <a:spcPts val="0"/>
              </a:spcAft>
              <a:buClr>
                <a:schemeClr val="dk1"/>
              </a:buClr>
              <a:buSzPts val="1800"/>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dirty="0"/>
              <a:t>Frequency difference from target channel (PVT = 1, without LMS)</a:t>
            </a:r>
          </a:p>
        </p:txBody>
      </p:sp>
      <p:pic>
        <p:nvPicPr>
          <p:cNvPr id="10" name="Picture 9">
            <a:extLst>
              <a:ext uri="{FF2B5EF4-FFF2-40B4-BE49-F238E27FC236}">
                <a16:creationId xmlns="" xmlns:a16="http://schemas.microsoft.com/office/drawing/2014/main" id="{95C3873E-4C8C-F9CA-395F-44922F6B7F0E}"/>
              </a:ext>
            </a:extLst>
          </p:cNvPr>
          <p:cNvPicPr>
            <a:picLocks noChangeAspect="1"/>
          </p:cNvPicPr>
          <p:nvPr/>
        </p:nvPicPr>
        <p:blipFill>
          <a:blip r:embed="rId3"/>
          <a:stretch>
            <a:fillRect/>
          </a:stretch>
        </p:blipFill>
        <p:spPr>
          <a:xfrm>
            <a:off x="134190" y="2209618"/>
            <a:ext cx="4888316" cy="2438763"/>
          </a:xfrm>
          <a:prstGeom prst="rect">
            <a:avLst/>
          </a:prstGeom>
        </p:spPr>
      </p:pic>
      <p:sp>
        <p:nvSpPr>
          <p:cNvPr id="14" name="TextBox 13">
            <a:extLst>
              <a:ext uri="{FF2B5EF4-FFF2-40B4-BE49-F238E27FC236}">
                <a16:creationId xmlns="" xmlns:a16="http://schemas.microsoft.com/office/drawing/2014/main" id="{6AB6E1F1-64AF-C935-1D94-A52D72991CD6}"/>
              </a:ext>
            </a:extLst>
          </p:cNvPr>
          <p:cNvSpPr txBox="1"/>
          <p:nvPr/>
        </p:nvSpPr>
        <p:spPr>
          <a:xfrm>
            <a:off x="609600" y="4938417"/>
            <a:ext cx="6206836" cy="369332"/>
          </a:xfrm>
          <a:prstGeom prst="rect">
            <a:avLst/>
          </a:prstGeom>
          <a:noFill/>
        </p:spPr>
        <p:txBody>
          <a:bodyPr wrap="square">
            <a:spAutoFit/>
          </a:bodyPr>
          <a:lstStyle/>
          <a:p>
            <a:r>
              <a:rPr lang="en-US" dirty="0"/>
              <a:t>Result (PVT = 1, without LMS)</a:t>
            </a:r>
          </a:p>
        </p:txBody>
      </p:sp>
    </p:spTree>
    <p:extLst>
      <p:ext uri="{BB962C8B-B14F-4D97-AF65-F5344CB8AC3E}">
        <p14:creationId xmlns:p14="http://schemas.microsoft.com/office/powerpoint/2010/main" val="324528630"/>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DDC9584-ECDC-DEF6-E6B7-0F88CC3D19C0}"/>
              </a:ext>
            </a:extLst>
          </p:cNvPr>
          <p:cNvSpPr>
            <a:spLocks noGrp="1"/>
          </p:cNvSpPr>
          <p:nvPr>
            <p:ph type="title"/>
          </p:nvPr>
        </p:nvSpPr>
        <p:spPr/>
        <p:txBody>
          <a:bodyPr/>
          <a:lstStyle/>
          <a:p>
            <a:r>
              <a:rPr lang="en-US" dirty="0"/>
              <a:t>DCO simulation Result</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 xmlns:a16="http://schemas.microsoft.com/office/drawing/2014/main" id="{8DE516C2-F427-4E97-B95D-79E21446FC7C}"/>
                  </a:ext>
                </a:extLst>
              </p:cNvPr>
              <p:cNvSpPr>
                <a:spLocks noGrp="1"/>
              </p:cNvSpPr>
              <p:nvPr>
                <p:ph type="body" idx="1"/>
              </p:nvPr>
            </p:nvSpPr>
            <p:spPr>
              <a:xfrm>
                <a:off x="914400" y="2343150"/>
                <a:ext cx="4038600" cy="4152545"/>
              </a:xfrm>
            </p:spPr>
            <p:txBody>
              <a:bodyPr/>
              <a:lstStyle/>
              <a:p>
                <a:pPr marL="76200" indent="0">
                  <a:buNone/>
                </a:pPr>
                <a:r>
                  <a:rPr lang="en-US" sz="2200" b="1" dirty="0">
                    <a:solidFill>
                      <a:schemeClr val="tx1">
                        <a:lumMod val="85000"/>
                        <a:lumOff val="15000"/>
                      </a:schemeClr>
                    </a:solidFill>
                  </a:rPr>
                  <a:t>Comment on Results:</a:t>
                </a:r>
              </a:p>
              <a:p>
                <a:r>
                  <a:rPr lang="en-US" b="0" dirty="0">
                    <a:solidFill>
                      <a:schemeClr val="tx1">
                        <a:lumMod val="85000"/>
                        <a:lumOff val="15000"/>
                      </a:schemeClr>
                    </a:solidFill>
                    <a:latin typeface="+mn-lt"/>
                  </a:rPr>
                  <a:t>ADPLL did not require PVT calibration.</a:t>
                </a:r>
              </a:p>
              <a:p>
                <a:r>
                  <a:rPr lang="en-US" b="0" dirty="0">
                    <a:solidFill>
                      <a:schemeClr val="tx1">
                        <a:lumMod val="85000"/>
                        <a:lumOff val="15000"/>
                      </a:schemeClr>
                    </a:solidFill>
                    <a:latin typeface="+mn-lt"/>
                  </a:rPr>
                  <a:t>Offset frequency of 9.91 kHz worst case will be </a:t>
                </a:r>
                <a14:m>
                  <m:oMath xmlns:m="http://schemas.openxmlformats.org/officeDocument/2006/math">
                    <m:r>
                      <a:rPr lang="en-US" b="0" i="1" smtClean="0">
                        <a:solidFill>
                          <a:schemeClr val="tx1">
                            <a:lumMod val="85000"/>
                            <a:lumOff val="15000"/>
                          </a:schemeClr>
                        </a:solidFill>
                        <a:latin typeface="Cambria Math" panose="02040503050406030204" pitchFamily="18" charset="0"/>
                      </a:rPr>
                      <m:t>± </m:t>
                    </m:r>
                  </m:oMath>
                </a14:m>
                <a:r>
                  <a:rPr lang="en-US" b="0" dirty="0">
                    <a:solidFill>
                      <a:schemeClr val="tx1">
                        <a:lumMod val="85000"/>
                        <a:lumOff val="15000"/>
                      </a:schemeClr>
                    </a:solidFill>
                    <a:latin typeface="+mn-lt"/>
                  </a:rPr>
                  <a:t>25KHz</a:t>
                </a:r>
              </a:p>
              <a:p>
                <a:endParaRPr lang="en-US" dirty="0"/>
              </a:p>
              <a:p>
                <a:endParaRPr lang="en-US" dirty="0"/>
              </a:p>
              <a:p>
                <a:pPr marL="76200" indent="0">
                  <a:buNone/>
                </a:pPr>
                <a:endParaRPr lang="en-US" dirty="0"/>
              </a:p>
            </p:txBody>
          </p:sp>
        </mc:Choice>
        <mc:Fallback xmlns="">
          <p:sp>
            <p:nvSpPr>
              <p:cNvPr id="3" name="Text Placeholder 2">
                <a:extLst>
                  <a:ext uri="{FF2B5EF4-FFF2-40B4-BE49-F238E27FC236}">
                    <a16:creationId xmlns:a16="http://schemas.microsoft.com/office/drawing/2014/main" id="{8DE516C2-F427-4E97-B95D-79E21446FC7C}"/>
                  </a:ext>
                </a:extLst>
              </p:cNvPr>
              <p:cNvSpPr>
                <a:spLocks noGrp="1" noRot="1" noChangeAspect="1" noMove="1" noResize="1" noEditPoints="1" noAdjustHandles="1" noChangeArrowheads="1" noChangeShapeType="1" noTextEdit="1"/>
              </p:cNvSpPr>
              <p:nvPr>
                <p:ph type="body" idx="1"/>
              </p:nvPr>
            </p:nvSpPr>
            <p:spPr>
              <a:xfrm>
                <a:off x="914400" y="2343150"/>
                <a:ext cx="4038600" cy="4152545"/>
              </a:xfrm>
              <a:blipFill>
                <a:blip r:embed="rId2"/>
                <a:stretch>
                  <a:fillRect/>
                </a:stretch>
              </a:blipFill>
            </p:spPr>
            <p:txBody>
              <a:bodyPr/>
              <a:lstStyle/>
              <a:p>
                <a:r>
                  <a:rPr lang="en-US">
                    <a:noFill/>
                  </a:rPr>
                  <a:t> </a:t>
                </a:r>
              </a:p>
            </p:txBody>
          </p:sp>
        </mc:Fallback>
      </mc:AlternateContent>
      <p:pic>
        <p:nvPicPr>
          <p:cNvPr id="6" name="Picture 5">
            <a:extLst>
              <a:ext uri="{FF2B5EF4-FFF2-40B4-BE49-F238E27FC236}">
                <a16:creationId xmlns="" xmlns:a16="http://schemas.microsoft.com/office/drawing/2014/main" id="{0BCFDCE7-934C-E081-C80D-BA95E0B0E44D}"/>
              </a:ext>
            </a:extLst>
          </p:cNvPr>
          <p:cNvPicPr>
            <a:picLocks noChangeAspect="1"/>
          </p:cNvPicPr>
          <p:nvPr/>
        </p:nvPicPr>
        <p:blipFill>
          <a:blip r:embed="rId3"/>
          <a:stretch>
            <a:fillRect/>
          </a:stretch>
        </p:blipFill>
        <p:spPr>
          <a:xfrm>
            <a:off x="5246557" y="1965251"/>
            <a:ext cx="6565679" cy="3632534"/>
          </a:xfrm>
          <a:prstGeom prst="rect">
            <a:avLst/>
          </a:prstGeom>
        </p:spPr>
      </p:pic>
      <p:sp>
        <p:nvSpPr>
          <p:cNvPr id="8" name="TextBox 7">
            <a:extLst>
              <a:ext uri="{FF2B5EF4-FFF2-40B4-BE49-F238E27FC236}">
                <a16:creationId xmlns="" xmlns:a16="http://schemas.microsoft.com/office/drawing/2014/main" id="{E4F615F9-DD31-B68D-E71A-1796BED57102}"/>
              </a:ext>
            </a:extLst>
          </p:cNvPr>
          <p:cNvSpPr txBox="1"/>
          <p:nvPr/>
        </p:nvSpPr>
        <p:spPr>
          <a:xfrm>
            <a:off x="5718736" y="5597785"/>
            <a:ext cx="6093500" cy="646331"/>
          </a:xfrm>
          <a:prstGeom prst="rect">
            <a:avLst/>
          </a:prstGeom>
          <a:noFill/>
        </p:spPr>
        <p:txBody>
          <a:bodyPr wrap="square">
            <a:spAutoFit/>
          </a:bodyPr>
          <a:lstStyle/>
          <a:p>
            <a:r>
              <a:rPr lang="en-US" dirty="0"/>
              <a:t>ADPLL FSK modulation waveform (PVT = 1, without LMS)</a:t>
            </a:r>
          </a:p>
          <a:p>
            <a:endParaRPr lang="en-US" dirty="0"/>
          </a:p>
        </p:txBody>
      </p:sp>
      <p:sp>
        <p:nvSpPr>
          <p:cNvPr id="9" name="Text Placeholder 2">
            <a:extLst>
              <a:ext uri="{FF2B5EF4-FFF2-40B4-BE49-F238E27FC236}">
                <a16:creationId xmlns="" xmlns:a16="http://schemas.microsoft.com/office/drawing/2014/main" id="{010EF4B6-27B8-BA05-5E84-F29695030452}"/>
              </a:ext>
            </a:extLst>
          </p:cNvPr>
          <p:cNvSpPr txBox="1">
            <a:spLocks/>
          </p:cNvSpPr>
          <p:nvPr/>
        </p:nvSpPr>
        <p:spPr>
          <a:xfrm>
            <a:off x="488888" y="1535408"/>
            <a:ext cx="9515337" cy="581297"/>
          </a:xfrm>
          <a:prstGeom prst="rect">
            <a:avLst/>
          </a:prstGeom>
          <a:noFill/>
          <a:ln>
            <a:noFill/>
          </a:ln>
        </p:spPr>
        <p:txBody>
          <a:bodyPr spcFirstLastPara="1" vert="horz" wrap="square" lIns="91425" tIns="45700" rIns="91425" bIns="45700" rtlCol="0" anchor="t" anchorCtr="0">
            <a:noAutofit/>
          </a:bodyPr>
          <a:lstStyle>
            <a:lvl1pPr marL="457200" lvl="0" indent="-381000" algn="l" defTabSz="914400" rtl="0" eaLnBrk="1" latinLnBrk="0" hangingPunct="1">
              <a:lnSpc>
                <a:spcPct val="90000"/>
              </a:lnSpc>
              <a:spcBef>
                <a:spcPts val="480"/>
              </a:spcBef>
              <a:spcAft>
                <a:spcPts val="0"/>
              </a:spcAft>
              <a:buSzPts val="2400"/>
              <a:buFont typeface="Arial" panose="020B0604020202020204" pitchFamily="34" charset="0"/>
              <a:buChar char="•"/>
              <a:defRPr sz="2400" kern="1200">
                <a:solidFill>
                  <a:schemeClr val="tx1"/>
                </a:solidFill>
                <a:latin typeface="+mn-lt"/>
                <a:ea typeface="+mn-ea"/>
                <a:cs typeface="+mn-cs"/>
              </a:defRPr>
            </a:lvl1pPr>
            <a:lvl2pPr marL="914400" lvl="1" indent="-342900" algn="l" defTabSz="914400" rtl="0" eaLnBrk="1" latinLnBrk="0" hangingPunct="1">
              <a:lnSpc>
                <a:spcPct val="90000"/>
              </a:lnSpc>
              <a:spcBef>
                <a:spcPts val="400"/>
              </a:spcBef>
              <a:spcAft>
                <a:spcPts val="0"/>
              </a:spcAft>
              <a:buSzPts val="1800"/>
              <a:buFont typeface="Arial" panose="020B0604020202020204" pitchFamily="34" charset="0"/>
              <a:buChar char="–"/>
              <a:defRPr sz="2000" kern="1200">
                <a:solidFill>
                  <a:schemeClr val="tx1"/>
                </a:solidFill>
                <a:latin typeface="+mn-lt"/>
                <a:ea typeface="+mn-ea"/>
                <a:cs typeface="+mn-cs"/>
              </a:defRPr>
            </a:lvl2pPr>
            <a:lvl3pPr marL="1371600" lvl="2" indent="-342900" algn="l" defTabSz="914400" rtl="0" eaLnBrk="1" latinLnBrk="0" hangingPunct="1">
              <a:lnSpc>
                <a:spcPct val="90000"/>
              </a:lnSpc>
              <a:spcBef>
                <a:spcPts val="360"/>
              </a:spcBef>
              <a:spcAft>
                <a:spcPts val="0"/>
              </a:spcAft>
              <a:buSzPts val="1800"/>
              <a:buFont typeface="Arial" panose="020B0604020202020204" pitchFamily="34" charset="0"/>
              <a:buChar char="–"/>
              <a:defRPr sz="1800" kern="1200">
                <a:solidFill>
                  <a:schemeClr val="tx1"/>
                </a:solidFill>
                <a:latin typeface="+mn-lt"/>
                <a:ea typeface="+mn-ea"/>
                <a:cs typeface="+mn-cs"/>
              </a:defRPr>
            </a:lvl3pPr>
            <a:lvl4pPr marL="1828800" lvl="3" indent="-330200" algn="l" defTabSz="914400" rtl="0" eaLnBrk="1" latinLnBrk="0" hangingPunct="1">
              <a:lnSpc>
                <a:spcPct val="100000"/>
              </a:lnSpc>
              <a:spcBef>
                <a:spcPts val="336"/>
              </a:spcBef>
              <a:spcAft>
                <a:spcPts val="0"/>
              </a:spcAft>
              <a:buSzPts val="1600"/>
              <a:buFont typeface="Arial" panose="020B0604020202020204" pitchFamily="34" charset="0"/>
              <a:buChar char="–"/>
              <a:defRPr sz="1600" kern="1200">
                <a:solidFill>
                  <a:schemeClr val="tx1"/>
                </a:solidFill>
                <a:latin typeface="+mn-lt"/>
                <a:ea typeface="+mn-ea"/>
                <a:cs typeface="+mn-cs"/>
              </a:defRPr>
            </a:lvl4pPr>
            <a:lvl5pPr marL="2286000" lvl="4" indent="-330200" algn="l" defTabSz="914400" rtl="0" eaLnBrk="1" latinLnBrk="0" hangingPunct="1">
              <a:lnSpc>
                <a:spcPct val="100000"/>
              </a:lnSpc>
              <a:spcBef>
                <a:spcPts val="336"/>
              </a:spcBef>
              <a:spcAft>
                <a:spcPts val="0"/>
              </a:spcAft>
              <a:buSzPts val="1600"/>
              <a:buFont typeface="Arial" panose="020B0604020202020204" pitchFamily="34" charset="0"/>
              <a:buChar char="–"/>
              <a:defRPr sz="1600" kern="1200">
                <a:solidFill>
                  <a:schemeClr val="tx1"/>
                </a:solidFill>
                <a:latin typeface="+mn-lt"/>
                <a:ea typeface="+mn-ea"/>
                <a:cs typeface="+mn-cs"/>
              </a:defRPr>
            </a:lvl5pPr>
            <a:lvl6pPr marL="2743200" lvl="5" indent="-355600" algn="l" defTabSz="914400" rtl="0" eaLnBrk="1" latinLnBrk="0" hangingPunct="1">
              <a:lnSpc>
                <a:spcPct val="90000"/>
              </a:lnSpc>
              <a:spcBef>
                <a:spcPts val="400"/>
              </a:spcBef>
              <a:spcAft>
                <a:spcPts val="0"/>
              </a:spcAft>
              <a:buClr>
                <a:schemeClr val="dk1"/>
              </a:buClr>
              <a:buSzPts val="2000"/>
              <a:buFont typeface="Arial" panose="020B0604020202020204" pitchFamily="34" charset="0"/>
              <a:buChar char="•"/>
              <a:defRPr sz="1800" kern="1200">
                <a:solidFill>
                  <a:schemeClr val="tx1"/>
                </a:solidFill>
                <a:latin typeface="+mn-lt"/>
                <a:ea typeface="+mn-ea"/>
                <a:cs typeface="+mn-cs"/>
              </a:defRPr>
            </a:lvl6pPr>
            <a:lvl7pPr marL="3200400" lvl="6" indent="-342900" algn="l" defTabSz="914400" rtl="0" eaLnBrk="1" latinLnBrk="0" hangingPunct="1">
              <a:lnSpc>
                <a:spcPct val="90000"/>
              </a:lnSpc>
              <a:spcBef>
                <a:spcPts val="360"/>
              </a:spcBef>
              <a:spcAft>
                <a:spcPts val="0"/>
              </a:spcAft>
              <a:buClr>
                <a:schemeClr val="dk1"/>
              </a:buClr>
              <a:buSzPts val="1800"/>
              <a:buFont typeface="Arial" panose="020B0604020202020204" pitchFamily="34" charset="0"/>
              <a:buChar char="•"/>
              <a:defRPr sz="1800" kern="1200">
                <a:solidFill>
                  <a:schemeClr val="tx1"/>
                </a:solidFill>
                <a:latin typeface="+mn-lt"/>
                <a:ea typeface="+mn-ea"/>
                <a:cs typeface="+mn-cs"/>
              </a:defRPr>
            </a:lvl7pPr>
            <a:lvl8pPr marL="3657600" lvl="7" indent="-342900" algn="l" defTabSz="914400" rtl="0" eaLnBrk="1" latinLnBrk="0" hangingPunct="1">
              <a:lnSpc>
                <a:spcPct val="90000"/>
              </a:lnSpc>
              <a:spcBef>
                <a:spcPts val="360"/>
              </a:spcBef>
              <a:spcAft>
                <a:spcPts val="0"/>
              </a:spcAft>
              <a:buClr>
                <a:schemeClr val="dk1"/>
              </a:buClr>
              <a:buSzPts val="1800"/>
              <a:buFont typeface="Arial" panose="020B0604020202020204" pitchFamily="34" charset="0"/>
              <a:buChar char="•"/>
              <a:defRPr sz="1800" kern="1200">
                <a:solidFill>
                  <a:schemeClr val="tx1"/>
                </a:solidFill>
                <a:latin typeface="+mn-lt"/>
                <a:ea typeface="+mn-ea"/>
                <a:cs typeface="+mn-cs"/>
              </a:defRPr>
            </a:lvl8pPr>
            <a:lvl9pPr marL="4114800" lvl="8" indent="-342900" algn="l" defTabSz="914400" rtl="0" eaLnBrk="1" latinLnBrk="0" hangingPunct="1">
              <a:lnSpc>
                <a:spcPct val="90000"/>
              </a:lnSpc>
              <a:spcBef>
                <a:spcPts val="360"/>
              </a:spcBef>
              <a:spcAft>
                <a:spcPts val="0"/>
              </a:spcAft>
              <a:buClr>
                <a:schemeClr val="dk1"/>
              </a:buClr>
              <a:buSzPts val="1800"/>
              <a:buFont typeface="Arial" panose="020B0604020202020204" pitchFamily="34" charset="0"/>
              <a:buChar char="•"/>
              <a:defRPr sz="1800" kern="1200">
                <a:solidFill>
                  <a:schemeClr val="tx1"/>
                </a:solidFill>
                <a:latin typeface="+mn-lt"/>
                <a:ea typeface="+mn-ea"/>
                <a:cs typeface="+mn-cs"/>
              </a:defRPr>
            </a:lvl9pPr>
          </a:lstStyle>
          <a:p>
            <a:r>
              <a:rPr lang="en-US" sz="2200" b="1" dirty="0"/>
              <a:t>Simulation results for Ideal situation no PVT change:</a:t>
            </a:r>
          </a:p>
        </p:txBody>
      </p:sp>
    </p:spTree>
    <p:extLst>
      <p:ext uri="{BB962C8B-B14F-4D97-AF65-F5344CB8AC3E}">
        <p14:creationId xmlns:p14="http://schemas.microsoft.com/office/powerpoint/2010/main" val="3079614234"/>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21AF3A6-028D-69F7-4E3E-AEEC9C5EBE79}"/>
              </a:ext>
            </a:extLst>
          </p:cNvPr>
          <p:cNvSpPr>
            <a:spLocks noGrp="1"/>
          </p:cNvSpPr>
          <p:nvPr>
            <p:ph type="title"/>
          </p:nvPr>
        </p:nvSpPr>
        <p:spPr/>
        <p:txBody>
          <a:bodyPr/>
          <a:lstStyle/>
          <a:p>
            <a:r>
              <a:rPr lang="en-US" dirty="0"/>
              <a:t>DCO simulation Result</a:t>
            </a:r>
          </a:p>
        </p:txBody>
      </p:sp>
      <p:sp>
        <p:nvSpPr>
          <p:cNvPr id="6" name="TextBox 5">
            <a:extLst>
              <a:ext uri="{FF2B5EF4-FFF2-40B4-BE49-F238E27FC236}">
                <a16:creationId xmlns="" xmlns:a16="http://schemas.microsoft.com/office/drawing/2014/main" id="{0F77C349-2E3F-DA56-7176-277AC69D443B}"/>
              </a:ext>
            </a:extLst>
          </p:cNvPr>
          <p:cNvSpPr txBox="1"/>
          <p:nvPr/>
        </p:nvSpPr>
        <p:spPr>
          <a:xfrm>
            <a:off x="609599" y="1319654"/>
            <a:ext cx="10636252" cy="430887"/>
          </a:xfrm>
          <a:prstGeom prst="rect">
            <a:avLst/>
          </a:prstGeom>
          <a:noFill/>
        </p:spPr>
        <p:txBody>
          <a:bodyPr wrap="square">
            <a:spAutoFit/>
          </a:bodyPr>
          <a:lstStyle/>
          <a:p>
            <a:r>
              <a:rPr lang="en-US" sz="2200" b="1" dirty="0">
                <a:latin typeface="+mn-lt"/>
              </a:rPr>
              <a:t>PVT=0.7 and Fixed Capacitor PVT = 0.85 (Without Gain Calibration):</a:t>
            </a:r>
          </a:p>
        </p:txBody>
      </p:sp>
      <p:pic>
        <p:nvPicPr>
          <p:cNvPr id="14" name="Picture 13">
            <a:extLst>
              <a:ext uri="{FF2B5EF4-FFF2-40B4-BE49-F238E27FC236}">
                <a16:creationId xmlns="" xmlns:a16="http://schemas.microsoft.com/office/drawing/2014/main" id="{724EB43E-79E6-13E4-AB70-FCCF6B5A31C6}"/>
              </a:ext>
            </a:extLst>
          </p:cNvPr>
          <p:cNvPicPr>
            <a:picLocks noChangeAspect="1"/>
          </p:cNvPicPr>
          <p:nvPr/>
        </p:nvPicPr>
        <p:blipFill>
          <a:blip r:embed="rId2"/>
          <a:stretch>
            <a:fillRect/>
          </a:stretch>
        </p:blipFill>
        <p:spPr>
          <a:xfrm>
            <a:off x="5500255" y="2203206"/>
            <a:ext cx="6466236" cy="3569143"/>
          </a:xfrm>
          <a:prstGeom prst="rect">
            <a:avLst/>
          </a:prstGeom>
        </p:spPr>
      </p:pic>
      <p:sp>
        <p:nvSpPr>
          <p:cNvPr id="16" name="TextBox 15">
            <a:extLst>
              <a:ext uri="{FF2B5EF4-FFF2-40B4-BE49-F238E27FC236}">
                <a16:creationId xmlns="" xmlns:a16="http://schemas.microsoft.com/office/drawing/2014/main" id="{C9B8ED67-FA96-EC4A-1331-CB9E6A7FBBD4}"/>
              </a:ext>
            </a:extLst>
          </p:cNvPr>
          <p:cNvSpPr txBox="1"/>
          <p:nvPr/>
        </p:nvSpPr>
        <p:spPr>
          <a:xfrm>
            <a:off x="6096000" y="5864682"/>
            <a:ext cx="6096000" cy="369332"/>
          </a:xfrm>
          <a:prstGeom prst="rect">
            <a:avLst/>
          </a:prstGeom>
          <a:noFill/>
        </p:spPr>
        <p:txBody>
          <a:bodyPr wrap="square">
            <a:spAutoFit/>
          </a:bodyPr>
          <a:lstStyle/>
          <a:p>
            <a:r>
              <a:rPr lang="en-US" dirty="0"/>
              <a:t>Phase error during lock (PVT = 0.7, with out LMS)</a:t>
            </a:r>
          </a:p>
        </p:txBody>
      </p:sp>
      <p:pic>
        <p:nvPicPr>
          <p:cNvPr id="20" name="Picture 19">
            <a:extLst>
              <a:ext uri="{FF2B5EF4-FFF2-40B4-BE49-F238E27FC236}">
                <a16:creationId xmlns="" xmlns:a16="http://schemas.microsoft.com/office/drawing/2014/main" id="{41E8333F-238B-9C40-3C84-1812EF1D224F}"/>
              </a:ext>
            </a:extLst>
          </p:cNvPr>
          <p:cNvPicPr>
            <a:picLocks noChangeAspect="1"/>
          </p:cNvPicPr>
          <p:nvPr/>
        </p:nvPicPr>
        <p:blipFill>
          <a:blip r:embed="rId3"/>
          <a:stretch>
            <a:fillRect/>
          </a:stretch>
        </p:blipFill>
        <p:spPr>
          <a:xfrm>
            <a:off x="227490" y="2203206"/>
            <a:ext cx="5092044" cy="2289588"/>
          </a:xfrm>
          <a:prstGeom prst="rect">
            <a:avLst/>
          </a:prstGeom>
        </p:spPr>
      </p:pic>
      <p:sp>
        <p:nvSpPr>
          <p:cNvPr id="22" name="TextBox 21">
            <a:extLst>
              <a:ext uri="{FF2B5EF4-FFF2-40B4-BE49-F238E27FC236}">
                <a16:creationId xmlns="" xmlns:a16="http://schemas.microsoft.com/office/drawing/2014/main" id="{441E5BEE-AC66-9125-1D52-31F844BDF45D}"/>
              </a:ext>
            </a:extLst>
          </p:cNvPr>
          <p:cNvSpPr txBox="1"/>
          <p:nvPr/>
        </p:nvSpPr>
        <p:spPr>
          <a:xfrm>
            <a:off x="581890" y="4654794"/>
            <a:ext cx="6096000" cy="369332"/>
          </a:xfrm>
          <a:prstGeom prst="rect">
            <a:avLst/>
          </a:prstGeom>
          <a:noFill/>
        </p:spPr>
        <p:txBody>
          <a:bodyPr wrap="square">
            <a:spAutoFit/>
          </a:bodyPr>
          <a:lstStyle/>
          <a:p>
            <a:r>
              <a:rPr lang="en-US" dirty="0"/>
              <a:t>Result (PVT = 0.7,without LMS)</a:t>
            </a:r>
          </a:p>
        </p:txBody>
      </p:sp>
    </p:spTree>
    <p:extLst>
      <p:ext uri="{BB962C8B-B14F-4D97-AF65-F5344CB8AC3E}">
        <p14:creationId xmlns:p14="http://schemas.microsoft.com/office/powerpoint/2010/main" val="1870679836"/>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CE7DB1C-210F-FE15-884D-35ABCB049F2B}"/>
              </a:ext>
            </a:extLst>
          </p:cNvPr>
          <p:cNvSpPr>
            <a:spLocks noGrp="1"/>
          </p:cNvSpPr>
          <p:nvPr>
            <p:ph type="title"/>
          </p:nvPr>
        </p:nvSpPr>
        <p:spPr/>
        <p:txBody>
          <a:bodyPr/>
          <a:lstStyle/>
          <a:p>
            <a:r>
              <a:rPr lang="en-US" dirty="0"/>
              <a:t>DCO simulation Result</a:t>
            </a:r>
          </a:p>
        </p:txBody>
      </p:sp>
      <p:sp>
        <p:nvSpPr>
          <p:cNvPr id="6" name="Text Placeholder 2">
            <a:extLst>
              <a:ext uri="{FF2B5EF4-FFF2-40B4-BE49-F238E27FC236}">
                <a16:creationId xmlns="" xmlns:a16="http://schemas.microsoft.com/office/drawing/2014/main" id="{E0318B22-942B-F11F-474B-0B451E8ECB9F}"/>
              </a:ext>
            </a:extLst>
          </p:cNvPr>
          <p:cNvSpPr>
            <a:spLocks noGrp="1"/>
          </p:cNvSpPr>
          <p:nvPr>
            <p:ph type="body" idx="1"/>
          </p:nvPr>
        </p:nvSpPr>
        <p:spPr>
          <a:xfrm>
            <a:off x="609600" y="2266950"/>
            <a:ext cx="3884030" cy="4228745"/>
          </a:xfrm>
        </p:spPr>
        <p:txBody>
          <a:bodyPr/>
          <a:lstStyle/>
          <a:p>
            <a:pPr marL="76200" indent="0">
              <a:buNone/>
            </a:pPr>
            <a:r>
              <a:rPr lang="en-US" sz="2200" dirty="0">
                <a:solidFill>
                  <a:schemeClr val="tx1">
                    <a:lumMod val="85000"/>
                    <a:lumOff val="15000"/>
                  </a:schemeClr>
                </a:solidFill>
              </a:rPr>
              <a:t>Comment on Results:</a:t>
            </a:r>
          </a:p>
          <a:p>
            <a:r>
              <a:rPr lang="en-US" b="0" dirty="0">
                <a:solidFill>
                  <a:schemeClr val="tx1">
                    <a:lumMod val="85000"/>
                    <a:lumOff val="15000"/>
                  </a:schemeClr>
                </a:solidFill>
              </a:rPr>
              <a:t>Due to PVT change ADPLL start at 2.66 GHz with offset around 220 MHz</a:t>
            </a:r>
          </a:p>
          <a:p>
            <a:r>
              <a:rPr lang="en-US" b="0" dirty="0">
                <a:solidFill>
                  <a:schemeClr val="tx1">
                    <a:lumMod val="85000"/>
                    <a:lumOff val="15000"/>
                  </a:schemeClr>
                </a:solidFill>
              </a:rPr>
              <a:t>DCO gain error = 28%, limiting deviation to ±180 kHz around channel center. This worsens further with GMSK under PVT variation</a:t>
            </a:r>
          </a:p>
        </p:txBody>
      </p:sp>
      <p:pic>
        <p:nvPicPr>
          <p:cNvPr id="8" name="Picture 7">
            <a:extLst>
              <a:ext uri="{FF2B5EF4-FFF2-40B4-BE49-F238E27FC236}">
                <a16:creationId xmlns="" xmlns:a16="http://schemas.microsoft.com/office/drawing/2014/main" id="{84A6CB0D-F122-0B05-9281-15CC2D1982A9}"/>
              </a:ext>
            </a:extLst>
          </p:cNvPr>
          <p:cNvPicPr>
            <a:picLocks noChangeAspect="1"/>
          </p:cNvPicPr>
          <p:nvPr/>
        </p:nvPicPr>
        <p:blipFill>
          <a:blip r:embed="rId2"/>
          <a:stretch>
            <a:fillRect/>
          </a:stretch>
        </p:blipFill>
        <p:spPr>
          <a:xfrm>
            <a:off x="4531731" y="2050107"/>
            <a:ext cx="7405579" cy="3885643"/>
          </a:xfrm>
          <a:prstGeom prst="rect">
            <a:avLst/>
          </a:prstGeom>
        </p:spPr>
      </p:pic>
      <p:sp>
        <p:nvSpPr>
          <p:cNvPr id="9" name="TextBox 8">
            <a:extLst>
              <a:ext uri="{FF2B5EF4-FFF2-40B4-BE49-F238E27FC236}">
                <a16:creationId xmlns="" xmlns:a16="http://schemas.microsoft.com/office/drawing/2014/main" id="{C9F64E1F-10B7-3A8C-524F-DA490A636983}"/>
              </a:ext>
            </a:extLst>
          </p:cNvPr>
          <p:cNvSpPr txBox="1"/>
          <p:nvPr/>
        </p:nvSpPr>
        <p:spPr>
          <a:xfrm>
            <a:off x="609600" y="1316190"/>
            <a:ext cx="9419870" cy="430887"/>
          </a:xfrm>
          <a:prstGeom prst="rect">
            <a:avLst/>
          </a:prstGeom>
          <a:noFill/>
        </p:spPr>
        <p:txBody>
          <a:bodyPr wrap="square">
            <a:spAutoFit/>
          </a:bodyPr>
          <a:lstStyle/>
          <a:p>
            <a:r>
              <a:rPr lang="en-US" sz="2200" b="1" dirty="0">
                <a:latin typeface="+mn-lt"/>
              </a:rPr>
              <a:t>PVT=0.7 and Fixed Capacitor PVT = 0.85 (Without Gain Calibration):</a:t>
            </a:r>
          </a:p>
        </p:txBody>
      </p:sp>
      <p:sp>
        <p:nvSpPr>
          <p:cNvPr id="12" name="TextBox 11">
            <a:extLst>
              <a:ext uri="{FF2B5EF4-FFF2-40B4-BE49-F238E27FC236}">
                <a16:creationId xmlns="" xmlns:a16="http://schemas.microsoft.com/office/drawing/2014/main" id="{EAEA8700-3302-A403-FA3D-83FF4AD88E12}"/>
              </a:ext>
            </a:extLst>
          </p:cNvPr>
          <p:cNvSpPr txBox="1"/>
          <p:nvPr/>
        </p:nvSpPr>
        <p:spPr>
          <a:xfrm>
            <a:off x="5148420" y="5897268"/>
            <a:ext cx="6096000" cy="369332"/>
          </a:xfrm>
          <a:prstGeom prst="rect">
            <a:avLst/>
          </a:prstGeom>
          <a:noFill/>
        </p:spPr>
        <p:txBody>
          <a:bodyPr wrap="square">
            <a:spAutoFit/>
          </a:bodyPr>
          <a:lstStyle/>
          <a:p>
            <a:r>
              <a:rPr lang="en-US" dirty="0"/>
              <a:t>ADPLL FSK modulation waveform (PVT = 0.7, without LMS)</a:t>
            </a:r>
          </a:p>
        </p:txBody>
      </p:sp>
    </p:spTree>
    <p:extLst>
      <p:ext uri="{BB962C8B-B14F-4D97-AF65-F5344CB8AC3E}">
        <p14:creationId xmlns:p14="http://schemas.microsoft.com/office/powerpoint/2010/main" val="705119217"/>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295CB9E-0340-B2F5-B236-56216D19ECF3}"/>
              </a:ext>
            </a:extLst>
          </p:cNvPr>
          <p:cNvSpPr>
            <a:spLocks noGrp="1"/>
          </p:cNvSpPr>
          <p:nvPr>
            <p:ph type="title"/>
          </p:nvPr>
        </p:nvSpPr>
        <p:spPr/>
        <p:txBody>
          <a:bodyPr/>
          <a:lstStyle/>
          <a:p>
            <a:r>
              <a:rPr lang="en-US" dirty="0"/>
              <a:t>DCO simulation Result</a:t>
            </a:r>
          </a:p>
        </p:txBody>
      </p:sp>
      <p:sp>
        <p:nvSpPr>
          <p:cNvPr id="7" name="TextBox 6">
            <a:extLst>
              <a:ext uri="{FF2B5EF4-FFF2-40B4-BE49-F238E27FC236}">
                <a16:creationId xmlns="" xmlns:a16="http://schemas.microsoft.com/office/drawing/2014/main" id="{BF934121-203F-6ACA-0B17-95E19A076DD6}"/>
              </a:ext>
            </a:extLst>
          </p:cNvPr>
          <p:cNvSpPr txBox="1"/>
          <p:nvPr/>
        </p:nvSpPr>
        <p:spPr>
          <a:xfrm>
            <a:off x="609600" y="1642347"/>
            <a:ext cx="7564581" cy="430887"/>
          </a:xfrm>
          <a:prstGeom prst="rect">
            <a:avLst/>
          </a:prstGeom>
          <a:noFill/>
        </p:spPr>
        <p:txBody>
          <a:bodyPr wrap="square">
            <a:spAutoFit/>
          </a:bodyPr>
          <a:lstStyle/>
          <a:p>
            <a:r>
              <a:rPr lang="en-US" sz="2200" b="1" dirty="0">
                <a:latin typeface="+mn-lt"/>
              </a:rPr>
              <a:t>PVT=0.7 and Fixed Capacitor PVT = 0.85 with SS-LMS calibration </a:t>
            </a:r>
          </a:p>
        </p:txBody>
      </p:sp>
      <p:pic>
        <p:nvPicPr>
          <p:cNvPr id="11" name="Picture 10" descr="A graph of a graph&#10;&#10;AI-generated content may be incorrect.">
            <a:extLst>
              <a:ext uri="{FF2B5EF4-FFF2-40B4-BE49-F238E27FC236}">
                <a16:creationId xmlns="" xmlns:a16="http://schemas.microsoft.com/office/drawing/2014/main" id="{53F2161A-7065-AC1D-7E30-FB3D34FA05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69243" y="2175917"/>
            <a:ext cx="7809875" cy="3676244"/>
          </a:xfrm>
          <a:prstGeom prst="rect">
            <a:avLst/>
          </a:prstGeom>
        </p:spPr>
      </p:pic>
      <p:sp>
        <p:nvSpPr>
          <p:cNvPr id="13" name="TextBox 12">
            <a:extLst>
              <a:ext uri="{FF2B5EF4-FFF2-40B4-BE49-F238E27FC236}">
                <a16:creationId xmlns="" xmlns:a16="http://schemas.microsoft.com/office/drawing/2014/main" id="{6148A8A0-2C11-5C51-B83D-DE71BFD09B1B}"/>
              </a:ext>
            </a:extLst>
          </p:cNvPr>
          <p:cNvSpPr txBox="1"/>
          <p:nvPr/>
        </p:nvSpPr>
        <p:spPr>
          <a:xfrm>
            <a:off x="5375561" y="5667495"/>
            <a:ext cx="6485973" cy="369332"/>
          </a:xfrm>
          <a:prstGeom prst="rect">
            <a:avLst/>
          </a:prstGeom>
          <a:noFill/>
        </p:spPr>
        <p:txBody>
          <a:bodyPr wrap="square">
            <a:spAutoFit/>
          </a:bodyPr>
          <a:lstStyle/>
          <a:p>
            <a:r>
              <a:rPr lang="en-US" dirty="0"/>
              <a:t>ADPLL FSK modulation waveform before gain becomes stable</a:t>
            </a:r>
          </a:p>
        </p:txBody>
      </p:sp>
      <p:pic>
        <p:nvPicPr>
          <p:cNvPr id="15" name="Picture 14">
            <a:extLst>
              <a:ext uri="{FF2B5EF4-FFF2-40B4-BE49-F238E27FC236}">
                <a16:creationId xmlns="" xmlns:a16="http://schemas.microsoft.com/office/drawing/2014/main" id="{32721A4D-496F-9DA6-EA06-A9741E13768C}"/>
              </a:ext>
            </a:extLst>
          </p:cNvPr>
          <p:cNvPicPr>
            <a:picLocks noChangeAspect="1"/>
          </p:cNvPicPr>
          <p:nvPr/>
        </p:nvPicPr>
        <p:blipFill>
          <a:blip r:embed="rId3"/>
          <a:stretch>
            <a:fillRect/>
          </a:stretch>
        </p:blipFill>
        <p:spPr>
          <a:xfrm>
            <a:off x="197573" y="2541677"/>
            <a:ext cx="4929085" cy="2413652"/>
          </a:xfrm>
          <a:prstGeom prst="rect">
            <a:avLst/>
          </a:prstGeom>
        </p:spPr>
      </p:pic>
      <p:sp>
        <p:nvSpPr>
          <p:cNvPr id="17" name="TextBox 16">
            <a:extLst>
              <a:ext uri="{FF2B5EF4-FFF2-40B4-BE49-F238E27FC236}">
                <a16:creationId xmlns="" xmlns:a16="http://schemas.microsoft.com/office/drawing/2014/main" id="{9D74D5E7-CA45-9B11-991C-4338E17CDB33}"/>
              </a:ext>
            </a:extLst>
          </p:cNvPr>
          <p:cNvSpPr txBox="1"/>
          <p:nvPr/>
        </p:nvSpPr>
        <p:spPr>
          <a:xfrm>
            <a:off x="609600" y="5080670"/>
            <a:ext cx="6096000" cy="369332"/>
          </a:xfrm>
          <a:prstGeom prst="rect">
            <a:avLst/>
          </a:prstGeom>
          <a:noFill/>
        </p:spPr>
        <p:txBody>
          <a:bodyPr wrap="square">
            <a:spAutoFit/>
          </a:bodyPr>
          <a:lstStyle/>
          <a:p>
            <a:r>
              <a:rPr lang="en-US" dirty="0"/>
              <a:t>(PVT = 0.7,with LMS)</a:t>
            </a:r>
          </a:p>
        </p:txBody>
      </p:sp>
    </p:spTree>
    <p:extLst>
      <p:ext uri="{BB962C8B-B14F-4D97-AF65-F5344CB8AC3E}">
        <p14:creationId xmlns:p14="http://schemas.microsoft.com/office/powerpoint/2010/main" val="2091040249"/>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8B04B36-C0E8-AFA6-0040-2D3044A419F9}"/>
              </a:ext>
            </a:extLst>
          </p:cNvPr>
          <p:cNvSpPr>
            <a:spLocks noGrp="1"/>
          </p:cNvSpPr>
          <p:nvPr>
            <p:ph type="title"/>
          </p:nvPr>
        </p:nvSpPr>
        <p:spPr/>
        <p:txBody>
          <a:bodyPr/>
          <a:lstStyle/>
          <a:p>
            <a:r>
              <a:rPr lang="en-US" dirty="0"/>
              <a:t>DCO simulation Result</a:t>
            </a:r>
          </a:p>
        </p:txBody>
      </p:sp>
      <p:sp>
        <p:nvSpPr>
          <p:cNvPr id="5" name="TextBox 4">
            <a:extLst>
              <a:ext uri="{FF2B5EF4-FFF2-40B4-BE49-F238E27FC236}">
                <a16:creationId xmlns="" xmlns:a16="http://schemas.microsoft.com/office/drawing/2014/main" id="{E2A953C7-120B-1916-08E5-CFFD60B91FF4}"/>
              </a:ext>
            </a:extLst>
          </p:cNvPr>
          <p:cNvSpPr txBox="1"/>
          <p:nvPr/>
        </p:nvSpPr>
        <p:spPr>
          <a:xfrm>
            <a:off x="609600" y="1642347"/>
            <a:ext cx="7564581" cy="369332"/>
          </a:xfrm>
          <a:prstGeom prst="rect">
            <a:avLst/>
          </a:prstGeom>
          <a:noFill/>
        </p:spPr>
        <p:txBody>
          <a:bodyPr wrap="square">
            <a:spAutoFit/>
          </a:bodyPr>
          <a:lstStyle/>
          <a:p>
            <a:r>
              <a:rPr lang="en-US" sz="1800" b="1" dirty="0"/>
              <a:t>PVT=0.7 and Fixed Capacitor PVT = 0.85 with SS-LMS calibration </a:t>
            </a:r>
          </a:p>
        </p:txBody>
      </p:sp>
      <p:pic>
        <p:nvPicPr>
          <p:cNvPr id="7" name="Picture 6">
            <a:extLst>
              <a:ext uri="{FF2B5EF4-FFF2-40B4-BE49-F238E27FC236}">
                <a16:creationId xmlns="" xmlns:a16="http://schemas.microsoft.com/office/drawing/2014/main" id="{61F2475B-A1C8-C129-1D41-7C4B146726A8}"/>
              </a:ext>
            </a:extLst>
          </p:cNvPr>
          <p:cNvPicPr>
            <a:picLocks noChangeAspect="1"/>
          </p:cNvPicPr>
          <p:nvPr/>
        </p:nvPicPr>
        <p:blipFill>
          <a:blip r:embed="rId2"/>
          <a:stretch>
            <a:fillRect/>
          </a:stretch>
        </p:blipFill>
        <p:spPr>
          <a:xfrm>
            <a:off x="2135474" y="2011679"/>
            <a:ext cx="7921052" cy="4201848"/>
          </a:xfrm>
          <a:prstGeom prst="rect">
            <a:avLst/>
          </a:prstGeom>
        </p:spPr>
      </p:pic>
      <p:sp>
        <p:nvSpPr>
          <p:cNvPr id="9" name="TextBox 8">
            <a:extLst>
              <a:ext uri="{FF2B5EF4-FFF2-40B4-BE49-F238E27FC236}">
                <a16:creationId xmlns="" xmlns:a16="http://schemas.microsoft.com/office/drawing/2014/main" id="{5E554A80-3334-A135-5C97-2B39F7594723}"/>
              </a:ext>
            </a:extLst>
          </p:cNvPr>
          <p:cNvSpPr txBox="1"/>
          <p:nvPr/>
        </p:nvSpPr>
        <p:spPr>
          <a:xfrm>
            <a:off x="2667000" y="6207276"/>
            <a:ext cx="7389526" cy="369332"/>
          </a:xfrm>
          <a:prstGeom prst="rect">
            <a:avLst/>
          </a:prstGeom>
          <a:noFill/>
        </p:spPr>
        <p:txBody>
          <a:bodyPr wrap="square">
            <a:spAutoFit/>
          </a:bodyPr>
          <a:lstStyle/>
          <a:p>
            <a:r>
              <a:rPr lang="en-US" dirty="0"/>
              <a:t>ADPLL </a:t>
            </a:r>
            <a:r>
              <a:rPr lang="en-US" dirty="0" err="1"/>
              <a:t>FSKmodulation</a:t>
            </a:r>
            <a:r>
              <a:rPr lang="en-US" dirty="0"/>
              <a:t> waveform before gain becomes stable</a:t>
            </a:r>
          </a:p>
        </p:txBody>
      </p:sp>
    </p:spTree>
    <p:extLst>
      <p:ext uri="{BB962C8B-B14F-4D97-AF65-F5344CB8AC3E}">
        <p14:creationId xmlns:p14="http://schemas.microsoft.com/office/powerpoint/2010/main" val="1513061158"/>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21AAD79-8269-1F85-2FE7-ECA134DCE948}"/>
              </a:ext>
            </a:extLst>
          </p:cNvPr>
          <p:cNvSpPr>
            <a:spLocks noGrp="1"/>
          </p:cNvSpPr>
          <p:nvPr>
            <p:ph type="title"/>
          </p:nvPr>
        </p:nvSpPr>
        <p:spPr/>
        <p:txBody>
          <a:bodyPr/>
          <a:lstStyle/>
          <a:p>
            <a:r>
              <a:rPr lang="en-US" dirty="0"/>
              <a:t>DCO simulation Result</a:t>
            </a:r>
          </a:p>
        </p:txBody>
      </p:sp>
      <p:sp>
        <p:nvSpPr>
          <p:cNvPr id="3" name="Text Placeholder 2">
            <a:extLst>
              <a:ext uri="{FF2B5EF4-FFF2-40B4-BE49-F238E27FC236}">
                <a16:creationId xmlns="" xmlns:a16="http://schemas.microsoft.com/office/drawing/2014/main" id="{66EEAA21-E07F-3E3D-8808-6765C8D2FAA7}"/>
              </a:ext>
            </a:extLst>
          </p:cNvPr>
          <p:cNvSpPr>
            <a:spLocks noGrp="1"/>
          </p:cNvSpPr>
          <p:nvPr>
            <p:ph type="body" idx="1"/>
          </p:nvPr>
        </p:nvSpPr>
        <p:spPr>
          <a:xfrm>
            <a:off x="914400" y="1757679"/>
            <a:ext cx="3581400" cy="4738016"/>
          </a:xfrm>
        </p:spPr>
        <p:txBody>
          <a:bodyPr/>
          <a:lstStyle/>
          <a:p>
            <a:pPr marL="76200" indent="0">
              <a:buNone/>
            </a:pPr>
            <a:r>
              <a:rPr lang="en-US" sz="2200" dirty="0">
                <a:solidFill>
                  <a:schemeClr val="tx1">
                    <a:lumMod val="85000"/>
                    <a:lumOff val="15000"/>
                  </a:schemeClr>
                </a:solidFill>
              </a:rPr>
              <a:t>Comment on Result:</a:t>
            </a:r>
          </a:p>
          <a:p>
            <a:r>
              <a:rPr lang="en-US" b="0" dirty="0">
                <a:solidFill>
                  <a:schemeClr val="tx1">
                    <a:lumMod val="85000"/>
                    <a:lumOff val="15000"/>
                  </a:schemeClr>
                </a:solidFill>
              </a:rPr>
              <a:t>LMS starts from an initial gain estimate with an error of 27.964%</a:t>
            </a:r>
          </a:p>
          <a:p>
            <a:r>
              <a:rPr lang="en-US" b="0" dirty="0">
                <a:solidFill>
                  <a:schemeClr val="tx1">
                    <a:lumMod val="85000"/>
                    <a:lumOff val="15000"/>
                  </a:schemeClr>
                </a:solidFill>
              </a:rPr>
              <a:t>As the number of symbols increases, the gain error converges but oscillates around a small non-zero value and never becomes fully stable because of the DCO frequency quantization using sigma delta for further improvement </a:t>
            </a:r>
          </a:p>
        </p:txBody>
      </p:sp>
      <p:pic>
        <p:nvPicPr>
          <p:cNvPr id="9" name="Picture 8">
            <a:extLst>
              <a:ext uri="{FF2B5EF4-FFF2-40B4-BE49-F238E27FC236}">
                <a16:creationId xmlns="" xmlns:a16="http://schemas.microsoft.com/office/drawing/2014/main" id="{25664E74-06F8-0FE3-F5E4-B5A199EA5AFA}"/>
              </a:ext>
            </a:extLst>
          </p:cNvPr>
          <p:cNvPicPr>
            <a:picLocks noChangeAspect="1"/>
          </p:cNvPicPr>
          <p:nvPr/>
        </p:nvPicPr>
        <p:blipFill>
          <a:blip r:embed="rId2"/>
          <a:stretch>
            <a:fillRect/>
          </a:stretch>
        </p:blipFill>
        <p:spPr>
          <a:xfrm>
            <a:off x="4862946" y="2034893"/>
            <a:ext cx="7162800" cy="3681579"/>
          </a:xfrm>
          <a:prstGeom prst="rect">
            <a:avLst/>
          </a:prstGeom>
        </p:spPr>
      </p:pic>
      <p:sp>
        <p:nvSpPr>
          <p:cNvPr id="11" name="TextBox 10">
            <a:extLst>
              <a:ext uri="{FF2B5EF4-FFF2-40B4-BE49-F238E27FC236}">
                <a16:creationId xmlns="" xmlns:a16="http://schemas.microsoft.com/office/drawing/2014/main" id="{17C83786-CBFE-723E-4B48-F7B70BB2E2CC}"/>
              </a:ext>
            </a:extLst>
          </p:cNvPr>
          <p:cNvSpPr txBox="1"/>
          <p:nvPr/>
        </p:nvSpPr>
        <p:spPr>
          <a:xfrm>
            <a:off x="5929746" y="5736119"/>
            <a:ext cx="6096000" cy="369332"/>
          </a:xfrm>
          <a:prstGeom prst="rect">
            <a:avLst/>
          </a:prstGeom>
          <a:noFill/>
        </p:spPr>
        <p:txBody>
          <a:bodyPr wrap="square">
            <a:spAutoFit/>
          </a:bodyPr>
          <a:lstStyle/>
          <a:p>
            <a:r>
              <a:rPr lang="es-ES" dirty="0" err="1"/>
              <a:t>Gain</a:t>
            </a:r>
            <a:r>
              <a:rPr lang="es-ES" dirty="0"/>
              <a:t> Error </a:t>
            </a:r>
            <a:r>
              <a:rPr lang="es-ES" dirty="0" err="1"/>
              <a:t>convergence</a:t>
            </a:r>
            <a:r>
              <a:rPr lang="es-ES" dirty="0"/>
              <a:t> (PVT = 0.7, µ =0.5 )</a:t>
            </a:r>
            <a:endParaRPr lang="en-US" dirty="0"/>
          </a:p>
        </p:txBody>
      </p:sp>
      <p:sp>
        <p:nvSpPr>
          <p:cNvPr id="13" name="TextBox 12">
            <a:extLst>
              <a:ext uri="{FF2B5EF4-FFF2-40B4-BE49-F238E27FC236}">
                <a16:creationId xmlns="" xmlns:a16="http://schemas.microsoft.com/office/drawing/2014/main" id="{09CEC8A9-34B8-A02D-D7AC-B3929E8A73EF}"/>
              </a:ext>
            </a:extLst>
          </p:cNvPr>
          <p:cNvSpPr txBox="1"/>
          <p:nvPr/>
        </p:nvSpPr>
        <p:spPr>
          <a:xfrm>
            <a:off x="914400" y="1368700"/>
            <a:ext cx="7841673" cy="369332"/>
          </a:xfrm>
          <a:prstGeom prst="rect">
            <a:avLst/>
          </a:prstGeom>
          <a:noFill/>
        </p:spPr>
        <p:txBody>
          <a:bodyPr wrap="square">
            <a:spAutoFit/>
          </a:bodyPr>
          <a:lstStyle/>
          <a:p>
            <a:r>
              <a:rPr lang="en-US" sz="1800" b="1" dirty="0"/>
              <a:t>PVT=0.7 and Fixed Capacitor PVT = 0.85 with SS-LMS calibration </a:t>
            </a:r>
          </a:p>
        </p:txBody>
      </p:sp>
    </p:spTree>
    <p:extLst>
      <p:ext uri="{BB962C8B-B14F-4D97-AF65-F5344CB8AC3E}">
        <p14:creationId xmlns:p14="http://schemas.microsoft.com/office/powerpoint/2010/main" val="3438991768"/>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Sigma Delta</a:t>
            </a:r>
            <a:endParaRPr lang="en-US" dirty="0"/>
          </a:p>
        </p:txBody>
      </p:sp>
      <p:sp>
        <p:nvSpPr>
          <p:cNvPr id="3" name="Text Placeholder 2"/>
          <p:cNvSpPr>
            <a:spLocks noGrp="1"/>
          </p:cNvSpPr>
          <p:nvPr>
            <p:ph type="body" idx="1"/>
          </p:nvPr>
        </p:nvSpPr>
        <p:spPr/>
        <p:txBody>
          <a:bodyPr/>
          <a:lstStyle/>
          <a:p>
            <a:endParaRPr lang="en-US"/>
          </a:p>
        </p:txBody>
      </p:sp>
      <p:pic>
        <p:nvPicPr>
          <p:cNvPr id="4" name="Picture 3"/>
          <p:cNvPicPr>
            <a:picLocks noChangeAspect="1"/>
          </p:cNvPicPr>
          <p:nvPr/>
        </p:nvPicPr>
        <p:blipFill>
          <a:blip r:embed="rId2"/>
          <a:stretch>
            <a:fillRect/>
          </a:stretch>
        </p:blipFill>
        <p:spPr>
          <a:xfrm>
            <a:off x="574092" y="1510748"/>
            <a:ext cx="10865239" cy="5102040"/>
          </a:xfrm>
          <a:prstGeom prst="rect">
            <a:avLst/>
          </a:prstGeom>
        </p:spPr>
      </p:pic>
      <p:sp>
        <p:nvSpPr>
          <p:cNvPr id="5" name="Rectangle 4"/>
          <p:cNvSpPr/>
          <p:nvPr/>
        </p:nvSpPr>
        <p:spPr>
          <a:xfrm>
            <a:off x="7221893" y="4982547"/>
            <a:ext cx="1735494" cy="56916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25298708"/>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rPr>
              <a:t>Table of content </a:t>
            </a:r>
            <a:endParaRPr lang="en-US" dirty="0"/>
          </a:p>
        </p:txBody>
      </p:sp>
      <p:sp>
        <p:nvSpPr>
          <p:cNvPr id="3" name="Text Placeholder 2"/>
          <p:cNvSpPr>
            <a:spLocks noGrp="1"/>
          </p:cNvSpPr>
          <p:nvPr>
            <p:ph type="body" idx="1"/>
          </p:nvPr>
        </p:nvSpPr>
        <p:spPr/>
        <p:txBody>
          <a:bodyPr/>
          <a:lstStyle/>
          <a:p>
            <a:r>
              <a:rPr lang="en-US" dirty="0"/>
              <a:t>Why sigma delta</a:t>
            </a:r>
          </a:p>
          <a:p>
            <a:r>
              <a:rPr lang="en-US" dirty="0"/>
              <a:t>First order Sigma delta</a:t>
            </a:r>
          </a:p>
          <a:p>
            <a:r>
              <a:rPr lang="en-US" dirty="0"/>
              <a:t>Mash Sigma Delta </a:t>
            </a:r>
          </a:p>
          <a:p>
            <a:r>
              <a:rPr lang="en-US" dirty="0"/>
              <a:t>Operation of MASH 1-1-1</a:t>
            </a:r>
          </a:p>
          <a:p>
            <a:r>
              <a:rPr lang="en-US" dirty="0"/>
              <a:t>Mitigation of periodicity and IDLE tones </a:t>
            </a:r>
          </a:p>
          <a:p>
            <a:r>
              <a:rPr lang="en-US" dirty="0"/>
              <a:t>Proposed Sigma Delta Architecture</a:t>
            </a:r>
          </a:p>
          <a:p>
            <a:r>
              <a:rPr lang="en-US" dirty="0"/>
              <a:t>Simulation Results </a:t>
            </a:r>
          </a:p>
          <a:p>
            <a:r>
              <a:rPr lang="en-US" dirty="0"/>
              <a:t>Future </a:t>
            </a:r>
            <a:r>
              <a:rPr lang="en-US" dirty="0" smtClean="0"/>
              <a:t>work</a:t>
            </a:r>
            <a:endParaRPr lang="en-US" dirty="0"/>
          </a:p>
        </p:txBody>
      </p:sp>
    </p:spTree>
    <p:extLst>
      <p:ext uri="{BB962C8B-B14F-4D97-AF65-F5344CB8AC3E}">
        <p14:creationId xmlns:p14="http://schemas.microsoft.com/office/powerpoint/2010/main" val="1265936665"/>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rPr>
              <a:t>Why Sigma </a:t>
            </a:r>
            <a:r>
              <a:rPr lang="en-US" dirty="0">
                <a:latin typeface="Times New Roman" panose="02020603050405020304" pitchFamily="18" charset="0"/>
              </a:rPr>
              <a:t>Delta </a:t>
            </a:r>
            <a:endParaRPr lang="en-US" dirty="0"/>
          </a:p>
        </p:txBody>
      </p:sp>
      <p:sp>
        <p:nvSpPr>
          <p:cNvPr id="3" name="Text Placeholder 2"/>
          <p:cNvSpPr>
            <a:spLocks noGrp="1"/>
          </p:cNvSpPr>
          <p:nvPr>
            <p:ph type="body" idx="1"/>
          </p:nvPr>
        </p:nvSpPr>
        <p:spPr/>
        <p:txBody>
          <a:bodyPr/>
          <a:lstStyle/>
          <a:p>
            <a:pPr lvl="1">
              <a:buFont typeface="Wingdings" panose="05000000000000000000" pitchFamily="2" charset="2"/>
              <a:buChar char="q"/>
            </a:pPr>
            <a:r>
              <a:rPr lang="en-US" dirty="0">
                <a:solidFill>
                  <a:schemeClr val="tx1"/>
                </a:solidFill>
              </a:rPr>
              <a:t>The DCO’s </a:t>
            </a:r>
            <a:r>
              <a:rPr lang="en-US" dirty="0" err="1" smtClean="0">
                <a:solidFill>
                  <a:schemeClr val="tx1"/>
                </a:solidFill>
              </a:rPr>
              <a:t>varactor</a:t>
            </a:r>
            <a:r>
              <a:rPr lang="en-US" dirty="0" smtClean="0">
                <a:solidFill>
                  <a:schemeClr val="tx1"/>
                </a:solidFill>
              </a:rPr>
              <a:t> </a:t>
            </a:r>
            <a:r>
              <a:rPr lang="en-US" dirty="0">
                <a:solidFill>
                  <a:schemeClr val="tx1"/>
                </a:solidFill>
              </a:rPr>
              <a:t>array has coarse frequency steps  (LSBs) on the order of tens of kHz, far too large for the sub-Hz or sub-kHz resolution required by the ADPLL.</a:t>
            </a:r>
          </a:p>
          <a:p>
            <a:pPr lvl="1">
              <a:buFont typeface="Wingdings" panose="05000000000000000000" pitchFamily="2" charset="2"/>
              <a:buChar char="q"/>
            </a:pPr>
            <a:r>
              <a:rPr lang="en-US" dirty="0">
                <a:solidFill>
                  <a:schemeClr val="tx1"/>
                </a:solidFill>
              </a:rPr>
              <a:t>A digital sigma–delta (ΣΔ) modulator converts a </a:t>
            </a:r>
            <a:r>
              <a:rPr lang="en-US" i="1" dirty="0">
                <a:solidFill>
                  <a:schemeClr val="tx1"/>
                </a:solidFill>
              </a:rPr>
              <a:t>low-rate fractional tuning word</a:t>
            </a:r>
            <a:r>
              <a:rPr lang="en-US" dirty="0">
                <a:solidFill>
                  <a:schemeClr val="tx1"/>
                </a:solidFill>
              </a:rPr>
              <a:t> into a </a:t>
            </a:r>
            <a:r>
              <a:rPr lang="en-US" i="1" dirty="0">
                <a:solidFill>
                  <a:schemeClr val="tx1"/>
                </a:solidFill>
              </a:rPr>
              <a:t>high-rate integer sequence</a:t>
            </a:r>
            <a:r>
              <a:rPr lang="en-US" dirty="0">
                <a:solidFill>
                  <a:schemeClr val="tx1"/>
                </a:solidFill>
              </a:rPr>
              <a:t> whose time-average equals the desired fractional value.</a:t>
            </a:r>
          </a:p>
          <a:p>
            <a:pPr lvl="1">
              <a:buFont typeface="Wingdings" panose="05000000000000000000" pitchFamily="2" charset="2"/>
              <a:buChar char="q"/>
            </a:pPr>
            <a:r>
              <a:rPr lang="en-US" dirty="0">
                <a:solidFill>
                  <a:schemeClr val="tx1"/>
                </a:solidFill>
              </a:rPr>
              <a:t>23 kHz hardware resolution becomes 718 Hz effective frequency resolution improvement could be range of  32</a:t>
            </a:r>
          </a:p>
          <a:p>
            <a:pPr lvl="1">
              <a:buFont typeface="Wingdings" panose="05000000000000000000" pitchFamily="2" charset="2"/>
              <a:buChar char="q"/>
            </a:pPr>
            <a:r>
              <a:rPr lang="en-US" dirty="0" smtClean="0">
                <a:solidFill>
                  <a:schemeClr val="tx1"/>
                </a:solidFill>
              </a:rPr>
              <a:t>Sigma </a:t>
            </a:r>
            <a:r>
              <a:rPr lang="en-US" dirty="0">
                <a:solidFill>
                  <a:schemeClr val="tx1"/>
                </a:solidFill>
              </a:rPr>
              <a:t>delta have  2 main roles which are </a:t>
            </a:r>
          </a:p>
          <a:p>
            <a:pPr lvl="2">
              <a:buFont typeface="Wingdings" panose="05000000000000000000" pitchFamily="2" charset="2"/>
              <a:buChar char="Ø"/>
            </a:pPr>
            <a:r>
              <a:rPr lang="en-US" dirty="0">
                <a:solidFill>
                  <a:schemeClr val="tx1"/>
                </a:solidFill>
              </a:rPr>
              <a:t>Noise shaping  </a:t>
            </a:r>
          </a:p>
          <a:p>
            <a:pPr lvl="2">
              <a:buFont typeface="Wingdings" panose="05000000000000000000" pitchFamily="2" charset="2"/>
              <a:buChar char="Ø"/>
            </a:pPr>
            <a:r>
              <a:rPr lang="en-US" dirty="0">
                <a:solidFill>
                  <a:schemeClr val="tx1"/>
                </a:solidFill>
              </a:rPr>
              <a:t> Averaging </a:t>
            </a:r>
          </a:p>
          <a:p>
            <a:endParaRPr lang="en-US" dirty="0"/>
          </a:p>
        </p:txBody>
      </p:sp>
      <p:pic>
        <p:nvPicPr>
          <p:cNvPr id="4" name="Picture 3"/>
          <p:cNvPicPr>
            <a:picLocks noChangeAspect="1"/>
          </p:cNvPicPr>
          <p:nvPr/>
        </p:nvPicPr>
        <p:blipFill>
          <a:blip r:embed="rId2"/>
          <a:stretch>
            <a:fillRect/>
          </a:stretch>
        </p:blipFill>
        <p:spPr>
          <a:xfrm>
            <a:off x="6423826" y="3454471"/>
            <a:ext cx="5021725" cy="2554444"/>
          </a:xfrm>
          <a:prstGeom prst="rect">
            <a:avLst/>
          </a:prstGeom>
        </p:spPr>
      </p:pic>
      <p:sp>
        <p:nvSpPr>
          <p:cNvPr id="6" name="TextBox 5"/>
          <p:cNvSpPr txBox="1"/>
          <p:nvPr/>
        </p:nvSpPr>
        <p:spPr>
          <a:xfrm>
            <a:off x="1265079" y="6317283"/>
            <a:ext cx="10744827" cy="307777"/>
          </a:xfrm>
          <a:prstGeom prst="rect">
            <a:avLst/>
          </a:prstGeom>
          <a:noFill/>
        </p:spPr>
        <p:txBody>
          <a:bodyPr wrap="square" rtlCol="0">
            <a:spAutoFit/>
          </a:bodyPr>
          <a:lstStyle/>
          <a:p>
            <a:r>
              <a:rPr lang="en-US" i="1" dirty="0">
                <a:latin typeface="Times New Roman" panose="02020603050405020304" pitchFamily="18" charset="0"/>
                <a:cs typeface="Times New Roman" panose="02020603050405020304" pitchFamily="18" charset="0"/>
              </a:rPr>
              <a:t>Robert </a:t>
            </a:r>
            <a:r>
              <a:rPr lang="en-US" i="1" dirty="0" err="1">
                <a:latin typeface="Times New Roman" panose="02020603050405020304" pitchFamily="18" charset="0"/>
                <a:cs typeface="Times New Roman" panose="02020603050405020304" pitchFamily="18" charset="0"/>
              </a:rPr>
              <a:t>Bogdan</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Staszewski</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Poras</a:t>
            </a:r>
            <a:r>
              <a:rPr lang="en-US" i="1" dirty="0">
                <a:latin typeface="Times New Roman" panose="02020603050405020304" pitchFamily="18" charset="0"/>
                <a:cs typeface="Times New Roman" panose="02020603050405020304" pitchFamily="18" charset="0"/>
              </a:rPr>
              <a:t> T. </a:t>
            </a:r>
            <a:r>
              <a:rPr lang="en-US" i="1" dirty="0" err="1">
                <a:latin typeface="Times New Roman" panose="02020603050405020304" pitchFamily="18" charset="0"/>
                <a:cs typeface="Times New Roman" panose="02020603050405020304" pitchFamily="18" charset="0"/>
              </a:rPr>
              <a:t>Balsara</a:t>
            </a:r>
            <a:r>
              <a:rPr lang="en-US" i="1" dirty="0">
                <a:latin typeface="Times New Roman" panose="02020603050405020304" pitchFamily="18" charset="0"/>
                <a:cs typeface="Times New Roman" panose="02020603050405020304" pitchFamily="18" charset="0"/>
              </a:rPr>
              <a:t>, “All-Digital Frequency Synthesizer In Deep Submicron CMOS” (2006)</a:t>
            </a:r>
          </a:p>
        </p:txBody>
      </p:sp>
    </p:spTree>
    <p:extLst>
      <p:ext uri="{BB962C8B-B14F-4D97-AF65-F5344CB8AC3E}">
        <p14:creationId xmlns:p14="http://schemas.microsoft.com/office/powerpoint/2010/main" val="2064154425"/>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rPr>
              <a:t>First order MASH Sigma Delta</a:t>
            </a:r>
            <a:endParaRPr lang="en-US" dirty="0"/>
          </a:p>
        </p:txBody>
      </p:sp>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946151" y="1308963"/>
                <a:ext cx="10459616" cy="4984947"/>
              </a:xfrm>
            </p:spPr>
            <p:txBody>
              <a:bodyPr/>
              <a:lstStyle/>
              <a:p>
                <a:pPr>
                  <a:buFont typeface="Wingdings" panose="05000000000000000000" pitchFamily="2" charset="2"/>
                  <a:buChar char="q"/>
                </a:pPr>
                <a:r>
                  <a:rPr lang="en-US" dirty="0" smtClean="0">
                    <a:solidFill>
                      <a:schemeClr val="tx1"/>
                    </a:solidFill>
                  </a:rPr>
                  <a:t>The error is given by </a:t>
                </a:r>
              </a:p>
              <a:p>
                <a:pPr>
                  <a:buFont typeface="Wingdings" panose="05000000000000000000" pitchFamily="2" charset="2"/>
                  <a:buChar char="q"/>
                </a:pPr>
                <a14:m>
                  <m:oMath xmlns:m="http://schemas.openxmlformats.org/officeDocument/2006/math">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𝑒</m:t>
                        </m:r>
                      </m:e>
                      <m:sub>
                        <m:r>
                          <a:rPr lang="en-US" i="1">
                            <a:solidFill>
                              <a:schemeClr val="tx1"/>
                            </a:solidFill>
                            <a:latin typeface="Cambria Math" panose="02040503050406030204" pitchFamily="18" charset="0"/>
                          </a:rPr>
                          <m:t>𝑛</m:t>
                        </m:r>
                      </m:sub>
                    </m:sSub>
                    <m:r>
                      <a:rPr lang="en-US" i="1">
                        <a:solidFill>
                          <a:schemeClr val="tx1"/>
                        </a:solidFill>
                        <a:latin typeface="Cambria Math" panose="02040503050406030204" pitchFamily="18" charset="0"/>
                      </a:rPr>
                      <m:t>= </m:t>
                    </m:r>
                    <m:d>
                      <m:dPr>
                        <m:begChr m:val=""/>
                        <m:endChr m:val="〉"/>
                        <m:ctrlPr>
                          <a:rPr lang="en-US" i="1">
                            <a:solidFill>
                              <a:schemeClr val="tx1"/>
                            </a:solidFill>
                            <a:latin typeface="Cambria Math" panose="02040503050406030204" pitchFamily="18" charset="0"/>
                          </a:rPr>
                        </m:ctrlPr>
                      </m:dPr>
                      <m:e>
                        <m:d>
                          <m:dPr>
                            <m:begChr m:val="〈"/>
                            <m:endChr m:val=""/>
                            <m:ctrlPr>
                              <a:rPr lang="en-US" i="1">
                                <a:solidFill>
                                  <a:schemeClr val="tx1"/>
                                </a:solidFill>
                                <a:latin typeface="Cambria Math" panose="02040503050406030204" pitchFamily="18" charset="0"/>
                              </a:rPr>
                            </m:ctrlPr>
                          </m:dPr>
                          <m:e>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𝑢</m:t>
                                </m:r>
                              </m:e>
                              <m:sub>
                                <m:r>
                                  <a:rPr lang="en-US" i="1">
                                    <a:solidFill>
                                      <a:schemeClr val="tx1"/>
                                    </a:solidFill>
                                    <a:latin typeface="Cambria Math" panose="02040503050406030204" pitchFamily="18" charset="0"/>
                                  </a:rPr>
                                  <m:t>0</m:t>
                                </m:r>
                              </m:sub>
                            </m:sSub>
                            <m:r>
                              <a:rPr lang="en-US" i="1">
                                <a:solidFill>
                                  <a:schemeClr val="tx1"/>
                                </a:solidFill>
                                <a:latin typeface="Cambria Math" panose="02040503050406030204" pitchFamily="18" charset="0"/>
                              </a:rPr>
                              <m:t>+ </m:t>
                            </m:r>
                            <m:nary>
                              <m:naryPr>
                                <m:chr m:val="∑"/>
                                <m:ctrlPr>
                                  <a:rPr lang="en-US" i="1">
                                    <a:solidFill>
                                      <a:schemeClr val="tx1"/>
                                    </a:solidFill>
                                    <a:latin typeface="Cambria Math" panose="02040503050406030204" pitchFamily="18" charset="0"/>
                                  </a:rPr>
                                </m:ctrlPr>
                              </m:naryPr>
                              <m:sub>
                                <m:r>
                                  <m:rPr>
                                    <m:brk m:alnAt="23"/>
                                  </m:rPr>
                                  <a:rPr lang="en-US" b="0" i="1">
                                    <a:solidFill>
                                      <a:schemeClr val="tx1"/>
                                    </a:solidFill>
                                    <a:latin typeface="Cambria Math" panose="02040503050406030204" pitchFamily="18" charset="0"/>
                                  </a:rPr>
                                  <m:t>𝑘</m:t>
                                </m:r>
                                <m:r>
                                  <a:rPr lang="en-US" b="0" i="1">
                                    <a:solidFill>
                                      <a:schemeClr val="tx1"/>
                                    </a:solidFill>
                                    <a:latin typeface="Cambria Math" panose="02040503050406030204" pitchFamily="18" charset="0"/>
                                  </a:rPr>
                                  <m:t>=</m:t>
                                </m:r>
                                <m:r>
                                  <a:rPr lang="en-US" b="0" i="1">
                                    <a:solidFill>
                                      <a:schemeClr val="tx1"/>
                                    </a:solidFill>
                                    <a:latin typeface="Cambria Math" panose="02040503050406030204" pitchFamily="18" charset="0"/>
                                  </a:rPr>
                                  <m:t>0</m:t>
                                </m:r>
                              </m:sub>
                              <m:sup>
                                <m:r>
                                  <a:rPr lang="en-US" b="0" i="1">
                                    <a:solidFill>
                                      <a:schemeClr val="tx1"/>
                                    </a:solidFill>
                                    <a:latin typeface="Cambria Math" panose="02040503050406030204" pitchFamily="18" charset="0"/>
                                  </a:rPr>
                                  <m:t>𝑛</m:t>
                                </m:r>
                              </m:sup>
                              <m:e>
                                <m:sSub>
                                  <m:sSubPr>
                                    <m:ctrlPr>
                                      <a:rPr lang="en-US" i="1">
                                        <a:solidFill>
                                          <a:schemeClr val="tx1"/>
                                        </a:solidFill>
                                        <a:latin typeface="Cambria Math" panose="02040503050406030204" pitchFamily="18" charset="0"/>
                                      </a:rPr>
                                    </m:ctrlPr>
                                  </m:sSubPr>
                                  <m:e>
                                    <m:r>
                                      <a:rPr lang="en-US" b="0" i="1">
                                        <a:solidFill>
                                          <a:schemeClr val="tx1"/>
                                        </a:solidFill>
                                        <a:latin typeface="Cambria Math" panose="02040503050406030204" pitchFamily="18" charset="0"/>
                                      </a:rPr>
                                      <m:t>𝑋</m:t>
                                    </m:r>
                                  </m:e>
                                  <m:sub>
                                    <m:r>
                                      <a:rPr lang="en-US" b="0" i="1">
                                        <a:solidFill>
                                          <a:schemeClr val="tx1"/>
                                        </a:solidFill>
                                        <a:latin typeface="Cambria Math" panose="02040503050406030204" pitchFamily="18" charset="0"/>
                                      </a:rPr>
                                      <m:t>𝑘</m:t>
                                    </m:r>
                                  </m:sub>
                                </m:sSub>
                              </m:e>
                            </m:nary>
                          </m:e>
                        </m:d>
                      </m:e>
                    </m:d>
                  </m:oMath>
                </a14:m>
                <a:endParaRPr lang="en-US" dirty="0">
                  <a:solidFill>
                    <a:schemeClr val="tx1"/>
                  </a:solidFill>
                </a:endParaRPr>
              </a:p>
              <a:p>
                <a:pPr>
                  <a:buFont typeface="Wingdings" panose="05000000000000000000" pitchFamily="2" charset="2"/>
                  <a:buChar char="q"/>
                </a:pPr>
                <a:r>
                  <a:rPr lang="en-US" dirty="0">
                    <a:solidFill>
                      <a:schemeClr val="tx1"/>
                    </a:solidFill>
                  </a:rPr>
                  <a:t>For constant input the error (our case)  is given by :</a:t>
                </a:r>
              </a:p>
              <a:p>
                <a:pPr lvl="1">
                  <a:buFont typeface="Wingdings" panose="05000000000000000000" pitchFamily="2" charset="2"/>
                  <a:buChar char="Ø"/>
                </a:pPr>
                <a14:m>
                  <m:oMath xmlns:m="http://schemas.openxmlformats.org/officeDocument/2006/math">
                    <m:r>
                      <a:rPr lang="en-US" i="1">
                        <a:solidFill>
                          <a:schemeClr val="tx1"/>
                        </a:solidFill>
                        <a:latin typeface="Cambria Math" panose="02040503050406030204" pitchFamily="18" charset="0"/>
                      </a:rPr>
                      <m:t>𝑒</m:t>
                    </m:r>
                    <m:r>
                      <a:rPr lang="en-US" i="1">
                        <a:solidFill>
                          <a:schemeClr val="tx1"/>
                        </a:solidFill>
                        <a:latin typeface="Cambria Math" panose="02040503050406030204" pitchFamily="18" charset="0"/>
                      </a:rPr>
                      <m:t>_</m:t>
                    </m:r>
                    <m:r>
                      <a:rPr lang="en-US" i="1">
                        <a:solidFill>
                          <a:schemeClr val="tx1"/>
                        </a:solidFill>
                        <a:latin typeface="Cambria Math" panose="02040503050406030204" pitchFamily="18" charset="0"/>
                      </a:rPr>
                      <m:t>𝑛</m:t>
                    </m:r>
                    <m:r>
                      <a:rPr lang="en-US" i="1">
                        <a:solidFill>
                          <a:schemeClr val="tx1"/>
                        </a:solidFill>
                        <a:latin typeface="Cambria Math" panose="02040503050406030204" pitchFamily="18" charset="0"/>
                      </a:rPr>
                      <m:t> = 〈</m:t>
                    </m:r>
                    <m:sSub>
                      <m:sSubPr>
                        <m:ctrlPr>
                          <a:rPr lang="en-US" b="0" i="1">
                            <a:solidFill>
                              <a:schemeClr val="tx1"/>
                            </a:solidFill>
                            <a:latin typeface="Cambria Math" panose="02040503050406030204" pitchFamily="18" charset="0"/>
                          </a:rPr>
                        </m:ctrlPr>
                      </m:sSubPr>
                      <m:e>
                        <m:r>
                          <a:rPr lang="en-US" b="0" i="1">
                            <a:solidFill>
                              <a:schemeClr val="tx1"/>
                            </a:solidFill>
                            <a:latin typeface="Cambria Math" panose="02040503050406030204" pitchFamily="18" charset="0"/>
                          </a:rPr>
                          <m:t>𝑈</m:t>
                        </m:r>
                      </m:e>
                      <m:sub>
                        <m:r>
                          <a:rPr lang="en-US" b="0" i="1">
                            <a:solidFill>
                              <a:schemeClr val="tx1"/>
                            </a:solidFill>
                            <a:latin typeface="Cambria Math" panose="02040503050406030204" pitchFamily="18" charset="0"/>
                          </a:rPr>
                          <m:t>0</m:t>
                        </m:r>
                      </m:sub>
                    </m:sSub>
                    <m:r>
                      <a:rPr lang="en-US" i="1">
                        <a:solidFill>
                          <a:schemeClr val="tx1"/>
                        </a:solidFill>
                        <a:latin typeface="Cambria Math" panose="02040503050406030204" pitchFamily="18" charset="0"/>
                      </a:rPr>
                      <m:t> + (</m:t>
                    </m:r>
                    <m:r>
                      <a:rPr lang="en-US" i="1">
                        <a:solidFill>
                          <a:schemeClr val="tx1"/>
                        </a:solidFill>
                        <a:latin typeface="Cambria Math" panose="02040503050406030204" pitchFamily="18" charset="0"/>
                      </a:rPr>
                      <m:t>𝑛</m:t>
                    </m:r>
                    <m:r>
                      <a:rPr lang="en-US" i="1">
                        <a:solidFill>
                          <a:schemeClr val="tx1"/>
                        </a:solidFill>
                        <a:latin typeface="Cambria Math" panose="02040503050406030204" pitchFamily="18" charset="0"/>
                      </a:rPr>
                      <m:t>+</m:t>
                    </m:r>
                    <m:r>
                      <a:rPr lang="en-US" i="1">
                        <a:solidFill>
                          <a:schemeClr val="tx1"/>
                        </a:solidFill>
                        <a:latin typeface="Cambria Math" panose="02040503050406030204" pitchFamily="18" charset="0"/>
                      </a:rPr>
                      <m:t>1</m:t>
                    </m:r>
                    <m:r>
                      <a:rPr lang="en-US" i="1">
                        <a:solidFill>
                          <a:schemeClr val="tx1"/>
                        </a:solidFill>
                        <a:latin typeface="Cambria Math" panose="02040503050406030204" pitchFamily="18" charset="0"/>
                      </a:rPr>
                      <m:t>)</m:t>
                    </m:r>
                    <m:r>
                      <a:rPr lang="en-US" i="1">
                        <a:solidFill>
                          <a:schemeClr val="tx1"/>
                        </a:solidFill>
                        <a:latin typeface="Cambria Math" panose="02040503050406030204" pitchFamily="18" charset="0"/>
                      </a:rPr>
                      <m:t>𝑋</m:t>
                    </m:r>
                    <m:r>
                      <a:rPr lang="en-US" i="1">
                        <a:solidFill>
                          <a:schemeClr val="tx1"/>
                        </a:solidFill>
                        <a:latin typeface="Cambria Math" panose="02040503050406030204" pitchFamily="18" charset="0"/>
                      </a:rPr>
                      <m:t> 〉 = 〈</m:t>
                    </m:r>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𝑈</m:t>
                        </m:r>
                      </m:e>
                      <m:sub>
                        <m:r>
                          <a:rPr lang="en-US" i="1">
                            <a:solidFill>
                              <a:schemeClr val="tx1"/>
                            </a:solidFill>
                            <a:latin typeface="Cambria Math" panose="02040503050406030204" pitchFamily="18" charset="0"/>
                          </a:rPr>
                          <m:t>0</m:t>
                        </m:r>
                      </m:sub>
                    </m:sSub>
                    <m:r>
                      <a:rPr lang="en-US" i="1">
                        <a:solidFill>
                          <a:schemeClr val="tx1"/>
                        </a:solidFill>
                        <a:latin typeface="Cambria Math" panose="02040503050406030204" pitchFamily="18" charset="0"/>
                      </a:rPr>
                      <m:t>+ </m:t>
                    </m:r>
                    <m:r>
                      <a:rPr lang="en-US" b="0" i="1">
                        <a:solidFill>
                          <a:schemeClr val="tx1"/>
                        </a:solidFill>
                        <a:latin typeface="Cambria Math" panose="02040503050406030204" pitchFamily="18" charset="0"/>
                      </a:rPr>
                      <m:t>𝑋</m:t>
                    </m:r>
                    <m:r>
                      <a:rPr lang="en-US" i="1">
                        <a:solidFill>
                          <a:schemeClr val="tx1"/>
                        </a:solidFill>
                        <a:latin typeface="Cambria Math" panose="02040503050406030204" pitchFamily="18" charset="0"/>
                      </a:rPr>
                      <m:t>𝑛</m:t>
                    </m:r>
                    <m:r>
                      <a:rPr lang="en-US" i="1">
                        <a:solidFill>
                          <a:schemeClr val="tx1"/>
                        </a:solidFill>
                        <a:latin typeface="Cambria Math" panose="02040503050406030204" pitchFamily="18" charset="0"/>
                      </a:rPr>
                      <m:t>+</m:t>
                    </m:r>
                    <m:r>
                      <a:rPr lang="en-US" i="1">
                        <a:solidFill>
                          <a:schemeClr val="tx1"/>
                        </a:solidFill>
                        <a:latin typeface="Cambria Math" panose="02040503050406030204" pitchFamily="18" charset="0"/>
                      </a:rPr>
                      <m:t>𝑋</m:t>
                    </m:r>
                    <m:r>
                      <a:rPr lang="en-US" i="1">
                        <a:solidFill>
                          <a:schemeClr val="tx1"/>
                        </a:solidFill>
                        <a:latin typeface="Cambria Math" panose="02040503050406030204" pitchFamily="18" charset="0"/>
                      </a:rPr>
                      <m:t> 〉</m:t>
                    </m:r>
                  </m:oMath>
                </a14:m>
                <a:r>
                  <a:rPr lang="en-US" dirty="0">
                    <a:solidFill>
                      <a:schemeClr val="tx1"/>
                    </a:solidFill>
                  </a:rPr>
                  <a:t> </a:t>
                </a:r>
              </a:p>
              <a:p>
                <a:pPr lvl="1">
                  <a:buFont typeface="Wingdings" panose="05000000000000000000" pitchFamily="2" charset="2"/>
                  <a:buChar char="Ø"/>
                </a:pPr>
                <a:r>
                  <a:rPr lang="pt-BR" dirty="0">
                    <a:solidFill>
                      <a:schemeClr val="tx1"/>
                    </a:solidFill>
                    <a:latin typeface="Calibri" panose="020F0502020204030204" pitchFamily="34" charset="0"/>
                    <a:ea typeface="Calibri" panose="020F0502020204030204" pitchFamily="34" charset="0"/>
                    <a:cs typeface="Calibri" panose="020F0502020204030204" pitchFamily="34" charset="0"/>
                  </a:rPr>
                  <a:t>If NX is and inetger </a:t>
                </a:r>
                <a:r>
                  <a:rPr lang="en-US" dirty="0">
                    <a:solidFill>
                      <a:schemeClr val="tx1"/>
                    </a:solidFill>
                    <a:latin typeface="Calibri" panose="020F0502020204030204" pitchFamily="34" charset="0"/>
                    <a:ea typeface="Calibri" panose="020F0502020204030204" pitchFamily="34" charset="0"/>
                    <a:cs typeface="Calibri" panose="020F0502020204030204" pitchFamily="34" charset="0"/>
                  </a:rPr>
                  <a:t>error will be periodic which will cause idle tones in the frequency domain and this affects the spectrum of the DCO.</a:t>
                </a:r>
              </a:p>
              <a:p>
                <a:pPr lvl="1">
                  <a:buFont typeface="Wingdings" panose="05000000000000000000" pitchFamily="2" charset="2"/>
                  <a:buChar char="Ø"/>
                </a:pPr>
                <a:r>
                  <a:rPr lang="en-US" dirty="0" smtClean="0">
                    <a:solidFill>
                      <a:schemeClr val="tx1"/>
                    </a:solidFill>
                  </a:rPr>
                  <a:t>The case NX is a non-integer we will not have the periodic behavior ( irrational number )</a:t>
                </a:r>
              </a:p>
              <a:p>
                <a:endParaRPr lang="en-US" dirty="0"/>
              </a:p>
            </p:txBody>
          </p:sp>
        </mc:Choice>
        <mc:Fallback xmlns="">
          <p:sp>
            <p:nvSpPr>
              <p:cNvPr id="3" name="Text Placeholder 2"/>
              <p:cNvSpPr>
                <a:spLocks noGrp="1" noRot="1" noChangeAspect="1" noMove="1" noResize="1" noEditPoints="1" noAdjustHandles="1" noChangeArrowheads="1" noChangeShapeType="1" noTextEdit="1"/>
              </p:cNvSpPr>
              <p:nvPr>
                <p:ph type="body" idx="1"/>
              </p:nvPr>
            </p:nvSpPr>
            <p:spPr>
              <a:xfrm>
                <a:off x="946151" y="1308963"/>
                <a:ext cx="10459616" cy="4984947"/>
              </a:xfrm>
              <a:blipFill rotWithShape="0">
                <a:blip r:embed="rId2"/>
                <a:stretch>
                  <a:fillRect t="-1714"/>
                </a:stretch>
              </a:blipFill>
            </p:spPr>
            <p:txBody>
              <a:bodyPr/>
              <a:lstStyle/>
              <a:p>
                <a:r>
                  <a:rPr lang="en-US">
                    <a:noFill/>
                  </a:rPr>
                  <a:t> </a:t>
                </a:r>
              </a:p>
            </p:txBody>
          </p:sp>
        </mc:Fallback>
      </mc:AlternateContent>
      <p:pic>
        <p:nvPicPr>
          <p:cNvPr id="4" name="Picture 3"/>
          <p:cNvPicPr>
            <a:picLocks noChangeAspect="1"/>
          </p:cNvPicPr>
          <p:nvPr/>
        </p:nvPicPr>
        <p:blipFill rotWithShape="1">
          <a:blip r:embed="rId3"/>
          <a:srcRect l="41298" t="11274" r="43" b="19372"/>
          <a:stretch/>
        </p:blipFill>
        <p:spPr>
          <a:xfrm>
            <a:off x="1703779" y="3801436"/>
            <a:ext cx="3536831" cy="2223150"/>
          </a:xfrm>
          <a:prstGeom prst="rect">
            <a:avLst/>
          </a:prstGeom>
        </p:spPr>
      </p:pic>
      <p:pic>
        <p:nvPicPr>
          <p:cNvPr id="5" name="Picture 4"/>
          <p:cNvPicPr>
            <a:picLocks noChangeAspect="1"/>
          </p:cNvPicPr>
          <p:nvPr/>
        </p:nvPicPr>
        <p:blipFill rotWithShape="1">
          <a:blip r:embed="rId4"/>
          <a:srcRect b="12345"/>
          <a:stretch/>
        </p:blipFill>
        <p:spPr>
          <a:xfrm>
            <a:off x="6944039" y="3801436"/>
            <a:ext cx="3896254" cy="1959992"/>
          </a:xfrm>
          <a:prstGeom prst="rect">
            <a:avLst/>
          </a:prstGeom>
        </p:spPr>
      </p:pic>
      <p:sp>
        <p:nvSpPr>
          <p:cNvPr id="6" name="TextBox 5"/>
          <p:cNvSpPr txBox="1"/>
          <p:nvPr/>
        </p:nvSpPr>
        <p:spPr>
          <a:xfrm>
            <a:off x="2037916" y="5607539"/>
            <a:ext cx="2868555" cy="307777"/>
          </a:xfrm>
          <a:prstGeom prst="rect">
            <a:avLst/>
          </a:prstGeom>
          <a:noFill/>
        </p:spPr>
        <p:txBody>
          <a:bodyPr wrap="square" rtlCol="0">
            <a:spAutoFit/>
          </a:bodyPr>
          <a:lstStyle/>
          <a:p>
            <a:r>
              <a:rPr lang="en-US" dirty="0" smtClean="0"/>
              <a:t>First order MASH model</a:t>
            </a:r>
            <a:endParaRPr lang="en-US" dirty="0"/>
          </a:p>
        </p:txBody>
      </p:sp>
      <p:sp>
        <p:nvSpPr>
          <p:cNvPr id="7" name="TextBox 6"/>
          <p:cNvSpPr txBox="1"/>
          <p:nvPr/>
        </p:nvSpPr>
        <p:spPr>
          <a:xfrm>
            <a:off x="7335270" y="5607539"/>
            <a:ext cx="3364302" cy="307777"/>
          </a:xfrm>
          <a:prstGeom prst="rect">
            <a:avLst/>
          </a:prstGeom>
          <a:noFill/>
        </p:spPr>
        <p:txBody>
          <a:bodyPr wrap="square" rtlCol="0">
            <a:spAutoFit/>
          </a:bodyPr>
          <a:lstStyle/>
          <a:p>
            <a:r>
              <a:rPr lang="en-US" dirty="0" smtClean="0"/>
              <a:t>First order MASH linear model (M=1)</a:t>
            </a:r>
            <a:endParaRPr lang="en-US" dirty="0"/>
          </a:p>
        </p:txBody>
      </p:sp>
      <p:sp>
        <p:nvSpPr>
          <p:cNvPr id="8" name="TextBox 7"/>
          <p:cNvSpPr txBox="1"/>
          <p:nvPr/>
        </p:nvSpPr>
        <p:spPr>
          <a:xfrm>
            <a:off x="946151" y="6252373"/>
            <a:ext cx="10744827" cy="307777"/>
          </a:xfrm>
          <a:prstGeom prst="rect">
            <a:avLst/>
          </a:prstGeom>
          <a:noFill/>
        </p:spPr>
        <p:txBody>
          <a:bodyPr wrap="square" rtlCol="0">
            <a:spAutoFit/>
          </a:bodyPr>
          <a:lstStyle/>
          <a:p>
            <a:r>
              <a:rPr lang="en-US" i="1" dirty="0">
                <a:latin typeface="Times New Roman" panose="02020603050405020304" pitchFamily="18" charset="0"/>
                <a:cs typeface="Times New Roman" panose="02020603050405020304" pitchFamily="18" charset="0"/>
              </a:rPr>
              <a:t>K. </a:t>
            </a:r>
            <a:r>
              <a:rPr lang="en-US" i="1" dirty="0" err="1">
                <a:latin typeface="Times New Roman" panose="02020603050405020304" pitchFamily="18" charset="0"/>
                <a:cs typeface="Times New Roman" panose="02020603050405020304" pitchFamily="18" charset="0"/>
              </a:rPr>
              <a:t>Hosseini</a:t>
            </a:r>
            <a:r>
              <a:rPr lang="en-US" i="1" dirty="0">
                <a:latin typeface="Times New Roman" panose="02020603050405020304" pitchFamily="18" charset="0"/>
                <a:cs typeface="Times New Roman" panose="02020603050405020304" pitchFamily="18" charset="0"/>
              </a:rPr>
              <a:t> and M. P. Kennedy, “Maximum sequence length MASH </a:t>
            </a:r>
            <a:r>
              <a:rPr lang="en-US" i="1" dirty="0" smtClean="0">
                <a:latin typeface="Times New Roman" panose="02020603050405020304" pitchFamily="18" charset="0"/>
                <a:cs typeface="Times New Roman" panose="02020603050405020304" pitchFamily="18" charset="0"/>
              </a:rPr>
              <a:t>delta–sigma, modulators”,  </a:t>
            </a:r>
            <a:r>
              <a:rPr lang="en-US" dirty="0">
                <a:latin typeface="Times New Roman" panose="02020603050405020304" pitchFamily="18" charset="0"/>
                <a:cs typeface="Times New Roman" panose="02020603050405020304" pitchFamily="18" charset="0"/>
              </a:rPr>
              <a:t>IEEE Journal of Solid-State Circuits</a:t>
            </a:r>
            <a:endParaRPr lang="en-US"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18029341"/>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rPr>
              <a:t>Mash Sigma Delta </a:t>
            </a:r>
            <a:endParaRPr lang="en-US" dirty="0"/>
          </a:p>
        </p:txBody>
      </p:sp>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914400" y="2808514"/>
                <a:ext cx="10363200" cy="3687181"/>
              </a:xfrm>
            </p:spPr>
            <p:txBody>
              <a:bodyPr/>
              <a:lstStyle/>
              <a:p>
                <a:pPr>
                  <a:buFont typeface="Wingdings" panose="05000000000000000000" pitchFamily="2" charset="2"/>
                  <a:buChar char="q"/>
                </a:pPr>
                <a:r>
                  <a:rPr lang="en-US" dirty="0" smtClean="0">
                    <a:solidFill>
                      <a:schemeClr val="tx1"/>
                    </a:solidFill>
                  </a:rPr>
                  <a:t>Linear model output of the MASH </a:t>
                </a:r>
              </a:p>
              <a:p>
                <a:pPr lvl="1">
                  <a:buFont typeface="Wingdings" panose="05000000000000000000" pitchFamily="2" charset="2"/>
                  <a:buChar char="Ø"/>
                </a:pPr>
                <a14:m>
                  <m:oMath xmlns:m="http://schemas.openxmlformats.org/officeDocument/2006/math">
                    <m:sSub>
                      <m:sSubPr>
                        <m:ctrlPr>
                          <a:rPr lang="en-US" sz="1600" b="0" i="1">
                            <a:solidFill>
                              <a:schemeClr val="tx1"/>
                            </a:solidFill>
                            <a:latin typeface="Cambria Math" panose="02040503050406030204" pitchFamily="18" charset="0"/>
                          </a:rPr>
                        </m:ctrlPr>
                      </m:sSubPr>
                      <m:e>
                        <m:r>
                          <a:rPr lang="en-US" sz="1600" b="0" i="1">
                            <a:solidFill>
                              <a:schemeClr val="tx1"/>
                            </a:solidFill>
                            <a:latin typeface="Cambria Math" panose="02040503050406030204" pitchFamily="18" charset="0"/>
                          </a:rPr>
                          <m:t>𝑌</m:t>
                        </m:r>
                      </m:e>
                      <m:sub>
                        <m:r>
                          <a:rPr lang="en-US" sz="1600" b="0" i="1">
                            <a:solidFill>
                              <a:schemeClr val="tx1"/>
                            </a:solidFill>
                            <a:latin typeface="Cambria Math" panose="02040503050406030204" pitchFamily="18" charset="0"/>
                          </a:rPr>
                          <m:t>0</m:t>
                        </m:r>
                      </m:sub>
                    </m:sSub>
                    <m:d>
                      <m:dPr>
                        <m:ctrlPr>
                          <a:rPr lang="en-US" sz="1600" b="0" i="1">
                            <a:solidFill>
                              <a:schemeClr val="tx1"/>
                            </a:solidFill>
                            <a:latin typeface="Cambria Math" panose="02040503050406030204" pitchFamily="18" charset="0"/>
                          </a:rPr>
                        </m:ctrlPr>
                      </m:dPr>
                      <m:e>
                        <m:r>
                          <a:rPr lang="en-US" sz="1600" b="0" i="1">
                            <a:solidFill>
                              <a:schemeClr val="tx1"/>
                            </a:solidFill>
                            <a:latin typeface="Cambria Math" panose="02040503050406030204" pitchFamily="18" charset="0"/>
                          </a:rPr>
                          <m:t>𝑍</m:t>
                        </m:r>
                      </m:e>
                    </m:d>
                    <m:r>
                      <a:rPr lang="pl-PL" sz="1600" i="1">
                        <a:solidFill>
                          <a:schemeClr val="tx1"/>
                        </a:solidFill>
                        <a:latin typeface="Cambria Math" panose="02040503050406030204" pitchFamily="18" charset="0"/>
                      </a:rPr>
                      <m:t>= </m:t>
                    </m:r>
                    <m:r>
                      <a:rPr lang="pl-PL" sz="1600" i="1">
                        <a:solidFill>
                          <a:schemeClr val="tx1"/>
                        </a:solidFill>
                        <a:latin typeface="Cambria Math" panose="02040503050406030204" pitchFamily="18" charset="0"/>
                      </a:rPr>
                      <m:t>𝑋</m:t>
                    </m:r>
                    <m:d>
                      <m:dPr>
                        <m:ctrlPr>
                          <a:rPr lang="pl-PL" sz="1600" i="1">
                            <a:solidFill>
                              <a:schemeClr val="tx1"/>
                            </a:solidFill>
                            <a:latin typeface="Cambria Math" panose="02040503050406030204" pitchFamily="18" charset="0"/>
                          </a:rPr>
                        </m:ctrlPr>
                      </m:dPr>
                      <m:e>
                        <m:r>
                          <a:rPr lang="pl-PL" sz="1600" i="1">
                            <a:solidFill>
                              <a:schemeClr val="tx1"/>
                            </a:solidFill>
                            <a:latin typeface="Cambria Math" panose="02040503050406030204" pitchFamily="18" charset="0"/>
                          </a:rPr>
                          <m:t>𝑧</m:t>
                        </m:r>
                      </m:e>
                    </m:d>
                    <m:r>
                      <a:rPr lang="pl-PL" sz="1600" i="1">
                        <a:solidFill>
                          <a:schemeClr val="tx1"/>
                        </a:solidFill>
                        <a:latin typeface="Cambria Math" panose="02040503050406030204" pitchFamily="18" charset="0"/>
                      </a:rPr>
                      <m:t>+ </m:t>
                    </m:r>
                    <m:d>
                      <m:dPr>
                        <m:ctrlPr>
                          <a:rPr lang="pl-PL" sz="1600" i="1">
                            <a:solidFill>
                              <a:schemeClr val="tx1"/>
                            </a:solidFill>
                            <a:latin typeface="Cambria Math" panose="02040503050406030204" pitchFamily="18" charset="0"/>
                          </a:rPr>
                        </m:ctrlPr>
                      </m:dPr>
                      <m:e>
                        <m:r>
                          <a:rPr lang="pl-PL" sz="1600" i="1">
                            <a:solidFill>
                              <a:schemeClr val="tx1"/>
                            </a:solidFill>
                            <a:latin typeface="Cambria Math" panose="02040503050406030204" pitchFamily="18" charset="0"/>
                          </a:rPr>
                          <m:t>1</m:t>
                        </m:r>
                        <m:r>
                          <a:rPr lang="pl-PL" sz="1600" i="1">
                            <a:solidFill>
                              <a:schemeClr val="tx1"/>
                            </a:solidFill>
                            <a:latin typeface="Cambria Math" panose="02040503050406030204" pitchFamily="18" charset="0"/>
                          </a:rPr>
                          <m:t> − </m:t>
                        </m:r>
                        <m:sSup>
                          <m:sSupPr>
                            <m:ctrlPr>
                              <a:rPr lang="pl-PL" sz="1600" i="1">
                                <a:solidFill>
                                  <a:schemeClr val="tx1"/>
                                </a:solidFill>
                                <a:latin typeface="Cambria Math" panose="02040503050406030204" pitchFamily="18" charset="0"/>
                              </a:rPr>
                            </m:ctrlPr>
                          </m:sSupPr>
                          <m:e>
                            <m:r>
                              <a:rPr lang="pl-PL" sz="1600" i="1">
                                <a:solidFill>
                                  <a:schemeClr val="tx1"/>
                                </a:solidFill>
                                <a:latin typeface="Cambria Math" panose="02040503050406030204" pitchFamily="18" charset="0"/>
                              </a:rPr>
                              <m:t>𝑧</m:t>
                            </m:r>
                          </m:e>
                          <m:sup>
                            <m:r>
                              <a:rPr lang="en-US" sz="1600" b="0" i="1">
                                <a:solidFill>
                                  <a:schemeClr val="tx1"/>
                                </a:solidFill>
                                <a:latin typeface="Cambria Math" panose="02040503050406030204" pitchFamily="18" charset="0"/>
                              </a:rPr>
                              <m:t>−</m:t>
                            </m:r>
                            <m:r>
                              <a:rPr lang="en-US" sz="1600" b="0" i="1">
                                <a:solidFill>
                                  <a:schemeClr val="tx1"/>
                                </a:solidFill>
                                <a:latin typeface="Cambria Math" panose="02040503050406030204" pitchFamily="18" charset="0"/>
                              </a:rPr>
                              <m:t>1</m:t>
                            </m:r>
                          </m:sup>
                        </m:sSup>
                      </m:e>
                    </m:d>
                    <m:sSub>
                      <m:sSubPr>
                        <m:ctrlPr>
                          <a:rPr lang="pl-PL" sz="1600" i="1">
                            <a:solidFill>
                              <a:schemeClr val="tx1"/>
                            </a:solidFill>
                            <a:latin typeface="Cambria Math" panose="02040503050406030204" pitchFamily="18" charset="0"/>
                          </a:rPr>
                        </m:ctrlPr>
                      </m:sSubPr>
                      <m:e>
                        <m:r>
                          <a:rPr lang="pl-PL" sz="1600" i="1">
                            <a:solidFill>
                              <a:schemeClr val="tx1"/>
                            </a:solidFill>
                            <a:latin typeface="Cambria Math" panose="02040503050406030204" pitchFamily="18" charset="0"/>
                          </a:rPr>
                          <m:t>𝐸</m:t>
                        </m:r>
                      </m:e>
                      <m:sub>
                        <m:r>
                          <a:rPr lang="en-US" sz="1600" b="0" i="1">
                            <a:solidFill>
                              <a:schemeClr val="tx1"/>
                            </a:solidFill>
                            <a:latin typeface="Cambria Math" panose="02040503050406030204" pitchFamily="18" charset="0"/>
                          </a:rPr>
                          <m:t>𝑞</m:t>
                        </m:r>
                        <m:r>
                          <a:rPr lang="en-US" sz="1600" b="0" i="1">
                            <a:solidFill>
                              <a:schemeClr val="tx1"/>
                            </a:solidFill>
                            <a:latin typeface="Cambria Math" panose="02040503050406030204" pitchFamily="18" charset="0"/>
                          </a:rPr>
                          <m:t>0</m:t>
                        </m:r>
                      </m:sub>
                    </m:sSub>
                  </m:oMath>
                </a14:m>
                <a:endParaRPr lang="en-US" sz="1600" i="1" dirty="0">
                  <a:solidFill>
                    <a:schemeClr val="tx1"/>
                  </a:solidFill>
                  <a:latin typeface="Cambria Math" panose="02040503050406030204" pitchFamily="18" charset="0"/>
                </a:endParaRPr>
              </a:p>
              <a:p>
                <a:pPr>
                  <a:buFont typeface="Wingdings" panose="05000000000000000000" pitchFamily="2" charset="2"/>
                  <a:buChar char="q"/>
                </a:pPr>
                <a:r>
                  <a:rPr lang="en-US" dirty="0">
                    <a:solidFill>
                      <a:schemeClr val="tx1"/>
                    </a:solidFill>
                  </a:rPr>
                  <a:t>Noise cancellation network</a:t>
                </a:r>
              </a:p>
              <a:p>
                <a:pPr lvl="1">
                  <a:buFont typeface="Wingdings" panose="05000000000000000000" pitchFamily="2" charset="2"/>
                  <a:buChar char="Ø"/>
                </a:pPr>
                <a:r>
                  <a:rPr lang="en-US" dirty="0">
                    <a:solidFill>
                      <a:schemeClr val="tx1"/>
                    </a:solidFill>
                  </a:rPr>
                  <a:t>It is used in the MASH Sigma Delta modulators to cancel the quantization error of the intermediate stages and its equation is given by:</a:t>
                </a:r>
              </a:p>
              <a:p>
                <a:pPr marL="1028700" lvl="2" indent="0">
                  <a:buNone/>
                </a:pPr>
                <a14:m>
                  <m:oMath xmlns:m="http://schemas.openxmlformats.org/officeDocument/2006/math">
                    <m:r>
                      <m:rPr>
                        <m:sty m:val="p"/>
                      </m:rPr>
                      <a:rPr lang="pl-PL">
                        <a:solidFill>
                          <a:schemeClr val="tx1"/>
                        </a:solidFill>
                        <a:latin typeface="Cambria Math" panose="02040503050406030204" pitchFamily="18" charset="0"/>
                      </a:rPr>
                      <m:t>Y</m:t>
                    </m:r>
                    <m:d>
                      <m:dPr>
                        <m:ctrlPr>
                          <a:rPr lang="pl-PL" i="1">
                            <a:solidFill>
                              <a:schemeClr val="tx1"/>
                            </a:solidFill>
                            <a:latin typeface="Cambria Math" panose="02040503050406030204" pitchFamily="18" charset="0"/>
                          </a:rPr>
                        </m:ctrlPr>
                      </m:dPr>
                      <m:e>
                        <m:r>
                          <m:rPr>
                            <m:sty m:val="p"/>
                          </m:rPr>
                          <a:rPr lang="pl-PL">
                            <a:solidFill>
                              <a:schemeClr val="tx1"/>
                            </a:solidFill>
                            <a:latin typeface="Cambria Math" panose="02040503050406030204" pitchFamily="18" charset="0"/>
                          </a:rPr>
                          <m:t>z</m:t>
                        </m:r>
                      </m:e>
                    </m:d>
                    <m:r>
                      <a:rPr lang="pl-PL">
                        <a:solidFill>
                          <a:schemeClr val="tx1"/>
                        </a:solidFill>
                        <a:latin typeface="Cambria Math" panose="02040503050406030204" pitchFamily="18" charset="0"/>
                      </a:rPr>
                      <m:t>= </m:t>
                    </m:r>
                    <m:sSub>
                      <m:sSubPr>
                        <m:ctrlPr>
                          <a:rPr lang="pl-PL" i="1">
                            <a:solidFill>
                              <a:schemeClr val="tx1"/>
                            </a:solidFill>
                            <a:latin typeface="Cambria Math" panose="02040503050406030204" pitchFamily="18" charset="0"/>
                          </a:rPr>
                        </m:ctrlPr>
                      </m:sSubPr>
                      <m:e>
                        <m:r>
                          <m:rPr>
                            <m:sty m:val="p"/>
                          </m:rPr>
                          <a:rPr lang="pl-PL">
                            <a:solidFill>
                              <a:schemeClr val="tx1"/>
                            </a:solidFill>
                            <a:latin typeface="Cambria Math" panose="02040503050406030204" pitchFamily="18" charset="0"/>
                          </a:rPr>
                          <m:t>Y</m:t>
                        </m:r>
                      </m:e>
                      <m:sub>
                        <m:r>
                          <a:rPr lang="pl-PL">
                            <a:solidFill>
                              <a:schemeClr val="tx1"/>
                            </a:solidFill>
                            <a:latin typeface="Cambria Math" panose="02040503050406030204" pitchFamily="18" charset="0"/>
                          </a:rPr>
                          <m:t>1</m:t>
                        </m:r>
                      </m:sub>
                    </m:sSub>
                    <m:d>
                      <m:dPr>
                        <m:ctrlPr>
                          <a:rPr lang="en-US" i="1">
                            <a:solidFill>
                              <a:schemeClr val="tx1"/>
                            </a:solidFill>
                            <a:latin typeface="Cambria Math" panose="02040503050406030204" pitchFamily="18" charset="0"/>
                          </a:rPr>
                        </m:ctrlPr>
                      </m:dPr>
                      <m:e>
                        <m:r>
                          <m:rPr>
                            <m:sty m:val="p"/>
                          </m:rPr>
                          <a:rPr lang="en-US">
                            <a:solidFill>
                              <a:schemeClr val="tx1"/>
                            </a:solidFill>
                            <a:latin typeface="Cambria Math" panose="02040503050406030204" pitchFamily="18" charset="0"/>
                          </a:rPr>
                          <m:t>Z</m:t>
                        </m:r>
                      </m:e>
                    </m:d>
                    <m:r>
                      <a:rPr lang="pl-PL">
                        <a:solidFill>
                          <a:schemeClr val="tx1"/>
                        </a:solidFill>
                        <a:latin typeface="Cambria Math" panose="02040503050406030204" pitchFamily="18" charset="0"/>
                      </a:rPr>
                      <m:t>+ </m:t>
                    </m:r>
                    <m:d>
                      <m:dPr>
                        <m:ctrlPr>
                          <a:rPr lang="pl-PL" i="1">
                            <a:solidFill>
                              <a:schemeClr val="tx1"/>
                            </a:solidFill>
                            <a:latin typeface="Cambria Math" panose="02040503050406030204" pitchFamily="18" charset="0"/>
                          </a:rPr>
                        </m:ctrlPr>
                      </m:dPr>
                      <m:e>
                        <m:r>
                          <a:rPr lang="pl-PL">
                            <a:solidFill>
                              <a:schemeClr val="tx1"/>
                            </a:solidFill>
                            <a:latin typeface="Cambria Math" panose="02040503050406030204" pitchFamily="18" charset="0"/>
                          </a:rPr>
                          <m:t>1</m:t>
                        </m:r>
                        <m:r>
                          <a:rPr lang="pl-PL">
                            <a:solidFill>
                              <a:schemeClr val="tx1"/>
                            </a:solidFill>
                            <a:latin typeface="Cambria Math" panose="02040503050406030204" pitchFamily="18" charset="0"/>
                          </a:rPr>
                          <m:t> − </m:t>
                        </m:r>
                        <m:sSup>
                          <m:sSupPr>
                            <m:ctrlPr>
                              <a:rPr lang="pl-PL" i="1">
                                <a:solidFill>
                                  <a:schemeClr val="tx1"/>
                                </a:solidFill>
                                <a:latin typeface="Cambria Math" panose="02040503050406030204" pitchFamily="18" charset="0"/>
                              </a:rPr>
                            </m:ctrlPr>
                          </m:sSupPr>
                          <m:e>
                            <m:r>
                              <m:rPr>
                                <m:sty m:val="p"/>
                              </m:rPr>
                              <a:rPr lang="pl-PL">
                                <a:solidFill>
                                  <a:schemeClr val="tx1"/>
                                </a:solidFill>
                                <a:latin typeface="Cambria Math" panose="02040503050406030204" pitchFamily="18" charset="0"/>
                              </a:rPr>
                              <m:t>z</m:t>
                            </m:r>
                          </m:e>
                          <m:sup>
                            <m:r>
                              <a:rPr lang="en-US">
                                <a:solidFill>
                                  <a:schemeClr val="tx1"/>
                                </a:solidFill>
                                <a:latin typeface="Cambria Math" panose="02040503050406030204" pitchFamily="18" charset="0"/>
                              </a:rPr>
                              <m:t>−</m:t>
                            </m:r>
                            <m:r>
                              <a:rPr lang="en-US">
                                <a:solidFill>
                                  <a:schemeClr val="tx1"/>
                                </a:solidFill>
                                <a:latin typeface="Cambria Math" panose="02040503050406030204" pitchFamily="18" charset="0"/>
                              </a:rPr>
                              <m:t>1</m:t>
                            </m:r>
                          </m:sup>
                        </m:sSup>
                      </m:e>
                    </m:d>
                    <m:sSub>
                      <m:sSubPr>
                        <m:ctrlPr>
                          <a:rPr lang="pl-PL" i="1">
                            <a:solidFill>
                              <a:schemeClr val="tx1"/>
                            </a:solidFill>
                            <a:latin typeface="Cambria Math" panose="02040503050406030204" pitchFamily="18" charset="0"/>
                          </a:rPr>
                        </m:ctrlPr>
                      </m:sSubPr>
                      <m:e>
                        <m:r>
                          <m:rPr>
                            <m:sty m:val="p"/>
                          </m:rPr>
                          <a:rPr lang="pl-PL">
                            <a:solidFill>
                              <a:schemeClr val="tx1"/>
                            </a:solidFill>
                            <a:latin typeface="Cambria Math" panose="02040503050406030204" pitchFamily="18" charset="0"/>
                          </a:rPr>
                          <m:t>Y</m:t>
                        </m:r>
                      </m:e>
                      <m:sub>
                        <m:r>
                          <a:rPr lang="pl-PL">
                            <a:solidFill>
                              <a:schemeClr val="tx1"/>
                            </a:solidFill>
                            <a:latin typeface="Cambria Math" panose="02040503050406030204" pitchFamily="18" charset="0"/>
                          </a:rPr>
                          <m:t>2</m:t>
                        </m:r>
                      </m:sub>
                    </m:sSub>
                    <m:d>
                      <m:dPr>
                        <m:ctrlPr>
                          <a:rPr lang="en-US" i="1">
                            <a:solidFill>
                              <a:schemeClr val="tx1"/>
                            </a:solidFill>
                            <a:latin typeface="Cambria Math" panose="02040503050406030204" pitchFamily="18" charset="0"/>
                          </a:rPr>
                        </m:ctrlPr>
                      </m:dPr>
                      <m:e>
                        <m:r>
                          <m:rPr>
                            <m:sty m:val="p"/>
                          </m:rPr>
                          <a:rPr lang="en-US">
                            <a:solidFill>
                              <a:schemeClr val="tx1"/>
                            </a:solidFill>
                            <a:latin typeface="Cambria Math" panose="02040503050406030204" pitchFamily="18" charset="0"/>
                          </a:rPr>
                          <m:t>Z</m:t>
                        </m:r>
                      </m:e>
                    </m:d>
                    <m:r>
                      <a:rPr lang="pl-PL">
                        <a:solidFill>
                          <a:schemeClr val="tx1"/>
                        </a:solidFill>
                        <a:latin typeface="Cambria Math" panose="02040503050406030204" pitchFamily="18" charset="0"/>
                      </a:rPr>
                      <m:t>+ </m:t>
                    </m:r>
                    <m:sSup>
                      <m:sSupPr>
                        <m:ctrlPr>
                          <a:rPr lang="pl-PL" i="1">
                            <a:solidFill>
                              <a:schemeClr val="tx1"/>
                            </a:solidFill>
                            <a:latin typeface="Cambria Math" panose="02040503050406030204" pitchFamily="18" charset="0"/>
                          </a:rPr>
                        </m:ctrlPr>
                      </m:sSupPr>
                      <m:e>
                        <m:d>
                          <m:dPr>
                            <m:ctrlPr>
                              <a:rPr lang="pl-PL" i="1">
                                <a:solidFill>
                                  <a:schemeClr val="tx1"/>
                                </a:solidFill>
                                <a:latin typeface="Cambria Math" panose="02040503050406030204" pitchFamily="18" charset="0"/>
                              </a:rPr>
                            </m:ctrlPr>
                          </m:dPr>
                          <m:e>
                            <m:r>
                              <a:rPr lang="pl-PL">
                                <a:solidFill>
                                  <a:schemeClr val="tx1"/>
                                </a:solidFill>
                                <a:latin typeface="Cambria Math" panose="02040503050406030204" pitchFamily="18" charset="0"/>
                              </a:rPr>
                              <m:t>1</m:t>
                            </m:r>
                            <m:r>
                              <a:rPr lang="pl-PL">
                                <a:solidFill>
                                  <a:schemeClr val="tx1"/>
                                </a:solidFill>
                                <a:latin typeface="Cambria Math" panose="02040503050406030204" pitchFamily="18" charset="0"/>
                              </a:rPr>
                              <m:t> − </m:t>
                            </m:r>
                            <m:sSup>
                              <m:sSupPr>
                                <m:ctrlPr>
                                  <a:rPr lang="pl-PL" i="1">
                                    <a:solidFill>
                                      <a:schemeClr val="tx1"/>
                                    </a:solidFill>
                                    <a:latin typeface="Cambria Math" panose="02040503050406030204" pitchFamily="18" charset="0"/>
                                  </a:rPr>
                                </m:ctrlPr>
                              </m:sSupPr>
                              <m:e>
                                <m:r>
                                  <m:rPr>
                                    <m:sty m:val="p"/>
                                  </m:rPr>
                                  <a:rPr lang="pl-PL">
                                    <a:solidFill>
                                      <a:schemeClr val="tx1"/>
                                    </a:solidFill>
                                    <a:latin typeface="Cambria Math" panose="02040503050406030204" pitchFamily="18" charset="0"/>
                                  </a:rPr>
                                  <m:t>z</m:t>
                                </m:r>
                              </m:e>
                              <m:sup>
                                <m:r>
                                  <a:rPr lang="en-US">
                                    <a:solidFill>
                                      <a:schemeClr val="tx1"/>
                                    </a:solidFill>
                                    <a:latin typeface="Cambria Math" panose="02040503050406030204" pitchFamily="18" charset="0"/>
                                  </a:rPr>
                                  <m:t>−</m:t>
                                </m:r>
                                <m:r>
                                  <a:rPr lang="en-US">
                                    <a:solidFill>
                                      <a:schemeClr val="tx1"/>
                                    </a:solidFill>
                                    <a:latin typeface="Cambria Math" panose="02040503050406030204" pitchFamily="18" charset="0"/>
                                  </a:rPr>
                                  <m:t>1</m:t>
                                </m:r>
                              </m:sup>
                            </m:sSup>
                          </m:e>
                        </m:d>
                      </m:e>
                      <m:sup>
                        <m:r>
                          <a:rPr lang="pl-PL">
                            <a:solidFill>
                              <a:schemeClr val="tx1"/>
                            </a:solidFill>
                            <a:latin typeface="Cambria Math" panose="02040503050406030204" pitchFamily="18" charset="0"/>
                          </a:rPr>
                          <m:t>2</m:t>
                        </m:r>
                      </m:sup>
                    </m:sSup>
                    <m:sSub>
                      <m:sSubPr>
                        <m:ctrlPr>
                          <a:rPr lang="pl-PL" i="1">
                            <a:solidFill>
                              <a:schemeClr val="tx1"/>
                            </a:solidFill>
                            <a:latin typeface="Cambria Math" panose="02040503050406030204" pitchFamily="18" charset="0"/>
                          </a:rPr>
                        </m:ctrlPr>
                      </m:sSubPr>
                      <m:e>
                        <m:r>
                          <m:rPr>
                            <m:sty m:val="p"/>
                          </m:rPr>
                          <a:rPr lang="pl-PL">
                            <a:solidFill>
                              <a:schemeClr val="tx1"/>
                            </a:solidFill>
                            <a:latin typeface="Cambria Math" panose="02040503050406030204" pitchFamily="18" charset="0"/>
                          </a:rPr>
                          <m:t>Y</m:t>
                        </m:r>
                      </m:e>
                      <m:sub>
                        <m:r>
                          <a:rPr lang="en-US">
                            <a:solidFill>
                              <a:schemeClr val="tx1"/>
                            </a:solidFill>
                            <a:latin typeface="Cambria Math" panose="02040503050406030204" pitchFamily="18" charset="0"/>
                          </a:rPr>
                          <m:t>3</m:t>
                        </m:r>
                      </m:sub>
                    </m:sSub>
                    <m:d>
                      <m:dPr>
                        <m:ctrlPr>
                          <a:rPr lang="en-US" i="1">
                            <a:solidFill>
                              <a:schemeClr val="tx1"/>
                            </a:solidFill>
                            <a:latin typeface="Cambria Math" panose="02040503050406030204" pitchFamily="18" charset="0"/>
                          </a:rPr>
                        </m:ctrlPr>
                      </m:dPr>
                      <m:e>
                        <m:r>
                          <m:rPr>
                            <m:sty m:val="p"/>
                          </m:rPr>
                          <a:rPr lang="en-US">
                            <a:solidFill>
                              <a:schemeClr val="tx1"/>
                            </a:solidFill>
                            <a:latin typeface="Cambria Math" panose="02040503050406030204" pitchFamily="18" charset="0"/>
                          </a:rPr>
                          <m:t>Z</m:t>
                        </m:r>
                      </m:e>
                    </m:d>
                    <m:r>
                      <a:rPr lang="en-US">
                        <a:solidFill>
                          <a:schemeClr val="tx1"/>
                        </a:solidFill>
                        <a:latin typeface="Cambria Math" panose="02040503050406030204" pitchFamily="18" charset="0"/>
                      </a:rPr>
                      <m:t>…….</m:t>
                    </m:r>
                  </m:oMath>
                </a14:m>
                <a:r>
                  <a:rPr lang="en-US" dirty="0">
                    <a:solidFill>
                      <a:schemeClr val="tx1"/>
                    </a:solidFill>
                  </a:rPr>
                  <a:t> </a:t>
                </a:r>
                <a14:m>
                  <m:oMath xmlns:m="http://schemas.openxmlformats.org/officeDocument/2006/math">
                    <m:r>
                      <a:rPr lang="en-US">
                        <a:solidFill>
                          <a:schemeClr val="tx1"/>
                        </a:solidFill>
                        <a:latin typeface="Cambria Math" panose="02040503050406030204" pitchFamily="18" charset="0"/>
                      </a:rPr>
                      <m:t>+(</m:t>
                    </m:r>
                    <m:sSub>
                      <m:sSubPr>
                        <m:ctrlPr>
                          <a:rPr lang="pl-PL" i="1">
                            <a:solidFill>
                              <a:schemeClr val="tx1"/>
                            </a:solidFill>
                            <a:latin typeface="Cambria Math" panose="02040503050406030204" pitchFamily="18" charset="0"/>
                          </a:rPr>
                        </m:ctrlPr>
                      </m:sSubPr>
                      <m:e>
                        <m:sSup>
                          <m:sSupPr>
                            <m:ctrlPr>
                              <a:rPr lang="pl-PL" i="1">
                                <a:solidFill>
                                  <a:schemeClr val="tx1"/>
                                </a:solidFill>
                                <a:latin typeface="Cambria Math" panose="02040503050406030204" pitchFamily="18" charset="0"/>
                              </a:rPr>
                            </m:ctrlPr>
                          </m:sSupPr>
                          <m:e>
                            <m:r>
                              <a:rPr lang="pl-PL">
                                <a:solidFill>
                                  <a:schemeClr val="tx1"/>
                                </a:solidFill>
                                <a:latin typeface="Cambria Math" panose="02040503050406030204" pitchFamily="18" charset="0"/>
                              </a:rPr>
                              <m:t>1</m:t>
                            </m:r>
                            <m:r>
                              <a:rPr lang="pl-PL">
                                <a:solidFill>
                                  <a:schemeClr val="tx1"/>
                                </a:solidFill>
                                <a:latin typeface="Cambria Math" panose="02040503050406030204" pitchFamily="18" charset="0"/>
                              </a:rPr>
                              <m:t> − </m:t>
                            </m:r>
                            <m:sSup>
                              <m:sSupPr>
                                <m:ctrlPr>
                                  <a:rPr lang="pl-PL" i="1">
                                    <a:solidFill>
                                      <a:schemeClr val="tx1"/>
                                    </a:solidFill>
                                    <a:latin typeface="Cambria Math" panose="02040503050406030204" pitchFamily="18" charset="0"/>
                                  </a:rPr>
                                </m:ctrlPr>
                              </m:sSupPr>
                              <m:e>
                                <m:r>
                                  <m:rPr>
                                    <m:sty m:val="p"/>
                                  </m:rPr>
                                  <a:rPr lang="pl-PL">
                                    <a:solidFill>
                                      <a:schemeClr val="tx1"/>
                                    </a:solidFill>
                                    <a:latin typeface="Cambria Math" panose="02040503050406030204" pitchFamily="18" charset="0"/>
                                  </a:rPr>
                                  <m:t>z</m:t>
                                </m:r>
                              </m:e>
                              <m:sup>
                                <m:r>
                                  <a:rPr lang="en-US">
                                    <a:solidFill>
                                      <a:schemeClr val="tx1"/>
                                    </a:solidFill>
                                    <a:latin typeface="Cambria Math" panose="02040503050406030204" pitchFamily="18" charset="0"/>
                                  </a:rPr>
                                  <m:t>−</m:t>
                                </m:r>
                                <m:r>
                                  <a:rPr lang="en-US">
                                    <a:solidFill>
                                      <a:schemeClr val="tx1"/>
                                    </a:solidFill>
                                    <a:latin typeface="Cambria Math" panose="02040503050406030204" pitchFamily="18" charset="0"/>
                                  </a:rPr>
                                  <m:t>1</m:t>
                                </m:r>
                              </m:sup>
                            </m:sSup>
                            <m:r>
                              <a:rPr lang="en-US">
                                <a:solidFill>
                                  <a:schemeClr val="tx1"/>
                                </a:solidFill>
                                <a:latin typeface="Cambria Math" panose="02040503050406030204" pitchFamily="18" charset="0"/>
                              </a:rPr>
                              <m:t>)</m:t>
                            </m:r>
                          </m:e>
                          <m:sup>
                            <m:r>
                              <m:rPr>
                                <m:sty m:val="p"/>
                              </m:rPr>
                              <a:rPr lang="en-US">
                                <a:solidFill>
                                  <a:schemeClr val="tx1"/>
                                </a:solidFill>
                                <a:latin typeface="Cambria Math" panose="02040503050406030204" pitchFamily="18" charset="0"/>
                              </a:rPr>
                              <m:t>L</m:t>
                            </m:r>
                          </m:sup>
                        </m:sSup>
                        <m:r>
                          <a:rPr lang="en-US">
                            <a:solidFill>
                              <a:schemeClr val="tx1"/>
                            </a:solidFill>
                            <a:latin typeface="Cambria Math" panose="02040503050406030204" pitchFamily="18" charset="0"/>
                          </a:rPr>
                          <m:t> </m:t>
                        </m:r>
                        <m:r>
                          <m:rPr>
                            <m:sty m:val="p"/>
                          </m:rPr>
                          <a:rPr lang="pl-PL">
                            <a:solidFill>
                              <a:schemeClr val="tx1"/>
                            </a:solidFill>
                            <a:latin typeface="Cambria Math" panose="02040503050406030204" pitchFamily="18" charset="0"/>
                          </a:rPr>
                          <m:t>Y</m:t>
                        </m:r>
                      </m:e>
                      <m:sub>
                        <m:r>
                          <m:rPr>
                            <m:sty m:val="p"/>
                          </m:rPr>
                          <a:rPr lang="en-US">
                            <a:solidFill>
                              <a:schemeClr val="tx1"/>
                            </a:solidFill>
                            <a:latin typeface="Cambria Math" panose="02040503050406030204" pitchFamily="18" charset="0"/>
                          </a:rPr>
                          <m:t>L</m:t>
                        </m:r>
                      </m:sub>
                    </m:sSub>
                    <m:d>
                      <m:dPr>
                        <m:ctrlPr>
                          <a:rPr lang="en-US" i="1">
                            <a:solidFill>
                              <a:schemeClr val="tx1"/>
                            </a:solidFill>
                            <a:latin typeface="Cambria Math" panose="02040503050406030204" pitchFamily="18" charset="0"/>
                          </a:rPr>
                        </m:ctrlPr>
                      </m:dPr>
                      <m:e>
                        <m:r>
                          <m:rPr>
                            <m:sty m:val="p"/>
                          </m:rPr>
                          <a:rPr lang="en-US">
                            <a:solidFill>
                              <a:schemeClr val="tx1"/>
                            </a:solidFill>
                            <a:latin typeface="Cambria Math" panose="02040503050406030204" pitchFamily="18" charset="0"/>
                          </a:rPr>
                          <m:t>Z</m:t>
                        </m:r>
                      </m:e>
                    </m:d>
                  </m:oMath>
                </a14:m>
                <a:endParaRPr lang="en-US" sz="1600" i="1" dirty="0">
                  <a:solidFill>
                    <a:schemeClr val="tx1"/>
                  </a:solidFill>
                  <a:latin typeface="Cambria Math" panose="02040503050406030204" pitchFamily="18" charset="0"/>
                </a:endParaRPr>
              </a:p>
              <a:p>
                <a:pPr lvl="1">
                  <a:buFont typeface="Wingdings" panose="05000000000000000000" pitchFamily="2" charset="2"/>
                  <a:buChar char="Ø"/>
                </a:pPr>
                <a:r>
                  <a:rPr lang="en-US" dirty="0">
                    <a:solidFill>
                      <a:schemeClr val="tx1"/>
                    </a:solidFill>
                  </a:rPr>
                  <a:t>The overall transfer function is given by:</a:t>
                </a:r>
              </a:p>
              <a:p>
                <a:pPr marL="1028700" lvl="2" indent="0">
                  <a:buNone/>
                </a:pPr>
                <a14:m>
                  <m:oMathPara xmlns:m="http://schemas.openxmlformats.org/officeDocument/2006/math">
                    <m:oMathParaPr>
                      <m:jc m:val="centerGroup"/>
                    </m:oMathParaPr>
                    <m:oMath xmlns:m="http://schemas.openxmlformats.org/officeDocument/2006/math">
                      <m:r>
                        <a:rPr lang="pl-PL">
                          <a:solidFill>
                            <a:schemeClr val="tx1"/>
                          </a:solidFill>
                          <a:latin typeface="Cambria Math" panose="02040503050406030204" pitchFamily="18" charset="0"/>
                        </a:rPr>
                        <m:t>𝑌</m:t>
                      </m:r>
                      <m:d>
                        <m:dPr>
                          <m:ctrlPr>
                            <a:rPr lang="pl-PL" i="1">
                              <a:solidFill>
                                <a:schemeClr val="tx1"/>
                              </a:solidFill>
                              <a:latin typeface="Cambria Math" panose="02040503050406030204" pitchFamily="18" charset="0"/>
                            </a:rPr>
                          </m:ctrlPr>
                        </m:dPr>
                        <m:e>
                          <m:r>
                            <a:rPr lang="pl-PL">
                              <a:solidFill>
                                <a:schemeClr val="tx1"/>
                              </a:solidFill>
                              <a:latin typeface="Cambria Math" panose="02040503050406030204" pitchFamily="18" charset="0"/>
                            </a:rPr>
                            <m:t>𝑧</m:t>
                          </m:r>
                        </m:e>
                      </m:d>
                      <m:r>
                        <a:rPr lang="pl-PL">
                          <a:solidFill>
                            <a:schemeClr val="tx1"/>
                          </a:solidFill>
                          <a:latin typeface="Cambria Math" panose="02040503050406030204" pitchFamily="18" charset="0"/>
                        </a:rPr>
                        <m:t>= </m:t>
                      </m:r>
                      <m:r>
                        <a:rPr lang="pl-PL">
                          <a:solidFill>
                            <a:schemeClr val="tx1"/>
                          </a:solidFill>
                          <a:latin typeface="Cambria Math" panose="02040503050406030204" pitchFamily="18" charset="0"/>
                        </a:rPr>
                        <m:t>𝑋</m:t>
                      </m:r>
                      <m:d>
                        <m:dPr>
                          <m:ctrlPr>
                            <a:rPr lang="pl-PL" i="1">
                              <a:solidFill>
                                <a:schemeClr val="tx1"/>
                              </a:solidFill>
                              <a:latin typeface="Cambria Math" panose="02040503050406030204" pitchFamily="18" charset="0"/>
                            </a:rPr>
                          </m:ctrlPr>
                        </m:dPr>
                        <m:e>
                          <m:r>
                            <a:rPr lang="pl-PL">
                              <a:solidFill>
                                <a:schemeClr val="tx1"/>
                              </a:solidFill>
                              <a:latin typeface="Cambria Math" panose="02040503050406030204" pitchFamily="18" charset="0"/>
                            </a:rPr>
                            <m:t>𝑧</m:t>
                          </m:r>
                        </m:e>
                      </m:d>
                      <m:r>
                        <a:rPr lang="en-US">
                          <a:solidFill>
                            <a:schemeClr val="tx1"/>
                          </a:solidFill>
                          <a:latin typeface="Cambria Math" panose="02040503050406030204" pitchFamily="18" charset="0"/>
                        </a:rPr>
                        <m:t>  +(</m:t>
                      </m:r>
                      <m:sSub>
                        <m:sSubPr>
                          <m:ctrlPr>
                            <a:rPr lang="pl-PL" i="1">
                              <a:solidFill>
                                <a:schemeClr val="tx1"/>
                              </a:solidFill>
                              <a:latin typeface="Cambria Math" panose="02040503050406030204" pitchFamily="18" charset="0"/>
                            </a:rPr>
                          </m:ctrlPr>
                        </m:sSubPr>
                        <m:e>
                          <m:sSup>
                            <m:sSupPr>
                              <m:ctrlPr>
                                <a:rPr lang="pl-PL" i="1">
                                  <a:solidFill>
                                    <a:schemeClr val="tx1"/>
                                  </a:solidFill>
                                  <a:latin typeface="Cambria Math" panose="02040503050406030204" pitchFamily="18" charset="0"/>
                                </a:rPr>
                              </m:ctrlPr>
                            </m:sSupPr>
                            <m:e>
                              <m:r>
                                <a:rPr lang="pl-PL">
                                  <a:solidFill>
                                    <a:schemeClr val="tx1"/>
                                  </a:solidFill>
                                  <a:latin typeface="Cambria Math" panose="02040503050406030204" pitchFamily="18" charset="0"/>
                                </a:rPr>
                                <m:t>1</m:t>
                              </m:r>
                              <m:r>
                                <a:rPr lang="pl-PL">
                                  <a:solidFill>
                                    <a:schemeClr val="tx1"/>
                                  </a:solidFill>
                                  <a:latin typeface="Cambria Math" panose="02040503050406030204" pitchFamily="18" charset="0"/>
                                </a:rPr>
                                <m:t> − </m:t>
                              </m:r>
                              <m:sSup>
                                <m:sSupPr>
                                  <m:ctrlPr>
                                    <a:rPr lang="pl-PL" i="1">
                                      <a:solidFill>
                                        <a:schemeClr val="tx1"/>
                                      </a:solidFill>
                                      <a:latin typeface="Cambria Math" panose="02040503050406030204" pitchFamily="18" charset="0"/>
                                    </a:rPr>
                                  </m:ctrlPr>
                                </m:sSupPr>
                                <m:e>
                                  <m:r>
                                    <a:rPr lang="pl-PL">
                                      <a:solidFill>
                                        <a:schemeClr val="tx1"/>
                                      </a:solidFill>
                                      <a:latin typeface="Cambria Math" panose="02040503050406030204" pitchFamily="18" charset="0"/>
                                    </a:rPr>
                                    <m:t>𝑧</m:t>
                                  </m:r>
                                </m:e>
                                <m:sup>
                                  <m:r>
                                    <a:rPr lang="en-US">
                                      <a:solidFill>
                                        <a:schemeClr val="tx1"/>
                                      </a:solidFill>
                                      <a:latin typeface="Cambria Math" panose="02040503050406030204" pitchFamily="18" charset="0"/>
                                    </a:rPr>
                                    <m:t>−</m:t>
                                  </m:r>
                                  <m:r>
                                    <a:rPr lang="en-US">
                                      <a:solidFill>
                                        <a:schemeClr val="tx1"/>
                                      </a:solidFill>
                                      <a:latin typeface="Cambria Math" panose="02040503050406030204" pitchFamily="18" charset="0"/>
                                    </a:rPr>
                                    <m:t>1</m:t>
                                  </m:r>
                                </m:sup>
                              </m:sSup>
                              <m:r>
                                <a:rPr lang="en-US">
                                  <a:solidFill>
                                    <a:schemeClr val="tx1"/>
                                  </a:solidFill>
                                  <a:latin typeface="Cambria Math" panose="02040503050406030204" pitchFamily="18" charset="0"/>
                                </a:rPr>
                                <m:t>)</m:t>
                              </m:r>
                            </m:e>
                            <m:sup>
                              <m:r>
                                <a:rPr lang="en-US">
                                  <a:solidFill>
                                    <a:schemeClr val="tx1"/>
                                  </a:solidFill>
                                  <a:latin typeface="Cambria Math" panose="02040503050406030204" pitchFamily="18" charset="0"/>
                                </a:rPr>
                                <m:t>𝐿</m:t>
                              </m:r>
                            </m:sup>
                          </m:sSup>
                          <m:r>
                            <a:rPr lang="en-US">
                              <a:solidFill>
                                <a:schemeClr val="tx1"/>
                              </a:solidFill>
                              <a:latin typeface="Cambria Math" panose="02040503050406030204" pitchFamily="18" charset="0"/>
                            </a:rPr>
                            <m:t> </m:t>
                          </m:r>
                          <m:r>
                            <a:rPr lang="en-US" b="0" i="1">
                              <a:solidFill>
                                <a:schemeClr val="tx1"/>
                              </a:solidFill>
                              <a:latin typeface="Cambria Math" panose="02040503050406030204" pitchFamily="18" charset="0"/>
                            </a:rPr>
                            <m:t>𝐸</m:t>
                          </m:r>
                        </m:e>
                        <m:sub>
                          <m:r>
                            <m:rPr>
                              <m:sty m:val="p"/>
                            </m:rPr>
                            <a:rPr lang="en-US" b="0">
                              <a:solidFill>
                                <a:schemeClr val="tx1"/>
                              </a:solidFill>
                              <a:latin typeface="Cambria Math" panose="02040503050406030204" pitchFamily="18" charset="0"/>
                            </a:rPr>
                            <m:t>q</m:t>
                          </m:r>
                          <m:r>
                            <a:rPr lang="en-US">
                              <a:solidFill>
                                <a:schemeClr val="tx1"/>
                              </a:solidFill>
                              <a:latin typeface="Cambria Math" panose="02040503050406030204" pitchFamily="18" charset="0"/>
                            </a:rPr>
                            <m:t>𝐿</m:t>
                          </m:r>
                        </m:sub>
                      </m:sSub>
                      <m:d>
                        <m:dPr>
                          <m:ctrlPr>
                            <a:rPr lang="en-US" i="1">
                              <a:solidFill>
                                <a:schemeClr val="tx1"/>
                              </a:solidFill>
                              <a:latin typeface="Cambria Math" panose="02040503050406030204" pitchFamily="18" charset="0"/>
                            </a:rPr>
                          </m:ctrlPr>
                        </m:dPr>
                        <m:e>
                          <m:r>
                            <a:rPr lang="en-US">
                              <a:solidFill>
                                <a:schemeClr val="tx1"/>
                              </a:solidFill>
                              <a:latin typeface="Cambria Math" panose="02040503050406030204" pitchFamily="18" charset="0"/>
                            </a:rPr>
                            <m:t>𝑍</m:t>
                          </m:r>
                        </m:e>
                      </m:d>
                    </m:oMath>
                  </m:oMathPara>
                </a14:m>
                <a:endParaRPr lang="en-US" dirty="0">
                  <a:solidFill>
                    <a:schemeClr val="tx1"/>
                  </a:solidFill>
                </a:endParaRPr>
              </a:p>
              <a:p>
                <a:pPr lvl="1">
                  <a:buFont typeface="Wingdings" panose="05000000000000000000" pitchFamily="2" charset="2"/>
                  <a:buChar char="Ø"/>
                </a:pPr>
                <a:r>
                  <a:rPr lang="en-US" b="0" dirty="0">
                    <a:solidFill>
                      <a:schemeClr val="tx1"/>
                    </a:solidFill>
                    <a:latin typeface="Cambria Math" panose="02040503050406030204" pitchFamily="18" charset="0"/>
                  </a:rPr>
                  <a:t>STF = 1 ,  NTF = </a:t>
                </a:r>
                <a14:m>
                  <m:oMath xmlns:m="http://schemas.openxmlformats.org/officeDocument/2006/math">
                    <m:d>
                      <m:dPr>
                        <m:ctrlPr>
                          <a:rPr lang="pl-PL" i="1">
                            <a:solidFill>
                              <a:schemeClr val="tx1"/>
                            </a:solidFill>
                            <a:latin typeface="Cambria Math" panose="02040503050406030204" pitchFamily="18" charset="0"/>
                          </a:rPr>
                        </m:ctrlPr>
                      </m:dPr>
                      <m:e>
                        <m:r>
                          <a:rPr lang="pl-PL">
                            <a:solidFill>
                              <a:schemeClr val="tx1"/>
                            </a:solidFill>
                            <a:latin typeface="Cambria Math" panose="02040503050406030204" pitchFamily="18" charset="0"/>
                          </a:rPr>
                          <m:t>1</m:t>
                        </m:r>
                        <m:r>
                          <a:rPr lang="pl-PL">
                            <a:solidFill>
                              <a:schemeClr val="tx1"/>
                            </a:solidFill>
                            <a:latin typeface="Cambria Math" panose="02040503050406030204" pitchFamily="18" charset="0"/>
                          </a:rPr>
                          <m:t> − </m:t>
                        </m:r>
                        <m:sSup>
                          <m:sSupPr>
                            <m:ctrlPr>
                              <a:rPr lang="pl-PL" i="1">
                                <a:solidFill>
                                  <a:schemeClr val="tx1"/>
                                </a:solidFill>
                                <a:latin typeface="Cambria Math" panose="02040503050406030204" pitchFamily="18" charset="0"/>
                              </a:rPr>
                            </m:ctrlPr>
                          </m:sSupPr>
                          <m:e>
                            <m:r>
                              <m:rPr>
                                <m:sty m:val="p"/>
                              </m:rPr>
                              <a:rPr lang="pl-PL">
                                <a:solidFill>
                                  <a:schemeClr val="tx1"/>
                                </a:solidFill>
                                <a:latin typeface="Cambria Math" panose="02040503050406030204" pitchFamily="18" charset="0"/>
                              </a:rPr>
                              <m:t>z</m:t>
                            </m:r>
                          </m:e>
                          <m:sup>
                            <m:r>
                              <a:rPr lang="en-US">
                                <a:solidFill>
                                  <a:schemeClr val="tx1"/>
                                </a:solidFill>
                                <a:latin typeface="Cambria Math" panose="02040503050406030204" pitchFamily="18" charset="0"/>
                              </a:rPr>
                              <m:t>−</m:t>
                            </m:r>
                            <m:r>
                              <a:rPr lang="en-US">
                                <a:solidFill>
                                  <a:schemeClr val="tx1"/>
                                </a:solidFill>
                                <a:latin typeface="Cambria Math" panose="02040503050406030204" pitchFamily="18" charset="0"/>
                              </a:rPr>
                              <m:t>1</m:t>
                            </m:r>
                          </m:sup>
                        </m:sSup>
                      </m:e>
                    </m:d>
                  </m:oMath>
                </a14:m>
                <a:endParaRPr lang="en-US" i="1" dirty="0">
                  <a:latin typeface="Cambria Math" panose="02040503050406030204" pitchFamily="18" charset="0"/>
                </a:endParaRPr>
              </a:p>
              <a:p>
                <a:pPr lvl="1">
                  <a:buFont typeface="Wingdings" panose="05000000000000000000" pitchFamily="2" charset="2"/>
                  <a:buChar char="Ø"/>
                </a:pPr>
                <a:endParaRPr lang="en-US" i="1" dirty="0">
                  <a:latin typeface="Cambria Math" panose="02040503050406030204" pitchFamily="18" charset="0"/>
                </a:endParaRPr>
              </a:p>
              <a:p>
                <a:endParaRPr lang="en-US" dirty="0"/>
              </a:p>
            </p:txBody>
          </p:sp>
        </mc:Choice>
        <mc:Fallback xmlns="">
          <p:sp>
            <p:nvSpPr>
              <p:cNvPr id="3" name="Text Placeholder 2"/>
              <p:cNvSpPr>
                <a:spLocks noGrp="1" noRot="1" noChangeAspect="1" noMove="1" noResize="1" noEditPoints="1" noAdjustHandles="1" noChangeArrowheads="1" noChangeShapeType="1" noTextEdit="1"/>
              </p:cNvSpPr>
              <p:nvPr>
                <p:ph type="body" idx="1"/>
              </p:nvPr>
            </p:nvSpPr>
            <p:spPr>
              <a:xfrm>
                <a:off x="914400" y="2808514"/>
                <a:ext cx="10363200" cy="3687181"/>
              </a:xfrm>
              <a:blipFill rotWithShape="0">
                <a:blip r:embed="rId2"/>
                <a:stretch>
                  <a:fillRect/>
                </a:stretch>
              </a:blipFill>
            </p:spPr>
            <p:txBody>
              <a:bodyPr/>
              <a:lstStyle/>
              <a:p>
                <a:r>
                  <a:rPr lang="en-US">
                    <a:noFill/>
                  </a:rPr>
                  <a:t> </a:t>
                </a:r>
              </a:p>
            </p:txBody>
          </p:sp>
        </mc:Fallback>
      </mc:AlternateContent>
      <p:pic>
        <p:nvPicPr>
          <p:cNvPr id="4" name="Picture 3"/>
          <p:cNvPicPr>
            <a:picLocks noChangeAspect="1"/>
          </p:cNvPicPr>
          <p:nvPr/>
        </p:nvPicPr>
        <p:blipFill>
          <a:blip r:embed="rId3"/>
          <a:stretch>
            <a:fillRect/>
          </a:stretch>
        </p:blipFill>
        <p:spPr>
          <a:xfrm>
            <a:off x="5562166" y="1308963"/>
            <a:ext cx="5874055" cy="2488596"/>
          </a:xfrm>
          <a:prstGeom prst="rect">
            <a:avLst/>
          </a:prstGeom>
        </p:spPr>
      </p:pic>
      <p:sp>
        <p:nvSpPr>
          <p:cNvPr id="5" name="TextBox 4"/>
          <p:cNvSpPr txBox="1"/>
          <p:nvPr/>
        </p:nvSpPr>
        <p:spPr>
          <a:xfrm>
            <a:off x="946151" y="6252373"/>
            <a:ext cx="10744827" cy="307777"/>
          </a:xfrm>
          <a:prstGeom prst="rect">
            <a:avLst/>
          </a:prstGeom>
          <a:noFill/>
        </p:spPr>
        <p:txBody>
          <a:bodyPr wrap="square" rtlCol="0">
            <a:spAutoFit/>
          </a:bodyPr>
          <a:lstStyle/>
          <a:p>
            <a:r>
              <a:rPr lang="en-US" i="1" dirty="0">
                <a:latin typeface="Times New Roman" panose="02020603050405020304" pitchFamily="18" charset="0"/>
                <a:cs typeface="Times New Roman" panose="02020603050405020304" pitchFamily="18" charset="0"/>
              </a:rPr>
              <a:t>K. </a:t>
            </a:r>
            <a:r>
              <a:rPr lang="en-US" i="1" dirty="0" err="1">
                <a:latin typeface="Times New Roman" panose="02020603050405020304" pitchFamily="18" charset="0"/>
                <a:cs typeface="Times New Roman" panose="02020603050405020304" pitchFamily="18" charset="0"/>
              </a:rPr>
              <a:t>Hosseini</a:t>
            </a:r>
            <a:r>
              <a:rPr lang="en-US" i="1" dirty="0">
                <a:latin typeface="Times New Roman" panose="02020603050405020304" pitchFamily="18" charset="0"/>
                <a:cs typeface="Times New Roman" panose="02020603050405020304" pitchFamily="18" charset="0"/>
              </a:rPr>
              <a:t> and M. P. Kennedy, “Maximum sequence length MASH </a:t>
            </a:r>
            <a:r>
              <a:rPr lang="en-US" i="1" dirty="0" smtClean="0">
                <a:latin typeface="Times New Roman" panose="02020603050405020304" pitchFamily="18" charset="0"/>
                <a:cs typeface="Times New Roman" panose="02020603050405020304" pitchFamily="18" charset="0"/>
              </a:rPr>
              <a:t>delta–sigma, modulators”,  </a:t>
            </a:r>
            <a:r>
              <a:rPr lang="en-US" dirty="0">
                <a:latin typeface="Times New Roman" panose="02020603050405020304" pitchFamily="18" charset="0"/>
                <a:cs typeface="Times New Roman" panose="02020603050405020304" pitchFamily="18" charset="0"/>
              </a:rPr>
              <a:t>IEEE Journal of Solid-State Circuits</a:t>
            </a:r>
            <a:endParaRPr lang="en-US"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17811226"/>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rPr>
              <a:t>Operation of MASH 1-1-1 </a:t>
            </a:r>
            <a:endParaRPr lang="en-US" dirty="0"/>
          </a:p>
        </p:txBody>
      </p:sp>
      <mc:AlternateContent xmlns:mc="http://schemas.openxmlformats.org/markup-compatibility/2006" xmlns:a14="http://schemas.microsoft.com/office/drawing/2010/main">
        <mc:Choice Requires="a14">
          <p:graphicFrame>
            <p:nvGraphicFramePr>
              <p:cNvPr id="4" name="Table 3"/>
              <p:cNvGraphicFramePr>
                <a:graphicFrameLocks noGrp="1"/>
              </p:cNvGraphicFramePr>
              <p:nvPr>
                <p:extLst>
                  <p:ext uri="{D42A27DB-BD31-4B8C-83A1-F6EECF244321}">
                    <p14:modId xmlns:p14="http://schemas.microsoft.com/office/powerpoint/2010/main" val="3218895188"/>
                  </p:ext>
                </p:extLst>
              </p:nvPr>
            </p:nvGraphicFramePr>
            <p:xfrm>
              <a:off x="824529" y="1651518"/>
              <a:ext cx="10542944" cy="4275009"/>
            </p:xfrm>
            <a:graphic>
              <a:graphicData uri="http://schemas.openxmlformats.org/drawingml/2006/table">
                <a:tbl>
                  <a:tblPr firstRow="1" bandRow="1">
                    <a:tableStyleId>{5C22544A-7EE6-4342-B048-85BDC9FD1C3A}</a:tableStyleId>
                  </a:tblPr>
                  <a:tblGrid>
                    <a:gridCol w="1317868"/>
                    <a:gridCol w="1317868"/>
                    <a:gridCol w="1317868"/>
                    <a:gridCol w="1317868"/>
                    <a:gridCol w="1317868"/>
                    <a:gridCol w="1317868"/>
                    <a:gridCol w="1317868"/>
                    <a:gridCol w="1317868"/>
                  </a:tblGrid>
                  <a:tr h="376587">
                    <a:tc>
                      <a:txBody>
                        <a:bodyPr/>
                        <a:lstStyle/>
                        <a:p>
                          <a:pPr algn="ctr"/>
                          <a:r>
                            <a:rPr lang="en-US" sz="1600" b="1" i="1" u="none" strike="noStrike" cap="none" baseline="0" dirty="0" smtClean="0">
                              <a:solidFill>
                                <a:schemeClr val="tx1"/>
                              </a:solidFill>
                              <a:latin typeface="Cambria Math" panose="02040503050406030204" pitchFamily="18" charset="0"/>
                              <a:ea typeface="+mn-ea"/>
                              <a:cs typeface="Arial" panose="020B0604020202020204" pitchFamily="34" charset="0"/>
                              <a:sym typeface="Arial"/>
                            </a:rPr>
                            <a:t>Clock</a:t>
                          </a:r>
                          <a:endParaRPr lang="en-US" sz="1600" b="1" i="1" u="none" strike="noStrike" cap="none" baseline="0" dirty="0">
                            <a:solidFill>
                              <a:schemeClr val="tx1"/>
                            </a:solidFill>
                            <a:latin typeface="Cambria Math" panose="02040503050406030204" pitchFamily="18" charset="0"/>
                            <a:ea typeface="+mn-ea"/>
                            <a:cs typeface="Arial" panose="020B0604020202020204" pitchFamily="34" charset="0"/>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14:m>
                            <m:oMathPara xmlns:m="http://schemas.openxmlformats.org/officeDocument/2006/math">
                              <m:oMathParaPr>
                                <m:jc m:val="centerGroup"/>
                              </m:oMathParaPr>
                              <m:oMath xmlns:m="http://schemas.openxmlformats.org/officeDocument/2006/math">
                                <m:sSub>
                                  <m:sSubPr>
                                    <m:ctrlPr>
                                      <a:rPr lang="en-US" sz="1600" b="1" i="1" baseline="0" smtClean="0">
                                        <a:solidFill>
                                          <a:schemeClr val="tx1"/>
                                        </a:solidFill>
                                        <a:latin typeface="Cambria Math" panose="02040503050406030204" pitchFamily="18" charset="0"/>
                                        <a:cs typeface="Arial" panose="020B0604020202020204" pitchFamily="34" charset="0"/>
                                      </a:rPr>
                                    </m:ctrlPr>
                                  </m:sSubPr>
                                  <m:e>
                                    <m:r>
                                      <a:rPr lang="en-US" sz="1600" b="1" i="1" baseline="0" smtClean="0">
                                        <a:solidFill>
                                          <a:schemeClr val="tx1"/>
                                        </a:solidFill>
                                        <a:latin typeface="Cambria Math" panose="02040503050406030204" pitchFamily="18" charset="0"/>
                                        <a:cs typeface="Arial" panose="020B0604020202020204" pitchFamily="34" charset="0"/>
                                      </a:rPr>
                                      <m:t>𝑺</m:t>
                                    </m:r>
                                  </m:e>
                                  <m:sub>
                                    <m:r>
                                      <a:rPr lang="en-US" sz="1600" b="1" i="1" baseline="0" smtClean="0">
                                        <a:solidFill>
                                          <a:schemeClr val="tx1"/>
                                        </a:solidFill>
                                        <a:latin typeface="Cambria Math" panose="02040503050406030204" pitchFamily="18" charset="0"/>
                                        <a:cs typeface="Arial" panose="020B0604020202020204" pitchFamily="34" charset="0"/>
                                      </a:rPr>
                                      <m:t>𝒐𝒖𝒕</m:t>
                                    </m:r>
                                    <m:r>
                                      <a:rPr lang="en-US" sz="1600" b="1" i="1" baseline="0" smtClean="0">
                                        <a:solidFill>
                                          <a:schemeClr val="tx1"/>
                                        </a:solidFill>
                                        <a:latin typeface="Cambria Math" panose="02040503050406030204" pitchFamily="18" charset="0"/>
                                        <a:cs typeface="Arial" panose="020B0604020202020204" pitchFamily="34" charset="0"/>
                                      </a:rPr>
                                      <m:t>𝟏</m:t>
                                    </m:r>
                                  </m:sub>
                                </m:sSub>
                              </m:oMath>
                            </m:oMathPara>
                          </a14:m>
                          <a:endParaRPr lang="en-US" sz="1600" dirty="0">
                            <a:solidFill>
                              <a:schemeClr val="tx1"/>
                            </a:solidFill>
                            <a:latin typeface="Bell MT" panose="02020503060305020303" pitchFamily="18"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14:m>
                            <m:oMathPara xmlns:m="http://schemas.openxmlformats.org/officeDocument/2006/math">
                              <m:oMathParaPr>
                                <m:jc m:val="centerGroup"/>
                              </m:oMathParaPr>
                              <m:oMath xmlns:m="http://schemas.openxmlformats.org/officeDocument/2006/math">
                                <m:sSub>
                                  <m:sSubPr>
                                    <m:ctrlPr>
                                      <a:rPr lang="en-US" sz="1600" b="1" i="1" baseline="0" smtClean="0">
                                        <a:solidFill>
                                          <a:schemeClr val="tx1"/>
                                        </a:solidFill>
                                        <a:latin typeface="Cambria Math" panose="02040503050406030204" pitchFamily="18" charset="0"/>
                                        <a:cs typeface="Arial" panose="020B0604020202020204" pitchFamily="34" charset="0"/>
                                      </a:rPr>
                                    </m:ctrlPr>
                                  </m:sSubPr>
                                  <m:e>
                                    <m:r>
                                      <a:rPr lang="en-US" sz="1600" b="1" i="1" baseline="0" smtClean="0">
                                        <a:solidFill>
                                          <a:schemeClr val="tx1"/>
                                        </a:solidFill>
                                        <a:latin typeface="Cambria Math" panose="02040503050406030204" pitchFamily="18" charset="0"/>
                                        <a:cs typeface="Arial" panose="020B0604020202020204" pitchFamily="34" charset="0"/>
                                      </a:rPr>
                                      <m:t>𝑺</m:t>
                                    </m:r>
                                  </m:e>
                                  <m:sub>
                                    <m:r>
                                      <a:rPr lang="en-US" sz="1600" b="1" i="1" baseline="0" smtClean="0">
                                        <a:solidFill>
                                          <a:schemeClr val="tx1"/>
                                        </a:solidFill>
                                        <a:latin typeface="Cambria Math" panose="02040503050406030204" pitchFamily="18" charset="0"/>
                                        <a:cs typeface="Arial" panose="020B0604020202020204" pitchFamily="34" charset="0"/>
                                      </a:rPr>
                                      <m:t>𝒐𝒖𝒕</m:t>
                                    </m:r>
                                    <m:r>
                                      <a:rPr lang="en-US" sz="1600" b="1" i="1" baseline="0" smtClean="0">
                                        <a:solidFill>
                                          <a:schemeClr val="tx1"/>
                                        </a:solidFill>
                                        <a:latin typeface="Cambria Math" panose="02040503050406030204" pitchFamily="18" charset="0"/>
                                        <a:cs typeface="Arial" panose="020B0604020202020204" pitchFamily="34" charset="0"/>
                                      </a:rPr>
                                      <m:t>𝟐</m:t>
                                    </m:r>
                                  </m:sub>
                                </m:sSub>
                              </m:oMath>
                            </m:oMathPara>
                          </a14:m>
                          <a:endParaRPr lang="en-US" sz="1600" baseline="0" dirty="0">
                            <a:solidFill>
                              <a:schemeClr val="tx1"/>
                            </a:solidFill>
                            <a:latin typeface="Algerian" panose="04020705040A02060702" pitchFamily="82"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14:m>
                            <m:oMathPara xmlns:m="http://schemas.openxmlformats.org/officeDocument/2006/math">
                              <m:oMathParaPr>
                                <m:jc m:val="centerGroup"/>
                              </m:oMathParaPr>
                              <m:oMath xmlns:m="http://schemas.openxmlformats.org/officeDocument/2006/math">
                                <m:sSub>
                                  <m:sSubPr>
                                    <m:ctrlPr>
                                      <a:rPr lang="en-US" sz="1600" b="1" i="1" baseline="0" smtClean="0">
                                        <a:solidFill>
                                          <a:schemeClr val="tx1"/>
                                        </a:solidFill>
                                        <a:latin typeface="Cambria Math" panose="02040503050406030204" pitchFamily="18" charset="0"/>
                                        <a:cs typeface="Arial" panose="020B0604020202020204" pitchFamily="34" charset="0"/>
                                      </a:rPr>
                                    </m:ctrlPr>
                                  </m:sSubPr>
                                  <m:e>
                                    <m:r>
                                      <a:rPr lang="en-US" sz="1600" b="1" i="1" baseline="0" smtClean="0">
                                        <a:solidFill>
                                          <a:schemeClr val="tx1"/>
                                        </a:solidFill>
                                        <a:latin typeface="Cambria Math" panose="02040503050406030204" pitchFamily="18" charset="0"/>
                                        <a:cs typeface="Arial" panose="020B0604020202020204" pitchFamily="34" charset="0"/>
                                      </a:rPr>
                                      <m:t>𝑺</m:t>
                                    </m:r>
                                  </m:e>
                                  <m:sub>
                                    <m:r>
                                      <a:rPr lang="en-US" sz="1600" b="1" i="1" baseline="0" smtClean="0">
                                        <a:solidFill>
                                          <a:schemeClr val="tx1"/>
                                        </a:solidFill>
                                        <a:latin typeface="Cambria Math" panose="02040503050406030204" pitchFamily="18" charset="0"/>
                                        <a:cs typeface="Arial" panose="020B0604020202020204" pitchFamily="34" charset="0"/>
                                      </a:rPr>
                                      <m:t>𝒐𝒖𝒕</m:t>
                                    </m:r>
                                    <m:r>
                                      <a:rPr lang="en-US" sz="1600" b="1" i="1" baseline="0" smtClean="0">
                                        <a:solidFill>
                                          <a:schemeClr val="tx1"/>
                                        </a:solidFill>
                                        <a:latin typeface="Cambria Math" panose="02040503050406030204" pitchFamily="18" charset="0"/>
                                        <a:cs typeface="Arial" panose="020B0604020202020204" pitchFamily="34" charset="0"/>
                                      </a:rPr>
                                      <m:t>𝟑</m:t>
                                    </m:r>
                                  </m:sub>
                                </m:sSub>
                              </m:oMath>
                            </m:oMathPara>
                          </a14:m>
                          <a:endParaRPr lang="en-US" sz="1600" dirty="0">
                            <a:solidFill>
                              <a:schemeClr val="tx1"/>
                            </a:solidFill>
                            <a:latin typeface="Algerian" panose="04020705040A02060702" pitchFamily="82"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14:m>
                            <m:oMathPara xmlns:m="http://schemas.openxmlformats.org/officeDocument/2006/math">
                              <m:oMathParaPr>
                                <m:jc m:val="centerGroup"/>
                              </m:oMathParaPr>
                              <m:oMath xmlns:m="http://schemas.openxmlformats.org/officeDocument/2006/math">
                                <m:sSub>
                                  <m:sSubPr>
                                    <m:ctrlPr>
                                      <a:rPr lang="en-US" sz="1600" i="1" baseline="0" smtClean="0">
                                        <a:solidFill>
                                          <a:schemeClr val="tx1"/>
                                        </a:solidFill>
                                        <a:latin typeface="Cambria Math" panose="02040503050406030204" pitchFamily="18" charset="0"/>
                                        <a:cs typeface="Arial" panose="020B0604020202020204" pitchFamily="34" charset="0"/>
                                      </a:rPr>
                                    </m:ctrlPr>
                                  </m:sSubPr>
                                  <m:e>
                                    <m:r>
                                      <a:rPr lang="en-US" sz="1600" b="1" i="1" baseline="0" smtClean="0">
                                        <a:solidFill>
                                          <a:schemeClr val="tx1"/>
                                        </a:solidFill>
                                        <a:latin typeface="Cambria Math" panose="02040503050406030204" pitchFamily="18" charset="0"/>
                                        <a:cs typeface="Arial" panose="020B0604020202020204" pitchFamily="34" charset="0"/>
                                      </a:rPr>
                                      <m:t>𝑪</m:t>
                                    </m:r>
                                  </m:e>
                                  <m:sub>
                                    <m:r>
                                      <a:rPr lang="en-US" sz="1600" b="1" i="1" baseline="0" smtClean="0">
                                        <a:solidFill>
                                          <a:schemeClr val="tx1"/>
                                        </a:solidFill>
                                        <a:latin typeface="Cambria Math" panose="02040503050406030204" pitchFamily="18" charset="0"/>
                                        <a:cs typeface="Arial" panose="020B0604020202020204" pitchFamily="34" charset="0"/>
                                      </a:rPr>
                                      <m:t>𝒐𝒖𝒕</m:t>
                                    </m:r>
                                    <m:r>
                                      <a:rPr lang="en-US" sz="1600" b="1" i="1" baseline="0" smtClean="0">
                                        <a:solidFill>
                                          <a:schemeClr val="tx1"/>
                                        </a:solidFill>
                                        <a:latin typeface="Cambria Math" panose="02040503050406030204" pitchFamily="18" charset="0"/>
                                        <a:cs typeface="Arial" panose="020B0604020202020204" pitchFamily="34" charset="0"/>
                                      </a:rPr>
                                      <m:t>𝟏</m:t>
                                    </m:r>
                                  </m:sub>
                                </m:sSub>
                              </m:oMath>
                            </m:oMathPara>
                          </a14:m>
                          <a:endParaRPr lang="en-US" sz="1600" baseline="0" dirty="0">
                            <a:solidFill>
                              <a:schemeClr val="tx1"/>
                            </a:solidFill>
                            <a:latin typeface="Algerian" panose="04020705040A02060702" pitchFamily="82"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14:m>
                            <m:oMathPara xmlns:m="http://schemas.openxmlformats.org/officeDocument/2006/math">
                              <m:oMathParaPr>
                                <m:jc m:val="centerGroup"/>
                              </m:oMathParaPr>
                              <m:oMath xmlns:m="http://schemas.openxmlformats.org/officeDocument/2006/math">
                                <m:sSub>
                                  <m:sSubPr>
                                    <m:ctrlPr>
                                      <a:rPr lang="en-US" sz="1600" i="1" baseline="0" smtClean="0">
                                        <a:solidFill>
                                          <a:schemeClr val="tx1"/>
                                        </a:solidFill>
                                        <a:latin typeface="Cambria Math" panose="02040503050406030204" pitchFamily="18" charset="0"/>
                                        <a:cs typeface="Arial" panose="020B0604020202020204" pitchFamily="34" charset="0"/>
                                      </a:rPr>
                                    </m:ctrlPr>
                                  </m:sSubPr>
                                  <m:e>
                                    <m:r>
                                      <a:rPr lang="en-US" sz="1600" b="1" i="1" baseline="0" smtClean="0">
                                        <a:solidFill>
                                          <a:schemeClr val="tx1"/>
                                        </a:solidFill>
                                        <a:latin typeface="Cambria Math" panose="02040503050406030204" pitchFamily="18" charset="0"/>
                                        <a:cs typeface="Arial" panose="020B0604020202020204" pitchFamily="34" charset="0"/>
                                      </a:rPr>
                                      <m:t>𝑪</m:t>
                                    </m:r>
                                  </m:e>
                                  <m:sub>
                                    <m:r>
                                      <a:rPr lang="en-US" sz="1600" b="1" i="1" baseline="0" smtClean="0">
                                        <a:solidFill>
                                          <a:schemeClr val="tx1"/>
                                        </a:solidFill>
                                        <a:latin typeface="Cambria Math" panose="02040503050406030204" pitchFamily="18" charset="0"/>
                                        <a:cs typeface="Arial" panose="020B0604020202020204" pitchFamily="34" charset="0"/>
                                      </a:rPr>
                                      <m:t>𝒐𝒖𝒕</m:t>
                                    </m:r>
                                    <m:r>
                                      <a:rPr lang="en-US" sz="1600" b="1" i="1" baseline="0" smtClean="0">
                                        <a:solidFill>
                                          <a:schemeClr val="tx1"/>
                                        </a:solidFill>
                                        <a:latin typeface="Cambria Math" panose="02040503050406030204" pitchFamily="18" charset="0"/>
                                        <a:cs typeface="Arial" panose="020B0604020202020204" pitchFamily="34" charset="0"/>
                                      </a:rPr>
                                      <m:t>𝟐</m:t>
                                    </m:r>
                                  </m:sub>
                                </m:sSub>
                              </m:oMath>
                            </m:oMathPara>
                          </a14:m>
                          <a:endParaRPr lang="en-US" sz="1600" dirty="0">
                            <a:solidFill>
                              <a:schemeClr val="tx1"/>
                            </a:solidFill>
                            <a:latin typeface="Algerian" panose="04020705040A02060702" pitchFamily="82"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14:m>
                            <m:oMathPara xmlns:m="http://schemas.openxmlformats.org/officeDocument/2006/math">
                              <m:oMathParaPr>
                                <m:jc m:val="centerGroup"/>
                              </m:oMathParaPr>
                              <m:oMath xmlns:m="http://schemas.openxmlformats.org/officeDocument/2006/math">
                                <m:sSub>
                                  <m:sSubPr>
                                    <m:ctrlPr>
                                      <a:rPr lang="en-US" sz="1600" i="1" baseline="0" smtClean="0">
                                        <a:solidFill>
                                          <a:schemeClr val="tx1"/>
                                        </a:solidFill>
                                        <a:latin typeface="Cambria Math" panose="02040503050406030204" pitchFamily="18" charset="0"/>
                                        <a:cs typeface="Arial" panose="020B0604020202020204" pitchFamily="34" charset="0"/>
                                      </a:rPr>
                                    </m:ctrlPr>
                                  </m:sSubPr>
                                  <m:e>
                                    <m:r>
                                      <a:rPr lang="en-US" sz="1600" b="1" i="1" baseline="0" smtClean="0">
                                        <a:solidFill>
                                          <a:schemeClr val="tx1"/>
                                        </a:solidFill>
                                        <a:latin typeface="Cambria Math" panose="02040503050406030204" pitchFamily="18" charset="0"/>
                                        <a:cs typeface="Arial" panose="020B0604020202020204" pitchFamily="34" charset="0"/>
                                      </a:rPr>
                                      <m:t>𝑪</m:t>
                                    </m:r>
                                  </m:e>
                                  <m:sub>
                                    <m:r>
                                      <a:rPr lang="en-US" sz="1600" b="1" i="1" baseline="0" smtClean="0">
                                        <a:solidFill>
                                          <a:schemeClr val="tx1"/>
                                        </a:solidFill>
                                        <a:latin typeface="Cambria Math" panose="02040503050406030204" pitchFamily="18" charset="0"/>
                                        <a:cs typeface="Arial" panose="020B0604020202020204" pitchFamily="34" charset="0"/>
                                      </a:rPr>
                                      <m:t>𝒐𝒖𝒕</m:t>
                                    </m:r>
                                    <m:r>
                                      <a:rPr lang="en-US" sz="1600" b="1" i="1" baseline="0" smtClean="0">
                                        <a:solidFill>
                                          <a:schemeClr val="tx1"/>
                                        </a:solidFill>
                                        <a:latin typeface="Cambria Math" panose="02040503050406030204" pitchFamily="18" charset="0"/>
                                        <a:cs typeface="Arial" panose="020B0604020202020204" pitchFamily="34" charset="0"/>
                                      </a:rPr>
                                      <m:t>𝟑</m:t>
                                    </m:r>
                                  </m:sub>
                                </m:sSub>
                              </m:oMath>
                            </m:oMathPara>
                          </a14:m>
                          <a:endParaRPr lang="en-US" sz="1600" dirty="0">
                            <a:solidFill>
                              <a:schemeClr val="tx1"/>
                            </a:solidFill>
                            <a:latin typeface="Algerian" panose="04020705040A02060702" pitchFamily="82"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14:m>
                            <m:oMathPara xmlns:m="http://schemas.openxmlformats.org/officeDocument/2006/math">
                              <m:oMathParaPr>
                                <m:jc m:val="centerGroup"/>
                              </m:oMathParaPr>
                              <m:oMath xmlns:m="http://schemas.openxmlformats.org/officeDocument/2006/math">
                                <m:sSub>
                                  <m:sSubPr>
                                    <m:ctrlPr>
                                      <a:rPr lang="en-US" sz="1600" i="1" baseline="0" smtClean="0">
                                        <a:solidFill>
                                          <a:schemeClr val="tx1"/>
                                        </a:solidFill>
                                        <a:latin typeface="Cambria Math" panose="02040503050406030204" pitchFamily="18" charset="0"/>
                                        <a:cs typeface="Arial" panose="020B0604020202020204" pitchFamily="34" charset="0"/>
                                      </a:rPr>
                                    </m:ctrlPr>
                                  </m:sSubPr>
                                  <m:e>
                                    <m:r>
                                      <a:rPr lang="en-US" sz="1600" b="1" i="1" baseline="0" smtClean="0">
                                        <a:solidFill>
                                          <a:schemeClr val="tx1"/>
                                        </a:solidFill>
                                        <a:latin typeface="Cambria Math" panose="02040503050406030204" pitchFamily="18" charset="0"/>
                                        <a:cs typeface="Arial" panose="020B0604020202020204" pitchFamily="34" charset="0"/>
                                      </a:rPr>
                                      <m:t>𝒀</m:t>
                                    </m:r>
                                  </m:e>
                                  <m:sub>
                                    <m:r>
                                      <a:rPr lang="en-US" sz="1600" b="1" i="1" baseline="0" smtClean="0">
                                        <a:solidFill>
                                          <a:schemeClr val="tx1"/>
                                        </a:solidFill>
                                        <a:latin typeface="Cambria Math" panose="02040503050406030204" pitchFamily="18" charset="0"/>
                                        <a:cs typeface="Arial" panose="020B0604020202020204" pitchFamily="34" charset="0"/>
                                      </a:rPr>
                                      <m:t>𝒐𝒖𝒕</m:t>
                                    </m:r>
                                  </m:sub>
                                </m:sSub>
                              </m:oMath>
                            </m:oMathPara>
                          </a14:m>
                          <a:endParaRPr lang="en-US" sz="1600" baseline="0" dirty="0">
                            <a:solidFill>
                              <a:schemeClr val="tx1"/>
                            </a:solidFill>
                            <a:latin typeface="Algerian" panose="04020705040A02060702" pitchFamily="82"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r>
                  <a:tr h="354402">
                    <a:tc>
                      <a:txBody>
                        <a:bodyPr/>
                        <a:lstStyle/>
                        <a:p>
                          <a:pPr algn="ctr" fontAlgn="b"/>
                          <a:r>
                            <a:rPr lang="en-US" sz="1600" b="1" i="0" u="none" strike="noStrike" dirty="0">
                              <a:solidFill>
                                <a:srgbClr val="000000"/>
                              </a:solidFill>
                              <a:effectLst/>
                              <a:latin typeface="Calibri" panose="020F0502020204030204" pitchFamily="34" charset="0"/>
                            </a:rPr>
                            <a:t>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lgn="ctr" fontAlgn="b"/>
                          <a:r>
                            <a:rPr lang="en-US" sz="1600" b="0" i="1" u="none" strike="noStrike" dirty="0">
                              <a:solidFill>
                                <a:srgbClr val="000000"/>
                              </a:solidFill>
                              <a:effectLst/>
                              <a:latin typeface="Calibri" panose="020F0502020204030204" pitchFamily="34" charset="0"/>
                            </a:rPr>
                            <a:t>0.25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dirty="0">
                              <a:solidFill>
                                <a:srgbClr val="000000"/>
                              </a:solidFill>
                              <a:effectLst/>
                              <a:latin typeface="Calibri" panose="020F0502020204030204" pitchFamily="34" charset="0"/>
                            </a:rPr>
                            <a:t>0.25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dirty="0">
                              <a:solidFill>
                                <a:srgbClr val="000000"/>
                              </a:solidFill>
                              <a:effectLst/>
                              <a:latin typeface="Calibri" panose="020F0502020204030204" pitchFamily="34" charset="0"/>
                            </a:rPr>
                            <a:t>0.25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dirty="0">
                              <a:solidFill>
                                <a:srgbClr val="000000"/>
                              </a:solidFill>
                              <a:effectLst/>
                              <a:latin typeface="Calibri" panose="020F0502020204030204" pitchFamily="34" charset="0"/>
                            </a:rPr>
                            <a:t>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dirty="0">
                              <a:solidFill>
                                <a:srgbClr val="000000"/>
                              </a:solidFill>
                              <a:effectLst/>
                              <a:latin typeface="Calibri" panose="020F0502020204030204" pitchFamily="34" charset="0"/>
                            </a:rPr>
                            <a:t>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dirty="0">
                              <a:solidFill>
                                <a:srgbClr val="000000"/>
                              </a:solidFill>
                              <a:effectLst/>
                              <a:latin typeface="Calibri" panose="020F0502020204030204" pitchFamily="34" charset="0"/>
                            </a:rPr>
                            <a:t>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dirty="0">
                              <a:solidFill>
                                <a:srgbClr val="000000"/>
                              </a:solidFill>
                              <a:effectLst/>
                              <a:latin typeface="Calibri" panose="020F0502020204030204" pitchFamily="34" charset="0"/>
                            </a:rPr>
                            <a:t>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54402">
                    <a:tc>
                      <a:txBody>
                        <a:bodyPr/>
                        <a:lstStyle/>
                        <a:p>
                          <a:pPr algn="ctr" fontAlgn="b"/>
                          <a:r>
                            <a:rPr lang="en-US" sz="1600" b="1" i="0" u="none" strike="noStrike" dirty="0">
                              <a:solidFill>
                                <a:srgbClr val="000000"/>
                              </a:solidFill>
                              <a:effectLst/>
                              <a:latin typeface="Calibri" panose="020F0502020204030204" pitchFamily="34" charset="0"/>
                            </a:rPr>
                            <a:t>2</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lgn="ctr" fontAlgn="b"/>
                          <a:r>
                            <a:rPr lang="en-US" sz="1600" b="0" i="1" u="none" strike="noStrike" dirty="0">
                              <a:solidFill>
                                <a:srgbClr val="000000"/>
                              </a:solidFill>
                              <a:effectLst/>
                              <a:latin typeface="Calibri" panose="020F0502020204030204" pitchFamily="34" charset="0"/>
                            </a:rPr>
                            <a:t>0.5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dirty="0">
                              <a:solidFill>
                                <a:srgbClr val="000000"/>
                              </a:solidFill>
                              <a:effectLst/>
                              <a:latin typeface="Calibri" panose="020F0502020204030204" pitchFamily="34" charset="0"/>
                            </a:rPr>
                            <a:t>0.75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a:solidFill>
                                <a:srgbClr val="000000"/>
                              </a:solidFill>
                              <a:effectLst/>
                              <a:latin typeface="Calibri" panose="020F0502020204030204" pitchFamily="34" charset="0"/>
                            </a:rPr>
                            <a:t>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a:solidFill>
                                <a:srgbClr val="000000"/>
                              </a:solidFill>
                              <a:effectLst/>
                              <a:latin typeface="Calibri" panose="020F0502020204030204" pitchFamily="34" charset="0"/>
                            </a:rPr>
                            <a:t>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a:solidFill>
                                <a:srgbClr val="000000"/>
                              </a:solidFill>
                              <a:effectLst/>
                              <a:latin typeface="Calibri" panose="020F0502020204030204" pitchFamily="34" charset="0"/>
                            </a:rPr>
                            <a:t>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dirty="0">
                              <a:solidFill>
                                <a:srgbClr val="000000"/>
                              </a:solidFill>
                              <a:effectLst/>
                              <a:latin typeface="Calibri" panose="020F0502020204030204" pitchFamily="34" charset="0"/>
                            </a:rPr>
                            <a:t>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a:solidFill>
                                <a:srgbClr val="000000"/>
                              </a:solidFill>
                              <a:effectLst/>
                              <a:latin typeface="Calibri" panose="020F0502020204030204" pitchFamily="34" charset="0"/>
                            </a:rPr>
                            <a:t>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54402">
                    <a:tc>
                      <a:txBody>
                        <a:bodyPr/>
                        <a:lstStyle/>
                        <a:p>
                          <a:pPr algn="ctr" fontAlgn="b"/>
                          <a:r>
                            <a:rPr lang="en-US" sz="1600" b="1" i="0" u="none" strike="noStrike" dirty="0">
                              <a:solidFill>
                                <a:srgbClr val="000000"/>
                              </a:solidFill>
                              <a:effectLst/>
                              <a:latin typeface="Calibri" panose="020F0502020204030204" pitchFamily="34" charset="0"/>
                            </a:rPr>
                            <a:t>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lgn="ctr" fontAlgn="b"/>
                          <a:r>
                            <a:rPr lang="en-US" sz="1600" b="0" i="1" u="none" strike="noStrike" dirty="0">
                              <a:solidFill>
                                <a:srgbClr val="000000"/>
                              </a:solidFill>
                              <a:effectLst/>
                              <a:latin typeface="Calibri" panose="020F0502020204030204" pitchFamily="34" charset="0"/>
                            </a:rPr>
                            <a:t>0.75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dirty="0">
                              <a:solidFill>
                                <a:srgbClr val="000000"/>
                              </a:solidFill>
                              <a:effectLst/>
                              <a:latin typeface="Calibri" panose="020F0502020204030204" pitchFamily="34" charset="0"/>
                            </a:rPr>
                            <a:t>0.5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dirty="0">
                              <a:solidFill>
                                <a:srgbClr val="000000"/>
                              </a:solidFill>
                              <a:effectLst/>
                              <a:latin typeface="Calibri" panose="020F0502020204030204" pitchFamily="34" charset="0"/>
                            </a:rPr>
                            <a:t>0.5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a:solidFill>
                                <a:srgbClr val="000000"/>
                              </a:solidFill>
                              <a:effectLst/>
                              <a:latin typeface="Calibri" panose="020F0502020204030204" pitchFamily="34" charset="0"/>
                            </a:rPr>
                            <a:t>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a:solidFill>
                                <a:srgbClr val="000000"/>
                              </a:solidFill>
                              <a:effectLst/>
                              <a:latin typeface="Calibri" panose="020F0502020204030204" pitchFamily="34" charset="0"/>
                            </a:rPr>
                            <a:t>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dirty="0">
                              <a:solidFill>
                                <a:srgbClr val="000000"/>
                              </a:solidFill>
                              <a:effectLst/>
                              <a:latin typeface="Calibri" panose="020F0502020204030204" pitchFamily="34" charset="0"/>
                            </a:rPr>
                            <a:t>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a:solidFill>
                                <a:srgbClr val="000000"/>
                              </a:solidFill>
                              <a:effectLst/>
                              <a:latin typeface="Calibri" panose="020F0502020204030204" pitchFamily="34" charset="0"/>
                            </a:rPr>
                            <a:t>-1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54402">
                    <a:tc>
                      <a:txBody>
                        <a:bodyPr/>
                        <a:lstStyle/>
                        <a:p>
                          <a:pPr algn="ctr" fontAlgn="b"/>
                          <a:r>
                            <a:rPr lang="en-US" sz="1600" b="1" i="0" u="none" strike="noStrike" dirty="0">
                              <a:solidFill>
                                <a:srgbClr val="000000"/>
                              </a:solidFill>
                              <a:effectLst/>
                              <a:latin typeface="Calibri" panose="020F0502020204030204" pitchFamily="34" charset="0"/>
                            </a:rPr>
                            <a:t>4</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lgn="ctr" fontAlgn="b"/>
                          <a:r>
                            <a:rPr lang="en-US" sz="1600" b="0" i="1" u="none" strike="noStrike">
                              <a:solidFill>
                                <a:srgbClr val="000000"/>
                              </a:solidFill>
                              <a:effectLst/>
                              <a:latin typeface="Calibri" panose="020F0502020204030204" pitchFamily="34" charset="0"/>
                            </a:rPr>
                            <a:t>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dirty="0">
                              <a:solidFill>
                                <a:srgbClr val="000000"/>
                              </a:solidFill>
                              <a:effectLst/>
                              <a:latin typeface="Calibri" panose="020F0502020204030204" pitchFamily="34" charset="0"/>
                            </a:rPr>
                            <a:t>0.5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dirty="0">
                              <a:solidFill>
                                <a:srgbClr val="000000"/>
                              </a:solidFill>
                              <a:effectLst/>
                              <a:latin typeface="Calibri" panose="020F0502020204030204" pitchFamily="34" charset="0"/>
                            </a:rPr>
                            <a:t>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dirty="0">
                              <a:solidFill>
                                <a:srgbClr val="000000"/>
                              </a:solidFill>
                              <a:effectLst/>
                              <a:latin typeface="Calibri" panose="020F0502020204030204" pitchFamily="34" charset="0"/>
                            </a:rPr>
                            <a:t>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a:solidFill>
                                <a:srgbClr val="000000"/>
                              </a:solidFill>
                              <a:effectLst/>
                              <a:latin typeface="Calibri" panose="020F0502020204030204" pitchFamily="34" charset="0"/>
                            </a:rPr>
                            <a:t>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dirty="0">
                              <a:solidFill>
                                <a:srgbClr val="000000"/>
                              </a:solidFill>
                              <a:effectLst/>
                              <a:latin typeface="Calibri" panose="020F0502020204030204" pitchFamily="34" charset="0"/>
                            </a:rPr>
                            <a:t>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a:solidFill>
                                <a:srgbClr val="000000"/>
                              </a:solidFill>
                              <a:effectLst/>
                              <a:latin typeface="Calibri" panose="020F0502020204030204" pitchFamily="34" charset="0"/>
                            </a:rPr>
                            <a:t>2</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54402">
                    <a:tc>
                      <a:txBody>
                        <a:bodyPr/>
                        <a:lstStyle/>
                        <a:p>
                          <a:pPr algn="ctr" fontAlgn="b"/>
                          <a:r>
                            <a:rPr lang="en-US" sz="1600" b="1" i="0" u="none" strike="noStrike" dirty="0">
                              <a:solidFill>
                                <a:srgbClr val="000000"/>
                              </a:solidFill>
                              <a:effectLst/>
                              <a:latin typeface="Calibri" panose="020F0502020204030204" pitchFamily="34" charset="0"/>
                            </a:rPr>
                            <a:t>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lgn="ctr" fontAlgn="b"/>
                          <a:r>
                            <a:rPr lang="en-US" sz="1600" b="0" i="1" u="none" strike="noStrike">
                              <a:solidFill>
                                <a:srgbClr val="000000"/>
                              </a:solidFill>
                              <a:effectLst/>
                              <a:latin typeface="Calibri" panose="020F0502020204030204" pitchFamily="34" charset="0"/>
                            </a:rPr>
                            <a:t>0.25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a:solidFill>
                                <a:srgbClr val="000000"/>
                              </a:solidFill>
                              <a:effectLst/>
                              <a:latin typeface="Calibri" panose="020F0502020204030204" pitchFamily="34" charset="0"/>
                            </a:rPr>
                            <a:t>0.75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dirty="0">
                              <a:solidFill>
                                <a:srgbClr val="000000"/>
                              </a:solidFill>
                              <a:effectLst/>
                              <a:latin typeface="Calibri" panose="020F0502020204030204" pitchFamily="34" charset="0"/>
                            </a:rPr>
                            <a:t>0.75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dirty="0">
                              <a:solidFill>
                                <a:srgbClr val="000000"/>
                              </a:solidFill>
                              <a:effectLst/>
                              <a:latin typeface="Calibri" panose="020F0502020204030204" pitchFamily="34" charset="0"/>
                            </a:rPr>
                            <a:t>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dirty="0">
                              <a:solidFill>
                                <a:srgbClr val="000000"/>
                              </a:solidFill>
                              <a:effectLst/>
                              <a:latin typeface="Calibri" panose="020F0502020204030204" pitchFamily="34" charset="0"/>
                            </a:rPr>
                            <a:t>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dirty="0">
                              <a:solidFill>
                                <a:srgbClr val="000000"/>
                              </a:solidFill>
                              <a:effectLst/>
                              <a:latin typeface="Calibri" panose="020F0502020204030204" pitchFamily="34" charset="0"/>
                            </a:rPr>
                            <a:t>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a:solidFill>
                                <a:srgbClr val="000000"/>
                              </a:solidFill>
                              <a:effectLst/>
                              <a:latin typeface="Calibri" panose="020F0502020204030204" pitchFamily="34" charset="0"/>
                            </a:rPr>
                            <a:t>-2</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54402">
                    <a:tc>
                      <a:txBody>
                        <a:bodyPr/>
                        <a:lstStyle/>
                        <a:p>
                          <a:pPr algn="ctr" fontAlgn="b"/>
                          <a:r>
                            <a:rPr lang="en-US" sz="1600" b="1" i="0" u="none" strike="noStrike" dirty="0">
                              <a:solidFill>
                                <a:srgbClr val="000000"/>
                              </a:solidFill>
                              <a:effectLst/>
                              <a:latin typeface="Calibri" panose="020F0502020204030204" pitchFamily="34" charset="0"/>
                            </a:rPr>
                            <a:t>6</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lgn="ctr" fontAlgn="b"/>
                          <a:r>
                            <a:rPr lang="en-US" sz="1600" b="0" i="1" u="none" strike="noStrike" dirty="0">
                              <a:solidFill>
                                <a:srgbClr val="000000"/>
                              </a:solidFill>
                              <a:effectLst/>
                              <a:latin typeface="Calibri" panose="020F0502020204030204" pitchFamily="34" charset="0"/>
                            </a:rPr>
                            <a:t>0.5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a:solidFill>
                                <a:srgbClr val="000000"/>
                              </a:solidFill>
                              <a:effectLst/>
                              <a:latin typeface="Calibri" panose="020F0502020204030204" pitchFamily="34" charset="0"/>
                            </a:rPr>
                            <a:t>0.25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dirty="0">
                              <a:solidFill>
                                <a:srgbClr val="000000"/>
                              </a:solidFill>
                              <a:effectLst/>
                              <a:latin typeface="Calibri" panose="020F0502020204030204" pitchFamily="34" charset="0"/>
                            </a:rPr>
                            <a:t>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dirty="0">
                              <a:solidFill>
                                <a:srgbClr val="000000"/>
                              </a:solidFill>
                              <a:effectLst/>
                              <a:latin typeface="Calibri" panose="020F0502020204030204" pitchFamily="34" charset="0"/>
                            </a:rPr>
                            <a:t>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dirty="0">
                              <a:solidFill>
                                <a:srgbClr val="000000"/>
                              </a:solidFill>
                              <a:effectLst/>
                              <a:latin typeface="Calibri" panose="020F0502020204030204" pitchFamily="34" charset="0"/>
                            </a:rPr>
                            <a:t>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dirty="0">
                              <a:solidFill>
                                <a:srgbClr val="000000"/>
                              </a:solidFill>
                              <a:effectLst/>
                              <a:latin typeface="Calibri" panose="020F0502020204030204" pitchFamily="34" charset="0"/>
                            </a:rPr>
                            <a:t>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a:solidFill>
                                <a:srgbClr val="000000"/>
                              </a:solidFill>
                              <a:effectLst/>
                              <a:latin typeface="Calibri" panose="020F0502020204030204" pitchFamily="34" charset="0"/>
                            </a:rPr>
                            <a:t>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54402">
                    <a:tc>
                      <a:txBody>
                        <a:bodyPr/>
                        <a:lstStyle/>
                        <a:p>
                          <a:pPr algn="ctr" fontAlgn="b"/>
                          <a:r>
                            <a:rPr lang="en-US" sz="1600" b="1" i="0" u="none" strike="noStrike" dirty="0">
                              <a:solidFill>
                                <a:srgbClr val="000000"/>
                              </a:solidFill>
                              <a:effectLst/>
                              <a:latin typeface="Calibri" panose="020F0502020204030204" pitchFamily="34" charset="0"/>
                            </a:rPr>
                            <a:t>7</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lgn="ctr" fontAlgn="b"/>
                          <a:r>
                            <a:rPr lang="en-US" sz="1600" b="0" i="1" u="none" strike="noStrike">
                              <a:solidFill>
                                <a:srgbClr val="000000"/>
                              </a:solidFill>
                              <a:effectLst/>
                              <a:latin typeface="Calibri" panose="020F0502020204030204" pitchFamily="34" charset="0"/>
                            </a:rPr>
                            <a:t>0.75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dirty="0">
                              <a:solidFill>
                                <a:srgbClr val="000000"/>
                              </a:solidFill>
                              <a:effectLst/>
                              <a:latin typeface="Calibri" panose="020F0502020204030204" pitchFamily="34" charset="0"/>
                            </a:rPr>
                            <a:t>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a:solidFill>
                                <a:srgbClr val="000000"/>
                              </a:solidFill>
                              <a:effectLst/>
                              <a:latin typeface="Calibri" panose="020F0502020204030204" pitchFamily="34" charset="0"/>
                            </a:rPr>
                            <a:t>0.25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dirty="0">
                              <a:solidFill>
                                <a:srgbClr val="000000"/>
                              </a:solidFill>
                              <a:effectLst/>
                              <a:latin typeface="Calibri" panose="020F0502020204030204" pitchFamily="34" charset="0"/>
                            </a:rPr>
                            <a:t>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dirty="0">
                              <a:solidFill>
                                <a:srgbClr val="000000"/>
                              </a:solidFill>
                              <a:effectLst/>
                              <a:latin typeface="Calibri" panose="020F0502020204030204" pitchFamily="34" charset="0"/>
                            </a:rPr>
                            <a:t>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dirty="0">
                              <a:solidFill>
                                <a:srgbClr val="000000"/>
                              </a:solidFill>
                              <a:effectLst/>
                              <a:latin typeface="Calibri" panose="020F0502020204030204" pitchFamily="34" charset="0"/>
                            </a:rPr>
                            <a:t>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a:solidFill>
                                <a:srgbClr val="000000"/>
                              </a:solidFill>
                              <a:effectLst/>
                              <a:latin typeface="Calibri" panose="020F0502020204030204" pitchFamily="34" charset="0"/>
                            </a:rPr>
                            <a:t>-2</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54402">
                    <a:tc>
                      <a:txBody>
                        <a:bodyPr/>
                        <a:lstStyle/>
                        <a:p>
                          <a:pPr algn="ctr" fontAlgn="b"/>
                          <a:r>
                            <a:rPr lang="en-US" sz="1600" b="1" i="0" u="none" strike="noStrike" dirty="0">
                              <a:solidFill>
                                <a:srgbClr val="000000"/>
                              </a:solidFill>
                              <a:effectLst/>
                              <a:latin typeface="Calibri" panose="020F0502020204030204" pitchFamily="34" charset="0"/>
                            </a:rPr>
                            <a:t>8</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lgn="ctr" fontAlgn="b"/>
                          <a:r>
                            <a:rPr lang="en-US" sz="1600" b="0" i="1" u="none" strike="noStrike">
                              <a:solidFill>
                                <a:srgbClr val="000000"/>
                              </a:solidFill>
                              <a:effectLst/>
                              <a:latin typeface="Calibri" panose="020F0502020204030204" pitchFamily="34" charset="0"/>
                            </a:rPr>
                            <a:t>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a:solidFill>
                                <a:srgbClr val="000000"/>
                              </a:solidFill>
                              <a:effectLst/>
                              <a:latin typeface="Calibri" panose="020F0502020204030204" pitchFamily="34" charset="0"/>
                            </a:rPr>
                            <a:t>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a:solidFill>
                                <a:srgbClr val="000000"/>
                              </a:solidFill>
                              <a:effectLst/>
                              <a:latin typeface="Calibri" panose="020F0502020204030204" pitchFamily="34" charset="0"/>
                            </a:rPr>
                            <a:t>0.25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dirty="0">
                              <a:solidFill>
                                <a:srgbClr val="000000"/>
                              </a:solidFill>
                              <a:effectLst/>
                              <a:latin typeface="Calibri" panose="020F0502020204030204" pitchFamily="34" charset="0"/>
                            </a:rPr>
                            <a:t>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dirty="0">
                              <a:solidFill>
                                <a:srgbClr val="000000"/>
                              </a:solidFill>
                              <a:effectLst/>
                              <a:latin typeface="Calibri" panose="020F0502020204030204" pitchFamily="34" charset="0"/>
                            </a:rPr>
                            <a:t>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dirty="0">
                              <a:solidFill>
                                <a:srgbClr val="000000"/>
                              </a:solidFill>
                              <a:effectLst/>
                              <a:latin typeface="Calibri" panose="020F0502020204030204" pitchFamily="34" charset="0"/>
                            </a:rPr>
                            <a:t>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dirty="0">
                              <a:solidFill>
                                <a:srgbClr val="000000"/>
                              </a:solidFill>
                              <a:effectLst/>
                              <a:latin typeface="Calibri" panose="020F0502020204030204" pitchFamily="34" charset="0"/>
                            </a:rPr>
                            <a:t>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54402">
                    <a:tc>
                      <a:txBody>
                        <a:bodyPr/>
                        <a:lstStyle/>
                        <a:p>
                          <a:pPr algn="ctr" fontAlgn="b"/>
                          <a:r>
                            <a:rPr lang="en-US" sz="1600" b="1" i="0" u="none" strike="noStrike" dirty="0">
                              <a:solidFill>
                                <a:srgbClr val="000000"/>
                              </a:solidFill>
                              <a:effectLst/>
                              <a:latin typeface="Calibri" panose="020F0502020204030204" pitchFamily="34" charset="0"/>
                            </a:rPr>
                            <a:t>9</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lgn="ctr" fontAlgn="b"/>
                          <a:r>
                            <a:rPr lang="en-US" sz="1600" b="0" i="1" u="none" strike="noStrike">
                              <a:solidFill>
                                <a:srgbClr val="000000"/>
                              </a:solidFill>
                              <a:effectLst/>
                              <a:latin typeface="Calibri" panose="020F0502020204030204" pitchFamily="34" charset="0"/>
                            </a:rPr>
                            <a:t>0.25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a:solidFill>
                                <a:srgbClr val="000000"/>
                              </a:solidFill>
                              <a:effectLst/>
                              <a:latin typeface="Calibri" panose="020F0502020204030204" pitchFamily="34" charset="0"/>
                            </a:rPr>
                            <a:t>0.25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a:solidFill>
                                <a:srgbClr val="000000"/>
                              </a:solidFill>
                              <a:effectLst/>
                              <a:latin typeface="Calibri" panose="020F0502020204030204" pitchFamily="34" charset="0"/>
                            </a:rPr>
                            <a:t>0.5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a:solidFill>
                                <a:srgbClr val="000000"/>
                              </a:solidFill>
                              <a:effectLst/>
                              <a:latin typeface="Calibri" panose="020F0502020204030204" pitchFamily="34" charset="0"/>
                            </a:rPr>
                            <a:t>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dirty="0">
                              <a:solidFill>
                                <a:srgbClr val="000000"/>
                              </a:solidFill>
                              <a:effectLst/>
                              <a:latin typeface="Calibri" panose="020F0502020204030204" pitchFamily="34" charset="0"/>
                            </a:rPr>
                            <a:t>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dirty="0">
                              <a:solidFill>
                                <a:srgbClr val="000000"/>
                              </a:solidFill>
                              <a:effectLst/>
                              <a:latin typeface="Calibri" panose="020F0502020204030204" pitchFamily="34" charset="0"/>
                            </a:rPr>
                            <a:t>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dirty="0">
                              <a:solidFill>
                                <a:srgbClr val="000000"/>
                              </a:solidFill>
                              <a:effectLst/>
                              <a:latin typeface="Calibri" panose="020F0502020204030204" pitchFamily="34" charset="0"/>
                            </a:rPr>
                            <a:t>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54402">
                    <a:tc>
                      <a:txBody>
                        <a:bodyPr/>
                        <a:lstStyle/>
                        <a:p>
                          <a:pPr algn="ctr" fontAlgn="b"/>
                          <a:r>
                            <a:rPr lang="en-US" sz="1600" b="1" i="0" u="none" strike="noStrike" dirty="0">
                              <a:solidFill>
                                <a:srgbClr val="000000"/>
                              </a:solidFill>
                              <a:effectLst/>
                              <a:latin typeface="Calibri" panose="020F0502020204030204" pitchFamily="34" charset="0"/>
                            </a:rPr>
                            <a:t>10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lgn="ctr" fontAlgn="b"/>
                          <a:r>
                            <a:rPr lang="en-US" sz="1600" b="0" i="1" u="none" strike="noStrike">
                              <a:solidFill>
                                <a:srgbClr val="000000"/>
                              </a:solidFill>
                              <a:effectLst/>
                              <a:latin typeface="Calibri" panose="020F0502020204030204" pitchFamily="34" charset="0"/>
                            </a:rPr>
                            <a:t>0.5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a:solidFill>
                                <a:srgbClr val="000000"/>
                              </a:solidFill>
                              <a:effectLst/>
                              <a:latin typeface="Calibri" panose="020F0502020204030204" pitchFamily="34" charset="0"/>
                            </a:rPr>
                            <a:t>0.75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a:solidFill>
                                <a:srgbClr val="000000"/>
                              </a:solidFill>
                              <a:effectLst/>
                              <a:latin typeface="Calibri" panose="020F0502020204030204" pitchFamily="34" charset="0"/>
                            </a:rPr>
                            <a:t>0.25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a:solidFill>
                                <a:srgbClr val="000000"/>
                              </a:solidFill>
                              <a:effectLst/>
                              <a:latin typeface="Calibri" panose="020F0502020204030204" pitchFamily="34" charset="0"/>
                            </a:rPr>
                            <a:t>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a:solidFill>
                                <a:srgbClr val="000000"/>
                              </a:solidFill>
                              <a:effectLst/>
                              <a:latin typeface="Calibri" panose="020F0502020204030204" pitchFamily="34" charset="0"/>
                            </a:rPr>
                            <a:t>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dirty="0">
                              <a:solidFill>
                                <a:srgbClr val="000000"/>
                              </a:solidFill>
                              <a:effectLst/>
                              <a:latin typeface="Calibri" panose="020F0502020204030204" pitchFamily="34" charset="0"/>
                            </a:rPr>
                            <a:t>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dirty="0">
                              <a:solidFill>
                                <a:srgbClr val="000000"/>
                              </a:solidFill>
                              <a:effectLst/>
                              <a:latin typeface="Calibri" panose="020F0502020204030204" pitchFamily="34" charset="0"/>
                            </a:rPr>
                            <a:t>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54402">
                    <a:tc>
                      <a:txBody>
                        <a:bodyPr/>
                        <a:lstStyle/>
                        <a:p>
                          <a:pPr algn="ctr" fontAlgn="b"/>
                          <a:r>
                            <a:rPr lang="en-US" sz="1600" b="1" i="0" u="none" strike="noStrike" dirty="0">
                              <a:solidFill>
                                <a:srgbClr val="000000"/>
                              </a:solidFill>
                              <a:effectLst/>
                              <a:latin typeface="Calibri" panose="020F0502020204030204" pitchFamily="34" charset="0"/>
                            </a:rPr>
                            <a:t>11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lgn="ctr" fontAlgn="b"/>
                          <a:r>
                            <a:rPr lang="en-US" sz="1600" b="0" i="1" u="none" strike="noStrike">
                              <a:solidFill>
                                <a:srgbClr val="000000"/>
                              </a:solidFill>
                              <a:effectLst/>
                              <a:latin typeface="Calibri" panose="020F0502020204030204" pitchFamily="34" charset="0"/>
                            </a:rPr>
                            <a:t>0.75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a:solidFill>
                                <a:srgbClr val="000000"/>
                              </a:solidFill>
                              <a:effectLst/>
                              <a:latin typeface="Calibri" panose="020F0502020204030204" pitchFamily="34" charset="0"/>
                            </a:rPr>
                            <a:t>0.5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dirty="0">
                              <a:solidFill>
                                <a:srgbClr val="000000"/>
                              </a:solidFill>
                              <a:effectLst/>
                              <a:latin typeface="Calibri" panose="020F0502020204030204" pitchFamily="34" charset="0"/>
                            </a:rPr>
                            <a:t>0.75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dirty="0">
                              <a:solidFill>
                                <a:srgbClr val="000000"/>
                              </a:solidFill>
                              <a:effectLst/>
                              <a:latin typeface="Calibri" panose="020F0502020204030204" pitchFamily="34" charset="0"/>
                            </a:rPr>
                            <a:t>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a:solidFill>
                                <a:srgbClr val="000000"/>
                              </a:solidFill>
                              <a:effectLst/>
                              <a:latin typeface="Calibri" panose="020F0502020204030204" pitchFamily="34" charset="0"/>
                            </a:rPr>
                            <a:t>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dirty="0">
                              <a:solidFill>
                                <a:srgbClr val="000000"/>
                              </a:solidFill>
                              <a:effectLst/>
                              <a:latin typeface="Calibri" panose="020F0502020204030204" pitchFamily="34" charset="0"/>
                            </a:rPr>
                            <a:t>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dirty="0">
                              <a:solidFill>
                                <a:srgbClr val="000000"/>
                              </a:solidFill>
                              <a:effectLst/>
                              <a:latin typeface="Calibri" panose="020F0502020204030204" pitchFamily="34" charset="0"/>
                            </a:rPr>
                            <a:t>-1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mc:Choice>
        <mc:Fallback xmlns="">
          <p:graphicFrame>
            <p:nvGraphicFramePr>
              <p:cNvPr id="4" name="Table 3"/>
              <p:cNvGraphicFramePr>
                <a:graphicFrameLocks noGrp="1"/>
              </p:cNvGraphicFramePr>
              <p:nvPr>
                <p:extLst>
                  <p:ext uri="{D42A27DB-BD31-4B8C-83A1-F6EECF244321}">
                    <p14:modId xmlns:p14="http://schemas.microsoft.com/office/powerpoint/2010/main" val="3218895188"/>
                  </p:ext>
                </p:extLst>
              </p:nvPr>
            </p:nvGraphicFramePr>
            <p:xfrm>
              <a:off x="824529" y="1651518"/>
              <a:ext cx="10542944" cy="4275009"/>
            </p:xfrm>
            <a:graphic>
              <a:graphicData uri="http://schemas.openxmlformats.org/drawingml/2006/table">
                <a:tbl>
                  <a:tblPr firstRow="1" bandRow="1">
                    <a:tableStyleId>{5C22544A-7EE6-4342-B048-85BDC9FD1C3A}</a:tableStyleId>
                  </a:tblPr>
                  <a:tblGrid>
                    <a:gridCol w="1317868"/>
                    <a:gridCol w="1317868"/>
                    <a:gridCol w="1317868"/>
                    <a:gridCol w="1317868"/>
                    <a:gridCol w="1317868"/>
                    <a:gridCol w="1317868"/>
                    <a:gridCol w="1317868"/>
                    <a:gridCol w="1317868"/>
                  </a:tblGrid>
                  <a:tr h="376587">
                    <a:tc>
                      <a:txBody>
                        <a:bodyPr/>
                        <a:lstStyle/>
                        <a:p>
                          <a:pPr algn="ctr"/>
                          <a:r>
                            <a:rPr lang="en-US" sz="1600" b="1" i="1" u="none" strike="noStrike" cap="none" baseline="0" dirty="0" smtClean="0">
                              <a:solidFill>
                                <a:schemeClr val="tx1"/>
                              </a:solidFill>
                              <a:latin typeface="Cambria Math" panose="02040503050406030204" pitchFamily="18" charset="0"/>
                              <a:ea typeface="+mn-ea"/>
                              <a:cs typeface="Arial" panose="020B0604020202020204" pitchFamily="34" charset="0"/>
                              <a:sym typeface="Arial"/>
                            </a:rPr>
                            <a:t>Clock</a:t>
                          </a:r>
                          <a:endParaRPr lang="en-US" sz="1600" b="1" i="1" u="none" strike="noStrike" cap="none" baseline="0" dirty="0">
                            <a:solidFill>
                              <a:schemeClr val="tx1"/>
                            </a:solidFill>
                            <a:latin typeface="Cambria Math" panose="02040503050406030204" pitchFamily="18" charset="0"/>
                            <a:ea typeface="+mn-ea"/>
                            <a:cs typeface="Arial" panose="020B0604020202020204" pitchFamily="34" charset="0"/>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2"/>
                          <a:stretch>
                            <a:fillRect l="-100000" t="-4839" r="-598618" b="-1053226"/>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2"/>
                          <a:stretch>
                            <a:fillRect l="-200926" t="-4839" r="-501389" b="-1053226"/>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2"/>
                          <a:stretch>
                            <a:fillRect l="-300926" t="-4839" r="-401389" b="-1053226"/>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2"/>
                          <a:stretch>
                            <a:fillRect l="-400926" t="-4839" r="-301389" b="-1053226"/>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2"/>
                          <a:stretch>
                            <a:fillRect l="-498618" t="-4839" r="-200000" b="-1053226"/>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2"/>
                          <a:stretch>
                            <a:fillRect l="-601389" t="-4839" r="-100926" b="-1053226"/>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2"/>
                          <a:stretch>
                            <a:fillRect l="-701389" t="-4839" r="-926" b="-1053226"/>
                          </a:stretch>
                        </a:blipFill>
                      </a:tcPr>
                    </a:tc>
                  </a:tr>
                  <a:tr h="354402">
                    <a:tc>
                      <a:txBody>
                        <a:bodyPr/>
                        <a:lstStyle/>
                        <a:p>
                          <a:pPr algn="ctr" fontAlgn="b"/>
                          <a:r>
                            <a:rPr lang="en-US" sz="1600" b="1" i="0" u="none" strike="noStrike" dirty="0">
                              <a:solidFill>
                                <a:srgbClr val="000000"/>
                              </a:solidFill>
                              <a:effectLst/>
                              <a:latin typeface="Calibri" panose="020F0502020204030204" pitchFamily="34" charset="0"/>
                            </a:rPr>
                            <a:t>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lgn="ctr" fontAlgn="b"/>
                          <a:r>
                            <a:rPr lang="en-US" sz="1600" b="0" i="1" u="none" strike="noStrike" dirty="0">
                              <a:solidFill>
                                <a:srgbClr val="000000"/>
                              </a:solidFill>
                              <a:effectLst/>
                              <a:latin typeface="Calibri" panose="020F0502020204030204" pitchFamily="34" charset="0"/>
                            </a:rPr>
                            <a:t>0.25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dirty="0">
                              <a:solidFill>
                                <a:srgbClr val="000000"/>
                              </a:solidFill>
                              <a:effectLst/>
                              <a:latin typeface="Calibri" panose="020F0502020204030204" pitchFamily="34" charset="0"/>
                            </a:rPr>
                            <a:t>0.25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dirty="0">
                              <a:solidFill>
                                <a:srgbClr val="000000"/>
                              </a:solidFill>
                              <a:effectLst/>
                              <a:latin typeface="Calibri" panose="020F0502020204030204" pitchFamily="34" charset="0"/>
                            </a:rPr>
                            <a:t>0.25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dirty="0">
                              <a:solidFill>
                                <a:srgbClr val="000000"/>
                              </a:solidFill>
                              <a:effectLst/>
                              <a:latin typeface="Calibri" panose="020F0502020204030204" pitchFamily="34" charset="0"/>
                            </a:rPr>
                            <a:t>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dirty="0">
                              <a:solidFill>
                                <a:srgbClr val="000000"/>
                              </a:solidFill>
                              <a:effectLst/>
                              <a:latin typeface="Calibri" panose="020F0502020204030204" pitchFamily="34" charset="0"/>
                            </a:rPr>
                            <a:t>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dirty="0">
                              <a:solidFill>
                                <a:srgbClr val="000000"/>
                              </a:solidFill>
                              <a:effectLst/>
                              <a:latin typeface="Calibri" panose="020F0502020204030204" pitchFamily="34" charset="0"/>
                            </a:rPr>
                            <a:t>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dirty="0">
                              <a:solidFill>
                                <a:srgbClr val="000000"/>
                              </a:solidFill>
                              <a:effectLst/>
                              <a:latin typeface="Calibri" panose="020F0502020204030204" pitchFamily="34" charset="0"/>
                            </a:rPr>
                            <a:t>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54402">
                    <a:tc>
                      <a:txBody>
                        <a:bodyPr/>
                        <a:lstStyle/>
                        <a:p>
                          <a:pPr algn="ctr" fontAlgn="b"/>
                          <a:r>
                            <a:rPr lang="en-US" sz="1600" b="1" i="0" u="none" strike="noStrike" dirty="0">
                              <a:solidFill>
                                <a:srgbClr val="000000"/>
                              </a:solidFill>
                              <a:effectLst/>
                              <a:latin typeface="Calibri" panose="020F0502020204030204" pitchFamily="34" charset="0"/>
                            </a:rPr>
                            <a:t>2</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lgn="ctr" fontAlgn="b"/>
                          <a:r>
                            <a:rPr lang="en-US" sz="1600" b="0" i="1" u="none" strike="noStrike" dirty="0">
                              <a:solidFill>
                                <a:srgbClr val="000000"/>
                              </a:solidFill>
                              <a:effectLst/>
                              <a:latin typeface="Calibri" panose="020F0502020204030204" pitchFamily="34" charset="0"/>
                            </a:rPr>
                            <a:t>0.5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dirty="0">
                              <a:solidFill>
                                <a:srgbClr val="000000"/>
                              </a:solidFill>
                              <a:effectLst/>
                              <a:latin typeface="Calibri" panose="020F0502020204030204" pitchFamily="34" charset="0"/>
                            </a:rPr>
                            <a:t>0.75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a:solidFill>
                                <a:srgbClr val="000000"/>
                              </a:solidFill>
                              <a:effectLst/>
                              <a:latin typeface="Calibri" panose="020F0502020204030204" pitchFamily="34" charset="0"/>
                            </a:rPr>
                            <a:t>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a:solidFill>
                                <a:srgbClr val="000000"/>
                              </a:solidFill>
                              <a:effectLst/>
                              <a:latin typeface="Calibri" panose="020F0502020204030204" pitchFamily="34" charset="0"/>
                            </a:rPr>
                            <a:t>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a:solidFill>
                                <a:srgbClr val="000000"/>
                              </a:solidFill>
                              <a:effectLst/>
                              <a:latin typeface="Calibri" panose="020F0502020204030204" pitchFamily="34" charset="0"/>
                            </a:rPr>
                            <a:t>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dirty="0">
                              <a:solidFill>
                                <a:srgbClr val="000000"/>
                              </a:solidFill>
                              <a:effectLst/>
                              <a:latin typeface="Calibri" panose="020F0502020204030204" pitchFamily="34" charset="0"/>
                            </a:rPr>
                            <a:t>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a:solidFill>
                                <a:srgbClr val="000000"/>
                              </a:solidFill>
                              <a:effectLst/>
                              <a:latin typeface="Calibri" panose="020F0502020204030204" pitchFamily="34" charset="0"/>
                            </a:rPr>
                            <a:t>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54402">
                    <a:tc>
                      <a:txBody>
                        <a:bodyPr/>
                        <a:lstStyle/>
                        <a:p>
                          <a:pPr algn="ctr" fontAlgn="b"/>
                          <a:r>
                            <a:rPr lang="en-US" sz="1600" b="1" i="0" u="none" strike="noStrike" dirty="0">
                              <a:solidFill>
                                <a:srgbClr val="000000"/>
                              </a:solidFill>
                              <a:effectLst/>
                              <a:latin typeface="Calibri" panose="020F0502020204030204" pitchFamily="34" charset="0"/>
                            </a:rPr>
                            <a:t>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lgn="ctr" fontAlgn="b"/>
                          <a:r>
                            <a:rPr lang="en-US" sz="1600" b="0" i="1" u="none" strike="noStrike" dirty="0">
                              <a:solidFill>
                                <a:srgbClr val="000000"/>
                              </a:solidFill>
                              <a:effectLst/>
                              <a:latin typeface="Calibri" panose="020F0502020204030204" pitchFamily="34" charset="0"/>
                            </a:rPr>
                            <a:t>0.75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dirty="0">
                              <a:solidFill>
                                <a:srgbClr val="000000"/>
                              </a:solidFill>
                              <a:effectLst/>
                              <a:latin typeface="Calibri" panose="020F0502020204030204" pitchFamily="34" charset="0"/>
                            </a:rPr>
                            <a:t>0.5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dirty="0">
                              <a:solidFill>
                                <a:srgbClr val="000000"/>
                              </a:solidFill>
                              <a:effectLst/>
                              <a:latin typeface="Calibri" panose="020F0502020204030204" pitchFamily="34" charset="0"/>
                            </a:rPr>
                            <a:t>0.5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a:solidFill>
                                <a:srgbClr val="000000"/>
                              </a:solidFill>
                              <a:effectLst/>
                              <a:latin typeface="Calibri" panose="020F0502020204030204" pitchFamily="34" charset="0"/>
                            </a:rPr>
                            <a:t>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a:solidFill>
                                <a:srgbClr val="000000"/>
                              </a:solidFill>
                              <a:effectLst/>
                              <a:latin typeface="Calibri" panose="020F0502020204030204" pitchFamily="34" charset="0"/>
                            </a:rPr>
                            <a:t>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dirty="0">
                              <a:solidFill>
                                <a:srgbClr val="000000"/>
                              </a:solidFill>
                              <a:effectLst/>
                              <a:latin typeface="Calibri" panose="020F0502020204030204" pitchFamily="34" charset="0"/>
                            </a:rPr>
                            <a:t>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a:solidFill>
                                <a:srgbClr val="000000"/>
                              </a:solidFill>
                              <a:effectLst/>
                              <a:latin typeface="Calibri" panose="020F0502020204030204" pitchFamily="34" charset="0"/>
                            </a:rPr>
                            <a:t>-1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54402">
                    <a:tc>
                      <a:txBody>
                        <a:bodyPr/>
                        <a:lstStyle/>
                        <a:p>
                          <a:pPr algn="ctr" fontAlgn="b"/>
                          <a:r>
                            <a:rPr lang="en-US" sz="1600" b="1" i="0" u="none" strike="noStrike" dirty="0">
                              <a:solidFill>
                                <a:srgbClr val="000000"/>
                              </a:solidFill>
                              <a:effectLst/>
                              <a:latin typeface="Calibri" panose="020F0502020204030204" pitchFamily="34" charset="0"/>
                            </a:rPr>
                            <a:t>4</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lgn="ctr" fontAlgn="b"/>
                          <a:r>
                            <a:rPr lang="en-US" sz="1600" b="0" i="1" u="none" strike="noStrike">
                              <a:solidFill>
                                <a:srgbClr val="000000"/>
                              </a:solidFill>
                              <a:effectLst/>
                              <a:latin typeface="Calibri" panose="020F0502020204030204" pitchFamily="34" charset="0"/>
                            </a:rPr>
                            <a:t>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dirty="0">
                              <a:solidFill>
                                <a:srgbClr val="000000"/>
                              </a:solidFill>
                              <a:effectLst/>
                              <a:latin typeface="Calibri" panose="020F0502020204030204" pitchFamily="34" charset="0"/>
                            </a:rPr>
                            <a:t>0.5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dirty="0">
                              <a:solidFill>
                                <a:srgbClr val="000000"/>
                              </a:solidFill>
                              <a:effectLst/>
                              <a:latin typeface="Calibri" panose="020F0502020204030204" pitchFamily="34" charset="0"/>
                            </a:rPr>
                            <a:t>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dirty="0">
                              <a:solidFill>
                                <a:srgbClr val="000000"/>
                              </a:solidFill>
                              <a:effectLst/>
                              <a:latin typeface="Calibri" panose="020F0502020204030204" pitchFamily="34" charset="0"/>
                            </a:rPr>
                            <a:t>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a:solidFill>
                                <a:srgbClr val="000000"/>
                              </a:solidFill>
                              <a:effectLst/>
                              <a:latin typeface="Calibri" panose="020F0502020204030204" pitchFamily="34" charset="0"/>
                            </a:rPr>
                            <a:t>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dirty="0">
                              <a:solidFill>
                                <a:srgbClr val="000000"/>
                              </a:solidFill>
                              <a:effectLst/>
                              <a:latin typeface="Calibri" panose="020F0502020204030204" pitchFamily="34" charset="0"/>
                            </a:rPr>
                            <a:t>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a:solidFill>
                                <a:srgbClr val="000000"/>
                              </a:solidFill>
                              <a:effectLst/>
                              <a:latin typeface="Calibri" panose="020F0502020204030204" pitchFamily="34" charset="0"/>
                            </a:rPr>
                            <a:t>2</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54402">
                    <a:tc>
                      <a:txBody>
                        <a:bodyPr/>
                        <a:lstStyle/>
                        <a:p>
                          <a:pPr algn="ctr" fontAlgn="b"/>
                          <a:r>
                            <a:rPr lang="en-US" sz="1600" b="1" i="0" u="none" strike="noStrike" dirty="0">
                              <a:solidFill>
                                <a:srgbClr val="000000"/>
                              </a:solidFill>
                              <a:effectLst/>
                              <a:latin typeface="Calibri" panose="020F0502020204030204" pitchFamily="34" charset="0"/>
                            </a:rPr>
                            <a:t>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lgn="ctr" fontAlgn="b"/>
                          <a:r>
                            <a:rPr lang="en-US" sz="1600" b="0" i="1" u="none" strike="noStrike">
                              <a:solidFill>
                                <a:srgbClr val="000000"/>
                              </a:solidFill>
                              <a:effectLst/>
                              <a:latin typeface="Calibri" panose="020F0502020204030204" pitchFamily="34" charset="0"/>
                            </a:rPr>
                            <a:t>0.25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a:solidFill>
                                <a:srgbClr val="000000"/>
                              </a:solidFill>
                              <a:effectLst/>
                              <a:latin typeface="Calibri" panose="020F0502020204030204" pitchFamily="34" charset="0"/>
                            </a:rPr>
                            <a:t>0.75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dirty="0">
                              <a:solidFill>
                                <a:srgbClr val="000000"/>
                              </a:solidFill>
                              <a:effectLst/>
                              <a:latin typeface="Calibri" panose="020F0502020204030204" pitchFamily="34" charset="0"/>
                            </a:rPr>
                            <a:t>0.75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dirty="0">
                              <a:solidFill>
                                <a:srgbClr val="000000"/>
                              </a:solidFill>
                              <a:effectLst/>
                              <a:latin typeface="Calibri" panose="020F0502020204030204" pitchFamily="34" charset="0"/>
                            </a:rPr>
                            <a:t>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dirty="0">
                              <a:solidFill>
                                <a:srgbClr val="000000"/>
                              </a:solidFill>
                              <a:effectLst/>
                              <a:latin typeface="Calibri" panose="020F0502020204030204" pitchFamily="34" charset="0"/>
                            </a:rPr>
                            <a:t>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dirty="0">
                              <a:solidFill>
                                <a:srgbClr val="000000"/>
                              </a:solidFill>
                              <a:effectLst/>
                              <a:latin typeface="Calibri" panose="020F0502020204030204" pitchFamily="34" charset="0"/>
                            </a:rPr>
                            <a:t>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a:solidFill>
                                <a:srgbClr val="000000"/>
                              </a:solidFill>
                              <a:effectLst/>
                              <a:latin typeface="Calibri" panose="020F0502020204030204" pitchFamily="34" charset="0"/>
                            </a:rPr>
                            <a:t>-2</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54402">
                    <a:tc>
                      <a:txBody>
                        <a:bodyPr/>
                        <a:lstStyle/>
                        <a:p>
                          <a:pPr algn="ctr" fontAlgn="b"/>
                          <a:r>
                            <a:rPr lang="en-US" sz="1600" b="1" i="0" u="none" strike="noStrike" dirty="0">
                              <a:solidFill>
                                <a:srgbClr val="000000"/>
                              </a:solidFill>
                              <a:effectLst/>
                              <a:latin typeface="Calibri" panose="020F0502020204030204" pitchFamily="34" charset="0"/>
                            </a:rPr>
                            <a:t>6</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lgn="ctr" fontAlgn="b"/>
                          <a:r>
                            <a:rPr lang="en-US" sz="1600" b="0" i="1" u="none" strike="noStrike" dirty="0">
                              <a:solidFill>
                                <a:srgbClr val="000000"/>
                              </a:solidFill>
                              <a:effectLst/>
                              <a:latin typeface="Calibri" panose="020F0502020204030204" pitchFamily="34" charset="0"/>
                            </a:rPr>
                            <a:t>0.5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a:solidFill>
                                <a:srgbClr val="000000"/>
                              </a:solidFill>
                              <a:effectLst/>
                              <a:latin typeface="Calibri" panose="020F0502020204030204" pitchFamily="34" charset="0"/>
                            </a:rPr>
                            <a:t>0.25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dirty="0">
                              <a:solidFill>
                                <a:srgbClr val="000000"/>
                              </a:solidFill>
                              <a:effectLst/>
                              <a:latin typeface="Calibri" panose="020F0502020204030204" pitchFamily="34" charset="0"/>
                            </a:rPr>
                            <a:t>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dirty="0">
                              <a:solidFill>
                                <a:srgbClr val="000000"/>
                              </a:solidFill>
                              <a:effectLst/>
                              <a:latin typeface="Calibri" panose="020F0502020204030204" pitchFamily="34" charset="0"/>
                            </a:rPr>
                            <a:t>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dirty="0">
                              <a:solidFill>
                                <a:srgbClr val="000000"/>
                              </a:solidFill>
                              <a:effectLst/>
                              <a:latin typeface="Calibri" panose="020F0502020204030204" pitchFamily="34" charset="0"/>
                            </a:rPr>
                            <a:t>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dirty="0">
                              <a:solidFill>
                                <a:srgbClr val="000000"/>
                              </a:solidFill>
                              <a:effectLst/>
                              <a:latin typeface="Calibri" panose="020F0502020204030204" pitchFamily="34" charset="0"/>
                            </a:rPr>
                            <a:t>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a:solidFill>
                                <a:srgbClr val="000000"/>
                              </a:solidFill>
                              <a:effectLst/>
                              <a:latin typeface="Calibri" panose="020F0502020204030204" pitchFamily="34" charset="0"/>
                            </a:rPr>
                            <a:t>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54402">
                    <a:tc>
                      <a:txBody>
                        <a:bodyPr/>
                        <a:lstStyle/>
                        <a:p>
                          <a:pPr algn="ctr" fontAlgn="b"/>
                          <a:r>
                            <a:rPr lang="en-US" sz="1600" b="1" i="0" u="none" strike="noStrike" dirty="0">
                              <a:solidFill>
                                <a:srgbClr val="000000"/>
                              </a:solidFill>
                              <a:effectLst/>
                              <a:latin typeface="Calibri" panose="020F0502020204030204" pitchFamily="34" charset="0"/>
                            </a:rPr>
                            <a:t>7</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lgn="ctr" fontAlgn="b"/>
                          <a:r>
                            <a:rPr lang="en-US" sz="1600" b="0" i="1" u="none" strike="noStrike">
                              <a:solidFill>
                                <a:srgbClr val="000000"/>
                              </a:solidFill>
                              <a:effectLst/>
                              <a:latin typeface="Calibri" panose="020F0502020204030204" pitchFamily="34" charset="0"/>
                            </a:rPr>
                            <a:t>0.75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dirty="0">
                              <a:solidFill>
                                <a:srgbClr val="000000"/>
                              </a:solidFill>
                              <a:effectLst/>
                              <a:latin typeface="Calibri" panose="020F0502020204030204" pitchFamily="34" charset="0"/>
                            </a:rPr>
                            <a:t>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a:solidFill>
                                <a:srgbClr val="000000"/>
                              </a:solidFill>
                              <a:effectLst/>
                              <a:latin typeface="Calibri" panose="020F0502020204030204" pitchFamily="34" charset="0"/>
                            </a:rPr>
                            <a:t>0.25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dirty="0">
                              <a:solidFill>
                                <a:srgbClr val="000000"/>
                              </a:solidFill>
                              <a:effectLst/>
                              <a:latin typeface="Calibri" panose="020F0502020204030204" pitchFamily="34" charset="0"/>
                            </a:rPr>
                            <a:t>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dirty="0">
                              <a:solidFill>
                                <a:srgbClr val="000000"/>
                              </a:solidFill>
                              <a:effectLst/>
                              <a:latin typeface="Calibri" panose="020F0502020204030204" pitchFamily="34" charset="0"/>
                            </a:rPr>
                            <a:t>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dirty="0">
                              <a:solidFill>
                                <a:srgbClr val="000000"/>
                              </a:solidFill>
                              <a:effectLst/>
                              <a:latin typeface="Calibri" panose="020F0502020204030204" pitchFamily="34" charset="0"/>
                            </a:rPr>
                            <a:t>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a:solidFill>
                                <a:srgbClr val="000000"/>
                              </a:solidFill>
                              <a:effectLst/>
                              <a:latin typeface="Calibri" panose="020F0502020204030204" pitchFamily="34" charset="0"/>
                            </a:rPr>
                            <a:t>-2</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54402">
                    <a:tc>
                      <a:txBody>
                        <a:bodyPr/>
                        <a:lstStyle/>
                        <a:p>
                          <a:pPr algn="ctr" fontAlgn="b"/>
                          <a:r>
                            <a:rPr lang="en-US" sz="1600" b="1" i="0" u="none" strike="noStrike" dirty="0">
                              <a:solidFill>
                                <a:srgbClr val="000000"/>
                              </a:solidFill>
                              <a:effectLst/>
                              <a:latin typeface="Calibri" panose="020F0502020204030204" pitchFamily="34" charset="0"/>
                            </a:rPr>
                            <a:t>8</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lgn="ctr" fontAlgn="b"/>
                          <a:r>
                            <a:rPr lang="en-US" sz="1600" b="0" i="1" u="none" strike="noStrike">
                              <a:solidFill>
                                <a:srgbClr val="000000"/>
                              </a:solidFill>
                              <a:effectLst/>
                              <a:latin typeface="Calibri" panose="020F0502020204030204" pitchFamily="34" charset="0"/>
                            </a:rPr>
                            <a:t>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a:solidFill>
                                <a:srgbClr val="000000"/>
                              </a:solidFill>
                              <a:effectLst/>
                              <a:latin typeface="Calibri" panose="020F0502020204030204" pitchFamily="34" charset="0"/>
                            </a:rPr>
                            <a:t>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a:solidFill>
                                <a:srgbClr val="000000"/>
                              </a:solidFill>
                              <a:effectLst/>
                              <a:latin typeface="Calibri" panose="020F0502020204030204" pitchFamily="34" charset="0"/>
                            </a:rPr>
                            <a:t>0.25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dirty="0">
                              <a:solidFill>
                                <a:srgbClr val="000000"/>
                              </a:solidFill>
                              <a:effectLst/>
                              <a:latin typeface="Calibri" panose="020F0502020204030204" pitchFamily="34" charset="0"/>
                            </a:rPr>
                            <a:t>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dirty="0">
                              <a:solidFill>
                                <a:srgbClr val="000000"/>
                              </a:solidFill>
                              <a:effectLst/>
                              <a:latin typeface="Calibri" panose="020F0502020204030204" pitchFamily="34" charset="0"/>
                            </a:rPr>
                            <a:t>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dirty="0">
                              <a:solidFill>
                                <a:srgbClr val="000000"/>
                              </a:solidFill>
                              <a:effectLst/>
                              <a:latin typeface="Calibri" panose="020F0502020204030204" pitchFamily="34" charset="0"/>
                            </a:rPr>
                            <a:t>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dirty="0">
                              <a:solidFill>
                                <a:srgbClr val="000000"/>
                              </a:solidFill>
                              <a:effectLst/>
                              <a:latin typeface="Calibri" panose="020F0502020204030204" pitchFamily="34" charset="0"/>
                            </a:rPr>
                            <a:t>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54402">
                    <a:tc>
                      <a:txBody>
                        <a:bodyPr/>
                        <a:lstStyle/>
                        <a:p>
                          <a:pPr algn="ctr" fontAlgn="b"/>
                          <a:r>
                            <a:rPr lang="en-US" sz="1600" b="1" i="0" u="none" strike="noStrike" dirty="0">
                              <a:solidFill>
                                <a:srgbClr val="000000"/>
                              </a:solidFill>
                              <a:effectLst/>
                              <a:latin typeface="Calibri" panose="020F0502020204030204" pitchFamily="34" charset="0"/>
                            </a:rPr>
                            <a:t>9</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lgn="ctr" fontAlgn="b"/>
                          <a:r>
                            <a:rPr lang="en-US" sz="1600" b="0" i="1" u="none" strike="noStrike">
                              <a:solidFill>
                                <a:srgbClr val="000000"/>
                              </a:solidFill>
                              <a:effectLst/>
                              <a:latin typeface="Calibri" panose="020F0502020204030204" pitchFamily="34" charset="0"/>
                            </a:rPr>
                            <a:t>0.25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a:solidFill>
                                <a:srgbClr val="000000"/>
                              </a:solidFill>
                              <a:effectLst/>
                              <a:latin typeface="Calibri" panose="020F0502020204030204" pitchFamily="34" charset="0"/>
                            </a:rPr>
                            <a:t>0.25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a:solidFill>
                                <a:srgbClr val="000000"/>
                              </a:solidFill>
                              <a:effectLst/>
                              <a:latin typeface="Calibri" panose="020F0502020204030204" pitchFamily="34" charset="0"/>
                            </a:rPr>
                            <a:t>0.5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a:solidFill>
                                <a:srgbClr val="000000"/>
                              </a:solidFill>
                              <a:effectLst/>
                              <a:latin typeface="Calibri" panose="020F0502020204030204" pitchFamily="34" charset="0"/>
                            </a:rPr>
                            <a:t>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dirty="0">
                              <a:solidFill>
                                <a:srgbClr val="000000"/>
                              </a:solidFill>
                              <a:effectLst/>
                              <a:latin typeface="Calibri" panose="020F0502020204030204" pitchFamily="34" charset="0"/>
                            </a:rPr>
                            <a:t>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dirty="0">
                              <a:solidFill>
                                <a:srgbClr val="000000"/>
                              </a:solidFill>
                              <a:effectLst/>
                              <a:latin typeface="Calibri" panose="020F0502020204030204" pitchFamily="34" charset="0"/>
                            </a:rPr>
                            <a:t>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dirty="0">
                              <a:solidFill>
                                <a:srgbClr val="000000"/>
                              </a:solidFill>
                              <a:effectLst/>
                              <a:latin typeface="Calibri" panose="020F0502020204030204" pitchFamily="34" charset="0"/>
                            </a:rPr>
                            <a:t>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54402">
                    <a:tc>
                      <a:txBody>
                        <a:bodyPr/>
                        <a:lstStyle/>
                        <a:p>
                          <a:pPr algn="ctr" fontAlgn="b"/>
                          <a:r>
                            <a:rPr lang="en-US" sz="1600" b="1" i="0" u="none" strike="noStrike" dirty="0">
                              <a:solidFill>
                                <a:srgbClr val="000000"/>
                              </a:solidFill>
                              <a:effectLst/>
                              <a:latin typeface="Calibri" panose="020F0502020204030204" pitchFamily="34" charset="0"/>
                            </a:rPr>
                            <a:t>10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lgn="ctr" fontAlgn="b"/>
                          <a:r>
                            <a:rPr lang="en-US" sz="1600" b="0" i="1" u="none" strike="noStrike">
                              <a:solidFill>
                                <a:srgbClr val="000000"/>
                              </a:solidFill>
                              <a:effectLst/>
                              <a:latin typeface="Calibri" panose="020F0502020204030204" pitchFamily="34" charset="0"/>
                            </a:rPr>
                            <a:t>0.5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a:solidFill>
                                <a:srgbClr val="000000"/>
                              </a:solidFill>
                              <a:effectLst/>
                              <a:latin typeface="Calibri" panose="020F0502020204030204" pitchFamily="34" charset="0"/>
                            </a:rPr>
                            <a:t>0.75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a:solidFill>
                                <a:srgbClr val="000000"/>
                              </a:solidFill>
                              <a:effectLst/>
                              <a:latin typeface="Calibri" panose="020F0502020204030204" pitchFamily="34" charset="0"/>
                            </a:rPr>
                            <a:t>0.25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a:solidFill>
                                <a:srgbClr val="000000"/>
                              </a:solidFill>
                              <a:effectLst/>
                              <a:latin typeface="Calibri" panose="020F0502020204030204" pitchFamily="34" charset="0"/>
                            </a:rPr>
                            <a:t>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a:solidFill>
                                <a:srgbClr val="000000"/>
                              </a:solidFill>
                              <a:effectLst/>
                              <a:latin typeface="Calibri" panose="020F0502020204030204" pitchFamily="34" charset="0"/>
                            </a:rPr>
                            <a:t>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dirty="0">
                              <a:solidFill>
                                <a:srgbClr val="000000"/>
                              </a:solidFill>
                              <a:effectLst/>
                              <a:latin typeface="Calibri" panose="020F0502020204030204" pitchFamily="34" charset="0"/>
                            </a:rPr>
                            <a:t>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dirty="0">
                              <a:solidFill>
                                <a:srgbClr val="000000"/>
                              </a:solidFill>
                              <a:effectLst/>
                              <a:latin typeface="Calibri" panose="020F0502020204030204" pitchFamily="34" charset="0"/>
                            </a:rPr>
                            <a:t>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54402">
                    <a:tc>
                      <a:txBody>
                        <a:bodyPr/>
                        <a:lstStyle/>
                        <a:p>
                          <a:pPr algn="ctr" fontAlgn="b"/>
                          <a:r>
                            <a:rPr lang="en-US" sz="1600" b="1" i="0" u="none" strike="noStrike" dirty="0">
                              <a:solidFill>
                                <a:srgbClr val="000000"/>
                              </a:solidFill>
                              <a:effectLst/>
                              <a:latin typeface="Calibri" panose="020F0502020204030204" pitchFamily="34" charset="0"/>
                            </a:rPr>
                            <a:t>11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lgn="ctr" fontAlgn="b"/>
                          <a:r>
                            <a:rPr lang="en-US" sz="1600" b="0" i="1" u="none" strike="noStrike">
                              <a:solidFill>
                                <a:srgbClr val="000000"/>
                              </a:solidFill>
                              <a:effectLst/>
                              <a:latin typeface="Calibri" panose="020F0502020204030204" pitchFamily="34" charset="0"/>
                            </a:rPr>
                            <a:t>0.75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a:solidFill>
                                <a:srgbClr val="000000"/>
                              </a:solidFill>
                              <a:effectLst/>
                              <a:latin typeface="Calibri" panose="020F0502020204030204" pitchFamily="34" charset="0"/>
                            </a:rPr>
                            <a:t>0.5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dirty="0">
                              <a:solidFill>
                                <a:srgbClr val="000000"/>
                              </a:solidFill>
                              <a:effectLst/>
                              <a:latin typeface="Calibri" panose="020F0502020204030204" pitchFamily="34" charset="0"/>
                            </a:rPr>
                            <a:t>0.75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dirty="0">
                              <a:solidFill>
                                <a:srgbClr val="000000"/>
                              </a:solidFill>
                              <a:effectLst/>
                              <a:latin typeface="Calibri" panose="020F0502020204030204" pitchFamily="34" charset="0"/>
                            </a:rPr>
                            <a:t>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a:solidFill>
                                <a:srgbClr val="000000"/>
                              </a:solidFill>
                              <a:effectLst/>
                              <a:latin typeface="Calibri" panose="020F0502020204030204" pitchFamily="34" charset="0"/>
                            </a:rPr>
                            <a:t>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dirty="0">
                              <a:solidFill>
                                <a:srgbClr val="000000"/>
                              </a:solidFill>
                              <a:effectLst/>
                              <a:latin typeface="Calibri" panose="020F0502020204030204" pitchFamily="34" charset="0"/>
                            </a:rPr>
                            <a:t>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dirty="0">
                              <a:solidFill>
                                <a:srgbClr val="000000"/>
                              </a:solidFill>
                              <a:effectLst/>
                              <a:latin typeface="Calibri" panose="020F0502020204030204" pitchFamily="34" charset="0"/>
                            </a:rPr>
                            <a:t>-1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mc:Fallback>
      </mc:AlternateContent>
      <mc:AlternateContent xmlns:mc="http://schemas.openxmlformats.org/markup-compatibility/2006" xmlns:a14="http://schemas.microsoft.com/office/drawing/2010/main">
        <mc:Choice Requires="a14">
          <p:sp>
            <p:nvSpPr>
              <p:cNvPr id="5" name="TextBox 4"/>
              <p:cNvSpPr txBox="1"/>
              <p:nvPr/>
            </p:nvSpPr>
            <p:spPr>
              <a:xfrm>
                <a:off x="946151" y="5999584"/>
                <a:ext cx="10217020" cy="1217641"/>
              </a:xfrm>
              <a:prstGeom prst="rect">
                <a:avLst/>
              </a:prstGeom>
              <a:noFill/>
            </p:spPr>
            <p:txBody>
              <a:bodyPr wrap="square" rtlCol="0">
                <a:spAutoFit/>
              </a:bodyPr>
              <a:lstStyle/>
              <a:p>
                <a:r>
                  <a:rPr lang="en-US" b="1" dirty="0"/>
                  <a:t>The table shows the internal signals and output of a MASH 1-1-1 sigma–delta modulator with an input 0.25, illustrating how the final output is formed by combining the three cascaded stages</a:t>
                </a:r>
                <a:r>
                  <a:rPr lang="en-US" dirty="0"/>
                  <a:t>. </a:t>
                </a:r>
                <a:endParaRPr lang="en-US" sz="1200" i="1" dirty="0"/>
              </a:p>
              <a:p>
                <a:pPr/>
                <a14:m>
                  <m:oMathPara xmlns:m="http://schemas.openxmlformats.org/officeDocument/2006/math">
                    <m:oMathParaPr>
                      <m:jc m:val="center"/>
                    </m:oMathParaPr>
                    <m:oMath xmlns:m="http://schemas.openxmlformats.org/officeDocument/2006/math">
                      <m:sSub>
                        <m:sSubPr>
                          <m:ctrlPr>
                            <a:rPr lang="en-US" b="1" i="1">
                              <a:latin typeface="Cambria Math" panose="02040503050406030204" pitchFamily="18" charset="0"/>
                            </a:rPr>
                          </m:ctrlPr>
                        </m:sSubPr>
                        <m:e>
                          <m:r>
                            <a:rPr lang="en-US" b="1">
                              <a:latin typeface="Cambria Math" panose="02040503050406030204" pitchFamily="18" charset="0"/>
                            </a:rPr>
                            <m:t>   </m:t>
                          </m:r>
                          <m:r>
                            <a:rPr lang="en-US" b="1">
                              <a:latin typeface="Cambria Math" panose="02040503050406030204" pitchFamily="18" charset="0"/>
                            </a:rPr>
                            <m:t>𝐘</m:t>
                          </m:r>
                        </m:e>
                        <m:sub>
                          <m:r>
                            <a:rPr lang="en-US" b="1">
                              <a:latin typeface="Cambria Math" panose="02040503050406030204" pitchFamily="18" charset="0"/>
                            </a:rPr>
                            <m:t>𝐨𝐮𝐭</m:t>
                          </m:r>
                          <m:d>
                            <m:dPr>
                              <m:ctrlPr>
                                <a:rPr lang="en-US" b="1" i="1">
                                  <a:latin typeface="Cambria Math" panose="02040503050406030204" pitchFamily="18" charset="0"/>
                                </a:rPr>
                              </m:ctrlPr>
                            </m:dPr>
                            <m:e>
                              <m:r>
                                <a:rPr lang="en-US" b="1">
                                  <a:latin typeface="Cambria Math" panose="02040503050406030204" pitchFamily="18" charset="0"/>
                                </a:rPr>
                                <m:t>𝐧</m:t>
                              </m:r>
                            </m:e>
                          </m:d>
                        </m:sub>
                      </m:sSub>
                      <m:r>
                        <a:rPr lang="en-US" b="1">
                          <a:latin typeface="Cambria Math" panose="02040503050406030204" pitchFamily="18" charset="0"/>
                        </a:rPr>
                        <m:t>= </m:t>
                      </m:r>
                      <m:sSub>
                        <m:sSubPr>
                          <m:ctrlPr>
                            <a:rPr lang="en-US" b="1" i="1">
                              <a:latin typeface="Cambria Math" panose="02040503050406030204" pitchFamily="18" charset="0"/>
                            </a:rPr>
                          </m:ctrlPr>
                        </m:sSubPr>
                        <m:e>
                          <m:r>
                            <a:rPr lang="en-US" b="1">
                              <a:latin typeface="Cambria Math" panose="02040503050406030204" pitchFamily="18" charset="0"/>
                            </a:rPr>
                            <m:t>𝐂</m:t>
                          </m:r>
                        </m:e>
                        <m:sub>
                          <m:r>
                            <a:rPr lang="en-US" b="1">
                              <a:latin typeface="Cambria Math" panose="02040503050406030204" pitchFamily="18" charset="0"/>
                            </a:rPr>
                            <m:t>𝟏</m:t>
                          </m:r>
                        </m:sub>
                      </m:sSub>
                      <m:r>
                        <a:rPr lang="en-US" b="1">
                          <a:latin typeface="Cambria Math" panose="02040503050406030204" pitchFamily="18" charset="0"/>
                        </a:rPr>
                        <m:t>(</m:t>
                      </m:r>
                      <m:r>
                        <a:rPr lang="en-US" b="1">
                          <a:latin typeface="Cambria Math" panose="02040503050406030204" pitchFamily="18" charset="0"/>
                        </a:rPr>
                        <m:t>𝐧</m:t>
                      </m:r>
                      <m:r>
                        <a:rPr lang="en-US" b="1">
                          <a:latin typeface="Cambria Math" panose="02040503050406030204" pitchFamily="18" charset="0"/>
                        </a:rPr>
                        <m:t>)+ </m:t>
                      </m:r>
                      <m:d>
                        <m:dPr>
                          <m:begChr m:val="["/>
                          <m:endChr m:val="]"/>
                          <m:ctrlPr>
                            <a:rPr lang="en-US" b="1" i="1">
                              <a:latin typeface="Cambria Math" panose="02040503050406030204" pitchFamily="18" charset="0"/>
                            </a:rPr>
                          </m:ctrlPr>
                        </m:dPr>
                        <m:e>
                          <m:sSub>
                            <m:sSubPr>
                              <m:ctrlPr>
                                <a:rPr lang="en-US" b="1" i="1">
                                  <a:latin typeface="Cambria Math" panose="02040503050406030204" pitchFamily="18" charset="0"/>
                                </a:rPr>
                              </m:ctrlPr>
                            </m:sSubPr>
                            <m:e>
                              <m:r>
                                <a:rPr lang="en-US" b="1">
                                  <a:latin typeface="Cambria Math" panose="02040503050406030204" pitchFamily="18" charset="0"/>
                                </a:rPr>
                                <m:t>𝐂</m:t>
                              </m:r>
                            </m:e>
                            <m:sub>
                              <m:r>
                                <a:rPr lang="en-US" b="1">
                                  <a:latin typeface="Cambria Math" panose="02040503050406030204" pitchFamily="18" charset="0"/>
                                </a:rPr>
                                <m:t>𝟐</m:t>
                              </m:r>
                            </m:sub>
                          </m:sSub>
                          <m:r>
                            <a:rPr lang="en-US" b="1">
                              <a:latin typeface="Cambria Math" panose="02040503050406030204" pitchFamily="18" charset="0"/>
                            </a:rPr>
                            <m:t>− </m:t>
                          </m:r>
                          <m:sSub>
                            <m:sSubPr>
                              <m:ctrlPr>
                                <a:rPr lang="en-US" b="1" i="1">
                                  <a:latin typeface="Cambria Math" panose="02040503050406030204" pitchFamily="18" charset="0"/>
                                </a:rPr>
                              </m:ctrlPr>
                            </m:sSubPr>
                            <m:e>
                              <m:r>
                                <a:rPr lang="en-US" b="1">
                                  <a:latin typeface="Cambria Math" panose="02040503050406030204" pitchFamily="18" charset="0"/>
                                </a:rPr>
                                <m:t>𝐂</m:t>
                              </m:r>
                            </m:e>
                            <m:sub>
                              <m:r>
                                <a:rPr lang="en-US" b="1">
                                  <a:latin typeface="Cambria Math" panose="02040503050406030204" pitchFamily="18" charset="0"/>
                                </a:rPr>
                                <m:t>𝟐</m:t>
                              </m:r>
                            </m:sub>
                          </m:sSub>
                          <m:r>
                            <a:rPr lang="en-US" b="1">
                              <a:latin typeface="Cambria Math" panose="02040503050406030204" pitchFamily="18" charset="0"/>
                            </a:rPr>
                            <m:t>(</m:t>
                          </m:r>
                          <m:r>
                            <a:rPr lang="en-US" b="1">
                              <a:latin typeface="Cambria Math" panose="02040503050406030204" pitchFamily="18" charset="0"/>
                            </a:rPr>
                            <m:t>𝐧</m:t>
                          </m:r>
                          <m:r>
                            <a:rPr lang="en-US" b="1">
                              <a:latin typeface="Cambria Math" panose="02040503050406030204" pitchFamily="18" charset="0"/>
                            </a:rPr>
                            <m:t>−</m:t>
                          </m:r>
                          <m:r>
                            <a:rPr lang="en-US" b="1">
                              <a:latin typeface="Cambria Math" panose="02040503050406030204" pitchFamily="18" charset="0"/>
                            </a:rPr>
                            <m:t>𝟏</m:t>
                          </m:r>
                          <m:r>
                            <a:rPr lang="en-US" b="1">
                              <a:latin typeface="Cambria Math" panose="02040503050406030204" pitchFamily="18" charset="0"/>
                            </a:rPr>
                            <m:t>)</m:t>
                          </m:r>
                        </m:e>
                      </m:d>
                      <m:r>
                        <a:rPr lang="en-US" b="1">
                          <a:latin typeface="Cambria Math" panose="02040503050406030204" pitchFamily="18" charset="0"/>
                        </a:rPr>
                        <m:t>+ </m:t>
                      </m:r>
                      <m:d>
                        <m:dPr>
                          <m:begChr m:val="["/>
                          <m:endChr m:val="]"/>
                          <m:ctrlPr>
                            <a:rPr lang="en-US" b="1" i="1">
                              <a:latin typeface="Cambria Math" panose="02040503050406030204" pitchFamily="18" charset="0"/>
                            </a:rPr>
                          </m:ctrlPr>
                        </m:dPr>
                        <m:e>
                          <m:sSub>
                            <m:sSubPr>
                              <m:ctrlPr>
                                <a:rPr lang="en-US" b="1" i="1">
                                  <a:latin typeface="Cambria Math" panose="02040503050406030204" pitchFamily="18" charset="0"/>
                                </a:rPr>
                              </m:ctrlPr>
                            </m:sSubPr>
                            <m:e>
                              <m:r>
                                <a:rPr lang="en-US" b="1">
                                  <a:latin typeface="Cambria Math" panose="02040503050406030204" pitchFamily="18" charset="0"/>
                                </a:rPr>
                                <m:t>𝐂</m:t>
                              </m:r>
                            </m:e>
                            <m:sub>
                              <m:r>
                                <a:rPr lang="en-US" b="1">
                                  <a:latin typeface="Cambria Math" panose="02040503050406030204" pitchFamily="18" charset="0"/>
                                </a:rPr>
                                <m:t>𝟑</m:t>
                              </m:r>
                            </m:sub>
                          </m:sSub>
                          <m:r>
                            <a:rPr lang="en-US" b="1">
                              <a:latin typeface="Cambria Math" panose="02040503050406030204" pitchFamily="18" charset="0"/>
                            </a:rPr>
                            <m:t>(</m:t>
                          </m:r>
                          <m:r>
                            <a:rPr lang="en-US" b="1">
                              <a:latin typeface="Cambria Math" panose="02040503050406030204" pitchFamily="18" charset="0"/>
                            </a:rPr>
                            <m:t>𝐧</m:t>
                          </m:r>
                          <m:r>
                            <a:rPr lang="en-US" b="1">
                              <a:latin typeface="Cambria Math" panose="02040503050406030204" pitchFamily="18" charset="0"/>
                            </a:rPr>
                            <m:t>)− </m:t>
                          </m:r>
                          <m:r>
                            <a:rPr lang="en-US" b="1">
                              <a:latin typeface="Cambria Math" panose="02040503050406030204" pitchFamily="18" charset="0"/>
                            </a:rPr>
                            <m:t>𝟐</m:t>
                          </m:r>
                          <m:r>
                            <a:rPr lang="en-US" b="1">
                              <a:latin typeface="Cambria Math" panose="02040503050406030204" pitchFamily="18" charset="0"/>
                            </a:rPr>
                            <m:t> </m:t>
                          </m:r>
                          <m:sSub>
                            <m:sSubPr>
                              <m:ctrlPr>
                                <a:rPr lang="en-US" b="1" i="1">
                                  <a:latin typeface="Cambria Math" panose="02040503050406030204" pitchFamily="18" charset="0"/>
                                </a:rPr>
                              </m:ctrlPr>
                            </m:sSubPr>
                            <m:e>
                              <m:r>
                                <a:rPr lang="en-US" b="1">
                                  <a:latin typeface="Cambria Math" panose="02040503050406030204" pitchFamily="18" charset="0"/>
                                </a:rPr>
                                <m:t>𝐂</m:t>
                              </m:r>
                            </m:e>
                            <m:sub>
                              <m:r>
                                <a:rPr lang="en-US" b="1">
                                  <a:latin typeface="Cambria Math" panose="02040503050406030204" pitchFamily="18" charset="0"/>
                                </a:rPr>
                                <m:t>𝟑</m:t>
                              </m:r>
                            </m:sub>
                          </m:sSub>
                          <m:r>
                            <a:rPr lang="en-US" b="1">
                              <a:latin typeface="Cambria Math" panose="02040503050406030204" pitchFamily="18" charset="0"/>
                            </a:rPr>
                            <m:t>(</m:t>
                          </m:r>
                          <m:r>
                            <a:rPr lang="en-US" b="1">
                              <a:latin typeface="Cambria Math" panose="02040503050406030204" pitchFamily="18" charset="0"/>
                            </a:rPr>
                            <m:t>𝐧</m:t>
                          </m:r>
                          <m:r>
                            <a:rPr lang="en-US" b="1">
                              <a:latin typeface="Cambria Math" panose="02040503050406030204" pitchFamily="18" charset="0"/>
                            </a:rPr>
                            <m:t>−</m:t>
                          </m:r>
                          <m:r>
                            <a:rPr lang="en-US" b="1">
                              <a:latin typeface="Cambria Math" panose="02040503050406030204" pitchFamily="18" charset="0"/>
                            </a:rPr>
                            <m:t>𝟏</m:t>
                          </m:r>
                          <m:r>
                            <a:rPr lang="en-US" b="1">
                              <a:latin typeface="Cambria Math" panose="02040503050406030204" pitchFamily="18" charset="0"/>
                            </a:rPr>
                            <m:t>)+ </m:t>
                          </m:r>
                          <m:sSub>
                            <m:sSubPr>
                              <m:ctrlPr>
                                <a:rPr lang="en-US" b="1" i="1">
                                  <a:latin typeface="Cambria Math" panose="02040503050406030204" pitchFamily="18" charset="0"/>
                                </a:rPr>
                              </m:ctrlPr>
                            </m:sSubPr>
                            <m:e>
                              <m:r>
                                <a:rPr lang="en-US" b="1">
                                  <a:latin typeface="Cambria Math" panose="02040503050406030204" pitchFamily="18" charset="0"/>
                                </a:rPr>
                                <m:t>𝐂</m:t>
                              </m:r>
                            </m:e>
                            <m:sub>
                              <m:r>
                                <a:rPr lang="en-US" b="1">
                                  <a:latin typeface="Cambria Math" panose="02040503050406030204" pitchFamily="18" charset="0"/>
                                </a:rPr>
                                <m:t>𝟑</m:t>
                              </m:r>
                            </m:sub>
                          </m:sSub>
                          <m:r>
                            <a:rPr lang="en-US" b="1">
                              <a:latin typeface="Cambria Math" panose="02040503050406030204" pitchFamily="18" charset="0"/>
                            </a:rPr>
                            <m:t>(</m:t>
                          </m:r>
                          <m:r>
                            <a:rPr lang="en-US" b="1">
                              <a:latin typeface="Cambria Math" panose="02040503050406030204" pitchFamily="18" charset="0"/>
                            </a:rPr>
                            <m:t>𝐧</m:t>
                          </m:r>
                          <m:r>
                            <a:rPr lang="en-US" b="1">
                              <a:latin typeface="Cambria Math" panose="02040503050406030204" pitchFamily="18" charset="0"/>
                            </a:rPr>
                            <m:t>−</m:t>
                          </m:r>
                          <m:r>
                            <a:rPr lang="en-US" b="1">
                              <a:latin typeface="Cambria Math" panose="02040503050406030204" pitchFamily="18" charset="0"/>
                            </a:rPr>
                            <m:t>𝟐</m:t>
                          </m:r>
                          <m:r>
                            <a:rPr lang="en-US" b="1">
                              <a:latin typeface="Cambria Math" panose="02040503050406030204" pitchFamily="18" charset="0"/>
                            </a:rPr>
                            <m:t>)</m:t>
                          </m:r>
                        </m:e>
                      </m:d>
                    </m:oMath>
                  </m:oMathPara>
                </a14:m>
                <a:endParaRPr lang="en-US" sz="1200" i="1" dirty="0"/>
              </a:p>
              <a:p>
                <a:endParaRPr lang="en-US" dirty="0"/>
              </a:p>
              <a:p>
                <a:endParaRPr lang="en-US" dirty="0"/>
              </a:p>
            </p:txBody>
          </p:sp>
        </mc:Choice>
        <mc:Fallback xmlns="">
          <p:sp>
            <p:nvSpPr>
              <p:cNvPr id="5" name="TextBox 4"/>
              <p:cNvSpPr txBox="1">
                <a:spLocks noRot="1" noChangeAspect="1" noMove="1" noResize="1" noEditPoints="1" noAdjustHandles="1" noChangeArrowheads="1" noChangeShapeType="1" noTextEdit="1"/>
              </p:cNvSpPr>
              <p:nvPr/>
            </p:nvSpPr>
            <p:spPr>
              <a:xfrm>
                <a:off x="946151" y="5999584"/>
                <a:ext cx="10217020" cy="1217641"/>
              </a:xfrm>
              <a:prstGeom prst="rect">
                <a:avLst/>
              </a:prstGeom>
              <a:blipFill rotWithShape="0">
                <a:blip r:embed="rId3"/>
                <a:stretch>
                  <a:fillRect l="-179" t="-1000"/>
                </a:stretch>
              </a:blipFill>
            </p:spPr>
            <p:txBody>
              <a:bodyPr/>
              <a:lstStyle/>
              <a:p>
                <a:r>
                  <a:rPr lang="en-US">
                    <a:noFill/>
                  </a:rPr>
                  <a:t> </a:t>
                </a:r>
              </a:p>
            </p:txBody>
          </p:sp>
        </mc:Fallback>
      </mc:AlternateContent>
    </p:spTree>
    <p:extLst>
      <p:ext uri="{BB962C8B-B14F-4D97-AF65-F5344CB8AC3E}">
        <p14:creationId xmlns:p14="http://schemas.microsoft.com/office/powerpoint/2010/main" val="2164935491"/>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0" dirty="0"/>
              <a:t>Mitigation of periodicity and IDLE tones </a:t>
            </a:r>
            <a:endParaRPr lang="en-US" dirty="0"/>
          </a:p>
        </p:txBody>
      </p:sp>
      <p:sp>
        <p:nvSpPr>
          <p:cNvPr id="3" name="Text Placeholder 2"/>
          <p:cNvSpPr>
            <a:spLocks noGrp="1"/>
          </p:cNvSpPr>
          <p:nvPr>
            <p:ph type="body" idx="1"/>
          </p:nvPr>
        </p:nvSpPr>
        <p:spPr/>
        <p:txBody>
          <a:bodyPr/>
          <a:lstStyle/>
          <a:p>
            <a:pPr>
              <a:buFont typeface="Wingdings" panose="05000000000000000000" pitchFamily="2" charset="2"/>
              <a:buChar char="q"/>
            </a:pPr>
            <a:r>
              <a:rPr lang="en-US" dirty="0">
                <a:solidFill>
                  <a:schemeClr val="tx1"/>
                </a:solidFill>
              </a:rPr>
              <a:t>Dither bits </a:t>
            </a:r>
            <a:r>
              <a:rPr lang="en-US" b="0" dirty="0">
                <a:solidFill>
                  <a:schemeClr val="tx1"/>
                </a:solidFill>
              </a:rPr>
              <a:t>are added at the accumulator input to break this periodicity and suppress spurs. Traditional LFSR-based dither raises the low-frequency noise floor and this could affect the PSD, there are different topologies to implement this which includes :</a:t>
            </a:r>
          </a:p>
          <a:p>
            <a:pPr lvl="1">
              <a:buFont typeface="Wingdings" panose="05000000000000000000" pitchFamily="2" charset="2"/>
              <a:buChar char="Ø"/>
            </a:pPr>
            <a:r>
              <a:rPr lang="en-US" dirty="0">
                <a:solidFill>
                  <a:schemeClr val="tx1"/>
                </a:solidFill>
              </a:rPr>
              <a:t>Filtered dither </a:t>
            </a:r>
            <a:r>
              <a:rPr lang="en-US" b="0" dirty="0">
                <a:solidFill>
                  <a:schemeClr val="tx1"/>
                </a:solidFill>
              </a:rPr>
              <a:t>(</a:t>
            </a:r>
            <a:r>
              <a:rPr lang="en-US" sz="1800" b="0" i="1" dirty="0">
                <a:solidFill>
                  <a:schemeClr val="tx1"/>
                </a:solidFill>
              </a:rPr>
              <a:t>first order dither</a:t>
            </a:r>
            <a:r>
              <a:rPr lang="en-US" b="0" dirty="0">
                <a:solidFill>
                  <a:schemeClr val="tx1"/>
                </a:solidFill>
              </a:rPr>
              <a:t>)</a:t>
            </a:r>
          </a:p>
          <a:p>
            <a:pPr lvl="1">
              <a:buFont typeface="Wingdings" panose="05000000000000000000" pitchFamily="2" charset="2"/>
              <a:buChar char="Ø"/>
            </a:pPr>
            <a:r>
              <a:rPr lang="en-US" dirty="0">
                <a:solidFill>
                  <a:schemeClr val="tx1"/>
                </a:solidFill>
              </a:rPr>
              <a:t>Eliminable dither  </a:t>
            </a:r>
            <a:r>
              <a:rPr lang="en-US" b="0" dirty="0">
                <a:solidFill>
                  <a:schemeClr val="tx1"/>
                </a:solidFill>
              </a:rPr>
              <a:t>(</a:t>
            </a:r>
            <a:r>
              <a:rPr lang="en-US" sz="1800" b="0" i="1" dirty="0">
                <a:solidFill>
                  <a:schemeClr val="tx1"/>
                </a:solidFill>
              </a:rPr>
              <a:t>Dither is injected in 2 points in the system to be cancelled by the noise cancellation network</a:t>
            </a:r>
            <a:r>
              <a:rPr lang="en-US" b="0" dirty="0">
                <a:solidFill>
                  <a:schemeClr val="tx1"/>
                </a:solidFill>
              </a:rPr>
              <a:t>)</a:t>
            </a:r>
          </a:p>
          <a:p>
            <a:pPr lvl="1">
              <a:buFont typeface="Wingdings" panose="05000000000000000000" pitchFamily="2" charset="2"/>
              <a:buChar char="Ø"/>
            </a:pPr>
            <a:r>
              <a:rPr lang="en-US" dirty="0">
                <a:solidFill>
                  <a:schemeClr val="tx1"/>
                </a:solidFill>
              </a:rPr>
              <a:t>XOR based dither </a:t>
            </a:r>
            <a:r>
              <a:rPr lang="en-US" b="0" dirty="0">
                <a:solidFill>
                  <a:schemeClr val="tx1"/>
                </a:solidFill>
              </a:rPr>
              <a:t>( </a:t>
            </a:r>
            <a:r>
              <a:rPr lang="en-US" sz="1800" b="0" i="1" dirty="0">
                <a:solidFill>
                  <a:schemeClr val="tx1"/>
                </a:solidFill>
              </a:rPr>
              <a:t>XOR dither at the input of the second accumulator and feeding forward the  first accumulator output to the third accumulator input</a:t>
            </a:r>
            <a:r>
              <a:rPr lang="en-US" b="0" dirty="0">
                <a:solidFill>
                  <a:schemeClr val="tx1"/>
                </a:solidFill>
              </a:rPr>
              <a:t>)</a:t>
            </a:r>
          </a:p>
          <a:p>
            <a:pPr>
              <a:buFont typeface="Wingdings" panose="05000000000000000000" pitchFamily="2" charset="2"/>
              <a:buChar char="q"/>
            </a:pPr>
            <a:r>
              <a:rPr lang="en-US" dirty="0">
                <a:solidFill>
                  <a:schemeClr val="tx1"/>
                </a:solidFill>
              </a:rPr>
              <a:t>Modified sigma delta (HK-MASH) </a:t>
            </a:r>
            <a:r>
              <a:rPr lang="en-US" b="0" dirty="0">
                <a:solidFill>
                  <a:schemeClr val="tx1"/>
                </a:solidFill>
              </a:rPr>
              <a:t>which contains an additional feed back path scaled by the coefficient α is introduced to guarantee maximum sequence-length operation for all constant inputs. This may have some drawbacks that is introducing poles and overestimating the fractional part.</a:t>
            </a:r>
          </a:p>
          <a:p>
            <a:endParaRPr lang="en-US" dirty="0"/>
          </a:p>
        </p:txBody>
      </p:sp>
    </p:spTree>
    <p:extLst>
      <p:ext uri="{BB962C8B-B14F-4D97-AF65-F5344CB8AC3E}">
        <p14:creationId xmlns:p14="http://schemas.microsoft.com/office/powerpoint/2010/main" val="879672146"/>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rPr>
              <a:t>Proposed Sigma Delta Architecture</a:t>
            </a:r>
            <a:endParaRPr lang="en-US" dirty="0"/>
          </a:p>
        </p:txBody>
      </p:sp>
      <p:pic>
        <p:nvPicPr>
          <p:cNvPr id="4" name="Picture 3"/>
          <p:cNvPicPr>
            <a:picLocks noChangeAspect="1"/>
          </p:cNvPicPr>
          <p:nvPr/>
        </p:nvPicPr>
        <p:blipFill>
          <a:blip r:embed="rId2"/>
          <a:stretch>
            <a:fillRect/>
          </a:stretch>
        </p:blipFill>
        <p:spPr>
          <a:xfrm>
            <a:off x="385065" y="1308963"/>
            <a:ext cx="5710936" cy="3704183"/>
          </a:xfrm>
          <a:prstGeom prst="rect">
            <a:avLst/>
          </a:prstGeom>
        </p:spPr>
      </p:pic>
      <p:pic>
        <p:nvPicPr>
          <p:cNvPr id="5" name="Picture 4"/>
          <p:cNvPicPr>
            <a:picLocks noChangeAspect="1"/>
          </p:cNvPicPr>
          <p:nvPr/>
        </p:nvPicPr>
        <p:blipFill>
          <a:blip r:embed="rId3"/>
          <a:stretch>
            <a:fillRect/>
          </a:stretch>
        </p:blipFill>
        <p:spPr>
          <a:xfrm>
            <a:off x="6724203" y="1444274"/>
            <a:ext cx="5147094" cy="3568872"/>
          </a:xfrm>
          <a:prstGeom prst="rect">
            <a:avLst/>
          </a:prstGeom>
        </p:spPr>
      </p:pic>
      <p:sp>
        <p:nvSpPr>
          <p:cNvPr id="6" name="TextBox 5"/>
          <p:cNvSpPr txBox="1"/>
          <p:nvPr/>
        </p:nvSpPr>
        <p:spPr>
          <a:xfrm>
            <a:off x="724618" y="4965779"/>
            <a:ext cx="5158596" cy="307777"/>
          </a:xfrm>
          <a:prstGeom prst="rect">
            <a:avLst/>
          </a:prstGeom>
          <a:noFill/>
        </p:spPr>
        <p:txBody>
          <a:bodyPr wrap="square" rtlCol="0">
            <a:spAutoFit/>
          </a:bodyPr>
          <a:lstStyle/>
          <a:p>
            <a:r>
              <a:rPr lang="en-US" dirty="0" smtClean="0"/>
              <a:t>Modified dither MASH Digital implementation</a:t>
            </a:r>
            <a:endParaRPr lang="en-US" dirty="0"/>
          </a:p>
        </p:txBody>
      </p:sp>
      <p:sp>
        <p:nvSpPr>
          <p:cNvPr id="7" name="TextBox 6"/>
          <p:cNvSpPr txBox="1"/>
          <p:nvPr/>
        </p:nvSpPr>
        <p:spPr>
          <a:xfrm>
            <a:off x="6900957" y="5013146"/>
            <a:ext cx="5158596" cy="307777"/>
          </a:xfrm>
          <a:prstGeom prst="rect">
            <a:avLst/>
          </a:prstGeom>
          <a:noFill/>
        </p:spPr>
        <p:txBody>
          <a:bodyPr wrap="square" rtlCol="0">
            <a:spAutoFit/>
          </a:bodyPr>
          <a:lstStyle/>
          <a:p>
            <a:r>
              <a:rPr lang="en-US" dirty="0" smtClean="0"/>
              <a:t>Modified dither MASH Linear model</a:t>
            </a:r>
          </a:p>
        </p:txBody>
      </p:sp>
      <mc:AlternateContent xmlns:mc="http://schemas.openxmlformats.org/markup-compatibility/2006" xmlns:a14="http://schemas.microsoft.com/office/drawing/2010/main">
        <mc:Choice Requires="a14">
          <p:sp>
            <p:nvSpPr>
              <p:cNvPr id="8" name="TextBox 7"/>
              <p:cNvSpPr txBox="1"/>
              <p:nvPr/>
            </p:nvSpPr>
            <p:spPr>
              <a:xfrm>
                <a:off x="741872" y="5460521"/>
                <a:ext cx="10515600" cy="7918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pl-PL" b="1" i="1" smtClean="0">
                          <a:latin typeface="Cambria Math" panose="02040503050406030204" pitchFamily="18" charset="0"/>
                        </a:rPr>
                        <m:t>𝒀</m:t>
                      </m:r>
                      <m:d>
                        <m:dPr>
                          <m:ctrlPr>
                            <a:rPr lang="pl-PL" b="1" i="1">
                              <a:latin typeface="Cambria Math" panose="02040503050406030204" pitchFamily="18" charset="0"/>
                            </a:rPr>
                          </m:ctrlPr>
                        </m:dPr>
                        <m:e>
                          <m:r>
                            <a:rPr lang="pl-PL" b="1" i="1">
                              <a:latin typeface="Cambria Math" panose="02040503050406030204" pitchFamily="18" charset="0"/>
                            </a:rPr>
                            <m:t>𝒛</m:t>
                          </m:r>
                        </m:e>
                      </m:d>
                      <m:r>
                        <a:rPr lang="pl-PL" b="1" i="1">
                          <a:latin typeface="Cambria Math" panose="02040503050406030204" pitchFamily="18" charset="0"/>
                        </a:rPr>
                        <m:t>= </m:t>
                      </m:r>
                      <m:d>
                        <m:dPr>
                          <m:ctrlPr>
                            <a:rPr lang="pl-PL" b="1" i="1">
                              <a:latin typeface="Cambria Math" panose="02040503050406030204" pitchFamily="18" charset="0"/>
                            </a:rPr>
                          </m:ctrlPr>
                        </m:dPr>
                        <m:e>
                          <m:f>
                            <m:fPr>
                              <m:ctrlPr>
                                <a:rPr lang="pl-PL" b="1" i="1">
                                  <a:latin typeface="Cambria Math" panose="02040503050406030204" pitchFamily="18" charset="0"/>
                                </a:rPr>
                              </m:ctrlPr>
                            </m:fPr>
                            <m:num>
                              <m:r>
                                <a:rPr lang="pl-PL" b="1" i="1">
                                  <a:latin typeface="Cambria Math" panose="02040503050406030204" pitchFamily="18" charset="0"/>
                                </a:rPr>
                                <m:t>𝟏</m:t>
                              </m:r>
                            </m:num>
                            <m:den>
                              <m:r>
                                <a:rPr lang="pl-PL" b="1" i="1">
                                  <a:latin typeface="Cambria Math" panose="02040503050406030204" pitchFamily="18" charset="0"/>
                                </a:rPr>
                                <m:t>𝑴</m:t>
                              </m:r>
                            </m:den>
                          </m:f>
                        </m:e>
                      </m:d>
                      <m:r>
                        <a:rPr lang="pl-PL" b="1" i="1">
                          <a:latin typeface="Cambria Math" panose="02040503050406030204" pitchFamily="18" charset="0"/>
                        </a:rPr>
                        <m:t>𝑿</m:t>
                      </m:r>
                      <m:d>
                        <m:dPr>
                          <m:ctrlPr>
                            <a:rPr lang="pl-PL" b="1" i="1">
                              <a:latin typeface="Cambria Math" panose="02040503050406030204" pitchFamily="18" charset="0"/>
                            </a:rPr>
                          </m:ctrlPr>
                        </m:dPr>
                        <m:e>
                          <m:r>
                            <a:rPr lang="pl-PL" b="1" i="1">
                              <a:latin typeface="Cambria Math" panose="02040503050406030204" pitchFamily="18" charset="0"/>
                            </a:rPr>
                            <m:t>𝒛</m:t>
                          </m:r>
                        </m:e>
                      </m:d>
                      <m:d>
                        <m:dPr>
                          <m:begChr m:val="["/>
                          <m:endChr m:val="]"/>
                          <m:ctrlPr>
                            <a:rPr lang="pl-PL" b="1" i="1">
                              <a:latin typeface="Cambria Math" panose="02040503050406030204" pitchFamily="18" charset="0"/>
                            </a:rPr>
                          </m:ctrlPr>
                        </m:dPr>
                        <m:e>
                          <m:r>
                            <a:rPr lang="pl-PL" b="1" i="1">
                              <a:latin typeface="Cambria Math" panose="02040503050406030204" pitchFamily="18" charset="0"/>
                            </a:rPr>
                            <m:t>𝟏</m:t>
                          </m:r>
                          <m:r>
                            <a:rPr lang="pl-PL" b="1" i="1">
                              <a:latin typeface="Cambria Math" panose="02040503050406030204" pitchFamily="18" charset="0"/>
                            </a:rPr>
                            <m:t> + </m:t>
                          </m:r>
                          <m:d>
                            <m:dPr>
                              <m:ctrlPr>
                                <a:rPr lang="pl-PL" b="1" i="1">
                                  <a:latin typeface="Cambria Math" panose="02040503050406030204" pitchFamily="18" charset="0"/>
                                </a:rPr>
                              </m:ctrlPr>
                            </m:dPr>
                            <m:e>
                              <m:f>
                                <m:fPr>
                                  <m:ctrlPr>
                                    <a:rPr lang="pl-PL" b="1" i="1">
                                      <a:latin typeface="Cambria Math" panose="02040503050406030204" pitchFamily="18" charset="0"/>
                                    </a:rPr>
                                  </m:ctrlPr>
                                </m:fPr>
                                <m:num>
                                  <m:r>
                                    <a:rPr lang="pl-PL" b="1" i="1">
                                      <a:latin typeface="Cambria Math" panose="02040503050406030204" pitchFamily="18" charset="0"/>
                                    </a:rPr>
                                    <m:t>𝟏</m:t>
                                  </m:r>
                                </m:num>
                                <m:den>
                                  <m:r>
                                    <a:rPr lang="pl-PL" b="1" i="1">
                                      <a:latin typeface="Cambria Math" panose="02040503050406030204" pitchFamily="18" charset="0"/>
                                    </a:rPr>
                                    <m:t>𝑴</m:t>
                                  </m:r>
                                </m:den>
                              </m:f>
                            </m:e>
                          </m:d>
                          <m:sSup>
                            <m:sSupPr>
                              <m:ctrlPr>
                                <a:rPr lang="pl-PL" b="1" i="1">
                                  <a:latin typeface="Cambria Math" panose="02040503050406030204" pitchFamily="18" charset="0"/>
                                </a:rPr>
                              </m:ctrlPr>
                            </m:sSupPr>
                            <m:e>
                              <m:d>
                                <m:dPr>
                                  <m:ctrlPr>
                                    <a:rPr lang="pl-PL" b="1" i="1">
                                      <a:latin typeface="Cambria Math" panose="02040503050406030204" pitchFamily="18" charset="0"/>
                                    </a:rPr>
                                  </m:ctrlPr>
                                </m:dPr>
                                <m:e>
                                  <m:r>
                                    <a:rPr lang="pl-PL" b="1" i="1">
                                      <a:latin typeface="Cambria Math" panose="02040503050406030204" pitchFamily="18" charset="0"/>
                                    </a:rPr>
                                    <m:t>𝟏</m:t>
                                  </m:r>
                                  <m:r>
                                    <a:rPr lang="pl-PL" b="1" i="1">
                                      <a:latin typeface="Cambria Math" panose="02040503050406030204" pitchFamily="18" charset="0"/>
                                    </a:rPr>
                                    <m:t> − </m:t>
                                  </m:r>
                                  <m:sSup>
                                    <m:sSupPr>
                                      <m:ctrlPr>
                                        <a:rPr lang="pl-PL" b="1" i="1">
                                          <a:latin typeface="Cambria Math" panose="02040503050406030204" pitchFamily="18" charset="0"/>
                                        </a:rPr>
                                      </m:ctrlPr>
                                    </m:sSupPr>
                                    <m:e>
                                      <m:r>
                                        <a:rPr lang="pl-PL" b="1" i="1">
                                          <a:latin typeface="Cambria Math" panose="02040503050406030204" pitchFamily="18" charset="0"/>
                                        </a:rPr>
                                        <m:t>𝒛</m:t>
                                      </m:r>
                                    </m:e>
                                    <m:sup>
                                      <m:r>
                                        <a:rPr lang="pl-PL" b="1" i="1">
                                          <a:latin typeface="Cambria Math" panose="02040503050406030204" pitchFamily="18" charset="0"/>
                                        </a:rPr>
                                        <m:t>−</m:t>
                                      </m:r>
                                      <m:r>
                                        <a:rPr lang="pl-PL" b="1" i="1">
                                          <a:latin typeface="Cambria Math" panose="02040503050406030204" pitchFamily="18" charset="0"/>
                                        </a:rPr>
                                        <m:t>𝟏</m:t>
                                      </m:r>
                                    </m:sup>
                                  </m:sSup>
                                </m:e>
                              </m:d>
                            </m:e>
                            <m:sup>
                              <m:r>
                                <a:rPr lang="pl-PL" b="1" i="1">
                                  <a:latin typeface="Cambria Math" panose="02040503050406030204" pitchFamily="18" charset="0"/>
                                </a:rPr>
                                <m:t>𝟐</m:t>
                              </m:r>
                            </m:sup>
                          </m:sSup>
                        </m:e>
                      </m:d>
                      <m:r>
                        <a:rPr lang="pl-PL" b="1" i="1">
                          <a:latin typeface="Cambria Math" panose="02040503050406030204" pitchFamily="18" charset="0"/>
                        </a:rPr>
                        <m:t>+ </m:t>
                      </m:r>
                      <m:sSup>
                        <m:sSupPr>
                          <m:ctrlPr>
                            <a:rPr lang="pl-PL" b="1" i="1">
                              <a:latin typeface="Cambria Math" panose="02040503050406030204" pitchFamily="18" charset="0"/>
                            </a:rPr>
                          </m:ctrlPr>
                        </m:sSupPr>
                        <m:e>
                          <m:d>
                            <m:dPr>
                              <m:ctrlPr>
                                <a:rPr lang="pl-PL" b="1" i="1">
                                  <a:latin typeface="Cambria Math" panose="02040503050406030204" pitchFamily="18" charset="0"/>
                                </a:rPr>
                              </m:ctrlPr>
                            </m:dPr>
                            <m:e>
                              <m:r>
                                <a:rPr lang="pl-PL" b="1" i="1">
                                  <a:latin typeface="Cambria Math" panose="02040503050406030204" pitchFamily="18" charset="0"/>
                                </a:rPr>
                                <m:t>𝟏</m:t>
                              </m:r>
                              <m:r>
                                <a:rPr lang="pl-PL" b="1" i="1">
                                  <a:latin typeface="Cambria Math" panose="02040503050406030204" pitchFamily="18" charset="0"/>
                                </a:rPr>
                                <m:t> − </m:t>
                              </m:r>
                              <m:sSup>
                                <m:sSupPr>
                                  <m:ctrlPr>
                                    <a:rPr lang="pl-PL" b="1" i="1">
                                      <a:latin typeface="Cambria Math" panose="02040503050406030204" pitchFamily="18" charset="0"/>
                                    </a:rPr>
                                  </m:ctrlPr>
                                </m:sSupPr>
                                <m:e>
                                  <m:r>
                                    <a:rPr lang="pl-PL" b="1" i="1">
                                      <a:latin typeface="Cambria Math" panose="02040503050406030204" pitchFamily="18" charset="0"/>
                                    </a:rPr>
                                    <m:t>𝒛</m:t>
                                  </m:r>
                                </m:e>
                                <m:sup>
                                  <m:r>
                                    <a:rPr lang="pl-PL" b="1" i="1">
                                      <a:latin typeface="Cambria Math" panose="02040503050406030204" pitchFamily="18" charset="0"/>
                                    </a:rPr>
                                    <m:t>−</m:t>
                                  </m:r>
                                  <m:r>
                                    <a:rPr lang="pl-PL" b="1" i="1">
                                      <a:latin typeface="Cambria Math" panose="02040503050406030204" pitchFamily="18" charset="0"/>
                                    </a:rPr>
                                    <m:t>𝟏</m:t>
                                  </m:r>
                                </m:sup>
                              </m:sSup>
                            </m:e>
                          </m:d>
                        </m:e>
                        <m:sup>
                          <m:r>
                            <a:rPr lang="pl-PL" b="1" i="1">
                              <a:latin typeface="Cambria Math" panose="02040503050406030204" pitchFamily="18" charset="0"/>
                            </a:rPr>
                            <m:t>𝟑</m:t>
                          </m:r>
                        </m:sup>
                      </m:sSup>
                      <m:sSub>
                        <m:sSubPr>
                          <m:ctrlPr>
                            <a:rPr lang="pl-PL" b="1" i="1">
                              <a:latin typeface="Cambria Math" panose="02040503050406030204" pitchFamily="18" charset="0"/>
                            </a:rPr>
                          </m:ctrlPr>
                        </m:sSubPr>
                        <m:e>
                          <m:r>
                            <a:rPr lang="pl-PL" b="1" i="1">
                              <a:latin typeface="Cambria Math" panose="02040503050406030204" pitchFamily="18" charset="0"/>
                            </a:rPr>
                            <m:t>𝑬</m:t>
                          </m:r>
                        </m:e>
                        <m:sub>
                          <m:r>
                            <a:rPr lang="pl-PL" b="1" i="1">
                              <a:latin typeface="Cambria Math" panose="02040503050406030204" pitchFamily="18" charset="0"/>
                            </a:rPr>
                            <m:t>𝒒</m:t>
                          </m:r>
                          <m:r>
                            <a:rPr lang="pl-PL" b="1" i="1">
                              <a:latin typeface="Cambria Math" panose="02040503050406030204" pitchFamily="18" charset="0"/>
                            </a:rPr>
                            <m:t>𝟎</m:t>
                          </m:r>
                          <m:d>
                            <m:dPr>
                              <m:ctrlPr>
                                <a:rPr lang="pl-PL" b="1" i="1">
                                  <a:latin typeface="Cambria Math" panose="02040503050406030204" pitchFamily="18" charset="0"/>
                                </a:rPr>
                              </m:ctrlPr>
                            </m:dPr>
                            <m:e>
                              <m:r>
                                <a:rPr lang="pl-PL" b="1" i="1">
                                  <a:latin typeface="Cambria Math" panose="02040503050406030204" pitchFamily="18" charset="0"/>
                                </a:rPr>
                                <m:t>𝒛</m:t>
                              </m:r>
                            </m:e>
                          </m:d>
                        </m:sub>
                      </m:sSub>
                      <m:r>
                        <a:rPr lang="pl-PL" b="1" i="1">
                          <a:latin typeface="Cambria Math" panose="02040503050406030204" pitchFamily="18" charset="0"/>
                        </a:rPr>
                        <m:t>+ </m:t>
                      </m:r>
                      <m:d>
                        <m:dPr>
                          <m:ctrlPr>
                            <a:rPr lang="pl-PL" b="1" i="1">
                              <a:latin typeface="Cambria Math" panose="02040503050406030204" pitchFamily="18" charset="0"/>
                            </a:rPr>
                          </m:ctrlPr>
                        </m:dPr>
                        <m:e>
                          <m:f>
                            <m:fPr>
                              <m:ctrlPr>
                                <a:rPr lang="pl-PL" b="1" i="1">
                                  <a:latin typeface="Cambria Math" panose="02040503050406030204" pitchFamily="18" charset="0"/>
                                </a:rPr>
                              </m:ctrlPr>
                            </m:fPr>
                            <m:num>
                              <m:r>
                                <a:rPr lang="pl-PL" b="1" i="1">
                                  <a:latin typeface="Cambria Math" panose="02040503050406030204" pitchFamily="18" charset="0"/>
                                </a:rPr>
                                <m:t>𝟏</m:t>
                              </m:r>
                            </m:num>
                            <m:den>
                              <m:r>
                                <a:rPr lang="pl-PL" b="1" i="1">
                                  <a:latin typeface="Cambria Math" panose="02040503050406030204" pitchFamily="18" charset="0"/>
                                </a:rPr>
                                <m:t>𝑴</m:t>
                              </m:r>
                            </m:den>
                          </m:f>
                        </m:e>
                      </m:d>
                      <m:d>
                        <m:dPr>
                          <m:ctrlPr>
                            <a:rPr lang="pl-PL" b="1" i="1">
                              <a:latin typeface="Cambria Math" panose="02040503050406030204" pitchFamily="18" charset="0"/>
                            </a:rPr>
                          </m:ctrlPr>
                        </m:dPr>
                        <m:e>
                          <m:r>
                            <a:rPr lang="pl-PL" b="1" i="1">
                              <a:latin typeface="Cambria Math" panose="02040503050406030204" pitchFamily="18" charset="0"/>
                            </a:rPr>
                            <m:t>𝟏</m:t>
                          </m:r>
                          <m:r>
                            <a:rPr lang="pl-PL" b="1" i="1">
                              <a:latin typeface="Cambria Math" panose="02040503050406030204" pitchFamily="18" charset="0"/>
                            </a:rPr>
                            <m:t> − </m:t>
                          </m:r>
                          <m:sSup>
                            <m:sSupPr>
                              <m:ctrlPr>
                                <a:rPr lang="pl-PL" b="1" i="1">
                                  <a:latin typeface="Cambria Math" panose="02040503050406030204" pitchFamily="18" charset="0"/>
                                </a:rPr>
                              </m:ctrlPr>
                            </m:sSupPr>
                            <m:e>
                              <m:r>
                                <a:rPr lang="pl-PL" b="1" i="1">
                                  <a:latin typeface="Cambria Math" panose="02040503050406030204" pitchFamily="18" charset="0"/>
                                </a:rPr>
                                <m:t>𝒛</m:t>
                              </m:r>
                            </m:e>
                            <m:sup>
                              <m:r>
                                <a:rPr lang="pl-PL" b="1" i="1">
                                  <a:latin typeface="Cambria Math" panose="02040503050406030204" pitchFamily="18" charset="0"/>
                                </a:rPr>
                                <m:t>−</m:t>
                              </m:r>
                              <m:r>
                                <a:rPr lang="pl-PL" b="1" i="1">
                                  <a:latin typeface="Cambria Math" panose="02040503050406030204" pitchFamily="18" charset="0"/>
                                </a:rPr>
                                <m:t>𝟏</m:t>
                              </m:r>
                            </m:sup>
                          </m:sSup>
                        </m:e>
                      </m:d>
                      <m:r>
                        <a:rPr lang="pl-PL" b="1" i="1">
                          <a:latin typeface="Cambria Math" panose="02040503050406030204" pitchFamily="18" charset="0"/>
                        </a:rPr>
                        <m:t>𝑫</m:t>
                      </m:r>
                      <m:d>
                        <m:dPr>
                          <m:ctrlPr>
                            <a:rPr lang="pl-PL" b="1" i="1">
                              <a:latin typeface="Cambria Math" panose="02040503050406030204" pitchFamily="18" charset="0"/>
                            </a:rPr>
                          </m:ctrlPr>
                        </m:dPr>
                        <m:e>
                          <m:r>
                            <a:rPr lang="pl-PL" b="1" i="1">
                              <a:latin typeface="Cambria Math" panose="02040503050406030204" pitchFamily="18" charset="0"/>
                            </a:rPr>
                            <m:t>𝒛</m:t>
                          </m:r>
                        </m:e>
                      </m:d>
                      <m:r>
                        <a:rPr lang="pl-PL" b="1" i="1">
                          <a:latin typeface="Cambria Math" panose="02040503050406030204" pitchFamily="18" charset="0"/>
                        </a:rPr>
                        <m:t>+ </m:t>
                      </m:r>
                      <m:sSup>
                        <m:sSupPr>
                          <m:ctrlPr>
                            <a:rPr lang="pl-PL" b="1" i="1">
                              <a:latin typeface="Cambria Math" panose="02040503050406030204" pitchFamily="18" charset="0"/>
                            </a:rPr>
                          </m:ctrlPr>
                        </m:sSupPr>
                        <m:e>
                          <m:d>
                            <m:dPr>
                              <m:ctrlPr>
                                <a:rPr lang="pl-PL" b="1" i="1">
                                  <a:latin typeface="Cambria Math" panose="02040503050406030204" pitchFamily="18" charset="0"/>
                                </a:rPr>
                              </m:ctrlPr>
                            </m:dPr>
                            <m:e>
                              <m:r>
                                <a:rPr lang="pl-PL" b="1" i="1">
                                  <a:latin typeface="Cambria Math" panose="02040503050406030204" pitchFamily="18" charset="0"/>
                                </a:rPr>
                                <m:t>𝟏</m:t>
                              </m:r>
                              <m:r>
                                <a:rPr lang="pl-PL" b="1" i="1">
                                  <a:latin typeface="Cambria Math" panose="02040503050406030204" pitchFamily="18" charset="0"/>
                                </a:rPr>
                                <m:t> − </m:t>
                              </m:r>
                              <m:sSup>
                                <m:sSupPr>
                                  <m:ctrlPr>
                                    <a:rPr lang="pl-PL" b="1" i="1">
                                      <a:latin typeface="Cambria Math" panose="02040503050406030204" pitchFamily="18" charset="0"/>
                                    </a:rPr>
                                  </m:ctrlPr>
                                </m:sSupPr>
                                <m:e>
                                  <m:r>
                                    <a:rPr lang="pl-PL" b="1" i="1">
                                      <a:latin typeface="Cambria Math" panose="02040503050406030204" pitchFamily="18" charset="0"/>
                                    </a:rPr>
                                    <m:t>𝒛</m:t>
                                  </m:r>
                                </m:e>
                                <m:sup>
                                  <m:r>
                                    <a:rPr lang="pl-PL" b="1" i="1">
                                      <a:latin typeface="Cambria Math" panose="02040503050406030204" pitchFamily="18" charset="0"/>
                                    </a:rPr>
                                    <m:t>−</m:t>
                                  </m:r>
                                  <m:r>
                                    <a:rPr lang="pl-PL" b="1" i="1">
                                      <a:latin typeface="Cambria Math" panose="02040503050406030204" pitchFamily="18" charset="0"/>
                                    </a:rPr>
                                    <m:t>𝟏</m:t>
                                  </m:r>
                                </m:sup>
                              </m:sSup>
                            </m:e>
                          </m:d>
                        </m:e>
                        <m:sup>
                          <m:r>
                            <a:rPr lang="pl-PL" b="1" i="1">
                              <a:latin typeface="Cambria Math" panose="02040503050406030204" pitchFamily="18" charset="0"/>
                            </a:rPr>
                            <m:t>𝟑</m:t>
                          </m:r>
                        </m:sup>
                      </m:sSup>
                      <m:sSub>
                        <m:sSubPr>
                          <m:ctrlPr>
                            <a:rPr lang="pl-PL" b="1" i="1">
                              <a:latin typeface="Cambria Math" panose="02040503050406030204" pitchFamily="18" charset="0"/>
                            </a:rPr>
                          </m:ctrlPr>
                        </m:sSubPr>
                        <m:e>
                          <m:r>
                            <a:rPr lang="pl-PL" b="1" i="1">
                              <a:latin typeface="Cambria Math" panose="02040503050406030204" pitchFamily="18" charset="0"/>
                            </a:rPr>
                            <m:t>𝑬</m:t>
                          </m:r>
                        </m:e>
                        <m:sub>
                          <m:r>
                            <a:rPr lang="pl-PL" b="1" i="1">
                              <a:latin typeface="Cambria Math" panose="02040503050406030204" pitchFamily="18" charset="0"/>
                            </a:rPr>
                            <m:t>𝒒</m:t>
                          </m:r>
                          <m:r>
                            <a:rPr lang="pl-PL" b="1" i="1">
                              <a:latin typeface="Cambria Math" panose="02040503050406030204" pitchFamily="18" charset="0"/>
                            </a:rPr>
                            <m:t>𝟐</m:t>
                          </m:r>
                          <m:d>
                            <m:dPr>
                              <m:ctrlPr>
                                <a:rPr lang="pl-PL" b="1" i="1">
                                  <a:latin typeface="Cambria Math" panose="02040503050406030204" pitchFamily="18" charset="0"/>
                                </a:rPr>
                              </m:ctrlPr>
                            </m:dPr>
                            <m:e>
                              <m:r>
                                <a:rPr lang="pl-PL" b="1" i="1">
                                  <a:latin typeface="Cambria Math" panose="02040503050406030204" pitchFamily="18" charset="0"/>
                                </a:rPr>
                                <m:t>𝒛</m:t>
                              </m:r>
                            </m:e>
                          </m:d>
                        </m:sub>
                      </m:sSub>
                    </m:oMath>
                  </m:oMathPara>
                </a14:m>
                <a:endParaRPr dirty="0"/>
              </a:p>
              <a:p>
                <a:endParaRPr lang="en-US" b="1" dirty="0"/>
              </a:p>
            </p:txBody>
          </p:sp>
        </mc:Choice>
        <mc:Fallback xmlns="">
          <p:sp>
            <p:nvSpPr>
              <p:cNvPr id="3" name="TextBox 2"/>
              <p:cNvSpPr txBox="1">
                <a:spLocks noRot="1" noChangeAspect="1" noMove="1" noResize="1" noEditPoints="1" noAdjustHandles="1" noChangeArrowheads="1" noChangeShapeType="1" noTextEdit="1"/>
              </p:cNvSpPr>
              <p:nvPr/>
            </p:nvSpPr>
            <p:spPr>
              <a:xfrm>
                <a:off x="741872" y="5460521"/>
                <a:ext cx="10515600" cy="791820"/>
              </a:xfrm>
              <a:prstGeom prst="rect">
                <a:avLst/>
              </a:prstGeom>
              <a:blipFill rotWithShape="0">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709459497"/>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Simulation Results </a:t>
            </a:r>
            <a:endParaRPr lang="en-US"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stretch>
            <a:fillRect/>
          </a:stretch>
        </p:blipFill>
        <p:spPr>
          <a:xfrm>
            <a:off x="253863" y="1308963"/>
            <a:ext cx="5776824" cy="3100304"/>
          </a:xfrm>
          <a:prstGeom prst="rect">
            <a:avLst/>
          </a:prstGeom>
        </p:spPr>
      </p:pic>
      <mc:AlternateContent xmlns:mc="http://schemas.openxmlformats.org/markup-compatibility/2006" xmlns:a14="http://schemas.microsoft.com/office/drawing/2010/main">
        <mc:Choice Requires="a14">
          <p:sp>
            <p:nvSpPr>
              <p:cNvPr id="6" name="Rectangle 5"/>
              <p:cNvSpPr/>
              <p:nvPr/>
            </p:nvSpPr>
            <p:spPr>
              <a:xfrm>
                <a:off x="253863" y="4598438"/>
                <a:ext cx="5680406" cy="1083182"/>
              </a:xfrm>
              <a:prstGeom prst="rect">
                <a:avLst/>
              </a:prstGeom>
            </p:spPr>
            <p:txBody>
              <a:bodyPr wrap="square">
                <a:spAutoFit/>
              </a:bodyPr>
              <a:lstStyle/>
              <a:p>
                <a:pPr marL="285750" indent="-285750">
                  <a:buFont typeface="Wingdings" panose="05000000000000000000" pitchFamily="2" charset="2"/>
                  <a:buChar char="q"/>
                </a:pPr>
                <a:r>
                  <a:rPr lang="en-US" dirty="0"/>
                  <a:t>Power spectral density (PSD) of the MASH 1-1-1 output for an irrational input value </a:t>
                </a:r>
                <a14:m>
                  <m:oMath xmlns:m="http://schemas.openxmlformats.org/officeDocument/2006/math">
                    <m:f>
                      <m:fPr>
                        <m:ctrlPr>
                          <a:rPr lang="en-US" i="1">
                            <a:latin typeface="Cambria Math" panose="02040503050406030204" pitchFamily="18" charset="0"/>
                          </a:rPr>
                        </m:ctrlPr>
                      </m:fPr>
                      <m:num>
                        <m:rad>
                          <m:radPr>
                            <m:degHide m:val="on"/>
                            <m:ctrlPr>
                              <a:rPr lang="en-US" i="1">
                                <a:latin typeface="Cambria Math" panose="02040503050406030204" pitchFamily="18" charset="0"/>
                              </a:rPr>
                            </m:ctrlPr>
                          </m:radPr>
                          <m:deg/>
                          <m:e>
                            <m:r>
                              <a:rPr lang="en-US" i="1">
                                <a:latin typeface="Cambria Math" panose="02040503050406030204" pitchFamily="18" charset="0"/>
                              </a:rPr>
                              <m:t>2</m:t>
                            </m:r>
                          </m:e>
                        </m:rad>
                      </m:num>
                      <m:den>
                        <m:r>
                          <a:rPr lang="en-US" i="1">
                            <a:latin typeface="Cambria Math" panose="02040503050406030204" pitchFamily="18" charset="0"/>
                          </a:rPr>
                          <m:t>10</m:t>
                        </m:r>
                      </m:den>
                    </m:f>
                  </m:oMath>
                </a14:m>
                <a:r>
                  <a:rPr lang="en-US" dirty="0"/>
                  <a:t>. The spectrum shows no periodic tonal components, as the irrational input prevents repetitive patterns in the quantization process.</a:t>
                </a:r>
              </a:p>
            </p:txBody>
          </p:sp>
        </mc:Choice>
        <mc:Fallback xmlns="">
          <p:sp>
            <p:nvSpPr>
              <p:cNvPr id="6" name="Rectangle 5"/>
              <p:cNvSpPr>
                <a:spLocks noRot="1" noChangeAspect="1" noMove="1" noResize="1" noEditPoints="1" noAdjustHandles="1" noChangeArrowheads="1" noChangeShapeType="1" noTextEdit="1"/>
              </p:cNvSpPr>
              <p:nvPr/>
            </p:nvSpPr>
            <p:spPr>
              <a:xfrm>
                <a:off x="253863" y="4598438"/>
                <a:ext cx="5680406" cy="1083182"/>
              </a:xfrm>
              <a:prstGeom prst="rect">
                <a:avLst/>
              </a:prstGeom>
              <a:blipFill rotWithShape="0">
                <a:blip r:embed="rId3"/>
                <a:stretch>
                  <a:fillRect l="-215" t="-562" b="-5056"/>
                </a:stretch>
              </a:blipFill>
            </p:spPr>
            <p:txBody>
              <a:bodyPr/>
              <a:lstStyle/>
              <a:p>
                <a:r>
                  <a:rPr lang="en-US">
                    <a:noFill/>
                  </a:rPr>
                  <a:t> </a:t>
                </a:r>
              </a:p>
            </p:txBody>
          </p:sp>
        </mc:Fallback>
      </mc:AlternateContent>
      <p:pic>
        <p:nvPicPr>
          <p:cNvPr id="7" name="Picture 6"/>
          <p:cNvPicPr>
            <a:picLocks noChangeAspect="1"/>
          </p:cNvPicPr>
          <p:nvPr/>
        </p:nvPicPr>
        <p:blipFill>
          <a:blip r:embed="rId4"/>
          <a:stretch>
            <a:fillRect/>
          </a:stretch>
        </p:blipFill>
        <p:spPr>
          <a:xfrm>
            <a:off x="6134784" y="2991668"/>
            <a:ext cx="6018431" cy="3396655"/>
          </a:xfrm>
          <a:prstGeom prst="rect">
            <a:avLst/>
          </a:prstGeom>
        </p:spPr>
      </p:pic>
      <p:sp>
        <p:nvSpPr>
          <p:cNvPr id="8" name="Rectangle 7"/>
          <p:cNvSpPr/>
          <p:nvPr/>
        </p:nvSpPr>
        <p:spPr>
          <a:xfrm>
            <a:off x="6096000" y="2026110"/>
            <a:ext cx="6096000" cy="1169551"/>
          </a:xfrm>
          <a:prstGeom prst="rect">
            <a:avLst/>
          </a:prstGeom>
        </p:spPr>
        <p:txBody>
          <a:bodyPr>
            <a:spAutoFit/>
          </a:bodyPr>
          <a:lstStyle/>
          <a:p>
            <a:pPr marL="285750" indent="-285750">
              <a:buFont typeface="Wingdings" panose="05000000000000000000" pitchFamily="2" charset="2"/>
              <a:buChar char="q"/>
            </a:pPr>
            <a:r>
              <a:rPr lang="en-US" dirty="0"/>
              <a:t>Extended output spectrum of the MASH 1-1-1 modulator for a rational input value (0.25). Strong periodic tonal components are clearly visible, resulting from the repetitive nature of the rational input sequence. The application of dithering significantly reduces these tones by breaking the periodicity.</a:t>
            </a:r>
          </a:p>
        </p:txBody>
      </p:sp>
    </p:spTree>
    <p:extLst>
      <p:ext uri="{BB962C8B-B14F-4D97-AF65-F5344CB8AC3E}">
        <p14:creationId xmlns:p14="http://schemas.microsoft.com/office/powerpoint/2010/main" val="3361172192"/>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rPr>
              <a:t>Simulation Results </a:t>
            </a: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858671855"/>
              </p:ext>
            </p:extLst>
          </p:nvPr>
        </p:nvGraphicFramePr>
        <p:xfrm>
          <a:off x="429207" y="1539551"/>
          <a:ext cx="11271381" cy="4784400"/>
        </p:xfrm>
        <a:graphic>
          <a:graphicData uri="http://schemas.openxmlformats.org/drawingml/2006/table">
            <a:tbl>
              <a:tblPr firstRow="1" bandRow="1">
                <a:tableStyleId>{5C22544A-7EE6-4342-B048-85BDC9FD1C3A}</a:tableStyleId>
              </a:tblPr>
              <a:tblGrid>
                <a:gridCol w="1406844"/>
                <a:gridCol w="4228847"/>
                <a:gridCol w="2817845"/>
                <a:gridCol w="2817845"/>
              </a:tblGrid>
              <a:tr h="389119">
                <a:tc>
                  <a:txBody>
                    <a:bodyPr/>
                    <a:lstStyle/>
                    <a:p>
                      <a:pPr algn="ctr"/>
                      <a:r>
                        <a:rPr lang="en-US" sz="2000" dirty="0" smtClean="0">
                          <a:solidFill>
                            <a:schemeClr val="tx1"/>
                          </a:solidFill>
                        </a:rPr>
                        <a:t>Input</a:t>
                      </a:r>
                      <a:endParaRPr lang="en-US" sz="2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lgn="ctr"/>
                      <a:r>
                        <a:rPr lang="en-US" sz="1600" dirty="0" smtClean="0">
                          <a:solidFill>
                            <a:schemeClr val="tx1"/>
                          </a:solidFill>
                        </a:rPr>
                        <a:t>Architecture</a:t>
                      </a:r>
                      <a:endParaRPr 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lgn="ctr"/>
                      <a:r>
                        <a:rPr lang="en-US" sz="1600" dirty="0" smtClean="0">
                          <a:solidFill>
                            <a:schemeClr val="tx1"/>
                          </a:solidFill>
                        </a:rPr>
                        <a:t>Output</a:t>
                      </a:r>
                      <a:endParaRPr 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lgn="ctr"/>
                      <a:r>
                        <a:rPr lang="en-US" sz="1600" dirty="0" smtClean="0">
                          <a:solidFill>
                            <a:schemeClr val="tx1"/>
                          </a:solidFill>
                        </a:rPr>
                        <a:t>Error</a:t>
                      </a:r>
                      <a:endParaRPr 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r>
              <a:tr h="313440">
                <a:tc rowSpan="4">
                  <a:txBody>
                    <a:bodyPr/>
                    <a:lstStyle/>
                    <a:p>
                      <a:pPr algn="ctr"/>
                      <a:r>
                        <a:rPr lang="en-US" sz="1800" dirty="0" smtClean="0"/>
                        <a:t>0.75</a:t>
                      </a:r>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lgn="ctr" fontAlgn="b"/>
                      <a:r>
                        <a:rPr lang="en-US" sz="1600" b="0" i="1" u="none" strike="noStrike" dirty="0">
                          <a:solidFill>
                            <a:srgbClr val="000000"/>
                          </a:solidFill>
                          <a:effectLst/>
                          <a:latin typeface="Calibri" panose="020F0502020204030204" pitchFamily="34" charset="0"/>
                        </a:rPr>
                        <a:t>Modified MASH</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dirty="0">
                          <a:solidFill>
                            <a:srgbClr val="000000"/>
                          </a:solidFill>
                          <a:effectLst/>
                          <a:latin typeface="Calibri" panose="020F0502020204030204" pitchFamily="34" charset="0"/>
                        </a:rPr>
                        <a:t>0.75294</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dirty="0">
                          <a:solidFill>
                            <a:srgbClr val="000000"/>
                          </a:solidFill>
                          <a:effectLst/>
                          <a:latin typeface="Calibri" panose="020F0502020204030204" pitchFamily="34" charset="0"/>
                        </a:rPr>
                        <a:t>0.00294</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13440">
                <a:tc vMerge="1">
                  <a:txBody>
                    <a:bodyPr/>
                    <a:lstStyle/>
                    <a:p>
                      <a:endParaRPr lang="en-US" dirty="0"/>
                    </a:p>
                  </a:txBody>
                  <a:tcPr/>
                </a:tc>
                <a:tc>
                  <a:txBody>
                    <a:bodyPr/>
                    <a:lstStyle/>
                    <a:p>
                      <a:pPr algn="ctr" fontAlgn="b"/>
                      <a:r>
                        <a:rPr lang="en-US" sz="1600" b="0" i="1" u="none" strike="noStrike" dirty="0">
                          <a:solidFill>
                            <a:srgbClr val="000000"/>
                          </a:solidFill>
                          <a:effectLst/>
                          <a:latin typeface="Calibri" panose="020F0502020204030204" pitchFamily="34" charset="0"/>
                        </a:rPr>
                        <a:t>Modified Dither</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fontAlgn="b"/>
                      <a:r>
                        <a:rPr lang="en-US" sz="1600" b="0" i="1" u="none" strike="noStrike" dirty="0">
                          <a:solidFill>
                            <a:srgbClr val="000000"/>
                          </a:solidFill>
                          <a:effectLst/>
                          <a:latin typeface="Calibri" panose="020F0502020204030204" pitchFamily="34" charset="0"/>
                        </a:rPr>
                        <a:t>0.75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fontAlgn="b"/>
                      <a:r>
                        <a:rPr lang="en-US" sz="1600" b="0" i="1" u="none" strike="noStrike" dirty="0">
                          <a:solidFill>
                            <a:srgbClr val="000000"/>
                          </a:solidFill>
                          <a:effectLst/>
                          <a:latin typeface="Calibri" panose="020F0502020204030204" pitchFamily="34" charset="0"/>
                        </a:rPr>
                        <a:t>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r>
              <a:tr h="313440">
                <a:tc vMerge="1">
                  <a:txBody>
                    <a:bodyPr/>
                    <a:lstStyle/>
                    <a:p>
                      <a:endParaRPr lang="en-US" dirty="0"/>
                    </a:p>
                  </a:txBody>
                  <a:tcPr/>
                </a:tc>
                <a:tc>
                  <a:txBody>
                    <a:bodyPr/>
                    <a:lstStyle/>
                    <a:p>
                      <a:pPr algn="ctr" fontAlgn="b"/>
                      <a:r>
                        <a:rPr lang="en-US" sz="1600" b="0" i="1" u="none" strike="noStrike" dirty="0">
                          <a:solidFill>
                            <a:srgbClr val="000000"/>
                          </a:solidFill>
                          <a:effectLst/>
                          <a:latin typeface="Calibri" panose="020F0502020204030204" pitchFamily="34" charset="0"/>
                        </a:rPr>
                        <a:t>Normal Dither</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dirty="0">
                          <a:solidFill>
                            <a:srgbClr val="000000"/>
                          </a:solidFill>
                          <a:effectLst/>
                          <a:latin typeface="Calibri" panose="020F0502020204030204" pitchFamily="34" charset="0"/>
                        </a:rPr>
                        <a:t>0.75001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dirty="0">
                          <a:solidFill>
                            <a:srgbClr val="000000"/>
                          </a:solidFill>
                          <a:effectLst/>
                          <a:latin typeface="Calibri" panose="020F0502020204030204" pitchFamily="34" charset="0"/>
                        </a:rPr>
                        <a:t>0.00001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13440">
                <a:tc vMerge="1">
                  <a:txBody>
                    <a:bodyPr/>
                    <a:lstStyle/>
                    <a:p>
                      <a:endParaRPr lang="en-US" dirty="0"/>
                    </a:p>
                  </a:txBody>
                  <a:tcPr/>
                </a:tc>
                <a:tc>
                  <a:txBody>
                    <a:bodyPr/>
                    <a:lstStyle/>
                    <a:p>
                      <a:pPr algn="ctr" fontAlgn="b"/>
                      <a:r>
                        <a:rPr lang="en-US" sz="1600" b="0" i="1" u="none" strike="noStrike" dirty="0">
                          <a:solidFill>
                            <a:srgbClr val="000000"/>
                          </a:solidFill>
                          <a:effectLst/>
                          <a:latin typeface="Calibri" panose="020F0502020204030204" pitchFamily="34" charset="0"/>
                        </a:rPr>
                        <a:t>Original MASH</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a:solidFill>
                            <a:srgbClr val="000000"/>
                          </a:solidFill>
                          <a:effectLst/>
                          <a:latin typeface="Calibri" panose="020F0502020204030204" pitchFamily="34" charset="0"/>
                        </a:rPr>
                        <a:t>0.75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dirty="0">
                          <a:solidFill>
                            <a:srgbClr val="000000"/>
                          </a:solidFill>
                          <a:effectLst/>
                          <a:latin typeface="Calibri" panose="020F0502020204030204" pitchFamily="34" charset="0"/>
                        </a:rPr>
                        <a:t>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13440">
                <a:tc rowSpan="5">
                  <a:txBody>
                    <a:bodyPr/>
                    <a:lstStyle/>
                    <a:p>
                      <a:pPr algn="ctr"/>
                      <a:r>
                        <a:rPr lang="en-US" sz="1800" dirty="0" smtClean="0"/>
                        <a:t>0.255</a:t>
                      </a:r>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lgn="ctr" fontAlgn="b"/>
                      <a:r>
                        <a:rPr lang="en-US" sz="1600" b="0" i="1" u="none" strike="noStrike" dirty="0">
                          <a:solidFill>
                            <a:srgbClr val="000000"/>
                          </a:solidFill>
                          <a:effectLst/>
                          <a:latin typeface="Calibri" panose="020F0502020204030204" pitchFamily="34" charset="0"/>
                        </a:rPr>
                        <a:t>Modified MASH</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dirty="0">
                          <a:solidFill>
                            <a:srgbClr val="000000"/>
                          </a:solidFill>
                          <a:effectLst/>
                          <a:latin typeface="Calibri" panose="020F0502020204030204" pitchFamily="34" charset="0"/>
                        </a:rPr>
                        <a:t>0.25601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a:solidFill>
                            <a:srgbClr val="000000"/>
                          </a:solidFill>
                          <a:effectLst/>
                          <a:latin typeface="Calibri" panose="020F0502020204030204" pitchFamily="34" charset="0"/>
                        </a:rPr>
                        <a:t>0.00101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13440">
                <a:tc vMerge="1">
                  <a:txBody>
                    <a:bodyPr/>
                    <a:lstStyle/>
                    <a:p>
                      <a:endParaRPr lang="en-US" dirty="0"/>
                    </a:p>
                  </a:txBody>
                  <a:tcPr/>
                </a:tc>
                <a:tc>
                  <a:txBody>
                    <a:bodyPr/>
                    <a:lstStyle/>
                    <a:p>
                      <a:pPr algn="ctr" fontAlgn="b"/>
                      <a:r>
                        <a:rPr lang="en-US" sz="1600" b="0" i="1" u="none" strike="noStrike" dirty="0">
                          <a:solidFill>
                            <a:srgbClr val="000000"/>
                          </a:solidFill>
                          <a:effectLst/>
                          <a:latin typeface="Calibri" panose="020F0502020204030204" pitchFamily="34" charset="0"/>
                        </a:rPr>
                        <a:t>Modified Dither</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fontAlgn="b"/>
                      <a:r>
                        <a:rPr lang="en-US" sz="1600" b="0" i="1" u="none" strike="noStrike" dirty="0">
                          <a:solidFill>
                            <a:srgbClr val="000000"/>
                          </a:solidFill>
                          <a:effectLst/>
                          <a:latin typeface="Calibri" panose="020F0502020204030204" pitchFamily="34" charset="0"/>
                        </a:rPr>
                        <a:t>0.255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fontAlgn="b"/>
                      <a:r>
                        <a:rPr lang="en-US" sz="1600" b="0" i="1" u="none" strike="noStrike" dirty="0">
                          <a:solidFill>
                            <a:srgbClr val="000000"/>
                          </a:solidFill>
                          <a:effectLst/>
                          <a:latin typeface="Calibri" panose="020F0502020204030204" pitchFamily="34" charset="0"/>
                        </a:rPr>
                        <a:t>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r>
              <a:tr h="313440">
                <a:tc vMerge="1">
                  <a:txBody>
                    <a:bodyPr/>
                    <a:lstStyle/>
                    <a:p>
                      <a:endParaRPr lang="en-US" dirty="0"/>
                    </a:p>
                  </a:txBody>
                  <a:tcPr/>
                </a:tc>
                <a:tc>
                  <a:txBody>
                    <a:bodyPr/>
                    <a:lstStyle/>
                    <a:p>
                      <a:pPr algn="ctr" fontAlgn="b"/>
                      <a:r>
                        <a:rPr lang="en-US" sz="1600" b="0" i="1" u="none" strike="noStrike" dirty="0">
                          <a:solidFill>
                            <a:srgbClr val="000000"/>
                          </a:solidFill>
                          <a:effectLst/>
                          <a:latin typeface="Calibri" panose="020F0502020204030204" pitchFamily="34" charset="0"/>
                        </a:rPr>
                        <a:t>Normal Dither</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dirty="0">
                          <a:solidFill>
                            <a:srgbClr val="000000"/>
                          </a:solidFill>
                          <a:effectLst/>
                          <a:latin typeface="Calibri" panose="020F0502020204030204" pitchFamily="34" charset="0"/>
                        </a:rPr>
                        <a:t>0.25499</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a:solidFill>
                            <a:srgbClr val="000000"/>
                          </a:solidFill>
                          <a:effectLst/>
                          <a:latin typeface="Calibri" panose="020F0502020204030204" pitchFamily="34" charset="0"/>
                        </a:rPr>
                        <a:t>0.00001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13440">
                <a:tc vMerge="1">
                  <a:txBody>
                    <a:bodyPr/>
                    <a:lstStyle/>
                    <a:p>
                      <a:endParaRPr lang="en-US" dirty="0"/>
                    </a:p>
                  </a:txBody>
                  <a:tcPr/>
                </a:tc>
                <a:tc>
                  <a:txBody>
                    <a:bodyPr/>
                    <a:lstStyle/>
                    <a:p>
                      <a:pPr algn="ctr" fontAlgn="b"/>
                      <a:r>
                        <a:rPr lang="en-US" sz="1600" b="0" i="1" u="none" strike="noStrike" dirty="0">
                          <a:solidFill>
                            <a:srgbClr val="000000"/>
                          </a:solidFill>
                          <a:effectLst/>
                          <a:latin typeface="Calibri" panose="020F0502020204030204" pitchFamily="34" charset="0"/>
                        </a:rPr>
                        <a:t>Original MASH</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dirty="0">
                          <a:solidFill>
                            <a:srgbClr val="000000"/>
                          </a:solidFill>
                          <a:effectLst/>
                          <a:latin typeface="Calibri" panose="020F0502020204030204" pitchFamily="34" charset="0"/>
                        </a:rPr>
                        <a:t>0.255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a:solidFill>
                            <a:srgbClr val="000000"/>
                          </a:solidFill>
                          <a:effectLst/>
                          <a:latin typeface="Calibri" panose="020F0502020204030204" pitchFamily="34" charset="0"/>
                        </a:rPr>
                        <a:t>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13440">
                <a:tc vMerge="1">
                  <a:txBody>
                    <a:bodyPr/>
                    <a:lstStyle/>
                    <a:p>
                      <a:endParaRPr lang="en-US" dirty="0"/>
                    </a:p>
                  </a:txBody>
                  <a:tcPr/>
                </a:tc>
                <a:tc>
                  <a:txBody>
                    <a:bodyPr/>
                    <a:lstStyle/>
                    <a:p>
                      <a:pPr algn="ctr" fontAlgn="b"/>
                      <a:r>
                        <a:rPr lang="en-US" sz="1600" b="0" i="1" u="none" strike="noStrike" dirty="0">
                          <a:solidFill>
                            <a:srgbClr val="000000"/>
                          </a:solidFill>
                          <a:effectLst/>
                          <a:latin typeface="Calibri" panose="020F0502020204030204" pitchFamily="34" charset="0"/>
                        </a:rPr>
                        <a:t>XOR-based Dither</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dirty="0">
                          <a:solidFill>
                            <a:srgbClr val="000000"/>
                          </a:solidFill>
                          <a:effectLst/>
                          <a:latin typeface="Calibri" panose="020F0502020204030204" pitchFamily="34" charset="0"/>
                        </a:rPr>
                        <a:t>0.25499</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dirty="0">
                          <a:solidFill>
                            <a:srgbClr val="000000"/>
                          </a:solidFill>
                          <a:effectLst/>
                          <a:latin typeface="Calibri" panose="020F0502020204030204" pitchFamily="34" charset="0"/>
                        </a:rPr>
                        <a:t>0.00001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13440">
                <a:tc rowSpan="5">
                  <a:txBody>
                    <a:bodyPr/>
                    <a:lstStyle/>
                    <a:p>
                      <a:pPr algn="ctr"/>
                      <a:r>
                        <a:rPr lang="en-US" sz="1800" dirty="0" smtClean="0"/>
                        <a:t>0.000051</a:t>
                      </a:r>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lgn="ctr" fontAlgn="b"/>
                      <a:r>
                        <a:rPr lang="en-US" sz="1600" b="0" i="1" u="none" strike="noStrike">
                          <a:solidFill>
                            <a:srgbClr val="000000"/>
                          </a:solidFill>
                          <a:effectLst/>
                          <a:latin typeface="Calibri" panose="020F0502020204030204" pitchFamily="34" charset="0"/>
                        </a:rPr>
                        <a:t>Modified MASH</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dirty="0">
                          <a:solidFill>
                            <a:srgbClr val="000000"/>
                          </a:solidFill>
                          <a:effectLst/>
                          <a:latin typeface="Calibri" panose="020F0502020204030204" pitchFamily="34" charset="0"/>
                        </a:rPr>
                        <a:t>0.00006</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dirty="0">
                          <a:solidFill>
                            <a:srgbClr val="000000"/>
                          </a:solidFill>
                          <a:effectLst/>
                          <a:latin typeface="Calibri" panose="020F0502020204030204" pitchFamily="34" charset="0"/>
                        </a:rPr>
                        <a:t>0.000008</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13440">
                <a:tc vMerge="1">
                  <a:txBody>
                    <a:bodyPr/>
                    <a:lstStyle/>
                    <a:p>
                      <a:endParaRPr lang="en-US" dirty="0"/>
                    </a:p>
                  </a:txBody>
                  <a:tcPr/>
                </a:tc>
                <a:tc>
                  <a:txBody>
                    <a:bodyPr/>
                    <a:lstStyle/>
                    <a:p>
                      <a:pPr algn="ctr" fontAlgn="b"/>
                      <a:r>
                        <a:rPr lang="en-US" sz="1600" b="0" i="1" u="none" strike="noStrike" dirty="0">
                          <a:solidFill>
                            <a:srgbClr val="000000"/>
                          </a:solidFill>
                          <a:effectLst/>
                          <a:latin typeface="Calibri" panose="020F0502020204030204" pitchFamily="34" charset="0"/>
                        </a:rPr>
                        <a:t>Modified Dither</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fontAlgn="b"/>
                      <a:r>
                        <a:rPr lang="en-US" sz="1600" b="0" i="1" u="none" strike="noStrike" dirty="0">
                          <a:solidFill>
                            <a:srgbClr val="000000"/>
                          </a:solidFill>
                          <a:effectLst/>
                          <a:latin typeface="Calibri" panose="020F0502020204030204" pitchFamily="34" charset="0"/>
                        </a:rPr>
                        <a:t>0.00004</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fontAlgn="b"/>
                      <a:r>
                        <a:rPr lang="en-US" sz="1600" b="0" i="1" u="none" strike="noStrike" dirty="0">
                          <a:solidFill>
                            <a:srgbClr val="000000"/>
                          </a:solidFill>
                          <a:effectLst/>
                          <a:latin typeface="Calibri" panose="020F0502020204030204" pitchFamily="34" charset="0"/>
                        </a:rPr>
                        <a:t>0.000012</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r>
              <a:tr h="313440">
                <a:tc vMerge="1">
                  <a:txBody>
                    <a:bodyPr/>
                    <a:lstStyle/>
                    <a:p>
                      <a:endParaRPr lang="en-US" dirty="0"/>
                    </a:p>
                  </a:txBody>
                  <a:tcPr/>
                </a:tc>
                <a:tc>
                  <a:txBody>
                    <a:bodyPr/>
                    <a:lstStyle/>
                    <a:p>
                      <a:pPr algn="ctr" fontAlgn="b"/>
                      <a:r>
                        <a:rPr lang="en-US" sz="1600" b="0" i="1" u="none" strike="noStrike">
                          <a:solidFill>
                            <a:srgbClr val="000000"/>
                          </a:solidFill>
                          <a:effectLst/>
                          <a:latin typeface="Calibri" panose="020F0502020204030204" pitchFamily="34" charset="0"/>
                        </a:rPr>
                        <a:t>Normal Dither</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dirty="0">
                          <a:solidFill>
                            <a:srgbClr val="000000"/>
                          </a:solidFill>
                          <a:effectLst/>
                          <a:latin typeface="Calibri" panose="020F0502020204030204" pitchFamily="34" charset="0"/>
                        </a:rPr>
                        <a:t>0.002</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dirty="0">
                          <a:solidFill>
                            <a:srgbClr val="000000"/>
                          </a:solidFill>
                          <a:effectLst/>
                          <a:latin typeface="Calibri" panose="020F0502020204030204" pitchFamily="34" charset="0"/>
                        </a:rPr>
                        <a:t>0.001948</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13440">
                <a:tc vMerge="1">
                  <a:txBody>
                    <a:bodyPr/>
                    <a:lstStyle/>
                    <a:p>
                      <a:endParaRPr lang="en-US" dirty="0"/>
                    </a:p>
                  </a:txBody>
                  <a:tcPr/>
                </a:tc>
                <a:tc>
                  <a:txBody>
                    <a:bodyPr/>
                    <a:lstStyle/>
                    <a:p>
                      <a:pPr algn="ctr" fontAlgn="b"/>
                      <a:r>
                        <a:rPr lang="en-US" sz="1600" b="0" i="1" u="none" strike="noStrike">
                          <a:solidFill>
                            <a:srgbClr val="000000"/>
                          </a:solidFill>
                          <a:effectLst/>
                          <a:latin typeface="Calibri" panose="020F0502020204030204" pitchFamily="34" charset="0"/>
                        </a:rPr>
                        <a:t>Original MASH</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dirty="0">
                          <a:solidFill>
                            <a:srgbClr val="000000"/>
                          </a:solidFill>
                          <a:effectLst/>
                          <a:latin typeface="Calibri" panose="020F0502020204030204" pitchFamily="34" charset="0"/>
                        </a:rPr>
                        <a:t>0.00006</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dirty="0">
                          <a:solidFill>
                            <a:srgbClr val="000000"/>
                          </a:solidFill>
                          <a:effectLst/>
                          <a:latin typeface="Calibri" panose="020F0502020204030204" pitchFamily="34" charset="0"/>
                        </a:rPr>
                        <a:t>0.000008</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13440">
                <a:tc vMerge="1">
                  <a:txBody>
                    <a:bodyPr/>
                    <a:lstStyle/>
                    <a:p>
                      <a:endParaRPr lang="en-US" dirty="0"/>
                    </a:p>
                  </a:txBody>
                  <a:tcPr/>
                </a:tc>
                <a:tc>
                  <a:txBody>
                    <a:bodyPr/>
                    <a:lstStyle/>
                    <a:p>
                      <a:pPr algn="ctr" fontAlgn="b"/>
                      <a:r>
                        <a:rPr lang="en-US" sz="1600" b="0" i="1" u="none" strike="noStrike" dirty="0">
                          <a:solidFill>
                            <a:srgbClr val="000000"/>
                          </a:solidFill>
                          <a:effectLst/>
                          <a:latin typeface="Calibri" panose="020F0502020204030204" pitchFamily="34" charset="0"/>
                        </a:rPr>
                        <a:t>XOR-based Dither</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a:solidFill>
                            <a:srgbClr val="000000"/>
                          </a:solidFill>
                          <a:effectLst/>
                          <a:latin typeface="Calibri" panose="020F0502020204030204" pitchFamily="34" charset="0"/>
                        </a:rPr>
                        <a:t>0.00007</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0" i="1" u="none" strike="noStrike" dirty="0">
                          <a:solidFill>
                            <a:srgbClr val="000000"/>
                          </a:solidFill>
                          <a:effectLst/>
                          <a:latin typeface="Calibri" panose="020F0502020204030204" pitchFamily="34" charset="0"/>
                        </a:rPr>
                        <a:t>0.000018</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spTree>
    <p:extLst>
      <p:ext uri="{BB962C8B-B14F-4D97-AF65-F5344CB8AC3E}">
        <p14:creationId xmlns:p14="http://schemas.microsoft.com/office/powerpoint/2010/main" val="3532139592"/>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rPr>
              <a:t>Future Work </a:t>
            </a:r>
            <a:endParaRPr lang="en-US" dirty="0"/>
          </a:p>
        </p:txBody>
      </p:sp>
      <p:sp>
        <p:nvSpPr>
          <p:cNvPr id="3" name="Text Placeholder 2"/>
          <p:cNvSpPr>
            <a:spLocks noGrp="1"/>
          </p:cNvSpPr>
          <p:nvPr>
            <p:ph type="body" idx="1"/>
          </p:nvPr>
        </p:nvSpPr>
        <p:spPr/>
        <p:txBody>
          <a:bodyPr/>
          <a:lstStyle/>
          <a:p>
            <a:pPr>
              <a:buFont typeface="Wingdings" panose="05000000000000000000" pitchFamily="2" charset="2"/>
              <a:buChar char="q"/>
            </a:pPr>
            <a:r>
              <a:rPr lang="en-US" dirty="0">
                <a:solidFill>
                  <a:schemeClr val="tx1"/>
                </a:solidFill>
              </a:rPr>
              <a:t>Integrate the MATLAB behavioral models of all system blocks into a complete ADPLL/DCO system-level model.</a:t>
            </a:r>
          </a:p>
          <a:p>
            <a:pPr>
              <a:buFont typeface="Wingdings" panose="05000000000000000000" pitchFamily="2" charset="2"/>
              <a:buChar char="q"/>
            </a:pPr>
            <a:r>
              <a:rPr lang="en-US" dirty="0">
                <a:solidFill>
                  <a:schemeClr val="tx1"/>
                </a:solidFill>
              </a:rPr>
              <a:t>Run Monte Carlo simulations to select robust loop-filter and LMS parameters.</a:t>
            </a:r>
          </a:p>
          <a:p>
            <a:pPr>
              <a:buFont typeface="Wingdings" panose="05000000000000000000" pitchFamily="2" charset="2"/>
              <a:buChar char="q"/>
            </a:pPr>
            <a:r>
              <a:rPr lang="en-US" dirty="0">
                <a:solidFill>
                  <a:schemeClr val="tx1"/>
                </a:solidFill>
              </a:rPr>
              <a:t>Introduce key non-idealities for each block, including noise, mismatch, quantization effects, and PVT corners.</a:t>
            </a:r>
          </a:p>
          <a:p>
            <a:pPr>
              <a:buFont typeface="Wingdings" panose="05000000000000000000" pitchFamily="2" charset="2"/>
              <a:buChar char="q"/>
            </a:pPr>
            <a:r>
              <a:rPr lang="en-US" dirty="0">
                <a:solidFill>
                  <a:schemeClr val="tx1"/>
                </a:solidFill>
              </a:rPr>
              <a:t>Develop a comprehensive verification plan defining coverage goals, test scenarios, corner cases, and pass/fail criteria for system- and block-level validation.</a:t>
            </a:r>
          </a:p>
          <a:p>
            <a:pPr>
              <a:buFont typeface="Wingdings" panose="05000000000000000000" pitchFamily="2" charset="2"/>
              <a:buChar char="q"/>
            </a:pPr>
            <a:r>
              <a:rPr lang="en-US" dirty="0">
                <a:solidFill>
                  <a:schemeClr val="tx1"/>
                </a:solidFill>
              </a:rPr>
              <a:t>Begin RTL design of the digital blocks, followed by synthesis and timing closure.</a:t>
            </a:r>
          </a:p>
          <a:p>
            <a:pPr>
              <a:buFont typeface="Wingdings" panose="05000000000000000000" pitchFamily="2" charset="2"/>
              <a:buChar char="q"/>
            </a:pPr>
            <a:r>
              <a:rPr lang="en-US" dirty="0">
                <a:solidFill>
                  <a:schemeClr val="tx1"/>
                </a:solidFill>
              </a:rPr>
              <a:t>Insert DFT structures to enable product testability.</a:t>
            </a:r>
          </a:p>
          <a:p>
            <a:pPr>
              <a:buFont typeface="Wingdings" panose="05000000000000000000" pitchFamily="2" charset="2"/>
              <a:buChar char="q"/>
            </a:pPr>
            <a:r>
              <a:rPr lang="en-US" dirty="0">
                <a:solidFill>
                  <a:schemeClr val="tx1"/>
                </a:solidFill>
              </a:rPr>
              <a:t>Perform formal verification to ensure functional correctness and design robustness.</a:t>
            </a:r>
          </a:p>
          <a:p>
            <a:pPr marL="101600" indent="0">
              <a:buNone/>
            </a:pPr>
            <a:endParaRPr lang="en-US" dirty="0"/>
          </a:p>
        </p:txBody>
      </p:sp>
    </p:spTree>
    <p:extLst>
      <p:ext uri="{BB962C8B-B14F-4D97-AF65-F5344CB8AC3E}">
        <p14:creationId xmlns:p14="http://schemas.microsoft.com/office/powerpoint/2010/main" val="2472034259"/>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1766"/>
        <p:cNvGrpSpPr/>
        <p:nvPr/>
      </p:nvGrpSpPr>
      <p:grpSpPr>
        <a:xfrm>
          <a:off x="0" y="0"/>
          <a:ext cx="0" cy="0"/>
          <a:chOff x="0" y="0"/>
          <a:chExt cx="0" cy="0"/>
        </a:xfrm>
      </p:grpSpPr>
      <p:sp>
        <p:nvSpPr>
          <p:cNvPr id="1767" name="Google Shape;1767;p162"/>
          <p:cNvSpPr txBox="1">
            <a:spLocks noGrp="1"/>
          </p:cNvSpPr>
          <p:nvPr>
            <p:ph type="ctrTitle"/>
          </p:nvPr>
        </p:nvSpPr>
        <p:spPr>
          <a:xfrm>
            <a:off x="1219200" y="2708392"/>
            <a:ext cx="9753600" cy="144122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5400" i="0" dirty="0">
                <a:latin typeface="Calibri"/>
                <a:ea typeface="Calibri"/>
                <a:cs typeface="Calibri"/>
                <a:sym typeface="Calibri"/>
              </a:rPr>
              <a:t>Thanks</a:t>
            </a:r>
            <a:endParaRPr lang="en-US"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Cactus">
  <a:themeElements>
    <a:clrScheme name="Cactus 7">
      <a:dk1>
        <a:srgbClr val="000000"/>
      </a:dk1>
      <a:lt1>
        <a:srgbClr val="FFFFFF"/>
      </a:lt1>
      <a:dk2>
        <a:srgbClr val="000000"/>
      </a:dk2>
      <a:lt2>
        <a:srgbClr val="006600"/>
      </a:lt2>
      <a:accent1>
        <a:srgbClr val="F5EBC1"/>
      </a:accent1>
      <a:accent2>
        <a:srgbClr val="FFCC00"/>
      </a:accent2>
      <a:accent3>
        <a:srgbClr val="FFFFFF"/>
      </a:accent3>
      <a:accent4>
        <a:srgbClr val="000000"/>
      </a:accent4>
      <a:accent5>
        <a:srgbClr val="F9F3DD"/>
      </a:accent5>
      <a:accent6>
        <a:srgbClr val="E7B900"/>
      </a:accent6>
      <a:hlink>
        <a:srgbClr val="0066FF"/>
      </a:hlink>
      <a:folHlink>
        <a:srgbClr val="B2B2B2"/>
      </a:folHlink>
    </a:clrScheme>
    <a:fontScheme name="Custom 1">
      <a:majorFont>
        <a:latin typeface="Times New Roman"/>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618b369f-18d7-4961-828a-a96ec425440e"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ADA9DBFE3C4D64594C9D1465A4E8D2F" ma:contentTypeVersion="15" ma:contentTypeDescription="Create a new document." ma:contentTypeScope="" ma:versionID="d41ff37d6365b7102d26db3d8ff5f48f">
  <xsd:schema xmlns:xsd="http://www.w3.org/2001/XMLSchema" xmlns:xs="http://www.w3.org/2001/XMLSchema" xmlns:p="http://schemas.microsoft.com/office/2006/metadata/properties" xmlns:ns3="8ed189ea-6d85-4e2a-bb01-b61ca62b6940" xmlns:ns4="618b369f-18d7-4961-828a-a96ec425440e" targetNamespace="http://schemas.microsoft.com/office/2006/metadata/properties" ma:root="true" ma:fieldsID="27a4dcb90b5dac1895e07ba6a8fa2694" ns3:_="" ns4:_="">
    <xsd:import namespace="8ed189ea-6d85-4e2a-bb01-b61ca62b6940"/>
    <xsd:import namespace="618b369f-18d7-4961-828a-a96ec425440e"/>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KeyPoints" minOccurs="0"/>
                <xsd:element ref="ns4:MediaServiceKeyPoints" minOccurs="0"/>
                <xsd:element ref="ns4:_activity" minOccurs="0"/>
                <xsd:element ref="ns4:MediaServiceSearchProperties" minOccurs="0"/>
                <xsd:element ref="ns4:MediaServiceObjectDetectorVersions" minOccurs="0"/>
                <xsd:element ref="ns4:MediaServiceDateTaken" minOccurs="0"/>
                <xsd:element ref="ns4:MediaServiceSystemTags" minOccurs="0"/>
                <xsd:element ref="ns4:MediaServiceOCR" minOccurs="0"/>
                <xsd:element ref="ns4:MediaServiceGenerationTime" minOccurs="0"/>
                <xsd:element ref="ns4: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ed189ea-6d85-4e2a-bb01-b61ca62b6940"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18b369f-18d7-4961-828a-a96ec425440e"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_activity" ma:index="15" nillable="true" ma:displayName="_activity" ma:hidden="true" ma:internalName="_activity">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ServiceSystemTags" ma:index="19" nillable="true" ma:displayName="MediaServiceSystemTags" ma:hidden="true" ma:internalName="MediaServiceSystemTags" ma:readOnly="true">
      <xsd:simpleType>
        <xsd:restriction base="dms:Note"/>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EA3A6B4-D2DB-4D4D-A1EE-A60DAB5C01C1}">
  <ds:schemaRefs>
    <ds:schemaRef ds:uri="http://schemas.microsoft.com/sharepoint/v3/contenttype/forms"/>
  </ds:schemaRefs>
</ds:datastoreItem>
</file>

<file path=customXml/itemProps2.xml><?xml version="1.0" encoding="utf-8"?>
<ds:datastoreItem xmlns:ds="http://schemas.openxmlformats.org/officeDocument/2006/customXml" ds:itemID="{24402D2F-4058-402C-A6B5-A8A040C31559}">
  <ds:schemaRefs>
    <ds:schemaRef ds:uri="http://purl.org/dc/dcmitype/"/>
    <ds:schemaRef ds:uri="http://schemas.microsoft.com/office/2006/documentManagement/types"/>
    <ds:schemaRef ds:uri="http://schemas.openxmlformats.org/package/2006/metadata/core-properties"/>
    <ds:schemaRef ds:uri="http://schemas.microsoft.com/office/2006/metadata/properties"/>
    <ds:schemaRef ds:uri="8ed189ea-6d85-4e2a-bb01-b61ca62b6940"/>
    <ds:schemaRef ds:uri="http://purl.org/dc/terms/"/>
    <ds:schemaRef ds:uri="618b369f-18d7-4961-828a-a96ec425440e"/>
    <ds:schemaRef ds:uri="http://schemas.microsoft.com/office/infopath/2007/PartnerControls"/>
    <ds:schemaRef ds:uri="http://www.w3.org/XML/1998/namespace"/>
    <ds:schemaRef ds:uri="http://purl.org/dc/elements/1.1/"/>
  </ds:schemaRefs>
</ds:datastoreItem>
</file>

<file path=customXml/itemProps3.xml><?xml version="1.0" encoding="utf-8"?>
<ds:datastoreItem xmlns:ds="http://schemas.openxmlformats.org/officeDocument/2006/customXml" ds:itemID="{6E21BFD0-B5F8-403C-A1BA-C648DFB9437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ed189ea-6d85-4e2a-bb01-b61ca62b6940"/>
    <ds:schemaRef ds:uri="618b369f-18d7-4961-828a-a96ec425440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179</TotalTime>
  <Words>2698</Words>
  <Application>Microsoft Office PowerPoint</Application>
  <PresentationFormat>Widescreen</PresentationFormat>
  <Paragraphs>610</Paragraphs>
  <Slides>74</Slides>
  <Notes>11</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74</vt:i4>
      </vt:variant>
    </vt:vector>
  </HeadingPairs>
  <TitlesOfParts>
    <vt:vector size="88" baseType="lpstr">
      <vt:lpstr>Algerian</vt:lpstr>
      <vt:lpstr>Aptos</vt:lpstr>
      <vt:lpstr>Arial</vt:lpstr>
      <vt:lpstr>Arial Narrow</vt:lpstr>
      <vt:lpstr>Bell MT</vt:lpstr>
      <vt:lpstr>Calibri</vt:lpstr>
      <vt:lpstr>Calibri </vt:lpstr>
      <vt:lpstr>Cambria Math</vt:lpstr>
      <vt:lpstr>Courier New</vt:lpstr>
      <vt:lpstr>Garamond</vt:lpstr>
      <vt:lpstr>Times New Roman</vt:lpstr>
      <vt:lpstr>Times New Roman (Headings)</vt:lpstr>
      <vt:lpstr>Wingdings</vt:lpstr>
      <vt:lpstr>Cactus</vt:lpstr>
      <vt:lpstr>BLE Digital Transmitter </vt:lpstr>
      <vt:lpstr>Presented by </vt:lpstr>
      <vt:lpstr>Table of Content</vt:lpstr>
      <vt:lpstr>Table of Content</vt:lpstr>
      <vt:lpstr>Introduction</vt:lpstr>
      <vt:lpstr>System Block Diagram</vt:lpstr>
      <vt:lpstr>Traditional FSK Modulation</vt:lpstr>
      <vt:lpstr>GFSK Modulation</vt:lpstr>
      <vt:lpstr>GFSK Advantages/Trade-offs</vt:lpstr>
      <vt:lpstr>GFSK Modulation index </vt:lpstr>
      <vt:lpstr>GFSK BT Product</vt:lpstr>
      <vt:lpstr>System Block Diagram</vt:lpstr>
      <vt:lpstr>Gaussian Filter as FIR Filter</vt:lpstr>
      <vt:lpstr>Gaussian Filter as FIR Filter</vt:lpstr>
      <vt:lpstr>Parameters (span/sps)</vt:lpstr>
      <vt:lpstr>Simulation Results</vt:lpstr>
      <vt:lpstr>Direct VS Transposed Form</vt:lpstr>
      <vt:lpstr>Symmetry Realization for Direct Form</vt:lpstr>
      <vt:lpstr>Implemented Block Diagram</vt:lpstr>
      <vt:lpstr>Simulation Results</vt:lpstr>
      <vt:lpstr>Table of content </vt:lpstr>
      <vt:lpstr>ADPLL Architecture </vt:lpstr>
      <vt:lpstr>ADPLL Linear Model</vt:lpstr>
      <vt:lpstr>One Point Modulation at Reference Accumulator</vt:lpstr>
      <vt:lpstr>One Point Modulation at DCO Input</vt:lpstr>
      <vt:lpstr>Two Point Modulation</vt:lpstr>
      <vt:lpstr>PowerPoint Presentation</vt:lpstr>
      <vt:lpstr>TDC Block Diagram &amp; Operation</vt:lpstr>
      <vt:lpstr>TDC Metastability &amp; Mitigation</vt:lpstr>
      <vt:lpstr>TDC within ADPLL</vt:lpstr>
      <vt:lpstr>Effect of Reference Clock Retiming</vt:lpstr>
      <vt:lpstr>TDC Core Block Diagram</vt:lpstr>
      <vt:lpstr>TDC Core Operation</vt:lpstr>
      <vt:lpstr>TDC Core Final Block Diagram</vt:lpstr>
      <vt:lpstr>MATLAB Simulation Setup</vt:lpstr>
      <vt:lpstr>MATLAB Simulation Results</vt:lpstr>
      <vt:lpstr>Digital loop filter </vt:lpstr>
      <vt:lpstr>Digital loop filter </vt:lpstr>
      <vt:lpstr>Digital loop filter </vt:lpstr>
      <vt:lpstr>Digital loop filter </vt:lpstr>
      <vt:lpstr>Digital loop filter </vt:lpstr>
      <vt:lpstr>Digital loop filter </vt:lpstr>
      <vt:lpstr>Digital loop filter </vt:lpstr>
      <vt:lpstr>Digital loop filter </vt:lpstr>
      <vt:lpstr>Digital loop filter </vt:lpstr>
      <vt:lpstr>Digital loop filter </vt:lpstr>
      <vt:lpstr>Digital loop filter </vt:lpstr>
      <vt:lpstr>Table of content </vt:lpstr>
      <vt:lpstr>DCO</vt:lpstr>
      <vt:lpstr>Control Frequency of Digital Oscillators</vt:lpstr>
      <vt:lpstr> DCO Operational Modes </vt:lpstr>
      <vt:lpstr>DCO Architecture and Implementation </vt:lpstr>
      <vt:lpstr>DCO Architecture and Implementation</vt:lpstr>
      <vt:lpstr>Sign-Sign LMS (SS-LMS)  </vt:lpstr>
      <vt:lpstr>DCO simulation Result</vt:lpstr>
      <vt:lpstr>DCO simulation Result</vt:lpstr>
      <vt:lpstr>DCO simulation Result</vt:lpstr>
      <vt:lpstr>DCO simulation Result</vt:lpstr>
      <vt:lpstr>DCO simulation Result</vt:lpstr>
      <vt:lpstr>DCO simulation Result</vt:lpstr>
      <vt:lpstr>DCO simulation Result</vt:lpstr>
      <vt:lpstr>DCO simulation Result</vt:lpstr>
      <vt:lpstr>Sigma Delta</vt:lpstr>
      <vt:lpstr>Table of content </vt:lpstr>
      <vt:lpstr>Why Sigma Delta </vt:lpstr>
      <vt:lpstr>First order MASH Sigma Delta</vt:lpstr>
      <vt:lpstr>Mash Sigma Delta </vt:lpstr>
      <vt:lpstr>Operation of MASH 1-1-1 </vt:lpstr>
      <vt:lpstr>Mitigation of periodicity and IDLE tones </vt:lpstr>
      <vt:lpstr>Proposed Sigma Delta Architecture</vt:lpstr>
      <vt:lpstr>Simulation Results </vt:lpstr>
      <vt:lpstr>Simulation Results </vt:lpstr>
      <vt:lpstr>Future Work </vt:lpstr>
      <vt:lpstr>Thanks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BLE Digital Transmitter</dc:title>
  <dc:creator>Tamer Elnady</dc:creator>
  <cp:lastModifiedBy>2101434</cp:lastModifiedBy>
  <cp:revision>16</cp:revision>
  <dcterms:created xsi:type="dcterms:W3CDTF">2001-03-23T16:50:49Z</dcterms:created>
  <dcterms:modified xsi:type="dcterms:W3CDTF">2026-06-22T05:43:07Z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0x0101008ADA9DBFE3C4D64594C9D1465A4E8D2F</vt:lpwstr>
  </property>
</Properties>
</file>