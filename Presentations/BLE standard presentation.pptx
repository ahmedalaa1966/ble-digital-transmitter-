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5" r:id="rId2"/>
  </p:sldMasterIdLst>
  <p:notesMasterIdLst>
    <p:notesMasterId r:id="rId67"/>
  </p:notesMasterIdLst>
  <p:sldIdLst>
    <p:sldId id="258" r:id="rId3"/>
    <p:sldId id="299" r:id="rId4"/>
    <p:sldId id="290" r:id="rId5"/>
    <p:sldId id="291" r:id="rId6"/>
    <p:sldId id="292" r:id="rId7"/>
    <p:sldId id="293" r:id="rId8"/>
    <p:sldId id="294" r:id="rId9"/>
    <p:sldId id="295" r:id="rId10"/>
    <p:sldId id="296" r:id="rId11"/>
    <p:sldId id="297" r:id="rId12"/>
    <p:sldId id="298" r:id="rId13"/>
    <p:sldId id="330" r:id="rId14"/>
    <p:sldId id="322" r:id="rId15"/>
    <p:sldId id="323" r:id="rId16"/>
    <p:sldId id="324" r:id="rId17"/>
    <p:sldId id="325" r:id="rId18"/>
    <p:sldId id="326" r:id="rId19"/>
    <p:sldId id="327" r:id="rId20"/>
    <p:sldId id="328" r:id="rId21"/>
    <p:sldId id="329" r:id="rId22"/>
    <p:sldId id="315"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272" r:id="rId38"/>
    <p:sldId id="257" r:id="rId39"/>
    <p:sldId id="263" r:id="rId40"/>
    <p:sldId id="264" r:id="rId41"/>
    <p:sldId id="265" r:id="rId42"/>
    <p:sldId id="271" r:id="rId43"/>
    <p:sldId id="266" r:id="rId44"/>
    <p:sldId id="268" r:id="rId45"/>
    <p:sldId id="273" r:id="rId46"/>
    <p:sldId id="269" r:id="rId47"/>
    <p:sldId id="279" r:id="rId48"/>
    <p:sldId id="276" r:id="rId49"/>
    <p:sldId id="277" r:id="rId50"/>
    <p:sldId id="278" r:id="rId51"/>
    <p:sldId id="283" r:id="rId52"/>
    <p:sldId id="284" r:id="rId53"/>
    <p:sldId id="285" r:id="rId54"/>
    <p:sldId id="286" r:id="rId55"/>
    <p:sldId id="287" r:id="rId56"/>
    <p:sldId id="288" r:id="rId57"/>
    <p:sldId id="289" r:id="rId58"/>
    <p:sldId id="316" r:id="rId59"/>
    <p:sldId id="317" r:id="rId60"/>
    <p:sldId id="318" r:id="rId61"/>
    <p:sldId id="319" r:id="rId62"/>
    <p:sldId id="320" r:id="rId63"/>
    <p:sldId id="321" r:id="rId64"/>
    <p:sldId id="331" r:id="rId65"/>
    <p:sldId id="332" r:id="rId6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8" roundtripDataSignature="AMtx7mh4cfTspKUwvS+uxhkIsm48R1d4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59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6374" autoAdjust="0"/>
  </p:normalViewPr>
  <p:slideViewPr>
    <p:cSldViewPr snapToGrid="0">
      <p:cViewPr varScale="1">
        <p:scale>
          <a:sx n="88" d="100"/>
          <a:sy n="88" d="100"/>
        </p:scale>
        <p:origin x="326" y="53"/>
      </p:cViewPr>
      <p:guideLst/>
    </p:cSldViewPr>
  </p:slideViewPr>
  <p:notesTextViewPr>
    <p:cViewPr>
      <p:scale>
        <a:sx n="1" d="1"/>
        <a:sy n="1" d="1"/>
      </p:scale>
      <p:origin x="0" y="0"/>
    </p:cViewPr>
  </p:notesTextViewPr>
  <p:sorterViewPr>
    <p:cViewPr varScale="1">
      <p:scale>
        <a:sx n="100" d="100"/>
        <a:sy n="100" d="100"/>
      </p:scale>
      <p:origin x="0" y="-278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customschemas.google.com/relationships/presentationmetadata" Target="metadata"/><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07140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43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432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74321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7.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3.svg"/><Relationship Id="rId4"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7.png"/><Relationship Id="rId4"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V Title Slide">
  <p:cSld name="SV Title Slide">
    <p:bg>
      <p:bgPr>
        <a:gradFill>
          <a:gsLst>
            <a:gs pos="0">
              <a:srgbClr val="F4F8FB"/>
            </a:gs>
            <a:gs pos="52000">
              <a:schemeClr val="lt1"/>
            </a:gs>
            <a:gs pos="100000">
              <a:schemeClr val="lt1"/>
            </a:gs>
          </a:gsLst>
          <a:lin ang="5400000" scaled="0"/>
        </a:gradFill>
        <a:effectLst/>
      </p:bgPr>
    </p:bg>
    <p:spTree>
      <p:nvGrpSpPr>
        <p:cNvPr id="1" name="Shape 16"/>
        <p:cNvGrpSpPr/>
        <p:nvPr/>
      </p:nvGrpSpPr>
      <p:grpSpPr>
        <a:xfrm>
          <a:off x="0" y="0"/>
          <a:ext cx="0" cy="0"/>
          <a:chOff x="0" y="0"/>
          <a:chExt cx="0" cy="0"/>
        </a:xfrm>
      </p:grpSpPr>
      <p:pic>
        <p:nvPicPr>
          <p:cNvPr id="17" name="Google Shape;17;p4"/>
          <p:cNvPicPr preferRelativeResize="0"/>
          <p:nvPr/>
        </p:nvPicPr>
        <p:blipFill rotWithShape="1">
          <a:blip r:embed="rId2">
            <a:alphaModFix/>
          </a:blip>
          <a:srcRect t="37262" b="2"/>
          <a:stretch/>
        </p:blipFill>
        <p:spPr>
          <a:xfrm>
            <a:off x="0" y="1366344"/>
            <a:ext cx="12192000" cy="5491655"/>
          </a:xfrm>
          <a:prstGeom prst="rect">
            <a:avLst/>
          </a:prstGeom>
          <a:noFill/>
          <a:ln>
            <a:noFill/>
          </a:ln>
        </p:spPr>
      </p:pic>
      <p:sp>
        <p:nvSpPr>
          <p:cNvPr id="18" name="Google Shape;18;p4"/>
          <p:cNvSpPr/>
          <p:nvPr/>
        </p:nvSpPr>
        <p:spPr>
          <a:xfrm>
            <a:off x="0" y="0"/>
            <a:ext cx="12192000" cy="150297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9" name="Google Shape;19;p4"/>
          <p:cNvPicPr preferRelativeResize="0"/>
          <p:nvPr/>
        </p:nvPicPr>
        <p:blipFill rotWithShape="1">
          <a:blip r:embed="rId3">
            <a:alphaModFix/>
          </a:blip>
          <a:srcRect t="28195" b="35482"/>
          <a:stretch/>
        </p:blipFill>
        <p:spPr>
          <a:xfrm>
            <a:off x="7819697" y="154111"/>
            <a:ext cx="4456386" cy="1348868"/>
          </a:xfrm>
          <a:prstGeom prst="rect">
            <a:avLst/>
          </a:prstGeom>
          <a:noFill/>
          <a:ln>
            <a:noFill/>
          </a:ln>
        </p:spPr>
      </p:pic>
      <p:sp>
        <p:nvSpPr>
          <p:cNvPr id="20" name="Google Shape;20;p4"/>
          <p:cNvSpPr txBox="1">
            <a:spLocks noGrp="1"/>
          </p:cNvSpPr>
          <p:nvPr>
            <p:ph type="ctrTitle"/>
          </p:nvPr>
        </p:nvSpPr>
        <p:spPr>
          <a:xfrm>
            <a:off x="906092" y="1478904"/>
            <a:ext cx="7493217" cy="93200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5559F"/>
              </a:buClr>
              <a:buSzPts val="4000"/>
              <a:buFont typeface="Calibri"/>
              <a:buNone/>
              <a:defRPr sz="4000" b="1">
                <a:solidFill>
                  <a:srgbClr val="15559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
          <p:cNvSpPr txBox="1">
            <a:spLocks noGrp="1"/>
          </p:cNvSpPr>
          <p:nvPr>
            <p:ph type="subTitle" idx="1"/>
          </p:nvPr>
        </p:nvSpPr>
        <p:spPr>
          <a:xfrm>
            <a:off x="906092" y="2410911"/>
            <a:ext cx="7491674" cy="624937"/>
          </a:xfrm>
          <a:prstGeom prst="rect">
            <a:avLst/>
          </a:prstGeom>
          <a:noFill/>
          <a:ln>
            <a:noFill/>
          </a:ln>
        </p:spPr>
        <p:txBody>
          <a:bodyPr spcFirstLastPara="1" wrap="square" lIns="91425" tIns="45700" rIns="91425" bIns="45700" anchor="t" anchorCtr="0">
            <a:normAutofit/>
          </a:bodyPr>
          <a:lstStyle>
            <a:lvl1pPr lvl="0" algn="l">
              <a:spcBef>
                <a:spcPts val="640"/>
              </a:spcBef>
              <a:spcAft>
                <a:spcPts val="0"/>
              </a:spcAft>
              <a:buSzPts val="3200"/>
              <a:buNone/>
              <a:defRPr sz="3200">
                <a:solidFill>
                  <a:srgbClr val="15559F"/>
                </a:solidFill>
                <a:latin typeface="Calibri"/>
                <a:ea typeface="Calibri"/>
                <a:cs typeface="Calibri"/>
                <a:sym typeface="Calibri"/>
              </a:defRPr>
            </a:lvl1pPr>
            <a:lvl2pPr lvl="1" algn="ctr">
              <a:spcBef>
                <a:spcPts val="360"/>
              </a:spcBef>
              <a:spcAft>
                <a:spcPts val="0"/>
              </a:spcAft>
              <a:buSzPts val="1620"/>
              <a:buNone/>
              <a:defRPr>
                <a:solidFill>
                  <a:srgbClr val="888888"/>
                </a:solidFill>
              </a:defRPr>
            </a:lvl2pPr>
            <a:lvl3pPr lvl="2" algn="ctr">
              <a:spcBef>
                <a:spcPts val="320"/>
              </a:spcBef>
              <a:spcAft>
                <a:spcPts val="0"/>
              </a:spcAft>
              <a:buSzPts val="1600"/>
              <a:buNone/>
              <a:defRPr>
                <a:solidFill>
                  <a:srgbClr val="888888"/>
                </a:solidFill>
              </a:defRPr>
            </a:lvl3pPr>
            <a:lvl4pPr lvl="3" algn="ctr">
              <a:lnSpc>
                <a:spcPct val="100000"/>
              </a:lnSpc>
              <a:spcBef>
                <a:spcPts val="336"/>
              </a:spcBef>
              <a:spcAft>
                <a:spcPts val="0"/>
              </a:spcAft>
              <a:buSzPts val="1400"/>
              <a:buNone/>
              <a:defRPr>
                <a:solidFill>
                  <a:srgbClr val="888888"/>
                </a:solidFill>
              </a:defRPr>
            </a:lvl4pPr>
            <a:lvl5pPr lvl="4" algn="ctr">
              <a:lnSpc>
                <a:spcPct val="100000"/>
              </a:lnSpc>
              <a:spcBef>
                <a:spcPts val="336"/>
              </a:spcBef>
              <a:spcAft>
                <a:spcPts val="0"/>
              </a:spcAft>
              <a:buSzPts val="14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4"/>
          <p:cNvSpPr txBox="1">
            <a:spLocks noGrp="1"/>
          </p:cNvSpPr>
          <p:nvPr>
            <p:ph type="body" idx="2"/>
          </p:nvPr>
        </p:nvSpPr>
        <p:spPr>
          <a:xfrm>
            <a:off x="906092" y="3045735"/>
            <a:ext cx="7491674" cy="73152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2400"/>
              <a:buNone/>
              <a:defRPr sz="2400">
                <a:solidFill>
                  <a:srgbClr val="15559F"/>
                </a:solidFill>
              </a:defRPr>
            </a:lvl1pPr>
            <a:lvl2pPr marL="914400" lvl="1" indent="-228600" algn="ctr">
              <a:spcBef>
                <a:spcPts val="360"/>
              </a:spcBef>
              <a:spcAft>
                <a:spcPts val="0"/>
              </a:spcAft>
              <a:buSzPts val="1620"/>
              <a:buNone/>
              <a:defRPr>
                <a:solidFill>
                  <a:srgbClr val="595959"/>
                </a:solidFill>
              </a:defRPr>
            </a:lvl2pPr>
            <a:lvl3pPr marL="1371600" lvl="2" indent="-330200" algn="ctr">
              <a:spcBef>
                <a:spcPts val="320"/>
              </a:spcBef>
              <a:spcAft>
                <a:spcPts val="0"/>
              </a:spcAft>
              <a:buSzPts val="1600"/>
              <a:buChar char="–"/>
              <a:defRPr>
                <a:solidFill>
                  <a:srgbClr val="595959"/>
                </a:solidFill>
              </a:defRPr>
            </a:lvl3pPr>
            <a:lvl4pPr marL="1828800" lvl="3" indent="-317500" algn="ctr">
              <a:lnSpc>
                <a:spcPct val="100000"/>
              </a:lnSpc>
              <a:spcBef>
                <a:spcPts val="336"/>
              </a:spcBef>
              <a:spcAft>
                <a:spcPts val="0"/>
              </a:spcAft>
              <a:buSzPts val="1400"/>
              <a:buChar char="–"/>
              <a:defRPr>
                <a:solidFill>
                  <a:srgbClr val="595959"/>
                </a:solidFill>
              </a:defRPr>
            </a:lvl4pPr>
            <a:lvl5pPr marL="2286000" lvl="4" indent="-317500" algn="ctr">
              <a:lnSpc>
                <a:spcPct val="100000"/>
              </a:lnSpc>
              <a:spcBef>
                <a:spcPts val="336"/>
              </a:spcBef>
              <a:spcAft>
                <a:spcPts val="0"/>
              </a:spcAft>
              <a:buSzPts val="1400"/>
              <a:buChar char="–"/>
              <a:defRPr>
                <a:solidFill>
                  <a:srgbClr val="59595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 name="Google Shape;23;p4"/>
          <p:cNvSpPr txBox="1">
            <a:spLocks noGrp="1"/>
          </p:cNvSpPr>
          <p:nvPr>
            <p:ph type="body" idx="3"/>
          </p:nvPr>
        </p:nvSpPr>
        <p:spPr>
          <a:xfrm>
            <a:off x="906091" y="3798960"/>
            <a:ext cx="7491673" cy="396815"/>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2000"/>
              <a:buNone/>
              <a:defRPr sz="2000">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8"/>
          <p:cNvSpPr txBox="1">
            <a:spLocks noGrp="1"/>
          </p:cNvSpPr>
          <p:nvPr>
            <p:ph type="body" idx="1"/>
          </p:nvPr>
        </p:nvSpPr>
        <p:spPr>
          <a:xfrm>
            <a:off x="609600" y="1484802"/>
            <a:ext cx="1097280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55600" algn="l">
              <a:spcBef>
                <a:spcPts val="400"/>
              </a:spcBef>
              <a:spcAft>
                <a:spcPts val="0"/>
              </a:spcAft>
              <a:buClr>
                <a:schemeClr val="dk1"/>
              </a:buClr>
              <a:buSzPts val="20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 name="Google Shape;38;p8"/>
          <p:cNvSpPr txBox="1">
            <a:spLocks noGrp="1"/>
          </p:cNvSpPr>
          <p:nvPr>
            <p:ph type="body" idx="2"/>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4"/>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F4F8FB"/>
            </a:gs>
            <a:gs pos="52000">
              <a:schemeClr val="lt1"/>
            </a:gs>
            <a:gs pos="100000">
              <a:schemeClr val="lt1"/>
            </a:gs>
          </a:gsLst>
          <a:lin ang="5400000" scaled="0"/>
        </a:gradFill>
        <a:effectLst/>
      </p:bgPr>
    </p:bg>
    <p:spTree>
      <p:nvGrpSpPr>
        <p:cNvPr id="1"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t="37262" b="2"/>
          <a:stretch/>
        </p:blipFill>
        <p:spPr>
          <a:xfrm>
            <a:off x="0" y="1366344"/>
            <a:ext cx="12192000" cy="5491655"/>
          </a:xfrm>
          <a:prstGeom prst="rect">
            <a:avLst/>
          </a:prstGeom>
          <a:noFill/>
          <a:ln>
            <a:noFill/>
          </a:ln>
        </p:spPr>
      </p:pic>
      <p:sp>
        <p:nvSpPr>
          <p:cNvPr id="28" name="Google Shape;28;p6"/>
          <p:cNvSpPr/>
          <p:nvPr/>
        </p:nvSpPr>
        <p:spPr>
          <a:xfrm>
            <a:off x="0" y="0"/>
            <a:ext cx="12192000" cy="150297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9" name="Google Shape;29;p6"/>
          <p:cNvPicPr preferRelativeResize="0"/>
          <p:nvPr/>
        </p:nvPicPr>
        <p:blipFill rotWithShape="1">
          <a:blip r:embed="rId3">
            <a:alphaModFix/>
          </a:blip>
          <a:srcRect t="28195" b="35482"/>
          <a:stretch/>
        </p:blipFill>
        <p:spPr>
          <a:xfrm>
            <a:off x="7819697" y="154111"/>
            <a:ext cx="4456386" cy="1348868"/>
          </a:xfrm>
          <a:prstGeom prst="rect">
            <a:avLst/>
          </a:prstGeom>
          <a:noFill/>
          <a:ln>
            <a:noFill/>
          </a:ln>
        </p:spPr>
      </p:pic>
      <p:sp>
        <p:nvSpPr>
          <p:cNvPr id="30" name="Google Shape;30;p6"/>
          <p:cNvSpPr txBox="1">
            <a:spLocks noGrp="1"/>
          </p:cNvSpPr>
          <p:nvPr>
            <p:ph type="ctrTitle"/>
          </p:nvPr>
        </p:nvSpPr>
        <p:spPr>
          <a:xfrm>
            <a:off x="906092" y="1478904"/>
            <a:ext cx="7491674" cy="93200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15559F"/>
              </a:buClr>
              <a:buSzPts val="4000"/>
              <a:buFont typeface="Calibri"/>
              <a:buNone/>
              <a:defRPr sz="4000" b="1">
                <a:solidFill>
                  <a:srgbClr val="15559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subTitle" idx="1"/>
          </p:nvPr>
        </p:nvSpPr>
        <p:spPr>
          <a:xfrm>
            <a:off x="906092" y="2410911"/>
            <a:ext cx="7491674" cy="624937"/>
          </a:xfrm>
          <a:prstGeom prst="rect">
            <a:avLst/>
          </a:prstGeom>
          <a:noFill/>
          <a:ln>
            <a:noFill/>
          </a:ln>
        </p:spPr>
        <p:txBody>
          <a:bodyPr spcFirstLastPara="1" wrap="square" lIns="91425" tIns="45700" rIns="91425" bIns="45700" anchor="t" anchorCtr="0">
            <a:normAutofit/>
          </a:bodyPr>
          <a:lstStyle>
            <a:lvl1pPr lvl="0" algn="l">
              <a:spcBef>
                <a:spcPts val="640"/>
              </a:spcBef>
              <a:spcAft>
                <a:spcPts val="0"/>
              </a:spcAft>
              <a:buSzPts val="3200"/>
              <a:buNone/>
              <a:defRPr sz="3200">
                <a:solidFill>
                  <a:srgbClr val="15559F"/>
                </a:solidFill>
                <a:latin typeface="Calibri"/>
                <a:ea typeface="Calibri"/>
                <a:cs typeface="Calibri"/>
                <a:sym typeface="Calibri"/>
              </a:defRPr>
            </a:lvl1pPr>
            <a:lvl2pPr lvl="1" algn="ctr">
              <a:spcBef>
                <a:spcPts val="360"/>
              </a:spcBef>
              <a:spcAft>
                <a:spcPts val="0"/>
              </a:spcAft>
              <a:buSzPts val="1620"/>
              <a:buNone/>
              <a:defRPr>
                <a:solidFill>
                  <a:srgbClr val="888888"/>
                </a:solidFill>
              </a:defRPr>
            </a:lvl2pPr>
            <a:lvl3pPr lvl="2" algn="ctr">
              <a:spcBef>
                <a:spcPts val="320"/>
              </a:spcBef>
              <a:spcAft>
                <a:spcPts val="0"/>
              </a:spcAft>
              <a:buSzPts val="1600"/>
              <a:buNone/>
              <a:defRPr>
                <a:solidFill>
                  <a:srgbClr val="888888"/>
                </a:solidFill>
              </a:defRPr>
            </a:lvl3pPr>
            <a:lvl4pPr lvl="3" algn="ctr">
              <a:lnSpc>
                <a:spcPct val="100000"/>
              </a:lnSpc>
              <a:spcBef>
                <a:spcPts val="336"/>
              </a:spcBef>
              <a:spcAft>
                <a:spcPts val="0"/>
              </a:spcAft>
              <a:buSzPts val="1400"/>
              <a:buNone/>
              <a:defRPr>
                <a:solidFill>
                  <a:srgbClr val="888888"/>
                </a:solidFill>
              </a:defRPr>
            </a:lvl4pPr>
            <a:lvl5pPr lvl="4" algn="ctr">
              <a:lnSpc>
                <a:spcPct val="100000"/>
              </a:lnSpc>
              <a:spcBef>
                <a:spcPts val="336"/>
              </a:spcBef>
              <a:spcAft>
                <a:spcPts val="0"/>
              </a:spcAft>
              <a:buSzPts val="14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utline">
  <p:cSld name="Outline">
    <p:spTree>
      <p:nvGrpSpPr>
        <p:cNvPr id="1" name="Shape 39"/>
        <p:cNvGrpSpPr/>
        <p:nvPr/>
      </p:nvGrpSpPr>
      <p:grpSpPr>
        <a:xfrm>
          <a:off x="0" y="0"/>
          <a:ext cx="0" cy="0"/>
          <a:chOff x="0" y="0"/>
          <a:chExt cx="0" cy="0"/>
        </a:xfrm>
      </p:grpSpPr>
      <p:sp>
        <p:nvSpPr>
          <p:cNvPr id="40" name="Google Shape;40;p9"/>
          <p:cNvSpPr/>
          <p:nvPr/>
        </p:nvSpPr>
        <p:spPr>
          <a:xfrm>
            <a:off x="0" y="1215390"/>
            <a:ext cx="12192000" cy="1295438"/>
          </a:xfrm>
          <a:prstGeom prst="rect">
            <a:avLst/>
          </a:prstGeom>
          <a:solidFill>
            <a:srgbClr val="15559F"/>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1" name="Google Shape;41;p9"/>
          <p:cNvSpPr txBox="1">
            <a:spLocks noGrp="1"/>
          </p:cNvSpPr>
          <p:nvPr>
            <p:ph type="title"/>
          </p:nvPr>
        </p:nvSpPr>
        <p:spPr>
          <a:xfrm>
            <a:off x="609600" y="1295400"/>
            <a:ext cx="10972800" cy="11430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FFFFFF"/>
              </a:buClr>
              <a:buSzPts val="3600"/>
              <a:buFont typeface="Calibri"/>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1524000" y="2688610"/>
            <a:ext cx="10058400" cy="3559791"/>
          </a:xfrm>
          <a:prstGeom prst="rect">
            <a:avLst/>
          </a:prstGeom>
          <a:noFill/>
          <a:ln>
            <a:noFill/>
          </a:ln>
        </p:spPr>
        <p:txBody>
          <a:bodyPr spcFirstLastPara="1" wrap="square" lIns="91425" tIns="45700" rIns="91425" bIns="45700" anchor="t" anchorCtr="0">
            <a:normAutofit/>
          </a:bodyPr>
          <a:lstStyle>
            <a:lvl1pPr marL="457200" lvl="0" indent="-228600" algn="l">
              <a:spcBef>
                <a:spcPts val="1867"/>
              </a:spcBef>
              <a:spcAft>
                <a:spcPts val="0"/>
              </a:spcAft>
              <a:buSzPts val="2400"/>
              <a:buFont typeface="Calibri"/>
              <a:buNone/>
              <a:defRPr sz="2400"/>
            </a:lvl1pPr>
            <a:lvl2pPr marL="914400" lvl="1" indent="-228600" algn="l">
              <a:spcBef>
                <a:spcPts val="360"/>
              </a:spcBef>
              <a:spcAft>
                <a:spcPts val="0"/>
              </a:spcAft>
              <a:buSzPts val="1620"/>
              <a:buFont typeface="Calibri"/>
              <a:buNone/>
              <a:defRPr/>
            </a:lvl2pPr>
            <a:lvl3pPr marL="1371600" lvl="2" indent="-228600" algn="l">
              <a:spcBef>
                <a:spcPts val="320"/>
              </a:spcBef>
              <a:spcAft>
                <a:spcPts val="0"/>
              </a:spcAft>
              <a:buSzPts val="1600"/>
              <a:buFont typeface="Calibri"/>
              <a:buNone/>
              <a:defRPr/>
            </a:lvl3pPr>
            <a:lvl4pPr marL="1828800" lvl="3" indent="-228600" algn="l">
              <a:lnSpc>
                <a:spcPct val="100000"/>
              </a:lnSpc>
              <a:spcBef>
                <a:spcPts val="336"/>
              </a:spcBef>
              <a:spcAft>
                <a:spcPts val="0"/>
              </a:spcAft>
              <a:buSzPts val="1400"/>
              <a:buFont typeface="Calibri"/>
              <a:buNone/>
              <a:defRPr/>
            </a:lvl4pPr>
            <a:lvl5pPr marL="2286000" lvl="4" indent="-228600" algn="l">
              <a:lnSpc>
                <a:spcPct val="100000"/>
              </a:lnSpc>
              <a:spcBef>
                <a:spcPts val="336"/>
              </a:spcBef>
              <a:spcAft>
                <a:spcPts val="0"/>
              </a:spcAft>
              <a:buSzPts val="14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3"/>
        <p:cNvGrpSpPr/>
        <p:nvPr/>
      </p:nvGrpSpPr>
      <p:grpSpPr>
        <a:xfrm>
          <a:off x="0" y="0"/>
          <a:ext cx="0" cy="0"/>
          <a:chOff x="0" y="0"/>
          <a:chExt cx="0" cy="0"/>
        </a:xfrm>
      </p:grpSpPr>
      <p:pic>
        <p:nvPicPr>
          <p:cNvPr id="44" name="Google Shape;44;p10"/>
          <p:cNvPicPr preferRelativeResize="0"/>
          <p:nvPr/>
        </p:nvPicPr>
        <p:blipFill rotWithShape="1">
          <a:blip r:embed="rId2">
            <a:alphaModFix/>
          </a:blip>
          <a:srcRect t="70981" b="1"/>
          <a:stretch/>
        </p:blipFill>
        <p:spPr>
          <a:xfrm>
            <a:off x="0" y="2021759"/>
            <a:ext cx="12192000" cy="2540001"/>
          </a:xfrm>
          <a:prstGeom prst="rect">
            <a:avLst/>
          </a:prstGeom>
          <a:gradFill>
            <a:gsLst>
              <a:gs pos="0">
                <a:srgbClr val="15559F"/>
              </a:gs>
              <a:gs pos="38000">
                <a:srgbClr val="15559F"/>
              </a:gs>
              <a:gs pos="74000">
                <a:srgbClr val="AEC5E1"/>
              </a:gs>
              <a:gs pos="83000">
                <a:srgbClr val="AEC5E1"/>
              </a:gs>
              <a:gs pos="100000">
                <a:srgbClr val="C8D8EB"/>
              </a:gs>
            </a:gsLst>
            <a:lin ang="5400000" scaled="0"/>
          </a:gradFill>
          <a:ln>
            <a:noFill/>
          </a:ln>
        </p:spPr>
      </p:pic>
      <p:sp>
        <p:nvSpPr>
          <p:cNvPr id="45" name="Google Shape;45;p10"/>
          <p:cNvSpPr/>
          <p:nvPr/>
        </p:nvSpPr>
        <p:spPr>
          <a:xfrm>
            <a:off x="0" y="2021759"/>
            <a:ext cx="12192000" cy="2540001"/>
          </a:xfrm>
          <a:prstGeom prst="rect">
            <a:avLst/>
          </a:prstGeom>
          <a:gradFill>
            <a:gsLst>
              <a:gs pos="0">
                <a:srgbClr val="15559F"/>
              </a:gs>
              <a:gs pos="50000">
                <a:srgbClr val="15559F"/>
              </a:gs>
              <a:gs pos="70000">
                <a:srgbClr val="15559F">
                  <a:alpha val="80000"/>
                </a:srgbClr>
              </a:gs>
              <a:gs pos="80000">
                <a:srgbClr val="15559F">
                  <a:alpha val="60000"/>
                </a:srgbClr>
              </a:gs>
              <a:gs pos="90000">
                <a:srgbClr val="15559F">
                  <a:alpha val="40000"/>
                </a:srgbClr>
              </a:gs>
              <a:gs pos="100000">
                <a:srgbClr val="15559F">
                  <a:alpha val="2000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10"/>
          <p:cNvSpPr txBox="1">
            <a:spLocks noGrp="1"/>
          </p:cNvSpPr>
          <p:nvPr>
            <p:ph type="title"/>
          </p:nvPr>
        </p:nvSpPr>
        <p:spPr>
          <a:xfrm>
            <a:off x="609601" y="2010333"/>
            <a:ext cx="10384465" cy="125386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FFFFFF"/>
              </a:buClr>
              <a:buSzPts val="3600"/>
              <a:buFont typeface="Calibri"/>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body" idx="1"/>
          </p:nvPr>
        </p:nvSpPr>
        <p:spPr>
          <a:xfrm>
            <a:off x="609601" y="3430818"/>
            <a:ext cx="10384465" cy="1119515"/>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SzPts val="2800"/>
              <a:buNone/>
              <a:defRPr sz="2800" i="1">
                <a:solidFill>
                  <a:srgbClr val="FFFFFF"/>
                </a:solidFill>
              </a:defRPr>
            </a:lvl1pPr>
            <a:lvl2pPr marL="914400" lvl="1" indent="-228600" algn="l">
              <a:spcBef>
                <a:spcPts val="400"/>
              </a:spcBef>
              <a:spcAft>
                <a:spcPts val="0"/>
              </a:spcAft>
              <a:buSzPts val="1800"/>
              <a:buNone/>
              <a:defRPr sz="2000">
                <a:solidFill>
                  <a:srgbClr val="888888"/>
                </a:solidFill>
              </a:defRPr>
            </a:lvl2pPr>
            <a:lvl3pPr marL="1371600" lvl="2" indent="-228600" algn="l">
              <a:spcBef>
                <a:spcPts val="360"/>
              </a:spcBef>
              <a:spcAft>
                <a:spcPts val="0"/>
              </a:spcAft>
              <a:buSzPts val="1800"/>
              <a:buNone/>
              <a:defRPr sz="1800">
                <a:solidFill>
                  <a:srgbClr val="888888"/>
                </a:solidFill>
              </a:defRPr>
            </a:lvl3pPr>
            <a:lvl4pPr marL="1828800" lvl="3" indent="-228600" algn="l">
              <a:lnSpc>
                <a:spcPct val="100000"/>
              </a:lnSpc>
              <a:spcBef>
                <a:spcPts val="336"/>
              </a:spcBef>
              <a:spcAft>
                <a:spcPts val="0"/>
              </a:spcAft>
              <a:buSzPts val="1600"/>
              <a:buNone/>
              <a:defRPr sz="1600">
                <a:solidFill>
                  <a:srgbClr val="888888"/>
                </a:solidFill>
              </a:defRPr>
            </a:lvl4pPr>
            <a:lvl5pPr marL="2286000" lvl="4" indent="-228600" algn="l">
              <a:lnSpc>
                <a:spcPct val="100000"/>
              </a:lnSpc>
              <a:spcBef>
                <a:spcPts val="336"/>
              </a:spcBef>
              <a:spcAft>
                <a:spcPts val="0"/>
              </a:spcAft>
              <a:buSzPts val="1600"/>
              <a:buNone/>
              <a:defRPr sz="1600">
                <a:solidFill>
                  <a:srgbClr val="888888"/>
                </a:solidFill>
              </a:defRPr>
            </a:lvl5pPr>
            <a:lvl6pPr marL="2743200" lvl="5" indent="-228600" algn="l">
              <a:spcBef>
                <a:spcPts val="320"/>
              </a:spcBef>
              <a:spcAft>
                <a:spcPts val="0"/>
              </a:spcAft>
              <a:buClr>
                <a:srgbClr val="888888"/>
              </a:buClr>
              <a:buSzPts val="1600"/>
              <a:buNone/>
              <a:defRPr sz="1600">
                <a:solidFill>
                  <a:srgbClr val="888888"/>
                </a:solidFill>
              </a:defRPr>
            </a:lvl6pPr>
            <a:lvl7pPr marL="3200400" lvl="6" indent="-228600" algn="l">
              <a:spcBef>
                <a:spcPts val="320"/>
              </a:spcBef>
              <a:spcAft>
                <a:spcPts val="0"/>
              </a:spcAft>
              <a:buClr>
                <a:srgbClr val="888888"/>
              </a:buClr>
              <a:buSzPts val="1600"/>
              <a:buNone/>
              <a:defRPr sz="1600">
                <a:solidFill>
                  <a:srgbClr val="888888"/>
                </a:solidFill>
              </a:defRPr>
            </a:lvl7pPr>
            <a:lvl8pPr marL="3657600" lvl="7" indent="-228600" algn="l">
              <a:spcBef>
                <a:spcPts val="320"/>
              </a:spcBef>
              <a:spcAft>
                <a:spcPts val="0"/>
              </a:spcAft>
              <a:buClr>
                <a:srgbClr val="888888"/>
              </a:buClr>
              <a:buSzPts val="1600"/>
              <a:buNone/>
              <a:defRPr sz="1600">
                <a:solidFill>
                  <a:srgbClr val="888888"/>
                </a:solidFill>
              </a:defRPr>
            </a:lvl8pPr>
            <a:lvl9pPr marL="4114800" lvl="8" indent="-228600" algn="l">
              <a:spcBef>
                <a:spcPts val="320"/>
              </a:spcBef>
              <a:spcAft>
                <a:spcPts val="0"/>
              </a:spcAft>
              <a:buClr>
                <a:srgbClr val="888888"/>
              </a:buClr>
              <a:buSzPts val="1600"/>
              <a:buNone/>
              <a:defRPr sz="1600">
                <a:solidFill>
                  <a:srgbClr val="888888"/>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lumn Subtitle">
  <p:cSld name="Two Column Subtitle">
    <p:spTree>
      <p:nvGrpSpPr>
        <p:cNvPr id="1" name="Shape 48"/>
        <p:cNvGrpSpPr/>
        <p:nvPr/>
      </p:nvGrpSpPr>
      <p:grpSpPr>
        <a:xfrm>
          <a:off x="0" y="0"/>
          <a:ext cx="0" cy="0"/>
          <a:chOff x="0" y="0"/>
          <a:chExt cx="0" cy="0"/>
        </a:xfrm>
      </p:grpSpPr>
      <p:sp>
        <p:nvSpPr>
          <p:cNvPr id="49" name="Google Shape;49;p11"/>
          <p:cNvSpPr txBox="1">
            <a:spLocks noGrp="1"/>
          </p:cNvSpPr>
          <p:nvPr>
            <p:ph type="body" idx="1"/>
          </p:nvPr>
        </p:nvSpPr>
        <p:spPr>
          <a:xfrm>
            <a:off x="609600" y="1502383"/>
            <a:ext cx="538480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11"/>
          <p:cNvSpPr txBox="1">
            <a:spLocks noGrp="1"/>
          </p:cNvSpPr>
          <p:nvPr>
            <p:ph type="body" idx="2"/>
          </p:nvPr>
        </p:nvSpPr>
        <p:spPr>
          <a:xfrm>
            <a:off x="6197600" y="1502383"/>
            <a:ext cx="538480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1" name="Google Shape;51;p11"/>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1"/>
          <p:cNvSpPr txBox="1">
            <a:spLocks noGrp="1"/>
          </p:cNvSpPr>
          <p:nvPr>
            <p:ph type="body" idx="3"/>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lumn Subtitle">
  <p:cSld name="Three Column Subtitle">
    <p:spTree>
      <p:nvGrpSpPr>
        <p:cNvPr id="1" name="Shape 53"/>
        <p:cNvGrpSpPr/>
        <p:nvPr/>
      </p:nvGrpSpPr>
      <p:grpSpPr>
        <a:xfrm>
          <a:off x="0" y="0"/>
          <a:ext cx="0" cy="0"/>
          <a:chOff x="0" y="0"/>
          <a:chExt cx="0" cy="0"/>
        </a:xfrm>
      </p:grpSpPr>
      <p:sp>
        <p:nvSpPr>
          <p:cNvPr id="54" name="Google Shape;54;p12"/>
          <p:cNvSpPr txBox="1">
            <a:spLocks noGrp="1"/>
          </p:cNvSpPr>
          <p:nvPr>
            <p:ph type="body" idx="1"/>
          </p:nvPr>
        </p:nvSpPr>
        <p:spPr>
          <a:xfrm>
            <a:off x="609600" y="1493591"/>
            <a:ext cx="356616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5" name="Google Shape;55;p12"/>
          <p:cNvSpPr txBox="1">
            <a:spLocks noGrp="1"/>
          </p:cNvSpPr>
          <p:nvPr>
            <p:ph type="body" idx="2"/>
          </p:nvPr>
        </p:nvSpPr>
        <p:spPr>
          <a:xfrm>
            <a:off x="8016242" y="1493591"/>
            <a:ext cx="356616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6" name="Google Shape;56;p12"/>
          <p:cNvSpPr txBox="1">
            <a:spLocks noGrp="1"/>
          </p:cNvSpPr>
          <p:nvPr>
            <p:ph type="body" idx="3"/>
          </p:nvPr>
        </p:nvSpPr>
        <p:spPr>
          <a:xfrm>
            <a:off x="4312921" y="1493591"/>
            <a:ext cx="356616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7" name="Google Shape;57;p12"/>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2"/>
          <p:cNvSpPr txBox="1">
            <a:spLocks noGrp="1"/>
          </p:cNvSpPr>
          <p:nvPr>
            <p:ph type="body" idx="4"/>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Gray Bar">
  <p:cSld name="Title and Content Gray Bar">
    <p:spTree>
      <p:nvGrpSpPr>
        <p:cNvPr id="1" name="Shape 66"/>
        <p:cNvGrpSpPr/>
        <p:nvPr/>
      </p:nvGrpSpPr>
      <p:grpSpPr>
        <a:xfrm>
          <a:off x="0" y="0"/>
          <a:ext cx="0" cy="0"/>
          <a:chOff x="0" y="0"/>
          <a:chExt cx="0" cy="0"/>
        </a:xfrm>
      </p:grpSpPr>
      <p:sp>
        <p:nvSpPr>
          <p:cNvPr id="67" name="Google Shape;67;p14"/>
          <p:cNvSpPr/>
          <p:nvPr/>
        </p:nvSpPr>
        <p:spPr>
          <a:xfrm>
            <a:off x="0" y="1434301"/>
            <a:ext cx="12192000" cy="4937760"/>
          </a:xfrm>
          <a:prstGeom prst="rect">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4"/>
          <p:cNvSpPr txBox="1">
            <a:spLocks noGrp="1"/>
          </p:cNvSpPr>
          <p:nvPr>
            <p:ph type="body" idx="1"/>
          </p:nvPr>
        </p:nvSpPr>
        <p:spPr>
          <a:xfrm>
            <a:off x="609600" y="1476007"/>
            <a:ext cx="1097280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55600" algn="l">
              <a:spcBef>
                <a:spcPts val="400"/>
              </a:spcBef>
              <a:spcAft>
                <a:spcPts val="0"/>
              </a:spcAft>
              <a:buClr>
                <a:schemeClr val="dk1"/>
              </a:buClr>
              <a:buSzPts val="20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14"/>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2"/>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lumn Gray">
  <p:cSld name="Two Column Gray">
    <p:spTree>
      <p:nvGrpSpPr>
        <p:cNvPr id="1" name="Shape 71"/>
        <p:cNvGrpSpPr/>
        <p:nvPr/>
      </p:nvGrpSpPr>
      <p:grpSpPr>
        <a:xfrm>
          <a:off x="0" y="0"/>
          <a:ext cx="0" cy="0"/>
          <a:chOff x="0" y="0"/>
          <a:chExt cx="0" cy="0"/>
        </a:xfrm>
      </p:grpSpPr>
      <p:sp>
        <p:nvSpPr>
          <p:cNvPr id="72" name="Google Shape;72;p15"/>
          <p:cNvSpPr/>
          <p:nvPr/>
        </p:nvSpPr>
        <p:spPr>
          <a:xfrm>
            <a:off x="0" y="1434301"/>
            <a:ext cx="12192000" cy="4937760"/>
          </a:xfrm>
          <a:prstGeom prst="rect">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p:cNvSpPr txBox="1">
            <a:spLocks noGrp="1"/>
          </p:cNvSpPr>
          <p:nvPr>
            <p:ph type="body" idx="1"/>
          </p:nvPr>
        </p:nvSpPr>
        <p:spPr>
          <a:xfrm>
            <a:off x="609600" y="1470072"/>
            <a:ext cx="5384800" cy="484632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 name="Google Shape;74;p15"/>
          <p:cNvSpPr txBox="1">
            <a:spLocks noGrp="1"/>
          </p:cNvSpPr>
          <p:nvPr>
            <p:ph type="body" idx="2"/>
          </p:nvPr>
        </p:nvSpPr>
        <p:spPr>
          <a:xfrm>
            <a:off x="6197600" y="1470072"/>
            <a:ext cx="5384800" cy="484632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5"/>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3"/>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ree Column Subtitle Gray Bar">
  <p:cSld name="Three Column Subtitle Gray Bar">
    <p:spTree>
      <p:nvGrpSpPr>
        <p:cNvPr id="1" name="Shape 77"/>
        <p:cNvGrpSpPr/>
        <p:nvPr/>
      </p:nvGrpSpPr>
      <p:grpSpPr>
        <a:xfrm>
          <a:off x="0" y="0"/>
          <a:ext cx="0" cy="0"/>
          <a:chOff x="0" y="0"/>
          <a:chExt cx="0" cy="0"/>
        </a:xfrm>
      </p:grpSpPr>
      <p:sp>
        <p:nvSpPr>
          <p:cNvPr id="78" name="Google Shape;78;p16"/>
          <p:cNvSpPr/>
          <p:nvPr/>
        </p:nvSpPr>
        <p:spPr>
          <a:xfrm>
            <a:off x="0" y="1434301"/>
            <a:ext cx="12192000" cy="4937760"/>
          </a:xfrm>
          <a:prstGeom prst="rect">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txBox="1">
            <a:spLocks noGrp="1"/>
          </p:cNvSpPr>
          <p:nvPr>
            <p:ph type="body" idx="1"/>
          </p:nvPr>
        </p:nvSpPr>
        <p:spPr>
          <a:xfrm>
            <a:off x="609600" y="1476007"/>
            <a:ext cx="356616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 name="Google Shape;80;p16"/>
          <p:cNvSpPr txBox="1">
            <a:spLocks noGrp="1"/>
          </p:cNvSpPr>
          <p:nvPr>
            <p:ph type="body" idx="2"/>
          </p:nvPr>
        </p:nvSpPr>
        <p:spPr>
          <a:xfrm>
            <a:off x="8016242" y="1476007"/>
            <a:ext cx="356616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6"/>
          <p:cNvSpPr txBox="1">
            <a:spLocks noGrp="1"/>
          </p:cNvSpPr>
          <p:nvPr>
            <p:ph type="body" idx="3"/>
          </p:nvPr>
        </p:nvSpPr>
        <p:spPr>
          <a:xfrm>
            <a:off x="4312921" y="1476007"/>
            <a:ext cx="3566160" cy="4848225"/>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16"/>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4"/>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Four Content Subtitle Gray Bar">
  <p:cSld name="Four Content Subtitle Gray Bar">
    <p:spTree>
      <p:nvGrpSpPr>
        <p:cNvPr id="1" name="Shape 84"/>
        <p:cNvGrpSpPr/>
        <p:nvPr/>
      </p:nvGrpSpPr>
      <p:grpSpPr>
        <a:xfrm>
          <a:off x="0" y="0"/>
          <a:ext cx="0" cy="0"/>
          <a:chOff x="0" y="0"/>
          <a:chExt cx="0" cy="0"/>
        </a:xfrm>
      </p:grpSpPr>
      <p:sp>
        <p:nvSpPr>
          <p:cNvPr id="85" name="Google Shape;85;p17"/>
          <p:cNvSpPr/>
          <p:nvPr/>
        </p:nvSpPr>
        <p:spPr>
          <a:xfrm>
            <a:off x="0" y="1434301"/>
            <a:ext cx="12192000" cy="4937760"/>
          </a:xfrm>
          <a:prstGeom prst="rect">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7"/>
          <p:cNvSpPr txBox="1">
            <a:spLocks noGrp="1"/>
          </p:cNvSpPr>
          <p:nvPr>
            <p:ph type="body" idx="1"/>
          </p:nvPr>
        </p:nvSpPr>
        <p:spPr>
          <a:xfrm>
            <a:off x="609600" y="1458690"/>
            <a:ext cx="5376672" cy="237744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7" name="Google Shape;87;p17"/>
          <p:cNvSpPr txBox="1">
            <a:spLocks noGrp="1"/>
          </p:cNvSpPr>
          <p:nvPr>
            <p:ph type="body" idx="2"/>
          </p:nvPr>
        </p:nvSpPr>
        <p:spPr>
          <a:xfrm>
            <a:off x="6197600" y="1458690"/>
            <a:ext cx="5376672" cy="237744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7"/>
          <p:cNvSpPr txBox="1">
            <a:spLocks noGrp="1"/>
          </p:cNvSpPr>
          <p:nvPr>
            <p:ph type="body" idx="3"/>
          </p:nvPr>
        </p:nvSpPr>
        <p:spPr>
          <a:xfrm>
            <a:off x="609600" y="3972070"/>
            <a:ext cx="5376672" cy="237744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 name="Google Shape;89;p17"/>
          <p:cNvSpPr txBox="1">
            <a:spLocks noGrp="1"/>
          </p:cNvSpPr>
          <p:nvPr>
            <p:ph type="body" idx="4"/>
          </p:nvPr>
        </p:nvSpPr>
        <p:spPr>
          <a:xfrm>
            <a:off x="6197600" y="3972070"/>
            <a:ext cx="5376672" cy="237744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lnSpc>
                <a:spcPct val="100000"/>
              </a:lnSpc>
              <a:spcBef>
                <a:spcPts val="336"/>
              </a:spcBef>
              <a:spcAft>
                <a:spcPts val="0"/>
              </a:spcAft>
              <a:buSzPts val="1600"/>
              <a:buChar char="–"/>
              <a:defRPr sz="1600"/>
            </a:lvl4pPr>
            <a:lvl5pPr marL="2286000" lvl="4" indent="-330200" algn="l">
              <a:lnSpc>
                <a:spcPct val="100000"/>
              </a:lnSpc>
              <a:spcBef>
                <a:spcPts val="336"/>
              </a:spcBef>
              <a:spcAft>
                <a:spcPts val="0"/>
              </a:spcAft>
              <a:buSzPts val="1600"/>
              <a:buChar char="–"/>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 name="Google Shape;90;p17"/>
          <p:cNvSpPr txBox="1">
            <a:spLocks noGrp="1"/>
          </p:cNvSpPr>
          <p:nvPr>
            <p:ph type="title"/>
          </p:nvPr>
        </p:nvSpPr>
        <p:spPr>
          <a:xfrm>
            <a:off x="609600" y="-1"/>
            <a:ext cx="10972800" cy="100584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5559F"/>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7"/>
          <p:cNvSpPr txBox="1">
            <a:spLocks noGrp="1"/>
          </p:cNvSpPr>
          <p:nvPr>
            <p:ph type="body" idx="5"/>
          </p:nvPr>
        </p:nvSpPr>
        <p:spPr>
          <a:xfrm>
            <a:off x="609600" y="1005839"/>
            <a:ext cx="10972800" cy="36576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SzPts val="2400"/>
              <a:buNone/>
              <a:defRPr sz="2400" i="1">
                <a:solidFill>
                  <a:srgbClr val="15559F"/>
                </a:solidFill>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lnSpc>
                <a:spcPct val="100000"/>
              </a:lnSpc>
              <a:spcBef>
                <a:spcPts val="336"/>
              </a:spcBef>
              <a:spcAft>
                <a:spcPts val="0"/>
              </a:spcAft>
              <a:buSzPts val="1800"/>
              <a:buChar char="–"/>
              <a:defRPr/>
            </a:lvl4pPr>
            <a:lvl5pPr marL="2286000" lvl="4" indent="-342900" algn="l">
              <a:lnSpc>
                <a:spcPct val="100000"/>
              </a:lnSpc>
              <a:spcBef>
                <a:spcPts val="336"/>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Thank You">
    <p:bg>
      <p:bgPr>
        <a:gradFill>
          <a:gsLst>
            <a:gs pos="0">
              <a:srgbClr val="F4F8FB"/>
            </a:gs>
            <a:gs pos="52000">
              <a:schemeClr val="lt1"/>
            </a:gs>
            <a:gs pos="100000">
              <a:schemeClr val="lt1"/>
            </a:gs>
          </a:gsLst>
          <a:lin ang="5400000" scaled="0"/>
        </a:gradFill>
        <a:effectLst/>
      </p:bgPr>
    </p:bg>
    <p:spTree>
      <p:nvGrpSpPr>
        <p:cNvPr id="1" name="Shape 92"/>
        <p:cNvGrpSpPr/>
        <p:nvPr/>
      </p:nvGrpSpPr>
      <p:grpSpPr>
        <a:xfrm>
          <a:off x="0" y="0"/>
          <a:ext cx="0" cy="0"/>
          <a:chOff x="0" y="0"/>
          <a:chExt cx="0" cy="0"/>
        </a:xfrm>
      </p:grpSpPr>
      <p:pic>
        <p:nvPicPr>
          <p:cNvPr id="93" name="Google Shape;93;p18"/>
          <p:cNvPicPr preferRelativeResize="0"/>
          <p:nvPr/>
        </p:nvPicPr>
        <p:blipFill rotWithShape="1">
          <a:blip r:embed="rId2">
            <a:alphaModFix/>
          </a:blip>
          <a:srcRect t="37262" b="2"/>
          <a:stretch/>
        </p:blipFill>
        <p:spPr>
          <a:xfrm>
            <a:off x="0" y="1366344"/>
            <a:ext cx="12192000" cy="5491655"/>
          </a:xfrm>
          <a:prstGeom prst="rect">
            <a:avLst/>
          </a:prstGeom>
          <a:noFill/>
          <a:ln>
            <a:noFill/>
          </a:ln>
        </p:spPr>
      </p:pic>
      <p:sp>
        <p:nvSpPr>
          <p:cNvPr id="94" name="Google Shape;94;p18"/>
          <p:cNvSpPr/>
          <p:nvPr/>
        </p:nvSpPr>
        <p:spPr>
          <a:xfrm>
            <a:off x="0" y="0"/>
            <a:ext cx="12192000" cy="150297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5" name="Google Shape;95;p18"/>
          <p:cNvPicPr preferRelativeResize="0"/>
          <p:nvPr/>
        </p:nvPicPr>
        <p:blipFill rotWithShape="1">
          <a:blip r:embed="rId3">
            <a:alphaModFix/>
          </a:blip>
          <a:srcRect t="28195" b="35482"/>
          <a:stretch/>
        </p:blipFill>
        <p:spPr>
          <a:xfrm>
            <a:off x="7819697" y="154111"/>
            <a:ext cx="4456386" cy="1348868"/>
          </a:xfrm>
          <a:prstGeom prst="rect">
            <a:avLst/>
          </a:prstGeom>
          <a:noFill/>
          <a:ln>
            <a:noFill/>
          </a:ln>
        </p:spPr>
      </p:pic>
      <p:sp>
        <p:nvSpPr>
          <p:cNvPr id="96" name="Google Shape;96;p18"/>
          <p:cNvSpPr txBox="1"/>
          <p:nvPr/>
        </p:nvSpPr>
        <p:spPr>
          <a:xfrm>
            <a:off x="1360968" y="1832339"/>
            <a:ext cx="436342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i="0" u="none" strike="noStrike" cap="none">
                <a:solidFill>
                  <a:srgbClr val="15559F"/>
                </a:solidFill>
                <a:latin typeface="Calibri"/>
                <a:ea typeface="Calibri"/>
                <a:cs typeface="Calibri"/>
                <a:sym typeface="Calibri"/>
              </a:rPr>
              <a:t>Thank You</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d logo">
  <p:cSld name="End logo">
    <p:spTree>
      <p:nvGrpSpPr>
        <p:cNvPr id="1" name="Shape 97"/>
        <p:cNvGrpSpPr/>
        <p:nvPr/>
      </p:nvGrpSpPr>
      <p:grpSpPr>
        <a:xfrm>
          <a:off x="0" y="0"/>
          <a:ext cx="0" cy="0"/>
          <a:chOff x="0" y="0"/>
          <a:chExt cx="0" cy="0"/>
        </a:xfrm>
      </p:grpSpPr>
      <p:pic>
        <p:nvPicPr>
          <p:cNvPr id="98" name="Google Shape;98;p19"/>
          <p:cNvPicPr preferRelativeResize="0"/>
          <p:nvPr/>
        </p:nvPicPr>
        <p:blipFill rotWithShape="1">
          <a:blip r:embed="rId2">
            <a:alphaModFix/>
          </a:blip>
          <a:srcRect/>
          <a:stretch/>
        </p:blipFill>
        <p:spPr>
          <a:xfrm>
            <a:off x="3785787" y="2804741"/>
            <a:ext cx="4620426" cy="1248517"/>
          </a:xfrm>
          <a:prstGeom prst="rect">
            <a:avLst/>
          </a:prstGeom>
          <a:noFill/>
          <a:ln>
            <a:noFill/>
          </a:ln>
        </p:spPr>
      </p:pic>
      <p:sp>
        <p:nvSpPr>
          <p:cNvPr id="99" name="Google Shape;99;p19"/>
          <p:cNvSpPr/>
          <p:nvPr/>
        </p:nvSpPr>
        <p:spPr>
          <a:xfrm>
            <a:off x="0" y="6135880"/>
            <a:ext cx="12192000" cy="7221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BAFCC991-A2E0-4329-AAA8-C9701502F662}" type="datetimeFigureOut">
              <a:rPr lang="en-US" smtClean="0"/>
              <a:t>10/29/2025</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9F5AE211-8BA8-476A-8AB4-995A8A8E7802}" type="slidenum">
              <a:rPr lang="en-US" smtClean="0"/>
              <a:t>‹#›</a:t>
            </a:fld>
            <a:endParaRPr lang="en-US"/>
          </a:p>
        </p:txBody>
      </p:sp>
    </p:spTree>
    <p:extLst>
      <p:ext uri="{BB962C8B-B14F-4D97-AF65-F5344CB8AC3E}">
        <p14:creationId xmlns:p14="http://schemas.microsoft.com/office/powerpoint/2010/main" val="2822065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Gradient DB–Petrol 80pt">
    <p:bg>
      <p:bgPr>
        <a:gradFill>
          <a:gsLst>
            <a:gs pos="33000">
              <a:schemeClr val="accent6"/>
            </a:gs>
            <a:gs pos="100000">
              <a:schemeClr val="accent1"/>
            </a:gs>
          </a:gsLst>
          <a:lin ang="5400000" scaled="1"/>
        </a:gradFill>
        <a:effectLst/>
      </p:bgPr>
    </p:bg>
    <p:spTree>
      <p:nvGrpSpPr>
        <p:cNvPr id="1" name=""/>
        <p:cNvGrpSpPr/>
        <p:nvPr/>
      </p:nvGrpSpPr>
      <p:grpSpPr>
        <a:xfrm>
          <a:off x="0" y="0"/>
          <a:ext cx="0" cy="0"/>
          <a:chOff x="0" y="0"/>
          <a:chExt cx="0" cy="0"/>
        </a:xfrm>
      </p:grpSpPr>
      <p:pic>
        <p:nvPicPr>
          <p:cNvPr id="7" name="Cognisphere" descr="Background pattern&#10;&#10;Description automatically generated">
            <a:extLst>
              <a:ext uri="{FF2B5EF4-FFF2-40B4-BE49-F238E27FC236}">
                <a16:creationId xmlns:a16="http://schemas.microsoft.com/office/drawing/2014/main" xmlns="" id="{70837433-2C09-4518-AF0D-697A97CAC3A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4" name="Title">
            <a:extLst>
              <a:ext uri="{FF2B5EF4-FFF2-40B4-BE49-F238E27FC236}">
                <a16:creationId xmlns:a16="http://schemas.microsoft.com/office/drawing/2014/main" xmlns="" id="{B3CAAA86-26BD-41E0-A26A-7AF592C3A34A}"/>
              </a:ext>
            </a:extLst>
          </p:cNvPr>
          <p:cNvSpPr>
            <a:spLocks noGrp="1"/>
          </p:cNvSpPr>
          <p:nvPr>
            <p:ph type="title" hasCustomPrompt="1"/>
          </p:nvPr>
        </p:nvSpPr>
        <p:spPr>
          <a:xfrm>
            <a:off x="410401" y="1414468"/>
            <a:ext cx="11376788" cy="2461571"/>
          </a:xfrm>
          <a:blipFill dpi="0" rotWithShape="1">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rcRect/>
            <a:stretch>
              <a:fillRect b="700"/>
            </a:stretch>
          </a:blipFill>
        </p:spPr>
        <p:txBody>
          <a:bodyPr rIns="0" bIns="0" anchor="t" anchorCtr="0">
            <a:spAutoFit/>
          </a:bodyPr>
          <a:lstStyle>
            <a:lvl1pPr marL="539846">
              <a:lnSpc>
                <a:spcPct val="100000"/>
              </a:lnSpc>
              <a:defRPr sz="7998">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xmlns="" id="{89304306-5233-4901-B576-444696A2EA33}"/>
              </a:ext>
            </a:extLst>
          </p:cNvPr>
          <p:cNvSpPr>
            <a:spLocks noGrp="1"/>
          </p:cNvSpPr>
          <p:nvPr>
            <p:ph type="subTitle" idx="1" hasCustomPrompt="1"/>
          </p:nvPr>
        </p:nvSpPr>
        <p:spPr>
          <a:xfrm>
            <a:off x="411164" y="3876677"/>
            <a:ext cx="9288000" cy="1930398"/>
          </a:xfrm>
          <a:prstGeom prst="rect">
            <a:avLst/>
          </a:prstGeom>
        </p:spPr>
        <p:txBody>
          <a:bodyPr lIns="0" tIns="349200">
            <a:noAutofit/>
          </a:bodyPr>
          <a:lstStyle>
            <a:lvl1pPr marL="0" indent="0" algn="l">
              <a:spcAft>
                <a:spcPts val="300"/>
              </a:spcAft>
              <a:buNone/>
              <a:defRPr sz="3199">
                <a:solidFill>
                  <a:schemeClr val="tx1"/>
                </a:solidFill>
              </a:defRPr>
            </a:lvl1pPr>
            <a:lvl2pPr marL="0" marR="0" indent="0" algn="l" defTabSz="914141"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399"/>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32 </a:t>
            </a:r>
            <a:r>
              <a:rPr lang="en-US" dirty="0" err="1"/>
              <a:t>pt</a:t>
            </a:r>
            <a:endParaRPr lang="en-US" dirty="0"/>
          </a:p>
        </p:txBody>
      </p:sp>
      <p:sp>
        <p:nvSpPr>
          <p:cNvPr id="2" name="Footer Placeholder">
            <a:extLst>
              <a:ext uri="{FF2B5EF4-FFF2-40B4-BE49-F238E27FC236}">
                <a16:creationId xmlns:a16="http://schemas.microsoft.com/office/drawing/2014/main" xmlns="" id="{36983F93-FD6F-4DAC-8F23-D4EF00A04206}"/>
              </a:ext>
            </a:extLst>
          </p:cNvPr>
          <p:cNvSpPr>
            <a:spLocks noGrp="1"/>
          </p:cNvSpPr>
          <p:nvPr>
            <p:ph type="ftr" sz="quarter" idx="12"/>
          </p:nvPr>
        </p:nvSpPr>
        <p:spPr>
          <a:xfrm>
            <a:off x="411164" y="6310800"/>
            <a:ext cx="9288000" cy="547200"/>
          </a:xfrm>
        </p:spPr>
        <p:txBody>
          <a:bodyPr/>
          <a:lstStyle/>
          <a:p>
            <a:r>
              <a:rPr lang="it-IT" dirty="0"/>
              <a:t>Restricted | © Siemens 2021 | 2021-10-27 | FPGA Modeling Team| Quarter QFT/FPGA Modeling Meeting | Siemens Digital Industries Software | Where today meets tomorrow.</a:t>
            </a:r>
            <a:endParaRPr lang="en-US" dirty="0"/>
          </a:p>
        </p:txBody>
      </p:sp>
      <p:pic>
        <p:nvPicPr>
          <p:cNvPr id="10" name="Siemens Logo">
            <a:extLst>
              <a:ext uri="{FF2B5EF4-FFF2-40B4-BE49-F238E27FC236}">
                <a16:creationId xmlns:a16="http://schemas.microsoft.com/office/drawing/2014/main" xmlns="" id="{9A561178-96D2-407A-94C5-91A37401F657}"/>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xmlns="" r:embed="rId6"/>
              </a:ext>
            </a:extLst>
          </a:blip>
          <a:srcRect/>
          <a:stretch/>
        </p:blipFill>
        <p:spPr>
          <a:xfrm>
            <a:off x="10274401" y="6364800"/>
            <a:ext cx="1512000" cy="240408"/>
          </a:xfrm>
          <a:prstGeom prst="rect">
            <a:avLst/>
          </a:prstGeom>
        </p:spPr>
      </p:pic>
    </p:spTree>
    <p:extLst>
      <p:ext uri="{BB962C8B-B14F-4D97-AF65-F5344CB8AC3E}">
        <p14:creationId xmlns:p14="http://schemas.microsoft.com/office/powerpoint/2010/main" val="11278398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hapter title dark 8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xmlns="" id="{B3CAAA86-26BD-41E0-A26A-7AF592C3A34A}"/>
              </a:ext>
            </a:extLst>
          </p:cNvPr>
          <p:cNvSpPr>
            <a:spLocks noGrp="1"/>
          </p:cNvSpPr>
          <p:nvPr>
            <p:ph type="title" hasCustomPrompt="1"/>
          </p:nvPr>
        </p:nvSpPr>
        <p:spPr>
          <a:xfrm>
            <a:off x="410401" y="1414467"/>
            <a:ext cx="11376788" cy="2461571"/>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a:fillRect b="700"/>
            </a:stretch>
          </a:blipFill>
        </p:spPr>
        <p:txBody>
          <a:bodyPr rIns="0" bIns="0" anchor="t" anchorCtr="0">
            <a:spAutoFit/>
          </a:bodyPr>
          <a:lstStyle>
            <a:lvl1pPr marL="539846">
              <a:lnSpc>
                <a:spcPct val="100000"/>
              </a:lnSpc>
              <a:defRPr sz="7998">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xmlns="" id="{89304306-5233-4901-B576-444696A2EA33}"/>
              </a:ext>
            </a:extLst>
          </p:cNvPr>
          <p:cNvSpPr>
            <a:spLocks noGrp="1"/>
          </p:cNvSpPr>
          <p:nvPr>
            <p:ph type="subTitle" idx="1" hasCustomPrompt="1"/>
          </p:nvPr>
        </p:nvSpPr>
        <p:spPr>
          <a:xfrm>
            <a:off x="411164" y="3876679"/>
            <a:ext cx="9288000" cy="1930399"/>
          </a:xfrm>
          <a:prstGeom prst="rect">
            <a:avLst/>
          </a:prstGeom>
        </p:spPr>
        <p:txBody>
          <a:bodyPr lIns="0" tIns="349200">
            <a:noAutofit/>
          </a:bodyPr>
          <a:lstStyle>
            <a:lvl1pPr marL="0" indent="0" algn="l">
              <a:spcAft>
                <a:spcPts val="300"/>
              </a:spcAft>
              <a:buNone/>
              <a:defRPr sz="3199">
                <a:solidFill>
                  <a:schemeClr val="tx1"/>
                </a:solidFill>
              </a:defRPr>
            </a:lvl1pPr>
            <a:lvl2pPr marL="0" marR="0" indent="0" algn="l" defTabSz="914141"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399"/>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32 </a:t>
            </a:r>
            <a:r>
              <a:rPr lang="en-US" dirty="0" err="1"/>
              <a:t>pt</a:t>
            </a:r>
            <a:endParaRPr lang="en-US" dirty="0"/>
          </a:p>
        </p:txBody>
      </p:sp>
      <p:sp>
        <p:nvSpPr>
          <p:cNvPr id="5" name="Footer Placeholder">
            <a:extLst>
              <a:ext uri="{FF2B5EF4-FFF2-40B4-BE49-F238E27FC236}">
                <a16:creationId xmlns:a16="http://schemas.microsoft.com/office/drawing/2014/main" xmlns="" id="{EDBCA456-A643-45C8-9383-5A06099EB621}"/>
              </a:ext>
            </a:extLst>
          </p:cNvPr>
          <p:cNvSpPr>
            <a:spLocks noGrp="1"/>
          </p:cNvSpPr>
          <p:nvPr>
            <p:ph type="ftr" sz="quarter" idx="10"/>
          </p:nvPr>
        </p:nvSpPr>
        <p:spPr>
          <a:xfrm>
            <a:off x="1059161" y="6310800"/>
            <a:ext cx="8924051" cy="547200"/>
          </a:xfrm>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6" name="Slide Number Placeholder">
            <a:extLst>
              <a:ext uri="{FF2B5EF4-FFF2-40B4-BE49-F238E27FC236}">
                <a16:creationId xmlns:a16="http://schemas.microsoft.com/office/drawing/2014/main" xmlns="" id="{5B05DC85-FD3C-4245-83A1-F6197CB9E08F}"/>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10" name="Siemens Logo">
            <a:extLst>
              <a:ext uri="{FF2B5EF4-FFF2-40B4-BE49-F238E27FC236}">
                <a16:creationId xmlns:a16="http://schemas.microsoft.com/office/drawing/2014/main" xmlns="" id="{9A561178-96D2-407A-94C5-91A37401F65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0274401" y="6364800"/>
            <a:ext cx="1512000" cy="240408"/>
          </a:xfrm>
          <a:prstGeom prst="rect">
            <a:avLst/>
          </a:prstGeom>
        </p:spPr>
      </p:pic>
    </p:spTree>
    <p:extLst>
      <p:ext uri="{BB962C8B-B14F-4D97-AF65-F5344CB8AC3E}">
        <p14:creationId xmlns:p14="http://schemas.microsoft.com/office/powerpoint/2010/main" val="728422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hapter title light 40pt">
    <p:bg>
      <p:bgRef idx="1001">
        <a:schemeClr val="bg2"/>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xmlns="" id="{B3CAAA86-26BD-41E0-A26A-7AF592C3A34A}"/>
              </a:ext>
            </a:extLst>
          </p:cNvPr>
          <p:cNvSpPr>
            <a:spLocks noGrp="1"/>
          </p:cNvSpPr>
          <p:nvPr>
            <p:ph type="title" hasCustomPrompt="1"/>
          </p:nvPr>
        </p:nvSpPr>
        <p:spPr>
          <a:xfrm>
            <a:off x="410400" y="1414466"/>
            <a:ext cx="11370437" cy="2461700"/>
          </a:xfrm>
          <a:blipFill dpi="0"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a:stretch>
              <a:fillRect b="500"/>
            </a:stretch>
          </a:blipFill>
        </p:spPr>
        <p:txBody>
          <a:bodyPr wrap="square" rIns="0" bIns="0" anchor="t" anchorCtr="0">
            <a:spAutoFit/>
          </a:bodyPr>
          <a:lstStyle>
            <a:lvl1pPr marL="269923">
              <a:lnSpc>
                <a:spcPct val="100000"/>
              </a:lnSpc>
              <a:defRPr sz="3999">
                <a:solidFill>
                  <a:schemeClr val="tx1"/>
                </a:solidFill>
              </a:defRPr>
            </a:lvl1pPr>
          </a:lstStyle>
          <a:p>
            <a:r>
              <a:rPr lang="en-US" dirty="0"/>
              <a:t>Click to edit </a:t>
            </a:r>
            <a:br>
              <a:rPr lang="en-US" dirty="0"/>
            </a:br>
            <a:r>
              <a:rPr lang="en-US" dirty="0"/>
              <a:t>Master title style</a:t>
            </a:r>
            <a:br>
              <a:rPr lang="en-US" dirty="0"/>
            </a:br>
            <a:r>
              <a:rPr lang="en-US" dirty="0"/>
              <a:t>extra long headlines</a:t>
            </a:r>
            <a:br>
              <a:rPr lang="en-US" dirty="0"/>
            </a:br>
            <a:r>
              <a:rPr lang="en-US" dirty="0"/>
              <a:t>4 lines 40 </a:t>
            </a:r>
            <a:r>
              <a:rPr lang="en-US" dirty="0" err="1"/>
              <a:t>pt</a:t>
            </a:r>
            <a:endParaRPr lang="en-US" dirty="0"/>
          </a:p>
        </p:txBody>
      </p:sp>
      <p:sp>
        <p:nvSpPr>
          <p:cNvPr id="3" name="Subhead">
            <a:extLst>
              <a:ext uri="{FF2B5EF4-FFF2-40B4-BE49-F238E27FC236}">
                <a16:creationId xmlns:a16="http://schemas.microsoft.com/office/drawing/2014/main" xmlns="" id="{89304306-5233-4901-B576-444696A2EA33}"/>
              </a:ext>
            </a:extLst>
          </p:cNvPr>
          <p:cNvSpPr>
            <a:spLocks noGrp="1"/>
          </p:cNvSpPr>
          <p:nvPr>
            <p:ph type="subTitle" idx="1" hasCustomPrompt="1"/>
          </p:nvPr>
        </p:nvSpPr>
        <p:spPr>
          <a:xfrm>
            <a:off x="411164" y="3876679"/>
            <a:ext cx="9288000" cy="1930123"/>
          </a:xfrm>
          <a:prstGeom prst="rect">
            <a:avLst/>
          </a:prstGeom>
        </p:spPr>
        <p:txBody>
          <a:bodyPr lIns="0" tIns="349200">
            <a:noAutofit/>
          </a:bodyPr>
          <a:lstStyle>
            <a:lvl1pPr marL="0" indent="0" algn="l">
              <a:spcAft>
                <a:spcPts val="300"/>
              </a:spcAft>
              <a:buNone/>
              <a:defRPr sz="1600">
                <a:solidFill>
                  <a:schemeClr val="tx1"/>
                </a:solidFill>
              </a:defRPr>
            </a:lvl1pPr>
            <a:lvl2pPr marL="0" marR="0" indent="0" algn="l" defTabSz="914141"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1600"/>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pPr lvl="0"/>
            <a:r>
              <a:rPr lang="en-US" dirty="0"/>
              <a:t>Subhead for headline size 16 </a:t>
            </a:r>
            <a:r>
              <a:rPr lang="en-US" dirty="0" err="1"/>
              <a:t>pt</a:t>
            </a:r>
            <a:endParaRPr lang="en-US" dirty="0"/>
          </a:p>
        </p:txBody>
      </p:sp>
      <p:sp>
        <p:nvSpPr>
          <p:cNvPr id="5" name="Footer Placeholder">
            <a:extLst>
              <a:ext uri="{FF2B5EF4-FFF2-40B4-BE49-F238E27FC236}">
                <a16:creationId xmlns:a16="http://schemas.microsoft.com/office/drawing/2014/main" xmlns="" id="{1498F1A9-6241-4523-AFBC-C74F3AA4AC35}"/>
              </a:ext>
            </a:extLst>
          </p:cNvPr>
          <p:cNvSpPr>
            <a:spLocks noGrp="1"/>
          </p:cNvSpPr>
          <p:nvPr>
            <p:ph type="ftr" sz="quarter" idx="10"/>
          </p:nvPr>
        </p:nvSpPr>
        <p:spPr>
          <a:xfrm>
            <a:off x="1059160" y="6310800"/>
            <a:ext cx="9000272" cy="547200"/>
          </a:xfrm>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6" name="Slide Number Placeholder">
            <a:extLst>
              <a:ext uri="{FF2B5EF4-FFF2-40B4-BE49-F238E27FC236}">
                <a16:creationId xmlns:a16="http://schemas.microsoft.com/office/drawing/2014/main" xmlns="" id="{267619FE-01EE-4013-B481-A8C505C5D26A}"/>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7" name="Siemens Logo">
            <a:extLst>
              <a:ext uri="{FF2B5EF4-FFF2-40B4-BE49-F238E27FC236}">
                <a16:creationId xmlns:a16="http://schemas.microsoft.com/office/drawing/2014/main" xmlns="" id="{2A2349A4-4A97-42CC-AE59-7EDEE385EDFA}"/>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0274401" y="6364800"/>
            <a:ext cx="1512000" cy="240408"/>
          </a:xfrm>
          <a:prstGeom prst="rect">
            <a:avLst/>
          </a:prstGeom>
        </p:spPr>
      </p:pic>
    </p:spTree>
    <p:extLst>
      <p:ext uri="{BB962C8B-B14F-4D97-AF65-F5344CB8AC3E}">
        <p14:creationId xmlns:p14="http://schemas.microsoft.com/office/powerpoint/2010/main" val="37757546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109">
          <p15:clr>
            <a:srgbClr val="65CEFF"/>
          </p15:clr>
        </p15:guide>
        <p15:guide id="3" pos="7425">
          <p15:clr>
            <a:srgbClr val="65CEFF"/>
          </p15:clr>
        </p15:guide>
        <p15:guide id="4" orient="horz" pos="891">
          <p15:clr>
            <a:srgbClr val="65CEFF"/>
          </p15:clr>
        </p15:guide>
        <p15:guide id="5" orient="horz" pos="3658">
          <p15:clr>
            <a:srgbClr val="65CEFF"/>
          </p15:clr>
        </p15:guide>
        <p15:guide id="6" orient="horz" pos="4157">
          <p15:clr>
            <a:srgbClr val="65CEF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Index / Agenda">
    <p:spTree>
      <p:nvGrpSpPr>
        <p:cNvPr id="1" name=""/>
        <p:cNvGrpSpPr/>
        <p:nvPr/>
      </p:nvGrpSpPr>
      <p:grpSpPr>
        <a:xfrm>
          <a:off x="0" y="0"/>
          <a:ext cx="0" cy="0"/>
          <a:chOff x="0" y="0"/>
          <a:chExt cx="0" cy="0"/>
        </a:xfrm>
      </p:grpSpPr>
      <p:pic>
        <p:nvPicPr>
          <p:cNvPr id="8" name="Cognisphere" descr="A picture containing chart&#10;&#10;Description automatically generated">
            <a:extLst>
              <a:ext uri="{FF2B5EF4-FFF2-40B4-BE49-F238E27FC236}">
                <a16:creationId xmlns:a16="http://schemas.microsoft.com/office/drawing/2014/main" xmlns="" id="{FEC69F24-2876-47B9-A4B6-0ADE800ECDDB}"/>
              </a:ext>
            </a:extLst>
          </p:cNvPr>
          <p:cNvPicPr>
            <a:picLocks noChangeAspect="1"/>
          </p:cNvPicPr>
          <p:nvPr/>
        </p:nvPicPr>
        <p:blipFill rotWithShape="1">
          <a:blip r:embed="rId2" cstate="print">
            <a:alphaModFix amt="60000"/>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a:extLst>
              <a:ext uri="{FF2B5EF4-FFF2-40B4-BE49-F238E27FC236}">
                <a16:creationId xmlns:a16="http://schemas.microsoft.com/office/drawing/2014/main" xmlns="" id="{5CDB9E4A-37E0-45B2-BC93-C2EC503FB8F7}"/>
              </a:ext>
            </a:extLst>
          </p:cNvPr>
          <p:cNvSpPr>
            <a:spLocks noGrp="1"/>
          </p:cNvSpPr>
          <p:nvPr>
            <p:ph type="title"/>
          </p:nvPr>
        </p:nvSpPr>
        <p:spPr>
          <a:xfrm>
            <a:off x="410401" y="478800"/>
            <a:ext cx="5904675" cy="576000"/>
          </a:xfrm>
        </p:spPr>
        <p:txBody>
          <a:bodyPr/>
          <a:lstStyle/>
          <a:p>
            <a:r>
              <a:rPr lang="en-US"/>
              <a:t>Click to edit Master title style</a:t>
            </a:r>
            <a:endParaRPr lang="en-US" dirty="0"/>
          </a:p>
        </p:txBody>
      </p:sp>
      <p:sp>
        <p:nvSpPr>
          <p:cNvPr id="4" name="Copy">
            <a:extLst>
              <a:ext uri="{FF2B5EF4-FFF2-40B4-BE49-F238E27FC236}">
                <a16:creationId xmlns:a16="http://schemas.microsoft.com/office/drawing/2014/main" xmlns="" id="{0E701EC8-7FC1-42BE-915D-048C74A40E0C}"/>
              </a:ext>
            </a:extLst>
          </p:cNvPr>
          <p:cNvSpPr>
            <a:spLocks noGrp="1"/>
          </p:cNvSpPr>
          <p:nvPr>
            <p:ph type="body" sz="quarter" idx="12" hasCustomPrompt="1"/>
          </p:nvPr>
        </p:nvSpPr>
        <p:spPr>
          <a:xfrm>
            <a:off x="411165" y="1414466"/>
            <a:ext cx="5903912" cy="4751387"/>
          </a:xfrm>
        </p:spPr>
        <p:txBody>
          <a:bodyPr/>
          <a:lstStyle>
            <a:lvl1pPr marL="179948" indent="0">
              <a:spcAft>
                <a:spcPts val="900"/>
              </a:spcAft>
              <a:buNone/>
              <a:tabLst>
                <a:tab pos="5900652" algn="r"/>
              </a:tabLst>
              <a:defRPr b="0"/>
            </a:lvl1pPr>
            <a:lvl2pPr marL="285669" indent="-285669" algn="l" defTabSz="914141" rtl="0" eaLnBrk="1" latinLnBrk="0" hangingPunct="1">
              <a:lnSpc>
                <a:spcPct val="100000"/>
              </a:lnSpc>
              <a:spcBef>
                <a:spcPts val="200"/>
              </a:spcBef>
              <a:spcAft>
                <a:spcPts val="600"/>
              </a:spcAft>
              <a:buClr>
                <a:schemeClr val="accent1"/>
              </a:buClr>
              <a:buFont typeface="Arial" panose="020B0604020202020204" pitchFamily="34" charset="0"/>
              <a:buChar char="•"/>
              <a:tabLst>
                <a:tab pos="5900652" algn="r"/>
              </a:tabLst>
              <a:defRPr lang="en-US" sz="1800" b="0" kern="1200" dirty="0" smtClean="0">
                <a:solidFill>
                  <a:schemeClr val="tx1"/>
                </a:solidFill>
                <a:latin typeface="+mn-lt"/>
                <a:ea typeface="+mn-ea"/>
                <a:cs typeface="+mn-cs"/>
              </a:defRPr>
            </a:lvl2pPr>
            <a:lvl3pPr marL="285669" indent="-285669">
              <a:lnSpc>
                <a:spcPct val="100000"/>
              </a:lnSpc>
              <a:spcBef>
                <a:spcPts val="200"/>
              </a:spcBef>
              <a:spcAft>
                <a:spcPts val="600"/>
              </a:spcAft>
              <a:buFont typeface="Arial" panose="020B0604020202020204" pitchFamily="34" charset="0"/>
              <a:buChar char="•"/>
              <a:tabLst>
                <a:tab pos="5900652" algn="r"/>
              </a:tabLst>
              <a:defRPr b="0" baseline="0"/>
            </a:lvl3pPr>
            <a:lvl4pPr marL="539846" indent="-179948" algn="l" defTabSz="914141" rtl="0" eaLnBrk="1" latinLnBrk="0" hangingPunct="1">
              <a:lnSpc>
                <a:spcPct val="100000"/>
              </a:lnSpc>
              <a:spcBef>
                <a:spcPts val="200"/>
              </a:spcBef>
              <a:spcAft>
                <a:spcPts val="600"/>
              </a:spcAft>
              <a:buClr>
                <a:schemeClr val="accent1"/>
              </a:buClr>
              <a:buFont typeface="Arial" panose="020B0604020202020204" pitchFamily="34" charset="0"/>
              <a:buChar char="•"/>
              <a:tabLst>
                <a:tab pos="5900652" algn="r"/>
              </a:tabLst>
              <a:defRPr lang="en-US" sz="1800" b="0" kern="1200" baseline="0" dirty="0">
                <a:solidFill>
                  <a:schemeClr val="tx1"/>
                </a:solidFill>
                <a:latin typeface="+mn-lt"/>
                <a:ea typeface="+mn-ea"/>
                <a:cs typeface="+mn-cs"/>
              </a:defRPr>
            </a:lvl4pPr>
            <a:lvl5pPr marL="359898">
              <a:spcAft>
                <a:spcPts val="900"/>
              </a:spcAft>
              <a:tabLst>
                <a:tab pos="5900652" algn="r"/>
              </a:tabLst>
              <a:defRPr b="0"/>
            </a:lvl5pPr>
            <a:lvl6pPr marL="179948">
              <a:spcAft>
                <a:spcPts val="600"/>
              </a:spcAft>
              <a:tabLst>
                <a:tab pos="5900652" algn="r"/>
              </a:tabLst>
              <a:defRPr sz="1600"/>
            </a:lvl6pPr>
            <a:lvl7pPr marL="285669" indent="-285669">
              <a:spcAft>
                <a:spcPts val="600"/>
              </a:spcAft>
              <a:buFont typeface="Arial" panose="020B0604020202020204" pitchFamily="34" charset="0"/>
              <a:buChar char="•"/>
              <a:tabLst>
                <a:tab pos="5900652" algn="r"/>
              </a:tabLst>
              <a:defRPr sz="1800" b="0" baseline="0"/>
            </a:lvl7pPr>
            <a:lvl8pPr marL="359898" indent="0">
              <a:spcAft>
                <a:spcPts val="600"/>
              </a:spcAft>
              <a:buFont typeface="Arial" panose="020B0604020202020204" pitchFamily="34" charset="0"/>
              <a:buNone/>
              <a:tabLst>
                <a:tab pos="5900652" algn="r"/>
              </a:tabLst>
              <a:defRPr sz="1800" b="0" baseline="0"/>
            </a:lvl8pPr>
            <a:lvl9pPr marL="359898">
              <a:spcAft>
                <a:spcPts val="600"/>
              </a:spcAft>
              <a:tabLst>
                <a:tab pos="5900652" algn="r"/>
              </a:tabLst>
              <a:defRPr sz="1600" b="1"/>
            </a:lvl9pPr>
          </a:lstStyle>
          <a:p>
            <a:pPr lvl="1"/>
            <a:r>
              <a:rPr lang="en-US" dirty="0"/>
              <a:t>Bullet 1</a:t>
            </a:r>
          </a:p>
          <a:p>
            <a:pPr lvl="3"/>
            <a:r>
              <a:rPr lang="en-US" dirty="0"/>
              <a:t>Sub-bullet 1</a:t>
            </a:r>
          </a:p>
          <a:p>
            <a:pPr lvl="3"/>
            <a:r>
              <a:rPr lang="en-US" dirty="0"/>
              <a:t>Sub-bullet 2</a:t>
            </a:r>
          </a:p>
          <a:p>
            <a:pPr lvl="2"/>
            <a:r>
              <a:rPr lang="en-US" dirty="0"/>
              <a:t>Bullet 2</a:t>
            </a:r>
          </a:p>
          <a:p>
            <a:pPr lvl="2"/>
            <a:r>
              <a:rPr lang="en-US" dirty="0"/>
              <a:t>Bullet 3</a:t>
            </a:r>
          </a:p>
          <a:p>
            <a:pPr lvl="2"/>
            <a:r>
              <a:rPr lang="en-US" dirty="0"/>
              <a:t>Bullet 4</a:t>
            </a:r>
          </a:p>
          <a:p>
            <a:pPr lvl="3"/>
            <a:r>
              <a:rPr lang="en-US" dirty="0"/>
              <a:t>Sub-bullet 1</a:t>
            </a:r>
          </a:p>
          <a:p>
            <a:pPr lvl="3"/>
            <a:r>
              <a:rPr lang="en-US" dirty="0"/>
              <a:t>Sub-bullet 2</a:t>
            </a:r>
          </a:p>
          <a:p>
            <a:pPr lvl="2"/>
            <a:r>
              <a:rPr lang="en-US" dirty="0"/>
              <a:t>Summary</a:t>
            </a:r>
          </a:p>
          <a:p>
            <a:pPr lvl="7"/>
            <a:endParaRPr lang="en-US" dirty="0"/>
          </a:p>
          <a:p>
            <a:pPr marL="359898" lvl="1"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pPr>
            <a:endParaRPr lang="en-US" dirty="0"/>
          </a:p>
        </p:txBody>
      </p:sp>
      <p:sp>
        <p:nvSpPr>
          <p:cNvPr id="9" name="Footer Placeholder">
            <a:extLst>
              <a:ext uri="{FF2B5EF4-FFF2-40B4-BE49-F238E27FC236}">
                <a16:creationId xmlns:a16="http://schemas.microsoft.com/office/drawing/2014/main" xmlns="" id="{8C6E0B19-DC70-4D19-9A56-05E87567F196}"/>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10" name="Slide Number Placeholder">
            <a:extLst>
              <a:ext uri="{FF2B5EF4-FFF2-40B4-BE49-F238E27FC236}">
                <a16:creationId xmlns:a16="http://schemas.microsoft.com/office/drawing/2014/main" xmlns="" id="{D3DF1D7C-B467-46E9-B036-83EC1DBE711C}"/>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7" name="Siemens Logo">
            <a:extLst>
              <a:ext uri="{FF2B5EF4-FFF2-40B4-BE49-F238E27FC236}">
                <a16:creationId xmlns:a16="http://schemas.microsoft.com/office/drawing/2014/main" xmlns="" id="{E73DB6A8-F91C-4B87-ACAA-19A2D5EA21EF}"/>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1488023381"/>
      </p:ext>
    </p:extLst>
  </p:cSld>
  <p:clrMapOvr>
    <a:masterClrMapping/>
  </p:clrMapOvr>
  <p:extLst>
    <p:ext uri="{DCECCB84-F9BA-43D5-87BE-67443E8EF086}">
      <p15:sldGuideLst xmlns:p15="http://schemas.microsoft.com/office/powerpoint/2012/main">
        <p15:guide id="1" pos="259">
          <p15:clr>
            <a:srgbClr val="65CEFF"/>
          </p15:clr>
        </p15:guide>
        <p15:guide id="2" pos="3978">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2206">
          <p15:clr>
            <a:srgbClr val="65CEFF"/>
          </p15:clr>
        </p15:guide>
        <p15:guide id="9" orient="horz" pos="2343">
          <p15:clr>
            <a:srgbClr val="65CEFF"/>
          </p15:clr>
        </p15:guide>
        <p15:guide id="10" orient="horz" pos="3658">
          <p15:clr>
            <a:srgbClr val="65CEFF"/>
          </p15:clr>
        </p15:guide>
        <p15:guide id="11" orient="horz" pos="3885">
          <p15:clr>
            <a:srgbClr val="65CEFF"/>
          </p15:clr>
        </p15:guide>
        <p15:guide id="12" orient="horz" pos="4157">
          <p15:clr>
            <a:srgbClr val="65CEFF"/>
          </p15:clr>
        </p15:guide>
        <p15:guide id="13" pos="4248">
          <p15:clr>
            <a:srgbClr val="65CEFF"/>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Index / Agenda">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xmlns="" id="{5CDB9E4A-37E0-45B2-BC93-C2EC503FB8F7}"/>
              </a:ext>
            </a:extLst>
          </p:cNvPr>
          <p:cNvSpPr>
            <a:spLocks noGrp="1"/>
          </p:cNvSpPr>
          <p:nvPr>
            <p:ph type="title"/>
          </p:nvPr>
        </p:nvSpPr>
        <p:spPr>
          <a:xfrm>
            <a:off x="410401" y="478800"/>
            <a:ext cx="5904675" cy="576000"/>
          </a:xfrm>
        </p:spPr>
        <p:txBody>
          <a:bodyPr/>
          <a:lstStyle/>
          <a:p>
            <a:r>
              <a:rPr lang="en-US"/>
              <a:t>Click to edit Master title style</a:t>
            </a:r>
            <a:endParaRPr lang="en-US" dirty="0"/>
          </a:p>
        </p:txBody>
      </p:sp>
      <p:sp>
        <p:nvSpPr>
          <p:cNvPr id="4" name="Copy">
            <a:extLst>
              <a:ext uri="{FF2B5EF4-FFF2-40B4-BE49-F238E27FC236}">
                <a16:creationId xmlns:a16="http://schemas.microsoft.com/office/drawing/2014/main" xmlns="" id="{0E701EC8-7FC1-42BE-915D-048C74A40E0C}"/>
              </a:ext>
            </a:extLst>
          </p:cNvPr>
          <p:cNvSpPr>
            <a:spLocks noGrp="1"/>
          </p:cNvSpPr>
          <p:nvPr>
            <p:ph type="body" sz="quarter" idx="12" hasCustomPrompt="1"/>
          </p:nvPr>
        </p:nvSpPr>
        <p:spPr>
          <a:xfrm>
            <a:off x="411165" y="1414466"/>
            <a:ext cx="5903912" cy="4751387"/>
          </a:xfrm>
        </p:spPr>
        <p:txBody>
          <a:bodyPr/>
          <a:lstStyle>
            <a:lvl1pPr marL="179948" indent="-179948">
              <a:spcAft>
                <a:spcPts val="900"/>
              </a:spcAft>
              <a:tabLst>
                <a:tab pos="5900652" algn="r"/>
              </a:tabLst>
              <a:defRPr/>
            </a:lvl1pPr>
            <a:lvl2pPr>
              <a:spcAft>
                <a:spcPts val="900"/>
              </a:spcAft>
              <a:tabLst>
                <a:tab pos="5900652" algn="r"/>
              </a:tabLst>
              <a:defRPr lang="en-US" sz="1800" kern="1200" dirty="0" smtClean="0">
                <a:solidFill>
                  <a:schemeClr val="tx1"/>
                </a:solidFill>
                <a:latin typeface="+mn-lt"/>
                <a:ea typeface="+mn-ea"/>
                <a:cs typeface="+mn-cs"/>
              </a:defRPr>
            </a:lvl2pPr>
            <a:lvl3pPr marL="179948">
              <a:spcAft>
                <a:spcPts val="900"/>
              </a:spcAft>
              <a:tabLst>
                <a:tab pos="5900652" algn="r"/>
              </a:tabLst>
              <a:defRPr b="0"/>
            </a:lvl3pPr>
            <a:lvl4pPr marL="645567" indent="-285669">
              <a:lnSpc>
                <a:spcPct val="100000"/>
              </a:lnSpc>
              <a:spcAft>
                <a:spcPts val="900"/>
              </a:spcAft>
              <a:buFont typeface="Arial" panose="020B0604020202020204" pitchFamily="34" charset="0"/>
              <a:buChar char="•"/>
              <a:tabLst>
                <a:tab pos="5900652" algn="r"/>
              </a:tabLst>
              <a:defRPr lang="en-US" sz="1800" b="0" kern="1200" dirty="0">
                <a:solidFill>
                  <a:schemeClr val="tx1"/>
                </a:solidFill>
                <a:latin typeface="+mn-lt"/>
                <a:ea typeface="+mn-ea"/>
                <a:cs typeface="+mn-cs"/>
              </a:defRPr>
            </a:lvl4pPr>
            <a:lvl5pPr marL="359898">
              <a:spcAft>
                <a:spcPts val="900"/>
              </a:spcAft>
              <a:tabLst>
                <a:tab pos="5900652" algn="r"/>
              </a:tabLst>
              <a:defRPr b="0"/>
            </a:lvl5pPr>
            <a:lvl6pPr marL="179948">
              <a:spcAft>
                <a:spcPts val="600"/>
              </a:spcAft>
              <a:tabLst>
                <a:tab pos="5900652" algn="r"/>
              </a:tabLst>
              <a:defRPr sz="1600"/>
            </a:lvl6pPr>
            <a:lvl7pPr marL="179948">
              <a:spcAft>
                <a:spcPts val="600"/>
              </a:spcAft>
              <a:tabLst>
                <a:tab pos="5900652" algn="r"/>
              </a:tabLst>
              <a:defRPr sz="1600" b="1"/>
            </a:lvl7pPr>
            <a:lvl8pPr marL="645567" indent="-285669">
              <a:spcAft>
                <a:spcPts val="600"/>
              </a:spcAft>
              <a:tabLst>
                <a:tab pos="5900652" algn="r"/>
              </a:tabLst>
              <a:defRPr sz="1800"/>
            </a:lvl8pPr>
            <a:lvl9pPr marL="359898">
              <a:spcAft>
                <a:spcPts val="600"/>
              </a:spcAft>
              <a:tabLst>
                <a:tab pos="5900652" algn="r"/>
              </a:tabLst>
              <a:defRPr sz="1600" b="1"/>
            </a:lvl9pPr>
          </a:lstStyle>
          <a:p>
            <a:pPr lvl="1"/>
            <a:r>
              <a:rPr lang="en-US" dirty="0"/>
              <a:t>Bullet 1</a:t>
            </a:r>
          </a:p>
          <a:p>
            <a:pPr lvl="3"/>
            <a:r>
              <a:rPr lang="en-US" dirty="0"/>
              <a:t>Sub-bullet 1</a:t>
            </a:r>
          </a:p>
          <a:p>
            <a:pPr lvl="3"/>
            <a:r>
              <a:rPr lang="en-US" dirty="0"/>
              <a:t>Sub-bullet 2</a:t>
            </a:r>
          </a:p>
          <a:p>
            <a:pPr lvl="2"/>
            <a:r>
              <a:rPr lang="en-US" dirty="0"/>
              <a:t>Bullet 2</a:t>
            </a:r>
          </a:p>
          <a:p>
            <a:pPr lvl="2"/>
            <a:r>
              <a:rPr lang="en-US" dirty="0"/>
              <a:t>Bullet 3</a:t>
            </a:r>
          </a:p>
          <a:p>
            <a:pPr lvl="2"/>
            <a:r>
              <a:rPr lang="en-US" dirty="0"/>
              <a:t>Bullet 4</a:t>
            </a:r>
          </a:p>
          <a:p>
            <a:pPr lvl="3"/>
            <a:r>
              <a:rPr lang="en-US" dirty="0"/>
              <a:t>Sub-bullet 1</a:t>
            </a:r>
          </a:p>
          <a:p>
            <a:pPr lvl="3"/>
            <a:r>
              <a:rPr lang="en-US" dirty="0"/>
              <a:t>Sub-bullet 2</a:t>
            </a:r>
          </a:p>
          <a:p>
            <a:pPr lvl="2"/>
            <a:r>
              <a:rPr lang="en-US" dirty="0"/>
              <a:t>Summary</a:t>
            </a:r>
          </a:p>
          <a:p>
            <a:pPr marL="539846" lvl="3"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pPr>
            <a:endParaRPr lang="en-US" dirty="0"/>
          </a:p>
        </p:txBody>
      </p:sp>
      <p:sp>
        <p:nvSpPr>
          <p:cNvPr id="9" name="Footer Placeholder">
            <a:extLst>
              <a:ext uri="{FF2B5EF4-FFF2-40B4-BE49-F238E27FC236}">
                <a16:creationId xmlns:a16="http://schemas.microsoft.com/office/drawing/2014/main" xmlns="" id="{8C6E0B19-DC70-4D19-9A56-05E87567F196}"/>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10" name="Slide Number Placeholder">
            <a:extLst>
              <a:ext uri="{FF2B5EF4-FFF2-40B4-BE49-F238E27FC236}">
                <a16:creationId xmlns:a16="http://schemas.microsoft.com/office/drawing/2014/main" xmlns="" id="{D3DF1D7C-B467-46E9-B036-83EC1DBE711C}"/>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7" name="Siemens Logo">
            <a:extLst>
              <a:ext uri="{FF2B5EF4-FFF2-40B4-BE49-F238E27FC236}">
                <a16:creationId xmlns:a16="http://schemas.microsoft.com/office/drawing/2014/main" xmlns="" id="{E73DB6A8-F91C-4B87-ACAA-19A2D5EA21E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695438683"/>
      </p:ext>
    </p:extLst>
  </p:cSld>
  <p:clrMapOvr>
    <a:masterClrMapping/>
  </p:clrMapOvr>
  <p:extLst>
    <p:ext uri="{DCECCB84-F9BA-43D5-87BE-67443E8EF086}">
      <p15:sldGuideLst xmlns:p15="http://schemas.microsoft.com/office/powerpoint/2012/main">
        <p15:guide id="1" pos="259">
          <p15:clr>
            <a:srgbClr val="65CEFF"/>
          </p15:clr>
        </p15:guide>
        <p15:guide id="2" pos="3978">
          <p15:clr>
            <a:srgbClr val="65CEFF"/>
          </p15:clr>
        </p15:guide>
        <p15:guide id="3" pos="6472">
          <p15:clr>
            <a:srgbClr val="65CEFF"/>
          </p15:clr>
        </p15:guide>
        <p15:guide id="4" pos="7425">
          <p15:clr>
            <a:srgbClr val="65CEFF"/>
          </p15:clr>
        </p15:guide>
        <p15:guide id="5" orient="horz" pos="302">
          <p15:clr>
            <a:srgbClr val="65CEFF"/>
          </p15:clr>
        </p15:guide>
        <p15:guide id="6" orient="horz" pos="664">
          <p15:clr>
            <a:srgbClr val="65CEFF"/>
          </p15:clr>
        </p15:guide>
        <p15:guide id="7" orient="horz" pos="891">
          <p15:clr>
            <a:srgbClr val="65CEFF"/>
          </p15:clr>
        </p15:guide>
        <p15:guide id="8" orient="horz" pos="2206">
          <p15:clr>
            <a:srgbClr val="65CEFF"/>
          </p15:clr>
        </p15:guide>
        <p15:guide id="9" orient="horz" pos="2343">
          <p15:clr>
            <a:srgbClr val="65CEFF"/>
          </p15:clr>
        </p15:guide>
        <p15:guide id="10" orient="horz" pos="3658">
          <p15:clr>
            <a:srgbClr val="65CEFF"/>
          </p15:clr>
        </p15:guide>
        <p15:guide id="11" orient="horz" pos="3885">
          <p15:clr>
            <a:srgbClr val="65CEFF"/>
          </p15:clr>
        </p15:guide>
        <p15:guide id="12" orient="horz" pos="4157">
          <p15:clr>
            <a:srgbClr val="65CEFF"/>
          </p15:clr>
        </p15:guide>
        <p15:guide id="13" pos="4248">
          <p15:clr>
            <a:srgbClr val="65CEF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ree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xmlns="" id="{5CDB9E4A-37E0-45B2-BC93-C2EC503FB8F7}"/>
              </a:ext>
            </a:extLst>
          </p:cNvPr>
          <p:cNvSpPr>
            <a:spLocks noGrp="1"/>
          </p:cNvSpPr>
          <p:nvPr>
            <p:ph type="title"/>
          </p:nvPr>
        </p:nvSpPr>
        <p:spPr/>
        <p:txBody>
          <a:bodyPr/>
          <a:lstStyle/>
          <a:p>
            <a:r>
              <a:rPr lang="en-US"/>
              <a:t>Click to edit Master title style</a:t>
            </a:r>
            <a:endParaRPr lang="en-US" dirty="0"/>
          </a:p>
        </p:txBody>
      </p:sp>
      <p:sp>
        <p:nvSpPr>
          <p:cNvPr id="9" name="Footer Placeholder">
            <a:extLst>
              <a:ext uri="{FF2B5EF4-FFF2-40B4-BE49-F238E27FC236}">
                <a16:creationId xmlns:a16="http://schemas.microsoft.com/office/drawing/2014/main" xmlns="" id="{8C6E0B19-DC70-4D19-9A56-05E87567F196}"/>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10" name="Slide Number Placeholder">
            <a:extLst>
              <a:ext uri="{FF2B5EF4-FFF2-40B4-BE49-F238E27FC236}">
                <a16:creationId xmlns:a16="http://schemas.microsoft.com/office/drawing/2014/main" xmlns="" id="{D3DF1D7C-B467-46E9-B036-83EC1DBE711C}"/>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7" name="Siemens Logo">
            <a:extLst>
              <a:ext uri="{FF2B5EF4-FFF2-40B4-BE49-F238E27FC236}">
                <a16:creationId xmlns:a16="http://schemas.microsoft.com/office/drawing/2014/main" xmlns="" id="{E73DB6A8-F91C-4B87-ACAA-19A2D5EA21E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3749020482"/>
      </p:ext>
    </p:extLst>
  </p:cSld>
  <p:clrMapOvr>
    <a:masterClrMapping/>
  </p:clrMapOvr>
  <p:extLst>
    <p:ext uri="{DCECCB84-F9BA-43D5-87BE-67443E8EF086}">
      <p15:sldGuideLst xmlns:p15="http://schemas.microsoft.com/office/powerpoint/2012/main">
        <p15:guide id="1" pos="259">
          <p15:clr>
            <a:srgbClr val="65CEFF"/>
          </p15:clr>
        </p15:guide>
        <p15:guide id="2" pos="2526">
          <p15:clr>
            <a:srgbClr val="65CEFF"/>
          </p15:clr>
        </p15:guide>
        <p15:guide id="3" pos="2709">
          <p15:clr>
            <a:srgbClr val="65CEFF"/>
          </p15:clr>
        </p15:guide>
        <p15:guide id="4" pos="3704">
          <p15:clr>
            <a:srgbClr val="65CEFF"/>
          </p15:clr>
        </p15:guide>
        <p15:guide id="5" pos="3978">
          <p15:clr>
            <a:srgbClr val="65CEFF"/>
          </p15:clr>
        </p15:guide>
        <p15:guide id="6" pos="4975">
          <p15:clr>
            <a:srgbClr val="65CEFF"/>
          </p15:clr>
        </p15:guide>
        <p15:guide id="7" pos="5157">
          <p15:clr>
            <a:srgbClr val="65CEFF"/>
          </p15:clr>
        </p15:guide>
        <p15:guide id="8" pos="6472">
          <p15:clr>
            <a:srgbClr val="65CEFF"/>
          </p15:clr>
        </p15:guide>
        <p15:guide id="9" pos="7425">
          <p15:clr>
            <a:srgbClr val="65CEFF"/>
          </p15:clr>
        </p15:guide>
        <p15:guide id="10" orient="horz" pos="302">
          <p15:clr>
            <a:srgbClr val="65CEFF"/>
          </p15:clr>
        </p15:guide>
        <p15:guide id="11" orient="horz" pos="664">
          <p15:clr>
            <a:srgbClr val="65CEFF"/>
          </p15:clr>
        </p15:guide>
        <p15:guide id="12" orient="horz" pos="891">
          <p15:clr>
            <a:srgbClr val="65CEFF"/>
          </p15:clr>
        </p15:guide>
        <p15:guide id="13" orient="horz" pos="2206">
          <p15:clr>
            <a:srgbClr val="65CEFF"/>
          </p15:clr>
        </p15:guide>
        <p15:guide id="14" orient="horz" pos="2343">
          <p15:clr>
            <a:srgbClr val="65CEFF"/>
          </p15:clr>
        </p15:guide>
        <p15:guide id="15" orient="horz" pos="3658">
          <p15:clr>
            <a:srgbClr val="65CEFF"/>
          </p15:clr>
        </p15:guide>
        <p15:guide id="16" orient="horz" pos="3885">
          <p15:clr>
            <a:srgbClr val="65CEFF"/>
          </p15:clr>
        </p15:guide>
        <p15:guide id="17" orient="horz" pos="4157">
          <p15:clr>
            <a:srgbClr val="65CEF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One object (large)">
    <p:spTree>
      <p:nvGrpSpPr>
        <p:cNvPr id="1" name=""/>
        <p:cNvGrpSpPr/>
        <p:nvPr/>
      </p:nvGrpSpPr>
      <p:grpSpPr>
        <a:xfrm>
          <a:off x="0" y="0"/>
          <a:ext cx="0" cy="0"/>
          <a:chOff x="0" y="0"/>
          <a:chExt cx="0" cy="0"/>
        </a:xfrm>
      </p:grpSpPr>
      <p:sp>
        <p:nvSpPr>
          <p:cNvPr id="3" name="Copy">
            <a:extLst>
              <a:ext uri="{FF2B5EF4-FFF2-40B4-BE49-F238E27FC236}">
                <a16:creationId xmlns:a16="http://schemas.microsoft.com/office/drawing/2014/main" xmlns="" id="{9CE7E2D8-94E8-4FE6-93A5-924CA3EC5315}"/>
              </a:ext>
            </a:extLst>
          </p:cNvPr>
          <p:cNvSpPr>
            <a:spLocks noGrp="1"/>
          </p:cNvSpPr>
          <p:nvPr>
            <p:ph idx="1"/>
          </p:nvPr>
        </p:nvSpPr>
        <p:spPr>
          <a:xfrm>
            <a:off x="411163"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xmlns="" id="{7367E6C0-4D2C-4C5F-86D8-A2CFF0EB3D6A}"/>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6" name="Slide Number Placeholder">
            <a:extLst>
              <a:ext uri="{FF2B5EF4-FFF2-40B4-BE49-F238E27FC236}">
                <a16:creationId xmlns:a16="http://schemas.microsoft.com/office/drawing/2014/main" xmlns="" id="{6F746812-65E3-4C09-AC38-B0CFE93C8A95}"/>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9" name="Siemens Logo">
            <a:extLst>
              <a:ext uri="{FF2B5EF4-FFF2-40B4-BE49-F238E27FC236}">
                <a16:creationId xmlns:a16="http://schemas.microsoft.com/office/drawing/2014/main" xmlns="" id="{2EA6CE5F-6FF7-4E0A-AEB2-1A7C43CE05C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8786054"/>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One object (large), Subtitle">
    <p:spTree>
      <p:nvGrpSpPr>
        <p:cNvPr id="1" name=""/>
        <p:cNvGrpSpPr/>
        <p:nvPr/>
      </p:nvGrpSpPr>
      <p:grpSpPr>
        <a:xfrm>
          <a:off x="0" y="0"/>
          <a:ext cx="0" cy="0"/>
          <a:chOff x="0" y="0"/>
          <a:chExt cx="0" cy="0"/>
        </a:xfrm>
      </p:grpSpPr>
      <p:sp>
        <p:nvSpPr>
          <p:cNvPr id="3" name="Copy">
            <a:extLst>
              <a:ext uri="{FF2B5EF4-FFF2-40B4-BE49-F238E27FC236}">
                <a16:creationId xmlns:a16="http://schemas.microsoft.com/office/drawing/2014/main" xmlns="" id="{9CE7E2D8-94E8-4FE6-93A5-924CA3EC5315}"/>
              </a:ext>
            </a:extLst>
          </p:cNvPr>
          <p:cNvSpPr>
            <a:spLocks noGrp="1"/>
          </p:cNvSpPr>
          <p:nvPr>
            <p:ph idx="1"/>
          </p:nvPr>
        </p:nvSpPr>
        <p:spPr>
          <a:xfrm>
            <a:off x="411163" y="1414800"/>
            <a:ext cx="113760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xmlns="" id="{7367E6C0-4D2C-4C5F-86D8-A2CFF0EB3D6A}"/>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6" name="Slide Number Placeholder">
            <a:extLst>
              <a:ext uri="{FF2B5EF4-FFF2-40B4-BE49-F238E27FC236}">
                <a16:creationId xmlns:a16="http://schemas.microsoft.com/office/drawing/2014/main" xmlns="" id="{6F746812-65E3-4C09-AC38-B0CFE93C8A95}"/>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9" name="Siemens Logo">
            <a:extLst>
              <a:ext uri="{FF2B5EF4-FFF2-40B4-BE49-F238E27FC236}">
                <a16:creationId xmlns:a16="http://schemas.microsoft.com/office/drawing/2014/main" xmlns="" id="{2EA6CE5F-6FF7-4E0A-AEB2-1A7C43CE05C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
        <p:nvSpPr>
          <p:cNvPr id="7" name="Title">
            <a:extLst>
              <a:ext uri="{FF2B5EF4-FFF2-40B4-BE49-F238E27FC236}">
                <a16:creationId xmlns:a16="http://schemas.microsoft.com/office/drawing/2014/main" xmlns="" id="{9C4633C1-8D3E-45A5-A522-817574663A85}"/>
              </a:ext>
            </a:extLst>
          </p:cNvPr>
          <p:cNvSpPr>
            <a:spLocks noGrp="1"/>
          </p:cNvSpPr>
          <p:nvPr>
            <p:ph type="title"/>
          </p:nvPr>
        </p:nvSpPr>
        <p:spPr>
          <a:xfrm>
            <a:off x="410400" y="478800"/>
            <a:ext cx="9863998" cy="307780"/>
          </a:xfrm>
        </p:spPr>
        <p:txBody>
          <a:bodyPr/>
          <a:lstStyle>
            <a:lvl1pPr>
              <a:defRPr>
                <a:solidFill>
                  <a:schemeClr val="accent1"/>
                </a:solidFill>
              </a:defRPr>
            </a:lvl1pPr>
          </a:lstStyle>
          <a:p>
            <a:r>
              <a:rPr lang="en-US"/>
              <a:t>Click to edit Master title style</a:t>
            </a:r>
            <a:endParaRPr lang="en-US" dirty="0"/>
          </a:p>
        </p:txBody>
      </p:sp>
      <p:sp>
        <p:nvSpPr>
          <p:cNvPr id="8" name="Content Placeholder 8"/>
          <p:cNvSpPr>
            <a:spLocks noGrp="1"/>
          </p:cNvSpPr>
          <p:nvPr>
            <p:ph sz="quarter" idx="12" hasCustomPrompt="1"/>
          </p:nvPr>
        </p:nvSpPr>
        <p:spPr>
          <a:xfrm>
            <a:off x="410400" y="727591"/>
            <a:ext cx="9863998" cy="412219"/>
          </a:xfrm>
        </p:spPr>
        <p:txBody>
          <a:bodyPr/>
          <a:lstStyle>
            <a:lvl1pPr marL="0" indent="0">
              <a:buNone/>
              <a:defRPr sz="2000" b="0">
                <a:solidFill>
                  <a:schemeClr val="accent1"/>
                </a:solidFill>
                <a:latin typeface="+mj-lt"/>
              </a:defRPr>
            </a:lvl1pPr>
          </a:lstStyle>
          <a:p>
            <a:pPr lvl="0"/>
            <a:r>
              <a:rPr lang="en-US" dirty="0"/>
              <a:t>Click to edit Master subtitle styles</a:t>
            </a:r>
          </a:p>
        </p:txBody>
      </p:sp>
    </p:spTree>
    <p:extLst>
      <p:ext uri="{BB962C8B-B14F-4D97-AF65-F5344CB8AC3E}">
        <p14:creationId xmlns:p14="http://schemas.microsoft.com/office/powerpoint/2010/main" val="3105386184"/>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xmlns="" id="{39939C22-A735-46A9-A277-A4B1B330F31C}"/>
              </a:ext>
            </a:extLst>
          </p:cNvPr>
          <p:cNvSpPr>
            <a:spLocks noGrp="1"/>
          </p:cNvSpPr>
          <p:nvPr>
            <p:ph type="title"/>
          </p:nvPr>
        </p:nvSpPr>
        <p:spPr/>
        <p:txBody>
          <a:bodyPr/>
          <a:lstStyle/>
          <a:p>
            <a:r>
              <a:rPr lang="en-US"/>
              <a:t>Click to edit Master title style</a:t>
            </a:r>
          </a:p>
        </p:txBody>
      </p:sp>
      <p:sp>
        <p:nvSpPr>
          <p:cNvPr id="3" name="Copy 1">
            <a:extLst>
              <a:ext uri="{FF2B5EF4-FFF2-40B4-BE49-F238E27FC236}">
                <a16:creationId xmlns:a16="http://schemas.microsoft.com/office/drawing/2014/main" xmlns=""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a:extLst>
              <a:ext uri="{FF2B5EF4-FFF2-40B4-BE49-F238E27FC236}">
                <a16:creationId xmlns:a16="http://schemas.microsoft.com/office/drawing/2014/main" xmlns="" id="{BF3FF41E-3844-4153-B955-A1F3E9EC1D30}"/>
              </a:ext>
            </a:extLst>
          </p:cNvPr>
          <p:cNvSpPr>
            <a:spLocks noGrp="1"/>
          </p:cNvSpPr>
          <p:nvPr>
            <p:ph sz="half" idx="2"/>
          </p:nvPr>
        </p:nvSpPr>
        <p:spPr>
          <a:xfrm>
            <a:off x="6315076" y="1414800"/>
            <a:ext cx="5465764"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a:extLst>
              <a:ext uri="{FF2B5EF4-FFF2-40B4-BE49-F238E27FC236}">
                <a16:creationId xmlns:a16="http://schemas.microsoft.com/office/drawing/2014/main" xmlns="" id="{33A503D1-D234-4258-9A03-D858B10BA46D}"/>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7" name="Slide Number Placeholder">
            <a:extLst>
              <a:ext uri="{FF2B5EF4-FFF2-40B4-BE49-F238E27FC236}">
                <a16:creationId xmlns:a16="http://schemas.microsoft.com/office/drawing/2014/main" xmlns="" id="{21AA656B-0BAF-4B75-90BE-93CAC5946C0B}"/>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10" name="Siemens Logo">
            <a:extLst>
              <a:ext uri="{FF2B5EF4-FFF2-40B4-BE49-F238E27FC236}">
                <a16:creationId xmlns:a16="http://schemas.microsoft.com/office/drawing/2014/main" xmlns="" id="{6FCACBED-2537-4F3E-8D2C-E60141005364}"/>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2705225953"/>
      </p:ext>
    </p:extLst>
  </p:cSld>
  <p:clrMapOvr>
    <a:masterClrMapping/>
  </p:clrMapOvr>
  <p:extLst>
    <p:ext uri="{DCECCB84-F9BA-43D5-87BE-67443E8EF086}">
      <p15:sldGuideLst xmlns:p15="http://schemas.microsoft.com/office/powerpoint/2012/main">
        <p15:guide id="1" pos="259">
          <p15:clr>
            <a:srgbClr val="65CEFF"/>
          </p15:clr>
        </p15:guide>
        <p15:guide id="2" pos="3704">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Two columns, Subtitle">
    <p:spTree>
      <p:nvGrpSpPr>
        <p:cNvPr id="1" name=""/>
        <p:cNvGrpSpPr/>
        <p:nvPr/>
      </p:nvGrpSpPr>
      <p:grpSpPr>
        <a:xfrm>
          <a:off x="0" y="0"/>
          <a:ext cx="0" cy="0"/>
          <a:chOff x="0" y="0"/>
          <a:chExt cx="0" cy="0"/>
        </a:xfrm>
      </p:grpSpPr>
      <p:sp>
        <p:nvSpPr>
          <p:cNvPr id="3" name="Copy 1">
            <a:extLst>
              <a:ext uri="{FF2B5EF4-FFF2-40B4-BE49-F238E27FC236}">
                <a16:creationId xmlns:a16="http://schemas.microsoft.com/office/drawing/2014/main" xmlns="" id="{A8B1D58A-DC84-4573-957E-9BEA9AAB308E}"/>
              </a:ext>
            </a:extLst>
          </p:cNvPr>
          <p:cNvSpPr>
            <a:spLocks noGrp="1"/>
          </p:cNvSpPr>
          <p:nvPr>
            <p:ph sz="half" idx="1"/>
          </p:nvPr>
        </p:nvSpPr>
        <p:spPr>
          <a:xfrm>
            <a:off x="411162" y="1414800"/>
            <a:ext cx="5470526"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 2">
            <a:extLst>
              <a:ext uri="{FF2B5EF4-FFF2-40B4-BE49-F238E27FC236}">
                <a16:creationId xmlns:a16="http://schemas.microsoft.com/office/drawing/2014/main" xmlns="" id="{BF3FF41E-3844-4153-B955-A1F3E9EC1D30}"/>
              </a:ext>
            </a:extLst>
          </p:cNvPr>
          <p:cNvSpPr>
            <a:spLocks noGrp="1"/>
          </p:cNvSpPr>
          <p:nvPr>
            <p:ph sz="half" idx="2"/>
          </p:nvPr>
        </p:nvSpPr>
        <p:spPr>
          <a:xfrm>
            <a:off x="6315076" y="1414800"/>
            <a:ext cx="5465764" cy="4752000"/>
          </a:xfrm>
          <a:prstGeom prst="rect">
            <a:avLst/>
          </a:prstGeo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a:extLst>
              <a:ext uri="{FF2B5EF4-FFF2-40B4-BE49-F238E27FC236}">
                <a16:creationId xmlns:a16="http://schemas.microsoft.com/office/drawing/2014/main" xmlns="" id="{33A503D1-D234-4258-9A03-D858B10BA46D}"/>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7" name="Slide Number Placeholder">
            <a:extLst>
              <a:ext uri="{FF2B5EF4-FFF2-40B4-BE49-F238E27FC236}">
                <a16:creationId xmlns:a16="http://schemas.microsoft.com/office/drawing/2014/main" xmlns="" id="{21AA656B-0BAF-4B75-90BE-93CAC5946C0B}"/>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10" name="Siemens Logo">
            <a:extLst>
              <a:ext uri="{FF2B5EF4-FFF2-40B4-BE49-F238E27FC236}">
                <a16:creationId xmlns:a16="http://schemas.microsoft.com/office/drawing/2014/main" xmlns="" id="{6FCACBED-2537-4F3E-8D2C-E60141005364}"/>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
        <p:nvSpPr>
          <p:cNvPr id="12" name="Title">
            <a:extLst>
              <a:ext uri="{FF2B5EF4-FFF2-40B4-BE49-F238E27FC236}">
                <a16:creationId xmlns:a16="http://schemas.microsoft.com/office/drawing/2014/main" xmlns="" id="{9C4633C1-8D3E-45A5-A522-817574663A85}"/>
              </a:ext>
            </a:extLst>
          </p:cNvPr>
          <p:cNvSpPr>
            <a:spLocks noGrp="1"/>
          </p:cNvSpPr>
          <p:nvPr>
            <p:ph type="title"/>
          </p:nvPr>
        </p:nvSpPr>
        <p:spPr>
          <a:xfrm>
            <a:off x="410400" y="478800"/>
            <a:ext cx="9863998" cy="307780"/>
          </a:xfrm>
        </p:spPr>
        <p:txBody>
          <a:bodyPr/>
          <a:lstStyle>
            <a:lvl1pPr>
              <a:defRPr>
                <a:solidFill>
                  <a:schemeClr val="accent1"/>
                </a:solidFill>
              </a:defRPr>
            </a:lvl1pPr>
          </a:lstStyle>
          <a:p>
            <a:r>
              <a:rPr lang="en-US"/>
              <a:t>Click to edit Master title style</a:t>
            </a:r>
            <a:endParaRPr lang="en-US" dirty="0"/>
          </a:p>
        </p:txBody>
      </p:sp>
      <p:sp>
        <p:nvSpPr>
          <p:cNvPr id="13" name="Content Placeholder 8"/>
          <p:cNvSpPr>
            <a:spLocks noGrp="1"/>
          </p:cNvSpPr>
          <p:nvPr>
            <p:ph sz="quarter" idx="12" hasCustomPrompt="1"/>
          </p:nvPr>
        </p:nvSpPr>
        <p:spPr>
          <a:xfrm>
            <a:off x="410400" y="727591"/>
            <a:ext cx="9863998" cy="412219"/>
          </a:xfrm>
        </p:spPr>
        <p:txBody>
          <a:bodyPr/>
          <a:lstStyle>
            <a:lvl1pPr marL="0" indent="0">
              <a:buNone/>
              <a:defRPr sz="2000" b="0">
                <a:solidFill>
                  <a:schemeClr val="accent1"/>
                </a:solidFill>
                <a:latin typeface="+mj-lt"/>
              </a:defRPr>
            </a:lvl1pPr>
          </a:lstStyle>
          <a:p>
            <a:pPr lvl="0"/>
            <a:r>
              <a:rPr lang="en-US" dirty="0"/>
              <a:t>Click to edit Master subtitle styles</a:t>
            </a:r>
          </a:p>
        </p:txBody>
      </p:sp>
    </p:spTree>
    <p:extLst>
      <p:ext uri="{BB962C8B-B14F-4D97-AF65-F5344CB8AC3E}">
        <p14:creationId xmlns:p14="http://schemas.microsoft.com/office/powerpoint/2010/main" val="2030219113"/>
      </p:ext>
    </p:extLst>
  </p:cSld>
  <p:clrMapOvr>
    <a:masterClrMapping/>
  </p:clrMapOvr>
  <p:extLst>
    <p:ext uri="{DCECCB84-F9BA-43D5-87BE-67443E8EF086}">
      <p15:sldGuideLst xmlns:p15="http://schemas.microsoft.com/office/powerpoint/2012/main">
        <p15:guide id="1" pos="259">
          <p15:clr>
            <a:srgbClr val="65CEFF"/>
          </p15:clr>
        </p15:guide>
        <p15:guide id="2" pos="3704">
          <p15:clr>
            <a:srgbClr val="65CEFF"/>
          </p15:clr>
        </p15:guide>
        <p15:guide id="3" pos="3978">
          <p15:clr>
            <a:srgbClr val="65CEFF"/>
          </p15:clr>
        </p15:guide>
        <p15:guide id="4" pos="6472">
          <p15:clr>
            <a:srgbClr val="65CEFF"/>
          </p15:clr>
        </p15:guide>
        <p15:guide id="5" pos="7425">
          <p15:clr>
            <a:srgbClr val="65CEFF"/>
          </p15:clr>
        </p15:guide>
        <p15:guide id="6" orient="horz" pos="302">
          <p15:clr>
            <a:srgbClr val="65CEFF"/>
          </p15:clr>
        </p15:guide>
        <p15:guide id="7" orient="horz" pos="664">
          <p15:clr>
            <a:srgbClr val="65CEFF"/>
          </p15:clr>
        </p15:guide>
        <p15:guide id="8" orient="horz" pos="891">
          <p15:clr>
            <a:srgbClr val="65CEFF"/>
          </p15:clr>
        </p15:guide>
        <p15:guide id="9" orient="horz" pos="3658">
          <p15:clr>
            <a:srgbClr val="65CEFF"/>
          </p15:clr>
        </p15:guide>
        <p15:guide id="10" orient="horz" pos="3885">
          <p15:clr>
            <a:srgbClr val="65CEFF"/>
          </p15:clr>
        </p15:guide>
        <p15:guide id="11" orient="horz" pos="4157">
          <p15:clr>
            <a:srgbClr val="65CEF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One table (large)">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xmlns="" id="{9C4633C1-8D3E-45A5-A522-817574663A85}"/>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6" name="Table Placeholder">
            <a:extLst>
              <a:ext uri="{FF2B5EF4-FFF2-40B4-BE49-F238E27FC236}">
                <a16:creationId xmlns:a16="http://schemas.microsoft.com/office/drawing/2014/main" xmlns="" id="{D41D1FE0-EDDA-47B8-BF1F-831D4733C32A}"/>
              </a:ext>
            </a:extLst>
          </p:cNvPr>
          <p:cNvSpPr>
            <a:spLocks noGrp="1"/>
          </p:cNvSpPr>
          <p:nvPr>
            <p:ph type="tbl" sz="quarter" idx="12"/>
          </p:nvPr>
        </p:nvSpPr>
        <p:spPr>
          <a:xfrm>
            <a:off x="404814" y="1414461"/>
            <a:ext cx="11376026" cy="4392000"/>
          </a:xfrm>
        </p:spPr>
        <p:txBody>
          <a:bodyPr/>
          <a:lstStyle/>
          <a:p>
            <a:r>
              <a:rPr lang="en-US"/>
              <a:t>Click icon to add table</a:t>
            </a:r>
            <a:endParaRPr lang="en-US" dirty="0"/>
          </a:p>
        </p:txBody>
      </p:sp>
      <p:sp>
        <p:nvSpPr>
          <p:cNvPr id="3" name="Footer Placeholder">
            <a:extLst>
              <a:ext uri="{FF2B5EF4-FFF2-40B4-BE49-F238E27FC236}">
                <a16:creationId xmlns:a16="http://schemas.microsoft.com/office/drawing/2014/main" xmlns="" id="{9CEA2FAD-1597-4F5C-878D-02CB854024F3}"/>
              </a:ext>
            </a:extLst>
          </p:cNvPr>
          <p:cNvSpPr>
            <a:spLocks noGrp="1"/>
          </p:cNvSpPr>
          <p:nvPr>
            <p:ph type="ftr" sz="quarter" idx="13"/>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5" name="Slide Number Placeholder">
            <a:extLst>
              <a:ext uri="{FF2B5EF4-FFF2-40B4-BE49-F238E27FC236}">
                <a16:creationId xmlns:a16="http://schemas.microsoft.com/office/drawing/2014/main" xmlns="" id="{CE0A22CB-5E69-4817-B713-C02B97CF6B91}"/>
              </a:ext>
            </a:extLst>
          </p:cNvPr>
          <p:cNvSpPr>
            <a:spLocks noGrp="1"/>
          </p:cNvSpPr>
          <p:nvPr>
            <p:ph type="sldNum" sz="quarter" idx="14"/>
          </p:nvPr>
        </p:nvSpPr>
        <p:spPr/>
        <p:txBody>
          <a:bodyPr/>
          <a:lstStyle/>
          <a:p>
            <a:fld id="{B8EE6C0D-8D49-4EF2-B5AB-91C9339EB8BA}" type="slidenum">
              <a:rPr lang="en-US" smtClean="0"/>
              <a:pPr/>
              <a:t>‹#›</a:t>
            </a:fld>
            <a:endParaRPr lang="en-US" dirty="0"/>
          </a:p>
        </p:txBody>
      </p:sp>
      <p:pic>
        <p:nvPicPr>
          <p:cNvPr id="9" name="Siemens Logo">
            <a:extLst>
              <a:ext uri="{FF2B5EF4-FFF2-40B4-BE49-F238E27FC236}">
                <a16:creationId xmlns:a16="http://schemas.microsoft.com/office/drawing/2014/main" xmlns="" id="{2EA6CE5F-6FF7-4E0A-AEB2-1A7C43CE05C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0635188" y="6418800"/>
            <a:ext cx="1152000" cy="183168"/>
          </a:xfrm>
          <a:prstGeom prst="rect">
            <a:avLst/>
          </a:prstGeom>
        </p:spPr>
      </p:pic>
    </p:spTree>
    <p:extLst>
      <p:ext uri="{BB962C8B-B14F-4D97-AF65-F5344CB8AC3E}">
        <p14:creationId xmlns:p14="http://schemas.microsoft.com/office/powerpoint/2010/main" val="889724560"/>
      </p:ext>
    </p:extLst>
  </p:cSld>
  <p:clrMapOvr>
    <a:masterClrMapping/>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302">
          <p15:clr>
            <a:srgbClr val="65CEFF"/>
          </p15:clr>
        </p15:guide>
        <p15:guide id="5" orient="horz" pos="664">
          <p15:clr>
            <a:srgbClr val="65CEFF"/>
          </p15:clr>
        </p15:guide>
        <p15:guide id="6" orient="horz" pos="891">
          <p15:clr>
            <a:srgbClr val="65CEFF"/>
          </p15:clr>
        </p15:guide>
        <p15:guide id="7" orient="horz" pos="3658">
          <p15:clr>
            <a:srgbClr val="65CEFF"/>
          </p15:clr>
        </p15:guide>
        <p15:guide id="8" orient="horz" pos="3885">
          <p15:clr>
            <a:srgbClr val="65CEFF"/>
          </p15:clr>
        </p15:guide>
        <p15:guide id="9" orient="horz" pos="4157">
          <p15:clr>
            <a:srgbClr val="65CEF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act">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xmlns="" id="{B29E3DA4-014E-4F3D-8186-84366ADFCB03}"/>
              </a:ext>
            </a:extLst>
          </p:cNvPr>
          <p:cNvSpPr>
            <a:spLocks noGrp="1"/>
          </p:cNvSpPr>
          <p:nvPr>
            <p:ph type="title" hasCustomPrompt="1"/>
          </p:nvPr>
        </p:nvSpPr>
        <p:spPr>
          <a:xfrm>
            <a:off x="411165" y="1234802"/>
            <a:ext cx="9863236" cy="1162266"/>
          </a:xfrm>
          <a:blipFill dpi="0" rotWithShape="1">
            <a:blip r:embed="rId2">
              <a:extLst>
                <a:ext uri="{96DAC541-7B7A-43D3-8B79-37D633B846F1}">
                  <asvg:svgBlip xmlns:asvg="http://schemas.microsoft.com/office/drawing/2016/SVG/main" xmlns="" r:embed="rId3"/>
                </a:ext>
              </a:extLst>
            </a:blip>
            <a:srcRect/>
            <a:stretch>
              <a:fillRect/>
            </a:stretch>
          </a:blipFill>
        </p:spPr>
        <p:txBody>
          <a:bodyPr wrap="square" lIns="0" tIns="54000" rIns="0" bIns="0" anchor="t" anchorCtr="0">
            <a:spAutoFit/>
          </a:bodyPr>
          <a:lstStyle>
            <a:lvl1pPr marL="539846">
              <a:defRPr sz="7998">
                <a:solidFill>
                  <a:schemeClr val="tx1"/>
                </a:solidFill>
              </a:defRPr>
            </a:lvl1pPr>
          </a:lstStyle>
          <a:p>
            <a:r>
              <a:rPr lang="en-US" dirty="0"/>
              <a:t>Contact</a:t>
            </a:r>
          </a:p>
        </p:txBody>
      </p:sp>
      <p:sp>
        <p:nvSpPr>
          <p:cNvPr id="3" name="Copy">
            <a:extLst>
              <a:ext uri="{FF2B5EF4-FFF2-40B4-BE49-F238E27FC236}">
                <a16:creationId xmlns:a16="http://schemas.microsoft.com/office/drawing/2014/main" xmlns="" id="{89304306-5233-4901-B576-444696A2EA33}"/>
              </a:ext>
            </a:extLst>
          </p:cNvPr>
          <p:cNvSpPr>
            <a:spLocks noGrp="1"/>
          </p:cNvSpPr>
          <p:nvPr>
            <p:ph type="subTitle" idx="1" hasCustomPrompt="1"/>
          </p:nvPr>
        </p:nvSpPr>
        <p:spPr>
          <a:xfrm>
            <a:off x="1058400" y="2397328"/>
            <a:ext cx="9216000" cy="3409751"/>
          </a:xfrm>
          <a:prstGeom prst="rect">
            <a:avLst/>
          </a:prstGeom>
        </p:spPr>
        <p:txBody>
          <a:bodyPr tIns="108000">
            <a:noAutofit/>
          </a:bodyPr>
          <a:lstStyle>
            <a:lvl1pPr marL="0" indent="0" algn="l">
              <a:spcAft>
                <a:spcPts val="0"/>
              </a:spcAft>
              <a:buNone/>
              <a:defRPr sz="1400">
                <a:solidFill>
                  <a:schemeClr val="tx1"/>
                </a:solidFill>
              </a:defRPr>
            </a:lvl1pPr>
            <a:lvl2pPr marL="0" indent="0" algn="l">
              <a:spcBef>
                <a:spcPts val="600"/>
              </a:spcBef>
              <a:spcAft>
                <a:spcPts val="0"/>
              </a:spcAft>
              <a:buFont typeface="Arial" panose="020B0604020202020204" pitchFamily="34" charset="0"/>
              <a:buNone/>
              <a:defRPr sz="1400" b="1"/>
            </a:lvl2pPr>
            <a:lvl3pPr marL="179948" indent="-179948" algn="l">
              <a:spcAft>
                <a:spcPts val="0"/>
              </a:spcAft>
              <a:buFont typeface="Arial" panose="020B0604020202020204" pitchFamily="34" charset="0"/>
              <a:buChar char="•"/>
              <a:defRPr sz="1400" b="0"/>
            </a:lvl3pPr>
            <a:lvl4pPr marL="359898" indent="-179948" algn="l">
              <a:spcAft>
                <a:spcPts val="0"/>
              </a:spcAft>
              <a:buFont typeface="Arial" panose="020B0604020202020204" pitchFamily="34" charset="0"/>
              <a:buChar char="•"/>
              <a:defRPr sz="1400"/>
            </a:lvl4pPr>
            <a:lvl5pPr marL="359898" indent="-179948" algn="l">
              <a:spcAft>
                <a:spcPts val="0"/>
              </a:spcAft>
              <a:buFont typeface="Arial" panose="020B0604020202020204" pitchFamily="34" charset="0"/>
              <a:buChar char="•"/>
              <a:defRPr sz="1400" b="1"/>
            </a:lvl5pPr>
            <a:lvl6pPr marL="539846" indent="-179948" algn="l">
              <a:spcAft>
                <a:spcPts val="0"/>
              </a:spcAft>
              <a:buFont typeface="Arial" panose="020B0604020202020204" pitchFamily="34" charset="0"/>
              <a:buChar char="•"/>
              <a:defRPr sz="1400"/>
            </a:lvl6pPr>
            <a:lvl7pPr marL="539846" indent="-179948" algn="l">
              <a:spcAft>
                <a:spcPts val="0"/>
              </a:spcAft>
              <a:buFont typeface="Arial" panose="020B0604020202020204" pitchFamily="34" charset="0"/>
              <a:buChar char="•"/>
              <a:defRPr sz="1400" b="1"/>
            </a:lvl7pPr>
            <a:lvl8pPr marL="719796" indent="-179948" algn="l">
              <a:spcAft>
                <a:spcPts val="0"/>
              </a:spcAft>
              <a:buFont typeface="Arial" panose="020B0604020202020204" pitchFamily="34" charset="0"/>
              <a:buChar char="•"/>
              <a:defRPr sz="1400"/>
            </a:lvl8pPr>
            <a:lvl9pPr marL="719796" indent="-179948" algn="l">
              <a:spcAft>
                <a:spcPts val="0"/>
              </a:spcAft>
              <a:buFont typeface="Arial" panose="020B0604020202020204" pitchFamily="34" charset="0"/>
              <a:buChar char="•"/>
              <a:defRPr sz="1400" b="1"/>
            </a:lvl9pPr>
          </a:lstStyle>
          <a:p>
            <a:pPr lvl="0"/>
            <a:r>
              <a:rPr lang="en-US" dirty="0"/>
              <a:t>Click to edit the contact</a:t>
            </a:r>
          </a:p>
          <a:p>
            <a:pPr lvl="1"/>
            <a:r>
              <a:rPr lang="en-US" dirty="0"/>
              <a:t>Name etc.</a:t>
            </a:r>
          </a:p>
          <a:p>
            <a:pPr lvl="2"/>
            <a:r>
              <a:rPr lang="en-US" dirty="0"/>
              <a:t>Department etc.</a:t>
            </a:r>
          </a:p>
          <a:p>
            <a:pPr lvl="3"/>
            <a:r>
              <a:rPr lang="en-US" dirty="0"/>
              <a:t>subchapter</a:t>
            </a:r>
          </a:p>
          <a:p>
            <a:pPr lvl="4"/>
            <a:r>
              <a:rPr lang="en-US" dirty="0"/>
              <a:t>active subchapter</a:t>
            </a:r>
          </a:p>
        </p:txBody>
      </p:sp>
      <p:sp>
        <p:nvSpPr>
          <p:cNvPr id="8" name="Footer Placeholder">
            <a:extLst>
              <a:ext uri="{FF2B5EF4-FFF2-40B4-BE49-F238E27FC236}">
                <a16:creationId xmlns:a16="http://schemas.microsoft.com/office/drawing/2014/main" xmlns="" id="{3279A350-3BB2-4CA2-A422-8F5A951F6F64}"/>
              </a:ext>
            </a:extLst>
          </p:cNvPr>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9" name="Slide Number Placeholder">
            <a:extLst>
              <a:ext uri="{FF2B5EF4-FFF2-40B4-BE49-F238E27FC236}">
                <a16:creationId xmlns:a16="http://schemas.microsoft.com/office/drawing/2014/main" xmlns="" id="{CFF9630D-791D-45AE-8E5E-36F747F599E9}"/>
              </a:ext>
            </a:extLst>
          </p:cNvPr>
          <p:cNvSpPr>
            <a:spLocks noGrp="1"/>
          </p:cNvSpPr>
          <p:nvPr>
            <p:ph type="sldNum" sz="quarter" idx="11"/>
          </p:nvPr>
        </p:nvSpPr>
        <p:spPr/>
        <p:txBody>
          <a:bodyPr/>
          <a:lstStyle/>
          <a:p>
            <a:fld id="{B8EE6C0D-8D49-4EF2-B5AB-91C9339EB8BA}" type="slidenum">
              <a:rPr lang="en-US" smtClean="0"/>
              <a:pPr/>
              <a:t>‹#›</a:t>
            </a:fld>
            <a:endParaRPr lang="en-US" dirty="0"/>
          </a:p>
        </p:txBody>
      </p:sp>
      <p:pic>
        <p:nvPicPr>
          <p:cNvPr id="10" name="Siemens Logo">
            <a:extLst>
              <a:ext uri="{FF2B5EF4-FFF2-40B4-BE49-F238E27FC236}">
                <a16:creationId xmlns:a16="http://schemas.microsoft.com/office/drawing/2014/main" xmlns="" id="{5FD2C39E-5D81-4A0E-9F45-909328900889}"/>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a:stretch/>
        </p:blipFill>
        <p:spPr>
          <a:xfrm>
            <a:off x="10635188" y="6418800"/>
            <a:ext cx="1152000" cy="183168"/>
          </a:xfrm>
          <a:prstGeom prst="rect">
            <a:avLst/>
          </a:prstGeom>
        </p:spPr>
      </p:pic>
    </p:spTree>
    <p:extLst>
      <p:ext uri="{BB962C8B-B14F-4D97-AF65-F5344CB8AC3E}">
        <p14:creationId xmlns:p14="http://schemas.microsoft.com/office/powerpoint/2010/main" val="16511210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6472">
          <p15:clr>
            <a:srgbClr val="65CEFF"/>
          </p15:clr>
        </p15:guide>
        <p15:guide id="3" pos="7425">
          <p15:clr>
            <a:srgbClr val="65CEFF"/>
          </p15:clr>
        </p15:guide>
        <p15:guide id="4" orient="horz" pos="778">
          <p15:clr>
            <a:srgbClr val="65CEFF"/>
          </p15:clr>
        </p15:guide>
        <p15:guide id="5" orient="horz" pos="3658">
          <p15:clr>
            <a:srgbClr val="65CEFF"/>
          </p15:clr>
        </p15:guide>
        <p15:guide id="6" orient="horz" pos="4157">
          <p15:clr>
            <a:srgbClr val="65CEF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Content Placeholder 2"/>
          <p:cNvSpPr>
            <a:spLocks noGrp="1"/>
          </p:cNvSpPr>
          <p:nvPr>
            <p:ph idx="1"/>
          </p:nvPr>
        </p:nvSpPr>
        <p:spPr>
          <a:xfrm>
            <a:off x="1" y="1193800"/>
            <a:ext cx="12192000" cy="5035296"/>
          </a:xfrm>
        </p:spPr>
        <p:txBody>
          <a:bodyPr/>
          <a:lstStyle>
            <a:lvl1pPr marL="347477" indent="-347477">
              <a:spcBef>
                <a:spcPts val="850"/>
              </a:spcBef>
              <a:buClr>
                <a:srgbClr val="3769AC"/>
              </a:buClr>
              <a:defRPr/>
            </a:lvl1pPr>
            <a:lvl4pPr>
              <a:defRPr/>
            </a:lvl4pPr>
            <a:lvl5pPr marL="1597051" indent="-153991">
              <a:buFont typeface="Arial" pitchFamily="34" charset="0"/>
              <a:buChar char="•"/>
              <a:defRPr sz="18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7" name="Slide Number Placeholder 6"/>
          <p:cNvSpPr>
            <a:spLocks noGrp="1"/>
          </p:cNvSpPr>
          <p:nvPr>
            <p:ph type="sldNum" sz="quarter" idx="11"/>
          </p:nvPr>
        </p:nvSpPr>
        <p:spPr/>
        <p:txBody>
          <a:bodyPr/>
          <a:lstStyle/>
          <a:p>
            <a:fld id="{B8EE6C0D-8D49-4EF2-B5AB-91C9339EB8BA}" type="slidenum">
              <a:rPr lang="en-US" smtClean="0">
                <a:solidFill>
                  <a:srgbClr val="333333"/>
                </a:solidFill>
              </a:rPr>
              <a:pPr/>
              <a:t>‹#›</a:t>
            </a:fld>
            <a:endParaRPr lang="en-US" dirty="0">
              <a:solidFill>
                <a:srgbClr val="333333"/>
              </a:solidFill>
            </a:endParaRPr>
          </a:p>
        </p:txBody>
      </p:sp>
    </p:spTree>
    <p:extLst>
      <p:ext uri="{BB962C8B-B14F-4D97-AF65-F5344CB8AC3E}">
        <p14:creationId xmlns:p14="http://schemas.microsoft.com/office/powerpoint/2010/main" val="1693119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Footer Placeholder 5"/>
          <p:cNvSpPr>
            <a:spLocks noGrp="1"/>
          </p:cNvSpPr>
          <p:nvPr>
            <p:ph type="ftr" sz="quarter" idx="10"/>
          </p:nvPr>
        </p:nvSpPr>
        <p:spPr/>
        <p:txBody>
          <a:bodyPr/>
          <a:lstStyle/>
          <a:p>
            <a:r>
              <a:rPr lang="it-IT" dirty="0"/>
              <a:t>Restricted | © Siemens 2021 | 2021-10-27 | FPGA Modeling Team| Quarter QFT/FPGA Modeling Meeting | Siemens Digital Industries Software | Where today meets tomorrow.</a:t>
            </a:r>
            <a:endParaRPr lang="en-US" dirty="0"/>
          </a:p>
        </p:txBody>
      </p:sp>
      <p:sp>
        <p:nvSpPr>
          <p:cNvPr id="7" name="Slide Number Placeholder 6"/>
          <p:cNvSpPr>
            <a:spLocks noGrp="1"/>
          </p:cNvSpPr>
          <p:nvPr>
            <p:ph type="sldNum" sz="quarter" idx="11"/>
          </p:nvPr>
        </p:nvSpPr>
        <p:spPr/>
        <p:txBody>
          <a:bodyPr/>
          <a:lstStyle/>
          <a:p>
            <a:fld id="{B8EE6C0D-8D49-4EF2-B5AB-91C9339EB8BA}" type="slidenum">
              <a:rPr lang="en-US" smtClean="0">
                <a:solidFill>
                  <a:srgbClr val="333333"/>
                </a:solidFill>
              </a:rPr>
              <a:pPr/>
              <a:t>‹#›</a:t>
            </a:fld>
            <a:endParaRPr lang="en-US" dirty="0">
              <a:solidFill>
                <a:srgbClr val="333333"/>
              </a:solidFill>
            </a:endParaRPr>
          </a:p>
        </p:txBody>
      </p:sp>
      <p:sp>
        <p:nvSpPr>
          <p:cNvPr id="8" name="Table Placeholder 2"/>
          <p:cNvSpPr>
            <a:spLocks noGrp="1"/>
          </p:cNvSpPr>
          <p:nvPr>
            <p:ph type="tbl" idx="1"/>
          </p:nvPr>
        </p:nvSpPr>
        <p:spPr>
          <a:xfrm>
            <a:off x="1" y="1316041"/>
            <a:ext cx="12192000" cy="4957761"/>
          </a:xfrm>
        </p:spPr>
        <p:txBody>
          <a:bodyPr/>
          <a:lstStyle>
            <a:lvl1pPr>
              <a:buClr>
                <a:srgbClr val="3769AC"/>
              </a:buClr>
              <a:defRPr/>
            </a:lvl1pPr>
          </a:lstStyle>
          <a:p>
            <a:pPr lvl="0"/>
            <a:r>
              <a:rPr lang="en-US" noProof="0" dirty="0"/>
              <a:t>Click icon to add table</a:t>
            </a:r>
          </a:p>
        </p:txBody>
      </p:sp>
    </p:spTree>
    <p:extLst>
      <p:ext uri="{BB962C8B-B14F-4D97-AF65-F5344CB8AC3E}">
        <p14:creationId xmlns:p14="http://schemas.microsoft.com/office/powerpoint/2010/main" val="2396666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Deep Blue 80pt">
    <p:bg>
      <p:bgRef idx="1001">
        <a:schemeClr val="bg2"/>
      </p:bgRef>
    </p:bg>
    <p:spTree>
      <p:nvGrpSpPr>
        <p:cNvPr id="1" name=""/>
        <p:cNvGrpSpPr/>
        <p:nvPr/>
      </p:nvGrpSpPr>
      <p:grpSpPr>
        <a:xfrm>
          <a:off x="0" y="0"/>
          <a:ext cx="0" cy="0"/>
          <a:chOff x="0" y="0"/>
          <a:chExt cx="0" cy="0"/>
        </a:xfrm>
      </p:grpSpPr>
      <p:pic>
        <p:nvPicPr>
          <p:cNvPr id="6" name="Cognisphere">
            <a:extLst>
              <a:ext uri="{FF2B5EF4-FFF2-40B4-BE49-F238E27FC236}">
                <a16:creationId xmlns:a16="http://schemas.microsoft.com/office/drawing/2014/main" xmlns="" id="{591CD5A4-BDEB-4734-8FA5-5C3B4A08A4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1714"/>
            <a:ext cx="12192000" cy="6854572"/>
          </a:xfrm>
          <a:prstGeom prst="rect">
            <a:avLst/>
          </a:prstGeom>
        </p:spPr>
      </p:pic>
      <p:sp>
        <p:nvSpPr>
          <p:cNvPr id="4" name="Title">
            <a:extLst>
              <a:ext uri="{FF2B5EF4-FFF2-40B4-BE49-F238E27FC236}">
                <a16:creationId xmlns:a16="http://schemas.microsoft.com/office/drawing/2014/main" xmlns="" id="{B3CAAA86-26BD-41E0-A26A-7AF592C3A34A}"/>
              </a:ext>
            </a:extLst>
          </p:cNvPr>
          <p:cNvSpPr>
            <a:spLocks noGrp="1"/>
          </p:cNvSpPr>
          <p:nvPr>
            <p:ph type="title" hasCustomPrompt="1"/>
          </p:nvPr>
        </p:nvSpPr>
        <p:spPr>
          <a:xfrm>
            <a:off x="410401" y="1414468"/>
            <a:ext cx="11376788" cy="2461571"/>
          </a:xfrm>
          <a:blipFill dpi="0" rotWithShape="1">
            <a:blip r:embed="rId3" cstate="screen">
              <a:extLst>
                <a:ext uri="{28A0092B-C50C-407E-A947-70E740481C1C}">
                  <a14:useLocalDpi xmlns:a14="http://schemas.microsoft.com/office/drawing/2010/main"/>
                </a:ext>
                <a:ext uri="{96DAC541-7B7A-43D3-8B79-37D633B846F1}">
                  <asvg:svgBlip xmlns:asvg="http://schemas.microsoft.com/office/drawing/2016/SVG/main" xmlns="" r:embed="rId4"/>
                </a:ext>
              </a:extLst>
            </a:blip>
            <a:srcRect/>
            <a:stretch>
              <a:fillRect b="700"/>
            </a:stretch>
          </a:blipFill>
        </p:spPr>
        <p:txBody>
          <a:bodyPr rIns="0" bIns="0" anchor="t" anchorCtr="0">
            <a:spAutoFit/>
          </a:bodyPr>
          <a:lstStyle>
            <a:lvl1pPr marL="539846">
              <a:lnSpc>
                <a:spcPct val="100000"/>
              </a:lnSpc>
              <a:defRPr sz="7998">
                <a:solidFill>
                  <a:schemeClr val="tx1"/>
                </a:solidFill>
              </a:defRPr>
            </a:lvl1pPr>
          </a:lstStyle>
          <a:p>
            <a:r>
              <a:rPr lang="en-US" dirty="0"/>
              <a:t>Click to edit Master title style 80 </a:t>
            </a:r>
            <a:r>
              <a:rPr lang="en-US" dirty="0" err="1"/>
              <a:t>pt</a:t>
            </a:r>
            <a:endParaRPr lang="en-US" dirty="0"/>
          </a:p>
        </p:txBody>
      </p:sp>
      <p:sp>
        <p:nvSpPr>
          <p:cNvPr id="3" name="Subhead">
            <a:extLst>
              <a:ext uri="{FF2B5EF4-FFF2-40B4-BE49-F238E27FC236}">
                <a16:creationId xmlns:a16="http://schemas.microsoft.com/office/drawing/2014/main" xmlns="" id="{89304306-5233-4901-B576-444696A2EA33}"/>
              </a:ext>
            </a:extLst>
          </p:cNvPr>
          <p:cNvSpPr>
            <a:spLocks noGrp="1"/>
          </p:cNvSpPr>
          <p:nvPr>
            <p:ph type="subTitle" idx="1" hasCustomPrompt="1"/>
          </p:nvPr>
        </p:nvSpPr>
        <p:spPr>
          <a:xfrm>
            <a:off x="411164" y="3876677"/>
            <a:ext cx="9288000" cy="1930398"/>
          </a:xfrm>
          <a:prstGeom prst="rect">
            <a:avLst/>
          </a:prstGeom>
        </p:spPr>
        <p:txBody>
          <a:bodyPr lIns="0" tIns="349200">
            <a:noAutofit/>
          </a:bodyPr>
          <a:lstStyle>
            <a:lvl1pPr marL="0" indent="0" algn="l">
              <a:spcAft>
                <a:spcPts val="300"/>
              </a:spcAft>
              <a:buNone/>
              <a:defRPr sz="3199">
                <a:solidFill>
                  <a:schemeClr val="tx1"/>
                </a:solidFill>
              </a:defRPr>
            </a:lvl1pPr>
            <a:lvl2pPr marL="0" marR="0" indent="0" algn="l" defTabSz="914141" rtl="0" eaLnBrk="1" fontAlgn="auto" latinLnBrk="0" hangingPunct="1">
              <a:lnSpc>
                <a:spcPct val="110000"/>
              </a:lnSpc>
              <a:spcBef>
                <a:spcPts val="0"/>
              </a:spcBef>
              <a:spcAft>
                <a:spcPts val="300"/>
              </a:spcAft>
              <a:buClr>
                <a:schemeClr val="accent1"/>
              </a:buClr>
              <a:buSzTx/>
              <a:buFont typeface="Arial" panose="020B0604020202020204" pitchFamily="34" charset="0"/>
              <a:buNone/>
              <a:tabLst/>
              <a:defRPr sz="2399"/>
            </a:lvl2pPr>
            <a:lvl3pPr marL="0" indent="0" algn="l">
              <a:spcAft>
                <a:spcPts val="300"/>
              </a:spcAft>
              <a:buNone/>
              <a:defRPr sz="1600"/>
            </a:lvl3pPr>
            <a:lvl4pPr marL="0" indent="0" algn="l">
              <a:buNone/>
              <a:defRPr sz="1600"/>
            </a:lvl4pPr>
            <a:lvl5pPr marL="0" indent="0" algn="l">
              <a:buNone/>
              <a:defRPr sz="1600"/>
            </a:lvl5pPr>
            <a:lvl6pPr marL="0" indent="0" algn="l">
              <a:buNone/>
              <a:defRPr sz="1600"/>
            </a:lvl6pPr>
            <a:lvl7pPr marL="0" indent="0" algn="l">
              <a:buNone/>
              <a:defRPr sz="1600"/>
            </a:lvl7pPr>
            <a:lvl8pPr marL="0" indent="0" algn="l">
              <a:buNone/>
              <a:defRPr sz="1600"/>
            </a:lvl8pPr>
            <a:lvl9pPr marL="0" indent="0" algn="l">
              <a:buNone/>
              <a:defRPr sz="1600"/>
            </a:lvl9pPr>
          </a:lstStyle>
          <a:p>
            <a:r>
              <a:rPr lang="en-US" dirty="0"/>
              <a:t>Subhead for headline size 80 </a:t>
            </a:r>
            <a:r>
              <a:rPr lang="en-US" dirty="0" err="1"/>
              <a:t>pt</a:t>
            </a:r>
            <a:endParaRPr lang="en-US" dirty="0"/>
          </a:p>
        </p:txBody>
      </p:sp>
      <p:sp>
        <p:nvSpPr>
          <p:cNvPr id="2" name="Footer Placeholder">
            <a:extLst>
              <a:ext uri="{FF2B5EF4-FFF2-40B4-BE49-F238E27FC236}">
                <a16:creationId xmlns:a16="http://schemas.microsoft.com/office/drawing/2014/main" xmlns="" id="{36983F93-FD6F-4DAC-8F23-D4EF00A04206}"/>
              </a:ext>
            </a:extLst>
          </p:cNvPr>
          <p:cNvSpPr>
            <a:spLocks noGrp="1"/>
          </p:cNvSpPr>
          <p:nvPr>
            <p:ph type="ftr" sz="quarter" idx="12"/>
          </p:nvPr>
        </p:nvSpPr>
        <p:spPr>
          <a:xfrm>
            <a:off x="411164" y="6310800"/>
            <a:ext cx="9288000" cy="547200"/>
          </a:xfrm>
        </p:spPr>
        <p:txBody>
          <a:bodyPr/>
          <a:lstStyle/>
          <a:p>
            <a:r>
              <a:rPr lang="it-IT" dirty="0"/>
              <a:t>Restricted | © Siemens 2021 | 2021-10-27 | FPGA Modeling Team| Quarter QFT/FPGA Modeling Meeting | Siemens Digital Industries Software | Where today meets tomorrow.</a:t>
            </a:r>
            <a:endParaRPr lang="en-US" dirty="0"/>
          </a:p>
        </p:txBody>
      </p:sp>
      <p:pic>
        <p:nvPicPr>
          <p:cNvPr id="10" name="Siemens Logo">
            <a:extLst>
              <a:ext uri="{FF2B5EF4-FFF2-40B4-BE49-F238E27FC236}">
                <a16:creationId xmlns:a16="http://schemas.microsoft.com/office/drawing/2014/main" xmlns="" id="{9A561178-96D2-407A-94C5-91A37401F65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xmlns="" r:embed="rId6"/>
              </a:ext>
            </a:extLst>
          </a:blip>
          <a:srcRect/>
          <a:stretch/>
        </p:blipFill>
        <p:spPr>
          <a:xfrm>
            <a:off x="10274401" y="6364800"/>
            <a:ext cx="1512000" cy="240408"/>
          </a:xfrm>
          <a:prstGeom prst="rect">
            <a:avLst/>
          </a:prstGeom>
        </p:spPr>
      </p:pic>
    </p:spTree>
    <p:extLst>
      <p:ext uri="{BB962C8B-B14F-4D97-AF65-F5344CB8AC3E}">
        <p14:creationId xmlns:p14="http://schemas.microsoft.com/office/powerpoint/2010/main" val="6469487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3" pos="6109">
          <p15:clr>
            <a:srgbClr val="65CEFF"/>
          </p15:clr>
        </p15:guide>
        <p15:guide id="4" pos="7425">
          <p15:clr>
            <a:srgbClr val="65CEFF"/>
          </p15:clr>
        </p15:guide>
        <p15:guide id="5" orient="horz" pos="891">
          <p15:clr>
            <a:srgbClr val="65CEFF"/>
          </p15:clr>
        </p15:guide>
        <p15:guide id="6" orient="horz" pos="3658">
          <p15:clr>
            <a:srgbClr val="65CEFF"/>
          </p15:clr>
        </p15:guide>
        <p15:guide id="7"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rgbClr val="15559F"/>
              </a:buClr>
              <a:buSzPts val="4400"/>
              <a:buFont typeface="Calibri"/>
              <a:buNone/>
              <a:defRPr sz="4400" b="1" i="0" u="none" strike="noStrike" cap="none">
                <a:solidFill>
                  <a:srgbClr val="15559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1pPr>
            <a:lvl2pPr marL="914400" marR="0" lvl="1" indent="-331469" algn="l" rtl="0">
              <a:spcBef>
                <a:spcPts val="360"/>
              </a:spcBef>
              <a:spcAft>
                <a:spcPts val="0"/>
              </a:spcAft>
              <a:buClr>
                <a:schemeClr val="dk1"/>
              </a:buClr>
              <a:buSzPts val="1620"/>
              <a:buFont typeface="Calibri"/>
              <a:buChar char="–"/>
              <a:defRPr sz="1800" b="0" i="0" u="none" strike="noStrike" cap="none">
                <a:solidFill>
                  <a:schemeClr val="dk1"/>
                </a:solidFill>
                <a:latin typeface="Calibri"/>
                <a:ea typeface="Calibri"/>
                <a:cs typeface="Calibri"/>
                <a:sym typeface="Calibri"/>
              </a:defRPr>
            </a:lvl2pPr>
            <a:lvl3pPr marL="1371600" marR="0" lvl="2" indent="-330200" algn="l" rtl="0">
              <a:spcBef>
                <a:spcPts val="320"/>
              </a:spcBef>
              <a:spcAft>
                <a:spcPts val="0"/>
              </a:spcAft>
              <a:buClr>
                <a:schemeClr val="dk1"/>
              </a:buClr>
              <a:buSzPts val="1600"/>
              <a:buFont typeface="Calibri"/>
              <a:buChar char="–"/>
              <a:defRPr sz="1600" b="0" i="0" u="none" strike="noStrike" cap="none">
                <a:solidFill>
                  <a:schemeClr val="dk1"/>
                </a:solidFill>
                <a:latin typeface="Calibri"/>
                <a:ea typeface="Calibri"/>
                <a:cs typeface="Calibri"/>
                <a:sym typeface="Calibri"/>
              </a:defRPr>
            </a:lvl3pPr>
            <a:lvl4pPr marL="1828800" marR="0" lvl="3" indent="-317500" algn="l" rtl="0">
              <a:lnSpc>
                <a:spcPct val="100000"/>
              </a:lnSpc>
              <a:spcBef>
                <a:spcPts val="336"/>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336"/>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12" name="Google Shape;12;p3"/>
          <p:cNvPicPr preferRelativeResize="0"/>
          <p:nvPr/>
        </p:nvPicPr>
        <p:blipFill rotWithShape="1">
          <a:blip r:embed="rId17">
            <a:alphaModFix/>
          </a:blip>
          <a:srcRect t="28195" b="35482"/>
          <a:stretch/>
        </p:blipFill>
        <p:spPr>
          <a:xfrm>
            <a:off x="249382" y="6291052"/>
            <a:ext cx="1422035" cy="430424"/>
          </a:xfrm>
          <a:prstGeom prst="rect">
            <a:avLst/>
          </a:prstGeom>
          <a:noFill/>
          <a:ln>
            <a:noFill/>
          </a:ln>
        </p:spPr>
      </p:pic>
      <p:sp>
        <p:nvSpPr>
          <p:cNvPr id="13" name="Google Shape;13;p3"/>
          <p:cNvSpPr txBox="1"/>
          <p:nvPr/>
        </p:nvSpPr>
        <p:spPr>
          <a:xfrm>
            <a:off x="1581788" y="6356351"/>
            <a:ext cx="1881238"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b="0" i="0" u="none" strike="noStrike" cap="none" dirty="0">
                <a:solidFill>
                  <a:srgbClr val="7F7F7F"/>
                </a:solidFill>
                <a:latin typeface="Calibri"/>
                <a:ea typeface="Calibri"/>
                <a:cs typeface="Calibri"/>
                <a:sym typeface="Calibri"/>
              </a:rPr>
              <a:t>© 2025 Si-Vision</a:t>
            </a:r>
            <a:endParaRPr dirty="0"/>
          </a:p>
        </p:txBody>
      </p:sp>
      <p:sp>
        <p:nvSpPr>
          <p:cNvPr id="14" name="Google Shape;14;p3"/>
          <p:cNvSpPr txBox="1"/>
          <p:nvPr/>
        </p:nvSpPr>
        <p:spPr>
          <a:xfrm>
            <a:off x="4174226" y="6356351"/>
            <a:ext cx="3860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i="0" u="none" strike="noStrike" cap="none">
                <a:solidFill>
                  <a:srgbClr val="7F7F7F"/>
                </a:solidFill>
                <a:latin typeface="Calibri"/>
                <a:ea typeface="Calibri"/>
                <a:cs typeface="Calibri"/>
                <a:sym typeface="Calibri"/>
              </a:rPr>
              <a:t>Si-Vision Confidential Information</a:t>
            </a:r>
            <a:endParaRPr/>
          </a:p>
        </p:txBody>
      </p:sp>
      <p:sp>
        <p:nvSpPr>
          <p:cNvPr id="15" name="Google Shape;15;p3"/>
          <p:cNvSpPr txBox="1"/>
          <p:nvPr/>
        </p:nvSpPr>
        <p:spPr>
          <a:xfrm>
            <a:off x="10613872" y="6431191"/>
            <a:ext cx="968528" cy="276999"/>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200" b="0" i="0" u="none" strike="noStrike" cap="none">
                <a:solidFill>
                  <a:srgbClr val="7F7F7F"/>
                </a:solidFill>
                <a:latin typeface="Calibri"/>
                <a:ea typeface="Calibri"/>
                <a:cs typeface="Calibri"/>
                <a:sym typeface="Calibri"/>
              </a:rPr>
              <a:t>‹#›</a:t>
            </a:fld>
            <a:endParaRPr sz="1200" b="0" i="0" u="none" strike="noStrike" cap="none">
              <a:solidFill>
                <a:srgbClr val="7F7F7F"/>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0" r:id="rId3"/>
    <p:sldLayoutId id="2147483651" r:id="rId4"/>
    <p:sldLayoutId id="2147483654" r:id="rId5"/>
    <p:sldLayoutId id="2147483655" r:id="rId6"/>
    <p:sldLayoutId id="2147483656" r:id="rId7"/>
    <p:sldLayoutId id="2147483657" r:id="rId8"/>
    <p:sldLayoutId id="2147483659" r:id="rId9"/>
    <p:sldLayoutId id="2147483660" r:id="rId10"/>
    <p:sldLayoutId id="2147483661" r:id="rId11"/>
    <p:sldLayoutId id="2147483662" r:id="rId12"/>
    <p:sldLayoutId id="2147483663" r:id="rId13"/>
    <p:sldLayoutId id="2147483664" r:id="rId14"/>
    <p:sldLayoutId id="2147483681"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2500D031-E8B7-42AD-B616-57A243A31EFA}"/>
              </a:ext>
            </a:extLst>
          </p:cNvPr>
          <p:cNvSpPr>
            <a:spLocks noGrp="1"/>
          </p:cNvSpPr>
          <p:nvPr>
            <p:ph type="title"/>
          </p:nvPr>
        </p:nvSpPr>
        <p:spPr>
          <a:xfrm>
            <a:off x="410400" y="478800"/>
            <a:ext cx="9863998" cy="576000"/>
          </a:xfrm>
          <a:prstGeom prst="rect">
            <a:avLst/>
          </a:prstGeom>
        </p:spPr>
        <p:txBody>
          <a:bodyPr vert="horz" lIns="0" tIns="0" rIns="324000" bIns="14400" rtlCol="0" anchor="b" anchorCtr="0">
            <a:noAutofit/>
          </a:bodyPr>
          <a:lstStyle/>
          <a:p>
            <a:r>
              <a:rPr lang="en-US"/>
              <a:t>Click to edit Master title style</a:t>
            </a:r>
            <a:endParaRPr lang="en-US" dirty="0"/>
          </a:p>
        </p:txBody>
      </p:sp>
      <p:sp>
        <p:nvSpPr>
          <p:cNvPr id="3" name="Text Placeholder">
            <a:extLst>
              <a:ext uri="{FF2B5EF4-FFF2-40B4-BE49-F238E27FC236}">
                <a16:creationId xmlns:a16="http://schemas.microsoft.com/office/drawing/2014/main" xmlns="" id="{6750A408-ED0E-47CF-AC3A-5AD4A6E25CE3}"/>
              </a:ext>
            </a:extLst>
          </p:cNvPr>
          <p:cNvSpPr>
            <a:spLocks noGrp="1"/>
          </p:cNvSpPr>
          <p:nvPr>
            <p:ph type="body" idx="1"/>
          </p:nvPr>
        </p:nvSpPr>
        <p:spPr>
          <a:xfrm>
            <a:off x="411162" y="1414800"/>
            <a:ext cx="7200000" cy="4536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a:extLst>
              <a:ext uri="{FF2B5EF4-FFF2-40B4-BE49-F238E27FC236}">
                <a16:creationId xmlns:a16="http://schemas.microsoft.com/office/drawing/2014/main" xmlns="" id="{4F5CAFE5-0972-49AB-B42B-7C613C153AFE}"/>
              </a:ext>
            </a:extLst>
          </p:cNvPr>
          <p:cNvSpPr>
            <a:spLocks noGrp="1"/>
          </p:cNvSpPr>
          <p:nvPr>
            <p:ph type="ftr" sz="quarter" idx="3"/>
          </p:nvPr>
        </p:nvSpPr>
        <p:spPr>
          <a:xfrm>
            <a:off x="1059160" y="6310800"/>
            <a:ext cx="9216000" cy="547200"/>
          </a:xfrm>
          <a:prstGeom prst="rect">
            <a:avLst/>
          </a:prstGeom>
        </p:spPr>
        <p:txBody>
          <a:bodyPr vert="horz" lIns="0" tIns="0" rIns="0" bIns="61200" rtlCol="0" anchor="ctr" anchorCtr="0"/>
          <a:lstStyle>
            <a:lvl1pPr algn="l">
              <a:lnSpc>
                <a:spcPct val="100000"/>
              </a:lnSpc>
              <a:defRPr sz="900">
                <a:solidFill>
                  <a:schemeClr val="tx1"/>
                </a:solidFill>
              </a:defRPr>
            </a:lvl1pPr>
          </a:lstStyle>
          <a:p>
            <a:r>
              <a:rPr lang="it-IT" dirty="0"/>
              <a:t>Restricted | © Siemens 2021 | 2021-10-27 | FPGA Modeling Team| Quarter QFT/FPGA Modeling Meeting | Siemens Digital Industries Software | Where today meets tomorrow.</a:t>
            </a:r>
            <a:endParaRPr lang="en-US" dirty="0"/>
          </a:p>
        </p:txBody>
      </p:sp>
      <p:sp>
        <p:nvSpPr>
          <p:cNvPr id="6" name="Slide Number Placeholder">
            <a:extLst>
              <a:ext uri="{FF2B5EF4-FFF2-40B4-BE49-F238E27FC236}">
                <a16:creationId xmlns:a16="http://schemas.microsoft.com/office/drawing/2014/main" xmlns="" id="{1C051FD7-F65C-4306-9083-C9770A0AF2DF}"/>
              </a:ext>
            </a:extLst>
          </p:cNvPr>
          <p:cNvSpPr>
            <a:spLocks noGrp="1"/>
          </p:cNvSpPr>
          <p:nvPr>
            <p:ph type="sldNum" sz="quarter" idx="4"/>
          </p:nvPr>
        </p:nvSpPr>
        <p:spPr>
          <a:xfrm>
            <a:off x="411163" y="6310800"/>
            <a:ext cx="648000" cy="547200"/>
          </a:xfrm>
          <a:prstGeom prst="rect">
            <a:avLst/>
          </a:prstGeom>
        </p:spPr>
        <p:txBody>
          <a:bodyPr vert="horz" lIns="0" tIns="0" rIns="0" bIns="61200" rtlCol="0" anchor="ctr" anchorCtr="0"/>
          <a:lstStyle>
            <a:lvl1pPr algn="l">
              <a:lnSpc>
                <a:spcPct val="100000"/>
              </a:lnSpc>
              <a:defRPr sz="900" b="1">
                <a:solidFill>
                  <a:schemeClr val="tx1"/>
                </a:solidFill>
              </a:defRPr>
            </a:lvl1pPr>
          </a:lstStyle>
          <a:p>
            <a:fld id="{B8EE6C0D-8D49-4EF2-B5AB-91C9339EB8BA}" type="slidenum">
              <a:rPr lang="en-US" smtClean="0"/>
              <a:pPr/>
              <a:t>‹#›</a:t>
            </a:fld>
            <a:endParaRPr lang="en-US" dirty="0"/>
          </a:p>
        </p:txBody>
      </p:sp>
    </p:spTree>
    <p:extLst>
      <p:ext uri="{BB962C8B-B14F-4D97-AF65-F5344CB8AC3E}">
        <p14:creationId xmlns:p14="http://schemas.microsoft.com/office/powerpoint/2010/main" val="99479306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hf sldNum="0" hdr="0" dt="0"/>
  <p:txStyles>
    <p:titleStyle>
      <a:lvl1pPr algn="l" defTabSz="914141" rtl="0" eaLnBrk="1" latinLnBrk="0" hangingPunct="1">
        <a:lnSpc>
          <a:spcPct val="90000"/>
        </a:lnSpc>
        <a:spcBef>
          <a:spcPct val="0"/>
        </a:spcBef>
        <a:buNone/>
        <a:defRPr sz="2000" b="1" kern="1200">
          <a:solidFill>
            <a:schemeClr val="accent1"/>
          </a:solidFill>
          <a:latin typeface="+mj-lt"/>
          <a:ea typeface="+mj-ea"/>
          <a:cs typeface="+mj-cs"/>
        </a:defRPr>
      </a:lvl1pPr>
    </p:titleStyle>
    <p:bodyStyle>
      <a:lvl1pPr marL="0" indent="0" algn="l" defTabSz="914141" rtl="0" eaLnBrk="1" latinLnBrk="0" hangingPunct="1">
        <a:lnSpc>
          <a:spcPct val="110000"/>
        </a:lnSpc>
        <a:spcBef>
          <a:spcPts val="0"/>
        </a:spcBef>
        <a:spcAft>
          <a:spcPts val="300"/>
        </a:spcAft>
        <a:buFont typeface="Arial" panose="020B0604020202020204" pitchFamily="34" charset="0"/>
        <a:buNone/>
        <a:defRPr sz="1800" b="1" kern="1200">
          <a:solidFill>
            <a:schemeClr val="tx1"/>
          </a:solidFill>
          <a:latin typeface="+mn-lt"/>
          <a:ea typeface="+mn-ea"/>
          <a:cs typeface="+mn-cs"/>
        </a:defRPr>
      </a:lvl1pPr>
      <a:lvl2pPr marL="179948"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2pPr>
      <a:lvl3pPr marL="359898"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3pPr>
      <a:lvl4pPr marL="539846"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4pPr>
      <a:lvl5pPr marL="719796"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b="0" kern="1200">
          <a:solidFill>
            <a:schemeClr val="tx1"/>
          </a:solidFill>
          <a:latin typeface="+mn-lt"/>
          <a:ea typeface="+mn-ea"/>
          <a:cs typeface="+mn-cs"/>
        </a:defRPr>
      </a:lvl5pPr>
      <a:lvl6pPr marL="899744"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6pPr>
      <a:lvl7pPr marL="1079694"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7pPr>
      <a:lvl8pPr marL="1259642"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8pPr>
      <a:lvl9pPr marL="1439592" indent="-179948" algn="l" defTabSz="914141" rtl="0" eaLnBrk="1" latinLnBrk="0" hangingPunct="1">
        <a:lnSpc>
          <a:spcPct val="110000"/>
        </a:lnSpc>
        <a:spcBef>
          <a:spcPts val="0"/>
        </a:spcBef>
        <a:spcAft>
          <a:spcPts val="300"/>
        </a:spcAft>
        <a:buClr>
          <a:schemeClr val="accent1"/>
        </a:buClr>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41" rtl="0" eaLnBrk="1" latinLnBrk="0" hangingPunct="1">
        <a:defRPr sz="1800" kern="1200">
          <a:solidFill>
            <a:schemeClr val="tx1"/>
          </a:solidFill>
          <a:latin typeface="+mn-lt"/>
          <a:ea typeface="+mn-ea"/>
          <a:cs typeface="+mn-cs"/>
        </a:defRPr>
      </a:lvl1pPr>
      <a:lvl2pPr marL="457071" algn="l" defTabSz="914141" rtl="0" eaLnBrk="1" latinLnBrk="0" hangingPunct="1">
        <a:defRPr sz="1800" kern="1200">
          <a:solidFill>
            <a:schemeClr val="tx1"/>
          </a:solidFill>
          <a:latin typeface="+mn-lt"/>
          <a:ea typeface="+mn-ea"/>
          <a:cs typeface="+mn-cs"/>
        </a:defRPr>
      </a:lvl2pPr>
      <a:lvl3pPr marL="914141" algn="l" defTabSz="914141" rtl="0" eaLnBrk="1" latinLnBrk="0" hangingPunct="1">
        <a:defRPr sz="1800" kern="1200">
          <a:solidFill>
            <a:schemeClr val="tx1"/>
          </a:solidFill>
          <a:latin typeface="+mn-lt"/>
          <a:ea typeface="+mn-ea"/>
          <a:cs typeface="+mn-cs"/>
        </a:defRPr>
      </a:lvl3pPr>
      <a:lvl4pPr marL="1371212" algn="l" defTabSz="914141" rtl="0" eaLnBrk="1" latinLnBrk="0" hangingPunct="1">
        <a:defRPr sz="1800" kern="1200">
          <a:solidFill>
            <a:schemeClr val="tx1"/>
          </a:solidFill>
          <a:latin typeface="+mn-lt"/>
          <a:ea typeface="+mn-ea"/>
          <a:cs typeface="+mn-cs"/>
        </a:defRPr>
      </a:lvl4pPr>
      <a:lvl5pPr marL="1828281" algn="l" defTabSz="914141" rtl="0" eaLnBrk="1" latinLnBrk="0" hangingPunct="1">
        <a:defRPr sz="1800" kern="1200">
          <a:solidFill>
            <a:schemeClr val="tx1"/>
          </a:solidFill>
          <a:latin typeface="+mn-lt"/>
          <a:ea typeface="+mn-ea"/>
          <a:cs typeface="+mn-cs"/>
        </a:defRPr>
      </a:lvl5pPr>
      <a:lvl6pPr marL="2285353" algn="l" defTabSz="914141" rtl="0" eaLnBrk="1" latinLnBrk="0" hangingPunct="1">
        <a:defRPr sz="1800" kern="1200">
          <a:solidFill>
            <a:schemeClr val="tx1"/>
          </a:solidFill>
          <a:latin typeface="+mn-lt"/>
          <a:ea typeface="+mn-ea"/>
          <a:cs typeface="+mn-cs"/>
        </a:defRPr>
      </a:lvl6pPr>
      <a:lvl7pPr marL="2742422" algn="l" defTabSz="914141" rtl="0" eaLnBrk="1" latinLnBrk="0" hangingPunct="1">
        <a:defRPr sz="1800" kern="1200">
          <a:solidFill>
            <a:schemeClr val="tx1"/>
          </a:solidFill>
          <a:latin typeface="+mn-lt"/>
          <a:ea typeface="+mn-ea"/>
          <a:cs typeface="+mn-cs"/>
        </a:defRPr>
      </a:lvl7pPr>
      <a:lvl8pPr marL="3199493" algn="l" defTabSz="914141" rtl="0" eaLnBrk="1" latinLnBrk="0" hangingPunct="1">
        <a:defRPr sz="1800" kern="1200">
          <a:solidFill>
            <a:schemeClr val="tx1"/>
          </a:solidFill>
          <a:latin typeface="+mn-lt"/>
          <a:ea typeface="+mn-ea"/>
          <a:cs typeface="+mn-cs"/>
        </a:defRPr>
      </a:lvl8pPr>
      <a:lvl9pPr marL="3656564" algn="l" defTabSz="91414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bluetooth.com/bluetooth-le-primer/?utm_source=chatgpt.com" TargetMode="External"/><Relationship Id="rId2" Type="http://schemas.openxmlformats.org/officeDocument/2006/relationships/hyperlink" Target="https://www.bluetooth.com/specifications/specs/core-specification-5-4/"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257238-2814-B56B-0A3E-53DEAA60C4FA}"/>
              </a:ext>
            </a:extLst>
          </p:cNvPr>
          <p:cNvSpPr>
            <a:spLocks noGrp="1"/>
          </p:cNvSpPr>
          <p:nvPr>
            <p:ph type="ctrTitle"/>
          </p:nvPr>
        </p:nvSpPr>
        <p:spPr/>
        <p:txBody>
          <a:bodyPr/>
          <a:lstStyle/>
          <a:p>
            <a:r>
              <a:rPr lang="en-US" dirty="0" smtClean="0">
                <a:solidFill>
                  <a:srgbClr val="0070C0"/>
                </a:solidFill>
                <a:latin typeface="Times New Roman" panose="02020603050405020304" pitchFamily="18" charset="0"/>
                <a:cs typeface="Times New Roman" panose="02020603050405020304" pitchFamily="18" charset="0"/>
              </a:rPr>
              <a:t>BLE (Bluetooth Low Energy)</a:t>
            </a:r>
            <a:endParaRPr lang="en-US"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xmlns="" id="{63A307F8-99BE-4C5B-8D2F-29065BE5655C}"/>
              </a:ext>
            </a:extLst>
          </p:cNvPr>
          <p:cNvSpPr>
            <a:spLocks noGrp="1"/>
          </p:cNvSpPr>
          <p:nvPr>
            <p:ph type="subTitle"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BLE standard presentation</a:t>
            </a:r>
            <a:endParaRPr lang="en-US"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xmlns="" id="{07AFDDCE-6A2E-BF14-87AE-799BA6215E7C}"/>
              </a:ext>
            </a:extLst>
          </p:cNvPr>
          <p:cNvSpPr>
            <a:spLocks noGrp="1"/>
          </p:cNvSpPr>
          <p:nvPr>
            <p:ph type="body" idx="2"/>
          </p:nvPr>
        </p:nvSpPr>
        <p:spPr/>
        <p:txBody>
          <a:bodyPr/>
          <a:lstStyle/>
          <a:p>
            <a:endParaRPr lang="en-US" dirty="0"/>
          </a:p>
        </p:txBody>
      </p:sp>
      <p:sp>
        <p:nvSpPr>
          <p:cNvPr id="5" name="Text Placeholder 4">
            <a:extLst>
              <a:ext uri="{FF2B5EF4-FFF2-40B4-BE49-F238E27FC236}">
                <a16:creationId xmlns:a16="http://schemas.microsoft.com/office/drawing/2014/main" xmlns="" id="{3607AEB4-7756-6DC8-8A54-1B45AF0B3052}"/>
              </a:ext>
            </a:extLst>
          </p:cNvPr>
          <p:cNvSpPr>
            <a:spLocks noGrp="1"/>
          </p:cNvSpPr>
          <p:nvPr>
            <p:ph type="body" idx="3"/>
          </p:nvPr>
        </p:nvSpPr>
        <p:spPr/>
        <p:txBody>
          <a:bodyPr>
            <a:normAutofit fontScale="92500" lnSpcReduction="20000"/>
          </a:bodyPr>
          <a:lstStyle/>
          <a:p>
            <a:endParaRPr lang="en-US" dirty="0"/>
          </a:p>
        </p:txBody>
      </p:sp>
    </p:spTree>
    <p:extLst>
      <p:ext uri="{BB962C8B-B14F-4D97-AF65-F5344CB8AC3E}">
        <p14:creationId xmlns:p14="http://schemas.microsoft.com/office/powerpoint/2010/main" val="7285238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
            <a:ext cx="10972800" cy="5917722"/>
          </a:xfrm>
        </p:spPr>
        <p:txBody>
          <a:bodyPr anchor="ctr">
            <a:normAutofit/>
          </a:bodyPr>
          <a:lstStyle/>
          <a:p>
            <a:pPr algn="ctr"/>
            <a:r>
              <a:rPr lang="en-US" sz="6000" dirty="0">
                <a:latin typeface="Bodoni MT Black" panose="02070A03080606020203" pitchFamily="18" charset="0"/>
              </a:rPr>
              <a:t>Introduction</a:t>
            </a:r>
          </a:p>
        </p:txBody>
      </p:sp>
    </p:spTree>
    <p:extLst>
      <p:ext uri="{BB962C8B-B14F-4D97-AF65-F5344CB8AC3E}">
        <p14:creationId xmlns:p14="http://schemas.microsoft.com/office/powerpoint/2010/main" val="1118645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 </a:t>
            </a:r>
          </a:p>
        </p:txBody>
      </p:sp>
      <p:sp>
        <p:nvSpPr>
          <p:cNvPr id="3" name="Text Placeholder 2"/>
          <p:cNvSpPr>
            <a:spLocks noGrp="1"/>
          </p:cNvSpPr>
          <p:nvPr>
            <p:ph type="body" idx="1"/>
          </p:nvPr>
        </p:nvSpPr>
        <p:spPr/>
        <p:txBody>
          <a:bodyPr/>
          <a:lstStyle/>
          <a:p>
            <a:r>
              <a:rPr lang="en-US" sz="2800" b="1" dirty="0"/>
              <a:t>Introduction to BLE </a:t>
            </a:r>
          </a:p>
          <a:p>
            <a:r>
              <a:rPr lang="en-US" sz="2800" b="1" dirty="0"/>
              <a:t>BLE operation</a:t>
            </a:r>
          </a:p>
          <a:p>
            <a:r>
              <a:rPr lang="en-US" sz="2800" b="1" dirty="0"/>
              <a:t>Basic concept of BLE </a:t>
            </a:r>
          </a:p>
          <a:p>
            <a:r>
              <a:rPr lang="en-US" sz="2800" b="1" dirty="0"/>
              <a:t>BLE core system architecture</a:t>
            </a:r>
          </a:p>
          <a:p>
            <a:pPr lvl="1"/>
            <a:r>
              <a:rPr lang="en-US" sz="2400" b="1" dirty="0"/>
              <a:t>Host Layer</a:t>
            </a:r>
          </a:p>
          <a:p>
            <a:pPr lvl="1"/>
            <a:r>
              <a:rPr lang="en-US" sz="2400" b="1" dirty="0"/>
              <a:t>Link Layer</a:t>
            </a:r>
          </a:p>
          <a:p>
            <a:pPr lvl="1"/>
            <a:r>
              <a:rPr lang="en-US" sz="2400" b="1" dirty="0"/>
              <a:t>Physical layer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3162300"/>
            <a:ext cx="9537700" cy="3200400"/>
          </a:xfrm>
        </p:spPr>
        <p:txBody>
          <a:bodyPr/>
          <a:lstStyle/>
          <a:p>
            <a:pPr>
              <a:buFont typeface="Wingdings" panose="05000000000000000000" pitchFamily="2" charset="2"/>
              <a:buChar char="q"/>
            </a:pPr>
            <a:r>
              <a:rPr lang="en-US" b="1" dirty="0"/>
              <a:t>Why Bluetooth Low Energy (BLE) Is Low-Cost</a:t>
            </a:r>
          </a:p>
          <a:p>
            <a:pPr marL="876300" lvl="1">
              <a:buFont typeface="Wingdings" panose="05000000000000000000" pitchFamily="2" charset="2"/>
              <a:buChar char="Ø"/>
            </a:pPr>
            <a:r>
              <a:rPr lang="en-US" sz="2400" dirty="0"/>
              <a:t> </a:t>
            </a:r>
            <a:r>
              <a:rPr lang="en-US" sz="2400" b="1" dirty="0"/>
              <a:t>Free ISM Band: </a:t>
            </a:r>
            <a:r>
              <a:rPr lang="en-US" sz="2400" dirty="0"/>
              <a:t>BLE operates in the 2.4 GHz ISM band, which is open and license-free worldwide. avoiding paid radio spectrum keeps costs low. 	</a:t>
            </a:r>
          </a:p>
          <a:p>
            <a:pPr marL="876300" lvl="1">
              <a:buFont typeface="Wingdings" panose="05000000000000000000" pitchFamily="2" charset="2"/>
              <a:buChar char="Ø"/>
            </a:pPr>
            <a:r>
              <a:rPr lang="en-US" sz="2400" b="1" dirty="0"/>
              <a:t>Low Licensing Fees: </a:t>
            </a:r>
            <a:r>
              <a:rPr lang="en-US" sz="2400" dirty="0"/>
              <a:t>Developers pay a membership </a:t>
            </a:r>
          </a:p>
          <a:p>
            <a:pPr marL="876300" lvl="1">
              <a:buFont typeface="Wingdings" panose="05000000000000000000" pitchFamily="2" charset="2"/>
              <a:buChar char="Ø"/>
            </a:pPr>
            <a:r>
              <a:rPr lang="en-US" sz="2400" b="1" dirty="0"/>
              <a:t>Low Power Design </a:t>
            </a:r>
            <a:r>
              <a:rPr lang="en-US" sz="2400" dirty="0"/>
              <a:t>BLE runs on small, inexpensive batteries like button cells, reducing material, and replacement costs. This trade-off limits data rate</a:t>
            </a:r>
          </a:p>
          <a:p>
            <a:pPr>
              <a:buFont typeface="Wingdings" panose="05000000000000000000" pitchFamily="2" charset="2"/>
              <a:buChar char="q"/>
            </a:pPr>
            <a:endParaRPr lang="en-US" dirty="0"/>
          </a:p>
          <a:p>
            <a:pPr marL="876300" lvl="1">
              <a:buFontTx/>
              <a:buChar char="-"/>
            </a:pPr>
            <a:endParaRPr lang="en-US" dirty="0"/>
          </a:p>
        </p:txBody>
      </p:sp>
      <p:sp>
        <p:nvSpPr>
          <p:cNvPr id="7" name="Text Placeholder 6">
            <a:extLst>
              <a:ext uri="{FF2B5EF4-FFF2-40B4-BE49-F238E27FC236}">
                <a16:creationId xmlns:a16="http://schemas.microsoft.com/office/drawing/2014/main" xmlns="" id="{22829A6D-0CD4-314D-B1E2-18F77F5E1701}"/>
              </a:ext>
            </a:extLst>
          </p:cNvPr>
          <p:cNvSpPr>
            <a:spLocks noGrp="1"/>
          </p:cNvSpPr>
          <p:nvPr>
            <p:ph type="body" idx="2"/>
          </p:nvPr>
        </p:nvSpPr>
        <p:spPr>
          <a:xfrm>
            <a:off x="609600" y="1502383"/>
            <a:ext cx="10972800" cy="1659917"/>
          </a:xfrm>
        </p:spPr>
        <p:txBody>
          <a:bodyPr/>
          <a:lstStyle/>
          <a:p>
            <a:r>
              <a:rPr lang="en-US" dirty="0"/>
              <a:t>Bluetooth low energy is designed as a complementary technology to classic Bluetooth, but it takes a completely different direction. Instead of increasing the data rates available, it has been optimized for ultra-low power consumption and been extremely low cost</a:t>
            </a:r>
          </a:p>
          <a:p>
            <a:endParaRPr lang="en-US" dirty="0"/>
          </a:p>
        </p:txBody>
      </p:sp>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8" name="Text Placeholder 7">
            <a:extLst>
              <a:ext uri="{FF2B5EF4-FFF2-40B4-BE49-F238E27FC236}">
                <a16:creationId xmlns:a16="http://schemas.microsoft.com/office/drawing/2014/main" xmlns="" id="{A32280D4-AF60-5D05-06AD-1CAC7768CF77}"/>
              </a:ext>
            </a:extLst>
          </p:cNvPr>
          <p:cNvSpPr>
            <a:spLocks noGrp="1"/>
          </p:cNvSpPr>
          <p:nvPr>
            <p:ph type="body" idx="3"/>
          </p:nvPr>
        </p:nvSpPr>
        <p:spPr/>
        <p:txBody>
          <a:bodyPr>
            <a:normAutofit fontScale="70000" lnSpcReduction="20000"/>
          </a:bodyPr>
          <a:lstStyle/>
          <a:p>
            <a:endParaRPr lang="en-US"/>
          </a:p>
        </p:txBody>
      </p:sp>
      <p:pic>
        <p:nvPicPr>
          <p:cNvPr id="5" name="Picture 4">
            <a:extLst>
              <a:ext uri="{FF2B5EF4-FFF2-40B4-BE49-F238E27FC236}">
                <a16:creationId xmlns:a16="http://schemas.microsoft.com/office/drawing/2014/main" xmlns="" id="{EB5C7286-5F56-BA1C-8EF2-9E5F8C7791FC}"/>
              </a:ext>
            </a:extLst>
          </p:cNvPr>
          <p:cNvPicPr>
            <a:picLocks noChangeAspect="1"/>
          </p:cNvPicPr>
          <p:nvPr/>
        </p:nvPicPr>
        <p:blipFill>
          <a:blip r:embed="rId2"/>
          <a:stretch>
            <a:fillRect/>
          </a:stretch>
        </p:blipFill>
        <p:spPr>
          <a:xfrm>
            <a:off x="10007600" y="3031516"/>
            <a:ext cx="2184400" cy="2040146"/>
          </a:xfrm>
          <a:prstGeom prst="rect">
            <a:avLst/>
          </a:prstGeom>
        </p:spPr>
      </p:pic>
    </p:spTree>
    <p:extLst>
      <p:ext uri="{BB962C8B-B14F-4D97-AF65-F5344CB8AC3E}">
        <p14:creationId xmlns:p14="http://schemas.microsoft.com/office/powerpoint/2010/main" val="33409890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6EA395-B884-3E20-3DCC-1D9B020200B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Basic concept of BLE</a:t>
            </a:r>
          </a:p>
        </p:txBody>
      </p:sp>
      <p:sp>
        <p:nvSpPr>
          <p:cNvPr id="3" name="Text Placeholder 2">
            <a:extLst>
              <a:ext uri="{FF2B5EF4-FFF2-40B4-BE49-F238E27FC236}">
                <a16:creationId xmlns:a16="http://schemas.microsoft.com/office/drawing/2014/main" xmlns="" id="{6D5C8207-5A94-D1DC-4E66-78B91C6ACAFF}"/>
              </a:ext>
            </a:extLst>
          </p:cNvPr>
          <p:cNvSpPr>
            <a:spLocks noGrp="1"/>
          </p:cNvSpPr>
          <p:nvPr>
            <p:ph type="body" idx="1"/>
          </p:nvPr>
        </p:nvSpPr>
        <p:spPr>
          <a:xfrm>
            <a:off x="609600" y="1428530"/>
            <a:ext cx="10972800" cy="4848225"/>
          </a:xfrm>
        </p:spPr>
        <p:txBody>
          <a:bodyPr/>
          <a:lstStyle/>
          <a:p>
            <a:pPr>
              <a:buFont typeface="Wingdings" panose="05000000000000000000" pitchFamily="2" charset="2"/>
              <a:buChar char="q"/>
            </a:pPr>
            <a:r>
              <a:rPr lang="en-US" b="1" dirty="0"/>
              <a:t>Time Is Energy</a:t>
            </a:r>
          </a:p>
          <a:p>
            <a:pPr marL="571500" lvl="1" indent="0">
              <a:buNone/>
            </a:pPr>
            <a:r>
              <a:rPr lang="en-US" sz="2400" dirty="0"/>
              <a:t>BLE reduces energy use by minimizing how long devices stay</a:t>
            </a:r>
          </a:p>
          <a:p>
            <a:pPr marL="571500" lvl="1" indent="0">
              <a:buNone/>
            </a:pPr>
            <a:r>
              <a:rPr lang="en-US" sz="2400" dirty="0"/>
              <a:t>active for device to be discoverable it must transmit a very </a:t>
            </a:r>
          </a:p>
          <a:p>
            <a:pPr marL="571500" lvl="1" indent="0">
              <a:buNone/>
            </a:pPr>
            <a:r>
              <a:rPr lang="en-US" sz="2400" dirty="0"/>
              <a:t>short message three times on three different frequency </a:t>
            </a:r>
          </a:p>
          <a:p>
            <a:pPr marL="571500" lvl="1" indent="0">
              <a:buNone/>
            </a:pPr>
            <a:r>
              <a:rPr lang="en-US" sz="2400" dirty="0"/>
              <a:t>every few seconds, short transmit/receive windows</a:t>
            </a:r>
          </a:p>
          <a:p>
            <a:pPr lvl="0">
              <a:buClr>
                <a:srgbClr val="000000"/>
              </a:buClr>
              <a:buFont typeface="Wingdings" panose="05000000000000000000" pitchFamily="2" charset="2"/>
              <a:buChar char="q"/>
              <a:defRPr/>
            </a:pPr>
            <a:r>
              <a:rPr lang="en-US" b="1" dirty="0"/>
              <a:t>Asymmetric Design</a:t>
            </a:r>
          </a:p>
          <a:p>
            <a:pPr marL="571500" lvl="1" indent="0">
              <a:buNone/>
              <a:defRPr/>
            </a:pPr>
            <a:r>
              <a:rPr lang="en-US" sz="2400" dirty="0"/>
              <a:t>BLE divides tasks unevenly: low-power devices (advertisers, slaves) do the simplest jobs, while high-power devices (scanners, masters) handle complex ones. This ensures the smallest, battery-powered devices stay efficient and cheap</a:t>
            </a:r>
          </a:p>
        </p:txBody>
      </p:sp>
      <p:pic>
        <p:nvPicPr>
          <p:cNvPr id="9" name="Picture 8">
            <a:extLst>
              <a:ext uri="{FF2B5EF4-FFF2-40B4-BE49-F238E27FC236}">
                <a16:creationId xmlns:a16="http://schemas.microsoft.com/office/drawing/2014/main" xmlns="" id="{BFE4AF22-A64B-5088-4F45-4A8DE4A405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5560" y="1923757"/>
            <a:ext cx="2656840" cy="1666875"/>
          </a:xfrm>
          <a:prstGeom prst="rect">
            <a:avLst/>
          </a:prstGeom>
        </p:spPr>
      </p:pic>
    </p:spTree>
    <p:extLst>
      <p:ext uri="{BB962C8B-B14F-4D97-AF65-F5344CB8AC3E}">
        <p14:creationId xmlns:p14="http://schemas.microsoft.com/office/powerpoint/2010/main" val="23631022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E9BA9E-AB06-6D93-AC08-47FD1321259E}"/>
              </a:ext>
            </a:extLst>
          </p:cNvPr>
          <p:cNvSpPr>
            <a:spLocks noGrp="1"/>
          </p:cNvSpPr>
          <p:nvPr>
            <p:ph type="title"/>
          </p:nvPr>
        </p:nvSpPr>
        <p:spPr/>
        <p:txBody>
          <a:bodyPr>
            <a:normAutofit/>
          </a:bodyPr>
          <a:lstStyle/>
          <a:p>
            <a:r>
              <a:rPr lang="en-US" dirty="0"/>
              <a:t>BLE operation</a:t>
            </a:r>
          </a:p>
        </p:txBody>
      </p:sp>
      <p:sp>
        <p:nvSpPr>
          <p:cNvPr id="3" name="Text Placeholder 2">
            <a:extLst>
              <a:ext uri="{FF2B5EF4-FFF2-40B4-BE49-F238E27FC236}">
                <a16:creationId xmlns:a16="http://schemas.microsoft.com/office/drawing/2014/main" xmlns="" id="{06704A2B-30F7-285D-6749-1C807E116EF5}"/>
              </a:ext>
            </a:extLst>
          </p:cNvPr>
          <p:cNvSpPr>
            <a:spLocks noGrp="1"/>
          </p:cNvSpPr>
          <p:nvPr>
            <p:ph type="body" idx="1"/>
          </p:nvPr>
        </p:nvSpPr>
        <p:spPr>
          <a:xfrm>
            <a:off x="609600" y="1484803"/>
            <a:ext cx="10972800" cy="2689156"/>
          </a:xfrm>
        </p:spPr>
        <p:txBody>
          <a:bodyPr/>
          <a:lstStyle/>
          <a:p>
            <a:r>
              <a:rPr lang="en-US" dirty="0"/>
              <a:t>BLE operate on 40 channel each channel has 2MHz BW </a:t>
            </a:r>
          </a:p>
          <a:p>
            <a:r>
              <a:rPr lang="en-US" dirty="0"/>
              <a:t>BLE can be connection oriented  or connectionless determined by GAP in host layer</a:t>
            </a:r>
          </a:p>
          <a:p>
            <a:r>
              <a:rPr lang="en-US" dirty="0"/>
              <a:t>Connection between peripheral and central are through connection interval different parameters are specified make BLE save power such as connection interval time , peripheral latency, channel hop sequence </a:t>
            </a:r>
          </a:p>
          <a:p>
            <a:r>
              <a:rPr lang="en-US" dirty="0"/>
              <a:t>Advertisement packet send on 37,38,39 </a:t>
            </a:r>
          </a:p>
          <a:p>
            <a:pPr marL="76200" indent="0">
              <a:buNone/>
            </a:pPr>
            <a:endParaRPr lang="en-US" dirty="0"/>
          </a:p>
        </p:txBody>
      </p:sp>
      <p:pic>
        <p:nvPicPr>
          <p:cNvPr id="6" name="Picture 5">
            <a:extLst>
              <a:ext uri="{FF2B5EF4-FFF2-40B4-BE49-F238E27FC236}">
                <a16:creationId xmlns:a16="http://schemas.microsoft.com/office/drawing/2014/main" xmlns="" id="{64E1EE3D-0E3A-4B43-E2EB-6FBBD48B7D06}"/>
              </a:ext>
            </a:extLst>
          </p:cNvPr>
          <p:cNvPicPr>
            <a:picLocks noChangeAspect="1"/>
          </p:cNvPicPr>
          <p:nvPr/>
        </p:nvPicPr>
        <p:blipFill>
          <a:blip r:embed="rId2"/>
          <a:stretch>
            <a:fillRect/>
          </a:stretch>
        </p:blipFill>
        <p:spPr>
          <a:xfrm>
            <a:off x="1840867" y="4173958"/>
            <a:ext cx="7785733" cy="2159069"/>
          </a:xfrm>
          <a:prstGeom prst="rect">
            <a:avLst/>
          </a:prstGeom>
        </p:spPr>
      </p:pic>
    </p:spTree>
    <p:extLst>
      <p:ext uri="{BB962C8B-B14F-4D97-AF65-F5344CB8AC3E}">
        <p14:creationId xmlns:p14="http://schemas.microsoft.com/office/powerpoint/2010/main" val="4255940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xmlns="" id="{45FEFE81-0861-11F4-CAC4-F14B9ACC2626}"/>
              </a:ext>
            </a:extLst>
          </p:cNvPr>
          <p:cNvSpPr>
            <a:spLocks noGrp="1"/>
          </p:cNvSpPr>
          <p:nvPr>
            <p:ph type="body" idx="1"/>
          </p:nvPr>
        </p:nvSpPr>
        <p:spPr>
          <a:xfrm>
            <a:off x="609600" y="1476983"/>
            <a:ext cx="7626822" cy="4848225"/>
          </a:xfrm>
        </p:spPr>
        <p:txBody>
          <a:bodyPr/>
          <a:lstStyle/>
          <a:p>
            <a:pPr>
              <a:buFont typeface="Wingdings" panose="05000000000000000000" pitchFamily="2" charset="2"/>
              <a:buChar char="q"/>
            </a:pPr>
            <a:r>
              <a:rPr lang="en-US" b="1" dirty="0"/>
              <a:t>Host Layer Overview:</a:t>
            </a:r>
          </a:p>
          <a:p>
            <a:pPr lvl="1">
              <a:buFont typeface="Arial" panose="020B0604020202020204" pitchFamily="34" charset="0"/>
              <a:buChar char="•"/>
            </a:pPr>
            <a:r>
              <a:rPr lang="en-US" sz="2400" dirty="0"/>
              <a:t>Use client server architecture</a:t>
            </a:r>
          </a:p>
          <a:p>
            <a:pPr lvl="1">
              <a:buFont typeface="Arial" panose="020B0604020202020204" pitchFamily="34" charset="0"/>
              <a:buChar char="•"/>
            </a:pPr>
            <a:r>
              <a:rPr lang="en-US" sz="2400" dirty="0"/>
              <a:t>defines how data is exposed as attributes between a client and a server, and how devices share information like battery level or heart rate</a:t>
            </a:r>
          </a:p>
          <a:p>
            <a:pPr lvl="1">
              <a:buFont typeface="Arial" panose="020B0604020202020204" pitchFamily="34" charset="0"/>
              <a:buChar char="•"/>
            </a:pPr>
            <a:r>
              <a:rPr lang="en-US" sz="2400" dirty="0"/>
              <a:t>send commands to control layer to control radio    operation </a:t>
            </a:r>
          </a:p>
        </p:txBody>
      </p:sp>
      <p:sp>
        <p:nvSpPr>
          <p:cNvPr id="7" name="Title 6">
            <a:extLst>
              <a:ext uri="{FF2B5EF4-FFF2-40B4-BE49-F238E27FC236}">
                <a16:creationId xmlns:a16="http://schemas.microsoft.com/office/drawing/2014/main" xmlns="" id="{D2BED8D7-ADD7-143B-B335-0FF4930D8D29}"/>
              </a:ext>
            </a:extLst>
          </p:cNvPr>
          <p:cNvSpPr>
            <a:spLocks noGrp="1"/>
          </p:cNvSpPr>
          <p:nvPr>
            <p:ph type="title"/>
          </p:nvPr>
        </p:nvSpPr>
        <p:spPr/>
        <p:txBody>
          <a:bodyPr>
            <a:normAutofit/>
          </a:bodyPr>
          <a:lstStyle/>
          <a:p>
            <a:r>
              <a:rPr lang="en-US" dirty="0"/>
              <a:t>BLE core system architecture: Host layer</a:t>
            </a:r>
          </a:p>
        </p:txBody>
      </p:sp>
      <p:sp>
        <p:nvSpPr>
          <p:cNvPr id="10" name="Text Placeholder 9">
            <a:extLst>
              <a:ext uri="{FF2B5EF4-FFF2-40B4-BE49-F238E27FC236}">
                <a16:creationId xmlns:a16="http://schemas.microsoft.com/office/drawing/2014/main" xmlns="" id="{F410F27A-1C55-A956-78FF-CC891982B218}"/>
              </a:ext>
            </a:extLst>
          </p:cNvPr>
          <p:cNvSpPr>
            <a:spLocks noGrp="1"/>
          </p:cNvSpPr>
          <p:nvPr>
            <p:ph type="body" idx="3"/>
          </p:nvPr>
        </p:nvSpPr>
        <p:spPr/>
        <p:txBody>
          <a:bodyPr>
            <a:normAutofit fontScale="70000" lnSpcReduction="20000"/>
          </a:bodyPr>
          <a:lstStyle/>
          <a:p>
            <a:endParaRPr lang="en-US" dirty="0"/>
          </a:p>
        </p:txBody>
      </p:sp>
      <p:pic>
        <p:nvPicPr>
          <p:cNvPr id="30" name="Picture 29">
            <a:extLst>
              <a:ext uri="{FF2B5EF4-FFF2-40B4-BE49-F238E27FC236}">
                <a16:creationId xmlns:a16="http://schemas.microsoft.com/office/drawing/2014/main" xmlns="" id="{DB2BB430-C098-EAE0-3F08-7A179D2B4674}"/>
              </a:ext>
            </a:extLst>
          </p:cNvPr>
          <p:cNvPicPr>
            <a:picLocks noChangeAspect="1"/>
          </p:cNvPicPr>
          <p:nvPr/>
        </p:nvPicPr>
        <p:blipFill>
          <a:blip r:embed="rId2"/>
          <a:stretch>
            <a:fillRect/>
          </a:stretch>
        </p:blipFill>
        <p:spPr>
          <a:xfrm>
            <a:off x="8236422" y="1476983"/>
            <a:ext cx="3705742" cy="4639322"/>
          </a:xfrm>
          <a:prstGeom prst="rect">
            <a:avLst/>
          </a:prstGeom>
        </p:spPr>
      </p:pic>
    </p:spTree>
    <p:extLst>
      <p:ext uri="{BB962C8B-B14F-4D97-AF65-F5344CB8AC3E}">
        <p14:creationId xmlns:p14="http://schemas.microsoft.com/office/powerpoint/2010/main" val="21413059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FDA868-2999-D284-0CAF-25D064B8864F}"/>
              </a:ext>
            </a:extLst>
          </p:cNvPr>
          <p:cNvSpPr>
            <a:spLocks noGrp="1"/>
          </p:cNvSpPr>
          <p:nvPr>
            <p:ph type="title"/>
          </p:nvPr>
        </p:nvSpPr>
        <p:spPr/>
        <p:txBody>
          <a:bodyPr/>
          <a:lstStyle/>
          <a:p>
            <a:r>
              <a:rPr lang="en-US" dirty="0"/>
              <a:t>BLE core system architecture: link layer states </a:t>
            </a:r>
          </a:p>
        </p:txBody>
      </p:sp>
      <p:sp>
        <p:nvSpPr>
          <p:cNvPr id="3" name="Text Placeholder 2">
            <a:extLst>
              <a:ext uri="{FF2B5EF4-FFF2-40B4-BE49-F238E27FC236}">
                <a16:creationId xmlns:a16="http://schemas.microsoft.com/office/drawing/2014/main" xmlns="" id="{7646EBFA-1DE6-C10B-4321-719CD4F0FAA4}"/>
              </a:ext>
            </a:extLst>
          </p:cNvPr>
          <p:cNvSpPr>
            <a:spLocks noGrp="1"/>
          </p:cNvSpPr>
          <p:nvPr>
            <p:ph type="body" idx="1"/>
          </p:nvPr>
        </p:nvSpPr>
        <p:spPr>
          <a:xfrm>
            <a:off x="609599" y="1484802"/>
            <a:ext cx="10972799" cy="4848225"/>
          </a:xfrm>
        </p:spPr>
        <p:txBody>
          <a:bodyPr/>
          <a:lstStyle/>
          <a:p>
            <a:pPr>
              <a:buFont typeface="Wingdings" panose="05000000000000000000" pitchFamily="2" charset="2"/>
              <a:buChar char="q"/>
            </a:pPr>
            <a:r>
              <a:rPr lang="en-US" b="1" dirty="0"/>
              <a:t>link Layer Overview:</a:t>
            </a:r>
            <a:endParaRPr lang="en-US" dirty="0"/>
          </a:p>
          <a:p>
            <a:pPr marL="533400" lvl="1" indent="0">
              <a:buNone/>
            </a:pPr>
            <a:r>
              <a:rPr lang="en-US" sz="2400" dirty="0"/>
              <a:t>Defines several distinct ways of using the underlying radio for connectionless, connection-oriented </a:t>
            </a:r>
          </a:p>
          <a:p>
            <a:pPr lvl="1">
              <a:buFont typeface="Arial" panose="020B0604020202020204" pitchFamily="34" charset="0"/>
              <a:buChar char="•"/>
            </a:pPr>
            <a:r>
              <a:rPr lang="en-US" sz="2400" b="1" dirty="0"/>
              <a:t>the Standby state</a:t>
            </a:r>
            <a:r>
              <a:rPr lang="en-US" sz="2400" dirty="0"/>
              <a:t> : doesn’t send or receive any packet</a:t>
            </a:r>
          </a:p>
          <a:p>
            <a:pPr lvl="1">
              <a:buFont typeface="Arial" panose="020B0604020202020204" pitchFamily="34" charset="0"/>
              <a:buChar char="•"/>
            </a:pPr>
            <a:r>
              <a:rPr lang="en-US" sz="2400" b="1" dirty="0"/>
              <a:t>Advertising state: </a:t>
            </a:r>
            <a:r>
              <a:rPr lang="en-US" sz="2400" dirty="0"/>
              <a:t>transmitting advertising physical channel packets</a:t>
            </a:r>
          </a:p>
          <a:p>
            <a:pPr lvl="1">
              <a:buFont typeface="Arial" panose="020B0604020202020204" pitchFamily="34" charset="0"/>
              <a:buChar char="•"/>
            </a:pPr>
            <a:r>
              <a:rPr lang="en-US" sz="2400" b="1" dirty="0"/>
              <a:t>Scanning state: </a:t>
            </a:r>
            <a:r>
              <a:rPr lang="en-US" sz="2400" dirty="0"/>
              <a:t>will be listening for advertising physical channel packets.</a:t>
            </a:r>
          </a:p>
          <a:p>
            <a:pPr lvl="1">
              <a:buFont typeface="Arial" panose="020B0604020202020204" pitchFamily="34" charset="0"/>
              <a:buChar char="•"/>
            </a:pPr>
            <a:r>
              <a:rPr lang="en-US" sz="2400" b="1" dirty="0"/>
              <a:t>Initiating state : </a:t>
            </a:r>
            <a:r>
              <a:rPr lang="en-US" sz="2400" dirty="0"/>
              <a:t>will be listening for advertising physical channel packets from a specific device(s) and responding to these packets to initiate a connection</a:t>
            </a:r>
          </a:p>
          <a:p>
            <a:pPr lvl="1">
              <a:buFont typeface="Arial" panose="020B0604020202020204" pitchFamily="34" charset="0"/>
              <a:buChar char="•"/>
            </a:pPr>
            <a:r>
              <a:rPr lang="en-US" sz="2400" b="1" dirty="0"/>
              <a:t>Connection state : </a:t>
            </a:r>
            <a:r>
              <a:rPr lang="en-US" sz="2400" dirty="0"/>
              <a:t>state can be entered either from the Initiating state or the Advertising state</a:t>
            </a:r>
          </a:p>
          <a:p>
            <a:pPr marL="76200" indent="0">
              <a:buNone/>
            </a:pPr>
            <a:endParaRPr lang="en-US" dirty="0"/>
          </a:p>
        </p:txBody>
      </p:sp>
    </p:spTree>
    <p:extLst>
      <p:ext uri="{BB962C8B-B14F-4D97-AF65-F5344CB8AC3E}">
        <p14:creationId xmlns:p14="http://schemas.microsoft.com/office/powerpoint/2010/main" val="29629803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BDE5CD-BB72-3DB7-33BF-05BA42F05FC5}"/>
              </a:ext>
            </a:extLst>
          </p:cNvPr>
          <p:cNvSpPr>
            <a:spLocks noGrp="1"/>
          </p:cNvSpPr>
          <p:nvPr>
            <p:ph type="title"/>
          </p:nvPr>
        </p:nvSpPr>
        <p:spPr/>
        <p:txBody>
          <a:bodyPr/>
          <a:lstStyle/>
          <a:p>
            <a:r>
              <a:rPr lang="en-US" dirty="0"/>
              <a:t>BLE core system architecture: Host Link layer interface</a:t>
            </a:r>
          </a:p>
        </p:txBody>
      </p:sp>
      <p:pic>
        <p:nvPicPr>
          <p:cNvPr id="6" name="Picture 5">
            <a:extLst>
              <a:ext uri="{FF2B5EF4-FFF2-40B4-BE49-F238E27FC236}">
                <a16:creationId xmlns:a16="http://schemas.microsoft.com/office/drawing/2014/main" xmlns="" id="{4EB8A841-40A9-8DF0-C318-7B2B8BDDF5FC}"/>
              </a:ext>
            </a:extLst>
          </p:cNvPr>
          <p:cNvPicPr>
            <a:picLocks noChangeAspect="1"/>
          </p:cNvPicPr>
          <p:nvPr/>
        </p:nvPicPr>
        <p:blipFill>
          <a:blip r:embed="rId2"/>
          <a:stretch>
            <a:fillRect/>
          </a:stretch>
        </p:blipFill>
        <p:spPr>
          <a:xfrm>
            <a:off x="609600" y="1436915"/>
            <a:ext cx="5231949" cy="4440203"/>
          </a:xfrm>
          <a:prstGeom prst="rect">
            <a:avLst/>
          </a:prstGeom>
        </p:spPr>
      </p:pic>
      <p:pic>
        <p:nvPicPr>
          <p:cNvPr id="8" name="Picture 7">
            <a:extLst>
              <a:ext uri="{FF2B5EF4-FFF2-40B4-BE49-F238E27FC236}">
                <a16:creationId xmlns:a16="http://schemas.microsoft.com/office/drawing/2014/main" xmlns="" id="{F58A47BE-0442-AC11-355E-BF480241ACFD}"/>
              </a:ext>
            </a:extLst>
          </p:cNvPr>
          <p:cNvPicPr>
            <a:picLocks noChangeAspect="1"/>
          </p:cNvPicPr>
          <p:nvPr/>
        </p:nvPicPr>
        <p:blipFill>
          <a:blip r:embed="rId3"/>
          <a:stretch>
            <a:fillRect/>
          </a:stretch>
        </p:blipFill>
        <p:spPr>
          <a:xfrm>
            <a:off x="5940660" y="1597739"/>
            <a:ext cx="6251340" cy="4440204"/>
          </a:xfrm>
          <a:prstGeom prst="rect">
            <a:avLst/>
          </a:prstGeom>
        </p:spPr>
      </p:pic>
    </p:spTree>
    <p:extLst>
      <p:ext uri="{BB962C8B-B14F-4D97-AF65-F5344CB8AC3E}">
        <p14:creationId xmlns:p14="http://schemas.microsoft.com/office/powerpoint/2010/main" val="42228854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A9EE66-CB03-ADB4-4804-CACA82B22A11}"/>
              </a:ext>
            </a:extLst>
          </p:cNvPr>
          <p:cNvSpPr>
            <a:spLocks noGrp="1"/>
          </p:cNvSpPr>
          <p:nvPr>
            <p:ph type="title"/>
          </p:nvPr>
        </p:nvSpPr>
        <p:spPr/>
        <p:txBody>
          <a:bodyPr>
            <a:normAutofit/>
          </a:bodyPr>
          <a:lstStyle/>
          <a:p>
            <a:r>
              <a:rPr lang="en-US" dirty="0"/>
              <a:t>BLE core system architecture: Link layer air packet</a:t>
            </a:r>
          </a:p>
        </p:txBody>
      </p:sp>
      <p:sp>
        <p:nvSpPr>
          <p:cNvPr id="3" name="Text Placeholder 2">
            <a:extLst>
              <a:ext uri="{FF2B5EF4-FFF2-40B4-BE49-F238E27FC236}">
                <a16:creationId xmlns:a16="http://schemas.microsoft.com/office/drawing/2014/main" xmlns="" id="{760B70C9-8D20-829E-CACB-AD9EC7E3B86A}"/>
              </a:ext>
            </a:extLst>
          </p:cNvPr>
          <p:cNvSpPr>
            <a:spLocks noGrp="1"/>
          </p:cNvSpPr>
          <p:nvPr>
            <p:ph type="body" idx="1"/>
          </p:nvPr>
        </p:nvSpPr>
        <p:spPr/>
        <p:txBody>
          <a:bodyPr/>
          <a:lstStyle/>
          <a:p>
            <a:pPr marL="76200" indent="0">
              <a:buNone/>
            </a:pPr>
            <a:r>
              <a:rPr lang="en-US" dirty="0"/>
              <a:t>Link Layer defines air interface packet formats, bit stream processing procedures such as error checking, a state machine and protocols for over-the-air communication and link control.</a:t>
            </a:r>
          </a:p>
          <a:p>
            <a:pPr marL="76200" indent="0">
              <a:buNone/>
            </a:pPr>
            <a:endParaRPr lang="en-US" dirty="0"/>
          </a:p>
          <a:p>
            <a:pPr marL="76200" indent="0">
              <a:buNone/>
            </a:pPr>
            <a:endParaRPr lang="en-US" dirty="0"/>
          </a:p>
          <a:p>
            <a:pPr marL="76200" indent="0">
              <a:buNone/>
            </a:pPr>
            <a:endParaRPr lang="en-US" dirty="0"/>
          </a:p>
        </p:txBody>
      </p:sp>
      <p:pic>
        <p:nvPicPr>
          <p:cNvPr id="6" name="Picture 5">
            <a:extLst>
              <a:ext uri="{FF2B5EF4-FFF2-40B4-BE49-F238E27FC236}">
                <a16:creationId xmlns:a16="http://schemas.microsoft.com/office/drawing/2014/main" xmlns="" id="{FBA7DB25-4A3E-ADDC-F261-0618F9BD802C}"/>
              </a:ext>
            </a:extLst>
          </p:cNvPr>
          <p:cNvPicPr>
            <a:picLocks noChangeAspect="1"/>
          </p:cNvPicPr>
          <p:nvPr/>
        </p:nvPicPr>
        <p:blipFill>
          <a:blip r:embed="rId2"/>
          <a:stretch>
            <a:fillRect/>
          </a:stretch>
        </p:blipFill>
        <p:spPr>
          <a:xfrm>
            <a:off x="1426710" y="2931014"/>
            <a:ext cx="8817899" cy="1272686"/>
          </a:xfrm>
          <a:prstGeom prst="rect">
            <a:avLst/>
          </a:prstGeom>
        </p:spPr>
      </p:pic>
    </p:spTree>
    <p:extLst>
      <p:ext uri="{BB962C8B-B14F-4D97-AF65-F5344CB8AC3E}">
        <p14:creationId xmlns:p14="http://schemas.microsoft.com/office/powerpoint/2010/main" val="9060840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DBFEEB-2221-F3E7-BAD2-EFF85D099EC5}"/>
              </a:ext>
            </a:extLst>
          </p:cNvPr>
          <p:cNvSpPr>
            <a:spLocks noGrp="1"/>
          </p:cNvSpPr>
          <p:nvPr>
            <p:ph type="title"/>
          </p:nvPr>
        </p:nvSpPr>
        <p:spPr/>
        <p:txBody>
          <a:bodyPr/>
          <a:lstStyle/>
          <a:p>
            <a:r>
              <a:rPr lang="en-US" dirty="0"/>
              <a:t>Physical layer interface with link layer</a:t>
            </a:r>
          </a:p>
        </p:txBody>
      </p:sp>
      <p:sp>
        <p:nvSpPr>
          <p:cNvPr id="4" name="Text Placeholder 3">
            <a:extLst>
              <a:ext uri="{FF2B5EF4-FFF2-40B4-BE49-F238E27FC236}">
                <a16:creationId xmlns:a16="http://schemas.microsoft.com/office/drawing/2014/main" xmlns="" id="{E3BB6D2A-C11A-6DB6-693C-29BCD42FD160}"/>
              </a:ext>
            </a:extLst>
          </p:cNvPr>
          <p:cNvSpPr>
            <a:spLocks noGrp="1"/>
          </p:cNvSpPr>
          <p:nvPr>
            <p:ph type="body" idx="2"/>
          </p:nvPr>
        </p:nvSpPr>
        <p:spPr/>
        <p:txBody>
          <a:bodyPr>
            <a:normAutofit fontScale="70000" lnSpcReduction="20000"/>
          </a:bodyPr>
          <a:lstStyle/>
          <a:p>
            <a:endParaRPr lang="en-US"/>
          </a:p>
        </p:txBody>
      </p:sp>
      <p:pic>
        <p:nvPicPr>
          <p:cNvPr id="6" name="Picture 5">
            <a:extLst>
              <a:ext uri="{FF2B5EF4-FFF2-40B4-BE49-F238E27FC236}">
                <a16:creationId xmlns:a16="http://schemas.microsoft.com/office/drawing/2014/main" xmlns="" id="{E1FF925F-ACED-6BDB-2A99-10C8C444C6FA}"/>
              </a:ext>
            </a:extLst>
          </p:cNvPr>
          <p:cNvPicPr>
            <a:picLocks noChangeAspect="1"/>
          </p:cNvPicPr>
          <p:nvPr/>
        </p:nvPicPr>
        <p:blipFill>
          <a:blip r:embed="rId2"/>
          <a:stretch>
            <a:fillRect/>
          </a:stretch>
        </p:blipFill>
        <p:spPr>
          <a:xfrm>
            <a:off x="867820" y="1739900"/>
            <a:ext cx="10217965" cy="4112261"/>
          </a:xfrm>
          <a:prstGeom prst="rect">
            <a:avLst/>
          </a:prstGeom>
        </p:spPr>
      </p:pic>
    </p:spTree>
    <p:extLst>
      <p:ext uri="{BB962C8B-B14F-4D97-AF65-F5344CB8AC3E}">
        <p14:creationId xmlns:p14="http://schemas.microsoft.com/office/powerpoint/2010/main" val="41358487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
            <a:ext cx="10972800" cy="6254152"/>
          </a:xfrm>
        </p:spPr>
        <p:txBody>
          <a:bodyPr anchor="ctr">
            <a:normAutofit/>
          </a:bodyPr>
          <a:lstStyle/>
          <a:p>
            <a:pPr algn="ctr"/>
            <a:r>
              <a:rPr lang="en-US" sz="6000" dirty="0" smtClean="0">
                <a:latin typeface="Bodoni MT Black" panose="02070A03080606020203" pitchFamily="18" charset="0"/>
              </a:rPr>
              <a:t>GFSK</a:t>
            </a:r>
            <a:endParaRPr lang="en-US" sz="6000" dirty="0">
              <a:latin typeface="Bodoni MT Black" panose="02070A03080606020203" pitchFamily="18" charset="0"/>
            </a:endParaRPr>
          </a:p>
        </p:txBody>
      </p:sp>
    </p:spTree>
    <p:extLst>
      <p:ext uri="{BB962C8B-B14F-4D97-AF65-F5344CB8AC3E}">
        <p14:creationId xmlns:p14="http://schemas.microsoft.com/office/powerpoint/2010/main" val="41459532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3" name="Text Placeholder 2"/>
          <p:cNvSpPr>
            <a:spLocks noGrp="1"/>
          </p:cNvSpPr>
          <p:nvPr>
            <p:ph type="body" idx="1"/>
          </p:nvPr>
        </p:nvSpPr>
        <p:spPr/>
        <p:txBody>
          <a:bodyPr/>
          <a:lstStyle/>
          <a:p>
            <a:pPr>
              <a:buFont typeface="Arial" panose="020B0604020202020204" pitchFamily="34" charset="0"/>
              <a:buChar char="•"/>
            </a:pPr>
            <a:r>
              <a:rPr lang="en-US" b="1" dirty="0"/>
              <a:t>Modulation</a:t>
            </a:r>
          </a:p>
          <a:p>
            <a:pPr marL="876300" lvl="1">
              <a:buFont typeface="Arial" panose="020B0604020202020204" pitchFamily="34" charset="0"/>
              <a:buChar char="•"/>
            </a:pPr>
            <a:r>
              <a:rPr lang="en-US" dirty="0"/>
              <a:t>What/Why modulation</a:t>
            </a:r>
          </a:p>
          <a:p>
            <a:pPr marL="876300" lvl="1">
              <a:buFont typeface="Arial" panose="020B0604020202020204" pitchFamily="34" charset="0"/>
              <a:buChar char="•"/>
            </a:pPr>
            <a:r>
              <a:rPr lang="en-US" dirty="0"/>
              <a:t>Modulation Rate</a:t>
            </a:r>
          </a:p>
          <a:p>
            <a:pPr>
              <a:buFont typeface="Arial" panose="020B0604020202020204" pitchFamily="34" charset="0"/>
              <a:buChar char="•"/>
            </a:pPr>
            <a:r>
              <a:rPr lang="en-US" b="1" dirty="0"/>
              <a:t>GFSK</a:t>
            </a:r>
          </a:p>
          <a:p>
            <a:pPr lvl="1">
              <a:buFont typeface="Arial" panose="020B0604020202020204" pitchFamily="34" charset="0"/>
              <a:buChar char="•"/>
            </a:pPr>
            <a:r>
              <a:rPr lang="en-US" dirty="0"/>
              <a:t>Traditional FSK</a:t>
            </a:r>
          </a:p>
          <a:p>
            <a:pPr lvl="1">
              <a:buFont typeface="Arial" panose="020B0604020202020204" pitchFamily="34" charset="0"/>
              <a:buChar char="•"/>
            </a:pPr>
            <a:r>
              <a:rPr lang="en-US" dirty="0"/>
              <a:t>GFSK Modulation</a:t>
            </a:r>
          </a:p>
          <a:p>
            <a:pPr lvl="1">
              <a:buFont typeface="Arial" panose="020B0604020202020204" pitchFamily="34" charset="0"/>
              <a:buChar char="•"/>
            </a:pPr>
            <a:r>
              <a:rPr lang="en-US" dirty="0"/>
              <a:t>GFSK Advantages/Trade-offs</a:t>
            </a:r>
          </a:p>
          <a:p>
            <a:pPr lvl="1">
              <a:buFont typeface="Arial" panose="020B0604020202020204" pitchFamily="34" charset="0"/>
              <a:buChar char="•"/>
            </a:pPr>
            <a:r>
              <a:rPr lang="en-US" dirty="0"/>
              <a:t>GFSK Modulation Index</a:t>
            </a:r>
            <a:br>
              <a:rPr lang="en-US" dirty="0"/>
            </a:br>
            <a:endParaRPr lang="en-US" dirty="0"/>
          </a:p>
        </p:txBody>
      </p:sp>
      <p:sp>
        <p:nvSpPr>
          <p:cNvPr id="6" name="Title 5">
            <a:extLst>
              <a:ext uri="{FF2B5EF4-FFF2-40B4-BE49-F238E27FC236}">
                <a16:creationId xmlns="" xmlns:a16="http://schemas.microsoft.com/office/drawing/2014/main" id="{87D72AF7-2AF4-4A49-7CB0-A6F10FDD2B4E}"/>
              </a:ext>
            </a:extLst>
          </p:cNvPr>
          <p:cNvSpPr>
            <a:spLocks noGrp="1"/>
          </p:cNvSpPr>
          <p:nvPr>
            <p:ph type="title"/>
          </p:nvPr>
        </p:nvSpPr>
        <p:spPr>
          <a:xfrm>
            <a:off x="609600" y="233265"/>
            <a:ext cx="10972800" cy="1005840"/>
          </a:xfrm>
        </p:spPr>
        <p:txBody>
          <a:bodyPr/>
          <a:lstStyle/>
          <a:p>
            <a:r>
              <a:rPr lang="en-US" dirty="0">
                <a:latin typeface="Times New Roman" panose="02020603050405020304" pitchFamily="18" charset="0"/>
                <a:cs typeface="Times New Roman" panose="02020603050405020304" pitchFamily="18" charset="0"/>
              </a:rPr>
              <a:t>Table of Content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7518BBE-74A7-46E5-B5A1-2BC3980ED3C3}"/>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FBD52EF-109B-CB2A-442C-BF430918EA48}"/>
              </a:ext>
            </a:extLst>
          </p:cNvPr>
          <p:cNvSpPr>
            <a:spLocks noGrp="1"/>
          </p:cNvSpPr>
          <p:nvPr>
            <p:ph type="title"/>
          </p:nvPr>
        </p:nvSpPr>
        <p:spPr>
          <a:xfrm>
            <a:off x="609600" y="354563"/>
            <a:ext cx="10972800" cy="559837"/>
          </a:xfrm>
        </p:spPr>
        <p:txBody>
          <a:bodyPr>
            <a:noAutofit/>
          </a:bodyPr>
          <a:lstStyle/>
          <a:p>
            <a:r>
              <a:rPr lang="en-US" dirty="0">
                <a:latin typeface="Times New Roman" panose="02020603050405020304" pitchFamily="18" charset="0"/>
                <a:cs typeface="Times New Roman" panose="02020603050405020304" pitchFamily="18" charset="0"/>
              </a:rPr>
              <a:t>Why Modulation</a:t>
            </a:r>
          </a:p>
        </p:txBody>
      </p:sp>
      <p:sp>
        <p:nvSpPr>
          <p:cNvPr id="3" name="Text Placeholder 2">
            <a:extLst>
              <a:ext uri="{FF2B5EF4-FFF2-40B4-BE49-F238E27FC236}">
                <a16:creationId xmlns="" xmlns:a16="http://schemas.microsoft.com/office/drawing/2014/main" id="{EBD92101-02F8-E683-42DA-44B3D0B755B2}"/>
              </a:ext>
            </a:extLst>
          </p:cNvPr>
          <p:cNvSpPr>
            <a:spLocks noGrp="1"/>
          </p:cNvSpPr>
          <p:nvPr>
            <p:ph type="body" idx="1"/>
          </p:nvPr>
        </p:nvSpPr>
        <p:spPr>
          <a:xfrm>
            <a:off x="609600" y="2139069"/>
            <a:ext cx="9224865" cy="2376947"/>
          </a:xfrm>
        </p:spPr>
        <p:txBody>
          <a:bodyPr/>
          <a:lstStyle/>
          <a:p>
            <a:pPr>
              <a:buFont typeface="Wingdings" panose="05000000000000000000" pitchFamily="2" charset="2"/>
              <a:buChar char="q"/>
            </a:pPr>
            <a:r>
              <a:rPr lang="en-US" sz="2000" dirty="0"/>
              <a:t>Why not transmit data directly?</a:t>
            </a:r>
          </a:p>
          <a:p>
            <a:pPr>
              <a:buFont typeface="Arial" panose="020B0604020202020204" pitchFamily="34" charset="0"/>
              <a:buChar char="•"/>
            </a:pPr>
            <a:r>
              <a:rPr lang="en-US" sz="2000" b="1" dirty="0"/>
              <a:t>Antenna Length:</a:t>
            </a:r>
            <a:r>
              <a:rPr lang="en-US" sz="2000" dirty="0"/>
              <a:t> High-frequency carrier signals allow the use of smaller antennas, as the required antenna size is inversely proportional to the frequency.</a:t>
            </a:r>
          </a:p>
          <a:p>
            <a:pPr marL="76200" indent="0">
              <a:buNone/>
            </a:pPr>
            <a:r>
              <a:rPr lang="en-US" sz="2000" dirty="0"/>
              <a:t/>
            </a:r>
            <a:br>
              <a:rPr lang="en-US" sz="2000" dirty="0"/>
            </a:br>
            <a:endParaRPr lang="en-US" sz="2000" dirty="0"/>
          </a:p>
          <a:p>
            <a:pPr>
              <a:buFont typeface="Arial" panose="020B0604020202020204" pitchFamily="34" charset="0"/>
              <a:buChar char="•"/>
            </a:pPr>
            <a:r>
              <a:rPr lang="en-US" sz="2000" dirty="0"/>
              <a:t>To Fit Multiple Users in the Same Medium (Multiplexing):Modulation allows multiple users by </a:t>
            </a:r>
            <a:r>
              <a:rPr lang="en-US" sz="2000" b="1" dirty="0"/>
              <a:t>frequency division multiplexing.</a:t>
            </a:r>
          </a:p>
          <a:p>
            <a:pPr>
              <a:buFont typeface="Arial" panose="020B0604020202020204" pitchFamily="34" charset="0"/>
              <a:buChar char="•"/>
            </a:pPr>
            <a:endParaRPr lang="en-US" sz="1800" b="1" dirty="0">
              <a:solidFill>
                <a:srgbClr val="15559F"/>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 xmlns:a16="http://schemas.microsoft.com/office/drawing/2014/main" id="{7FB75E7F-576D-017C-EC64-06452B83EDE2}"/>
              </a:ext>
            </a:extLst>
          </p:cNvPr>
          <p:cNvSpPr txBox="1"/>
          <p:nvPr/>
        </p:nvSpPr>
        <p:spPr>
          <a:xfrm>
            <a:off x="709127" y="1154185"/>
            <a:ext cx="10795518" cy="1015663"/>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t>Modulation</a:t>
            </a:r>
            <a:r>
              <a:rPr lang="en-US" sz="2000" dirty="0"/>
              <a:t> is the Variation/change of a high-frequency carrier signal property (such as its amplitude, frequency, or phase) in </a:t>
            </a:r>
            <a:r>
              <a:rPr lang="en-US" sz="2000" b="1" dirty="0"/>
              <a:t>proportion to a lower-frequency information signal</a:t>
            </a:r>
            <a:r>
              <a:rPr lang="en-US" sz="2000" dirty="0"/>
              <a:t> (such as digital data or audio).</a:t>
            </a:r>
          </a:p>
        </p:txBody>
      </p:sp>
      <p:pic>
        <p:nvPicPr>
          <p:cNvPr id="5" name="Picture 4">
            <a:extLst>
              <a:ext uri="{FF2B5EF4-FFF2-40B4-BE49-F238E27FC236}">
                <a16:creationId xmlns="" xmlns:a16="http://schemas.microsoft.com/office/drawing/2014/main" id="{10EE017C-AECA-8A10-DA3D-515C208C0844}"/>
              </a:ext>
            </a:extLst>
          </p:cNvPr>
          <p:cNvPicPr>
            <a:picLocks noChangeAspect="1"/>
          </p:cNvPicPr>
          <p:nvPr/>
        </p:nvPicPr>
        <p:blipFill>
          <a:blip r:embed="rId2"/>
          <a:stretch>
            <a:fillRect/>
          </a:stretch>
        </p:blipFill>
        <p:spPr>
          <a:xfrm>
            <a:off x="4525347" y="3256890"/>
            <a:ext cx="2107714" cy="680122"/>
          </a:xfrm>
          <a:prstGeom prst="rect">
            <a:avLst/>
          </a:prstGeom>
        </p:spPr>
      </p:pic>
      <p:pic>
        <p:nvPicPr>
          <p:cNvPr id="7" name="Picture 6">
            <a:extLst>
              <a:ext uri="{FF2B5EF4-FFF2-40B4-BE49-F238E27FC236}">
                <a16:creationId xmlns="" xmlns:a16="http://schemas.microsoft.com/office/drawing/2014/main" id="{A280A87A-D147-2BB0-4906-8E299CA8F265}"/>
              </a:ext>
            </a:extLst>
          </p:cNvPr>
          <p:cNvPicPr>
            <a:picLocks noChangeAspect="1"/>
          </p:cNvPicPr>
          <p:nvPr/>
        </p:nvPicPr>
        <p:blipFill>
          <a:blip r:embed="rId3"/>
          <a:stretch>
            <a:fillRect/>
          </a:stretch>
        </p:blipFill>
        <p:spPr>
          <a:xfrm>
            <a:off x="9834465" y="2047513"/>
            <a:ext cx="2034073" cy="1721548"/>
          </a:xfrm>
          <a:prstGeom prst="rect">
            <a:avLst/>
          </a:prstGeom>
        </p:spPr>
      </p:pic>
      <p:pic>
        <p:nvPicPr>
          <p:cNvPr id="10" name="Picture 9">
            <a:extLst>
              <a:ext uri="{FF2B5EF4-FFF2-40B4-BE49-F238E27FC236}">
                <a16:creationId xmlns="" xmlns:a16="http://schemas.microsoft.com/office/drawing/2014/main" id="{1D1E3176-F190-654C-2686-0F0CB5BADCE9}"/>
              </a:ext>
            </a:extLst>
          </p:cNvPr>
          <p:cNvPicPr>
            <a:picLocks noChangeAspect="1"/>
          </p:cNvPicPr>
          <p:nvPr/>
        </p:nvPicPr>
        <p:blipFill>
          <a:blip r:embed="rId4"/>
          <a:stretch>
            <a:fillRect/>
          </a:stretch>
        </p:blipFill>
        <p:spPr>
          <a:xfrm>
            <a:off x="6633060" y="4310743"/>
            <a:ext cx="5170163" cy="2065494"/>
          </a:xfrm>
          <a:prstGeom prst="rect">
            <a:avLst/>
          </a:prstGeom>
        </p:spPr>
      </p:pic>
    </p:spTree>
    <p:extLst>
      <p:ext uri="{BB962C8B-B14F-4D97-AF65-F5344CB8AC3E}">
        <p14:creationId xmlns:p14="http://schemas.microsoft.com/office/powerpoint/2010/main" val="3542390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1D83A3E-87BA-5A4A-3A41-4A28831FBB6C}"/>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4146853F-C781-A3DA-D934-7E94382629F9}"/>
              </a:ext>
            </a:extLst>
          </p:cNvPr>
          <p:cNvSpPr>
            <a:spLocks noGrp="1"/>
          </p:cNvSpPr>
          <p:nvPr>
            <p:ph type="title"/>
          </p:nvPr>
        </p:nvSpPr>
        <p:spPr>
          <a:xfrm>
            <a:off x="609600" y="233264"/>
            <a:ext cx="10972800" cy="1005840"/>
          </a:xfrm>
        </p:spPr>
        <p:txBody>
          <a:bodyPr/>
          <a:lstStyle/>
          <a:p>
            <a:r>
              <a:rPr lang="en-US" dirty="0">
                <a:latin typeface="Times New Roman" panose="02020603050405020304" pitchFamily="18" charset="0"/>
                <a:cs typeface="Times New Roman" panose="02020603050405020304" pitchFamily="18" charset="0"/>
              </a:rPr>
              <a:t>Modulation Rate and Bit Rate in BLE </a:t>
            </a:r>
          </a:p>
        </p:txBody>
      </p:sp>
      <p:sp>
        <p:nvSpPr>
          <p:cNvPr id="3" name="Text Placeholder 2">
            <a:extLst>
              <a:ext uri="{FF2B5EF4-FFF2-40B4-BE49-F238E27FC236}">
                <a16:creationId xmlns="" xmlns:a16="http://schemas.microsoft.com/office/drawing/2014/main" id="{B8B5FF9E-7735-962F-A461-1E666EB7A4F7}"/>
              </a:ext>
            </a:extLst>
          </p:cNvPr>
          <p:cNvSpPr>
            <a:spLocks noGrp="1"/>
          </p:cNvSpPr>
          <p:nvPr>
            <p:ph type="body" idx="1"/>
          </p:nvPr>
        </p:nvSpPr>
        <p:spPr>
          <a:xfrm>
            <a:off x="335902" y="1446246"/>
            <a:ext cx="11246498" cy="4702628"/>
          </a:xfrm>
        </p:spPr>
        <p:txBody>
          <a:bodyPr/>
          <a:lstStyle/>
          <a:p>
            <a:pPr lvl="1">
              <a:buFont typeface="Wingdings" panose="05000000000000000000" pitchFamily="2" charset="2"/>
              <a:buChar char="q"/>
            </a:pPr>
            <a:r>
              <a:rPr lang="en-US" dirty="0"/>
              <a:t>Two modulation schemes are defined:</a:t>
            </a:r>
          </a:p>
          <a:p>
            <a:pPr marL="571500" lvl="1" indent="0">
              <a:buNone/>
            </a:pPr>
            <a:r>
              <a:rPr lang="en-US" dirty="0"/>
              <a:t>The mandatory modulation scheme (“1 </a:t>
            </a:r>
            <a:r>
              <a:rPr lang="en-US" dirty="0" err="1"/>
              <a:t>Msym</a:t>
            </a:r>
            <a:r>
              <a:rPr lang="en-US" dirty="0"/>
              <a:t>/s modulation”) uses a shaped, binary FM to minimize transceiver complexity. The symbol rate is 1 </a:t>
            </a:r>
            <a:r>
              <a:rPr lang="en-US" dirty="0" err="1"/>
              <a:t>Msym</a:t>
            </a:r>
            <a:r>
              <a:rPr lang="en-US" dirty="0"/>
              <a:t>/s. </a:t>
            </a:r>
          </a:p>
          <a:p>
            <a:pPr marL="571500" lvl="1" indent="0">
              <a:buNone/>
            </a:pPr>
            <a:endParaRPr lang="en-US" dirty="0"/>
          </a:p>
          <a:p>
            <a:pPr lvl="1">
              <a:buFont typeface="Wingdings" panose="05000000000000000000" pitchFamily="2" charset="2"/>
              <a:buChar char="q"/>
            </a:pPr>
            <a:r>
              <a:rPr lang="en-US" dirty="0"/>
              <a:t>The 1 </a:t>
            </a:r>
            <a:r>
              <a:rPr lang="en-US" dirty="0" err="1"/>
              <a:t>Msym</a:t>
            </a:r>
            <a:r>
              <a:rPr lang="en-US" dirty="0"/>
              <a:t>/s modulation supports two PHYs:</a:t>
            </a:r>
          </a:p>
          <a:p>
            <a:pPr marL="571500" lvl="1" indent="0">
              <a:buNone/>
            </a:pPr>
            <a:r>
              <a:rPr lang="en-US" dirty="0"/>
              <a:t>• LE 1M, with uncoded data at 1 Mb/s. (Data rate = Symbol rate)</a:t>
            </a:r>
          </a:p>
          <a:p>
            <a:pPr marL="571500" lvl="1" indent="0">
              <a:buNone/>
            </a:pPr>
            <a:r>
              <a:rPr lang="en-US" dirty="0"/>
              <a:t>•LE Coded PHY transmits symbols at 1 </a:t>
            </a:r>
            <a:r>
              <a:rPr lang="en-US" dirty="0" err="1"/>
              <a:t>Msym</a:t>
            </a:r>
            <a:r>
              <a:rPr lang="en-US" dirty="0"/>
              <a:t>/s. (Data rate &lt; Symbol rate “due to redundancy bits”)</a:t>
            </a:r>
            <a:br>
              <a:rPr lang="en-US" dirty="0"/>
            </a:br>
            <a:r>
              <a:rPr lang="en-US" dirty="0"/>
              <a:t>This helps BLE achieve </a:t>
            </a:r>
            <a:r>
              <a:rPr lang="en-US" b="1" dirty="0"/>
              <a:t>long-range communication</a:t>
            </a:r>
            <a:r>
              <a:rPr lang="en-US" dirty="0"/>
              <a:t>, useful in IoT.</a:t>
            </a:r>
          </a:p>
          <a:p>
            <a:pPr marL="571500" lvl="1" indent="0">
              <a:buNone/>
            </a:pPr>
            <a:endParaRPr lang="en-US" dirty="0"/>
          </a:p>
          <a:p>
            <a:pPr marL="571500" lvl="1" indent="0">
              <a:buNone/>
            </a:pPr>
            <a:r>
              <a:rPr lang="en-US" dirty="0"/>
              <a:t>“coded” refers to the use of </a:t>
            </a:r>
            <a:r>
              <a:rPr lang="en-US" b="1" dirty="0"/>
              <a:t>forward error correction (FEC)</a:t>
            </a:r>
            <a:r>
              <a:rPr lang="en-US" dirty="0"/>
              <a:t> and </a:t>
            </a:r>
            <a:r>
              <a:rPr lang="en-US" b="1" dirty="0"/>
              <a:t>symbol-level coding</a:t>
            </a:r>
            <a:r>
              <a:rPr lang="en-US" dirty="0"/>
              <a:t> at the physical layer. Rather than sending one symbol per bit (as in an uncoded PHY), a coded PHY sends </a:t>
            </a:r>
            <a:r>
              <a:rPr lang="en-US" b="1" dirty="0"/>
              <a:t>multiple symbols per bit</a:t>
            </a:r>
            <a:r>
              <a:rPr lang="en-US" dirty="0"/>
              <a:t>. This redundancy allows the receiver to better detect and correct errors caused by channel impairments (noise, fading, interference).</a:t>
            </a:r>
          </a:p>
        </p:txBody>
      </p:sp>
    </p:spTree>
    <p:extLst>
      <p:ext uri="{BB962C8B-B14F-4D97-AF65-F5344CB8AC3E}">
        <p14:creationId xmlns:p14="http://schemas.microsoft.com/office/powerpoint/2010/main" val="32600605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996272C-74E6-2CB9-C5BA-2F3D9648E46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1662D4B-9A7F-8A5B-85A8-45E664C39A8A}"/>
              </a:ext>
            </a:extLst>
          </p:cNvPr>
          <p:cNvSpPr>
            <a:spLocks noGrp="1"/>
          </p:cNvSpPr>
          <p:nvPr>
            <p:ph type="title"/>
          </p:nvPr>
        </p:nvSpPr>
        <p:spPr>
          <a:xfrm>
            <a:off x="609600" y="233264"/>
            <a:ext cx="10972800" cy="1005840"/>
          </a:xfrm>
        </p:spPr>
        <p:txBody>
          <a:bodyPr/>
          <a:lstStyle/>
          <a:p>
            <a:r>
              <a:rPr lang="en-US" dirty="0">
                <a:latin typeface="Times New Roman" panose="02020603050405020304" pitchFamily="18" charset="0"/>
                <a:cs typeface="Times New Roman" panose="02020603050405020304" pitchFamily="18" charset="0"/>
              </a:rPr>
              <a:t>Modulation Rate and Bit Rate in BLE </a:t>
            </a:r>
          </a:p>
        </p:txBody>
      </p:sp>
      <p:sp>
        <p:nvSpPr>
          <p:cNvPr id="3" name="Text Placeholder 2">
            <a:extLst>
              <a:ext uri="{FF2B5EF4-FFF2-40B4-BE49-F238E27FC236}">
                <a16:creationId xmlns="" xmlns:a16="http://schemas.microsoft.com/office/drawing/2014/main" id="{9B5AAC49-D10C-5D4B-9884-4C4715D1DF82}"/>
              </a:ext>
            </a:extLst>
          </p:cNvPr>
          <p:cNvSpPr>
            <a:spLocks noGrp="1"/>
          </p:cNvSpPr>
          <p:nvPr>
            <p:ph type="body" idx="1"/>
          </p:nvPr>
        </p:nvSpPr>
        <p:spPr>
          <a:xfrm>
            <a:off x="419878" y="1548882"/>
            <a:ext cx="10804849" cy="4784145"/>
          </a:xfrm>
        </p:spPr>
        <p:txBody>
          <a:bodyPr/>
          <a:lstStyle/>
          <a:p>
            <a:pPr marL="571500" lvl="1" indent="0">
              <a:buNone/>
            </a:pPr>
            <a:r>
              <a:rPr lang="en-US" dirty="0"/>
              <a:t>An optional modulation scheme (“2 </a:t>
            </a:r>
            <a:r>
              <a:rPr lang="en-US" dirty="0" err="1"/>
              <a:t>Msym</a:t>
            </a:r>
            <a:r>
              <a:rPr lang="en-US" dirty="0"/>
              <a:t>/s modulation”) is similar but uses a symbol rate of 2 </a:t>
            </a:r>
            <a:r>
              <a:rPr lang="en-US" dirty="0" err="1"/>
              <a:t>Msym</a:t>
            </a:r>
            <a:r>
              <a:rPr lang="en-US" dirty="0"/>
              <a:t>/s.</a:t>
            </a:r>
          </a:p>
          <a:p>
            <a:pPr marL="571500" lvl="1" indent="0">
              <a:buNone/>
            </a:pPr>
            <a:endParaRPr lang="en-US" dirty="0"/>
          </a:p>
          <a:p>
            <a:pPr lvl="1">
              <a:buFont typeface="Wingdings" panose="05000000000000000000" pitchFamily="2" charset="2"/>
              <a:buChar char="q"/>
            </a:pPr>
            <a:r>
              <a:rPr lang="en-US" dirty="0"/>
              <a:t>The 2 </a:t>
            </a:r>
            <a:r>
              <a:rPr lang="en-US" dirty="0" err="1"/>
              <a:t>Msym</a:t>
            </a:r>
            <a:r>
              <a:rPr lang="en-US" dirty="0"/>
              <a:t>/s modulation supports a single PHY:</a:t>
            </a:r>
          </a:p>
          <a:p>
            <a:pPr marL="571500" lvl="1" indent="0">
              <a:buNone/>
            </a:pPr>
            <a:r>
              <a:rPr lang="en-US" dirty="0"/>
              <a:t>• LE 2M, with uncoded data at 2 Mb/s.</a:t>
            </a:r>
          </a:p>
          <a:p>
            <a:pPr marL="571500" lvl="1" indent="0">
              <a:buNone/>
            </a:pPr>
            <a:r>
              <a:rPr lang="en-US" dirty="0"/>
              <a:t>Higher symbol rate → </a:t>
            </a:r>
            <a:r>
              <a:rPr lang="en-US" b="1" dirty="0"/>
              <a:t>faster data transmission </a:t>
            </a:r>
            <a:r>
              <a:rPr lang="en-US" dirty="0"/>
              <a:t>(faster communication).</a:t>
            </a:r>
          </a:p>
          <a:p>
            <a:pPr marL="571500" lvl="1" indent="0">
              <a:buNone/>
            </a:pPr>
            <a:r>
              <a:rPr lang="en-US" dirty="0"/>
              <a:t>But Shorter range than LE Coded, because it is less robust to noise.</a:t>
            </a:r>
          </a:p>
          <a:p>
            <a:pPr marL="571500" lvl="1" indent="0">
              <a:buNone/>
            </a:pPr>
            <a:endParaRPr lang="en-US" dirty="0"/>
          </a:p>
          <a:p>
            <a:pPr lvl="1">
              <a:buFont typeface="Wingdings" panose="05000000000000000000" pitchFamily="2" charset="2"/>
              <a:buChar char="q"/>
            </a:pPr>
            <a:r>
              <a:rPr lang="en-US" dirty="0"/>
              <a:t>A device shall support the LE 1M PHY. Support for the LE Coded PHY is optional.</a:t>
            </a:r>
          </a:p>
          <a:p>
            <a:pPr marL="571500" lvl="1" indent="0">
              <a:buNone/>
            </a:pPr>
            <a:endParaRPr lang="en-US" dirty="0"/>
          </a:p>
          <a:p>
            <a:pPr lvl="1">
              <a:buFont typeface="Wingdings" panose="05000000000000000000" pitchFamily="2" charset="2"/>
              <a:buChar char="q"/>
            </a:pPr>
            <a:endParaRPr lang="en-US" dirty="0"/>
          </a:p>
          <a:p>
            <a:pPr marL="571500" lvl="1" indent="0">
              <a:buNone/>
            </a:pPr>
            <a:endParaRPr lang="en-US" dirty="0"/>
          </a:p>
          <a:p>
            <a:pPr marL="571500" lvl="1" indent="0">
              <a:buNone/>
            </a:pPr>
            <a:endParaRPr lang="en-US" sz="2200" dirty="0"/>
          </a:p>
        </p:txBody>
      </p:sp>
    </p:spTree>
    <p:extLst>
      <p:ext uri="{BB962C8B-B14F-4D97-AF65-F5344CB8AC3E}">
        <p14:creationId xmlns:p14="http://schemas.microsoft.com/office/powerpoint/2010/main" val="16079219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33DECBE-AD75-5E55-DC2C-7FEE0EFC54E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A7FE96E-31DA-B6F3-8010-3ADD878620BB}"/>
              </a:ext>
            </a:extLst>
          </p:cNvPr>
          <p:cNvSpPr>
            <a:spLocks noGrp="1"/>
          </p:cNvSpPr>
          <p:nvPr>
            <p:ph type="title"/>
          </p:nvPr>
        </p:nvSpPr>
        <p:spPr>
          <a:xfrm>
            <a:off x="609600" y="214603"/>
            <a:ext cx="10972800" cy="1005840"/>
          </a:xfrm>
        </p:spPr>
        <p:txBody>
          <a:bodyPr/>
          <a:lstStyle/>
          <a:p>
            <a:r>
              <a:rPr lang="en-US" dirty="0">
                <a:latin typeface="Times New Roman" panose="02020603050405020304" pitchFamily="18" charset="0"/>
                <a:cs typeface="Times New Roman" panose="02020603050405020304" pitchFamily="18" charset="0"/>
              </a:rPr>
              <a:t>Traditional FSK Modulation</a:t>
            </a:r>
          </a:p>
        </p:txBody>
      </p:sp>
      <p:sp>
        <p:nvSpPr>
          <p:cNvPr id="3" name="Text Placeholder 2">
            <a:extLst>
              <a:ext uri="{FF2B5EF4-FFF2-40B4-BE49-F238E27FC236}">
                <a16:creationId xmlns="" xmlns:a16="http://schemas.microsoft.com/office/drawing/2014/main" id="{41A33A9F-791D-61B2-E42C-6B6308AA6DE6}"/>
              </a:ext>
            </a:extLst>
          </p:cNvPr>
          <p:cNvSpPr>
            <a:spLocks noGrp="1"/>
          </p:cNvSpPr>
          <p:nvPr>
            <p:ph type="body" idx="1"/>
          </p:nvPr>
        </p:nvSpPr>
        <p:spPr>
          <a:xfrm>
            <a:off x="167951" y="1399591"/>
            <a:ext cx="10580915" cy="3013789"/>
          </a:xfrm>
        </p:spPr>
        <p:txBody>
          <a:bodyPr/>
          <a:lstStyle/>
          <a:p>
            <a:pPr lvl="1">
              <a:buFont typeface="Wingdings" panose="05000000000000000000" pitchFamily="2" charset="2"/>
              <a:buChar char="q"/>
            </a:pPr>
            <a:r>
              <a:rPr lang="en-US" dirty="0"/>
              <a:t>In FSK, independent  oscillators generate separate in-phase and quadrature components.</a:t>
            </a:r>
          </a:p>
          <a:p>
            <a:pPr lvl="1">
              <a:buFont typeface="Wingdings" panose="05000000000000000000" pitchFamily="2" charset="2"/>
              <a:buChar char="q"/>
            </a:pPr>
            <a:r>
              <a:rPr lang="en-US" dirty="0"/>
              <a:t>These oscillators switch at the start of each symbol period to create the carrier frequency for modulation.</a:t>
            </a:r>
          </a:p>
          <a:p>
            <a:pPr lvl="1">
              <a:buFont typeface="Wingdings" panose="05000000000000000000" pitchFamily="2" charset="2"/>
              <a:buChar char="q"/>
            </a:pPr>
            <a:r>
              <a:rPr lang="en-US" dirty="0"/>
              <a:t>However, due to varying amplitudes and phases of the oscillators, abrupt frequency changes occur for every bit transition.</a:t>
            </a:r>
          </a:p>
          <a:p>
            <a:pPr lvl="1">
              <a:buFont typeface="Wingdings" panose="05000000000000000000" pitchFamily="2" charset="2"/>
              <a:buChar char="q"/>
            </a:pPr>
            <a:r>
              <a:rPr lang="en-US" dirty="0"/>
              <a:t>The modulated FSK signal has a wide spectrum (out of band energy) with non-negligible side-lobes.</a:t>
            </a:r>
          </a:p>
          <a:p>
            <a:pPr marL="76200" indent="0">
              <a:buNone/>
            </a:pPr>
            <a:endParaRPr lang="en-US" dirty="0"/>
          </a:p>
        </p:txBody>
      </p:sp>
      <p:pic>
        <p:nvPicPr>
          <p:cNvPr id="6" name="Picture 5" descr="A diagram of a machine&#10;&#10;AI-generated content may be incorrect.">
            <a:extLst>
              <a:ext uri="{FF2B5EF4-FFF2-40B4-BE49-F238E27FC236}">
                <a16:creationId xmlns="" xmlns:a16="http://schemas.microsoft.com/office/drawing/2014/main" id="{21FE2423-1F71-4D83-1277-C72A2F8CDB7C}"/>
              </a:ext>
            </a:extLst>
          </p:cNvPr>
          <p:cNvPicPr>
            <a:picLocks noChangeAspect="1"/>
          </p:cNvPicPr>
          <p:nvPr/>
        </p:nvPicPr>
        <p:blipFill>
          <a:blip r:embed="rId2"/>
          <a:stretch>
            <a:fillRect/>
          </a:stretch>
        </p:blipFill>
        <p:spPr>
          <a:xfrm>
            <a:off x="789993" y="4124130"/>
            <a:ext cx="4889240" cy="2139314"/>
          </a:xfrm>
          <a:prstGeom prst="rect">
            <a:avLst/>
          </a:prstGeom>
        </p:spPr>
      </p:pic>
      <p:pic>
        <p:nvPicPr>
          <p:cNvPr id="5" name="Picture 4">
            <a:extLst>
              <a:ext uri="{FF2B5EF4-FFF2-40B4-BE49-F238E27FC236}">
                <a16:creationId xmlns="" xmlns:a16="http://schemas.microsoft.com/office/drawing/2014/main" id="{FE063BE4-6328-F675-9D92-84FB2BC33C93}"/>
              </a:ext>
            </a:extLst>
          </p:cNvPr>
          <p:cNvPicPr>
            <a:picLocks noChangeAspect="1"/>
          </p:cNvPicPr>
          <p:nvPr/>
        </p:nvPicPr>
        <p:blipFill>
          <a:blip r:embed="rId3"/>
          <a:stretch>
            <a:fillRect/>
          </a:stretch>
        </p:blipFill>
        <p:spPr>
          <a:xfrm>
            <a:off x="6512769" y="3922221"/>
            <a:ext cx="4683968" cy="2341223"/>
          </a:xfrm>
          <a:prstGeom prst="rect">
            <a:avLst/>
          </a:prstGeom>
        </p:spPr>
      </p:pic>
    </p:spTree>
    <p:extLst>
      <p:ext uri="{BB962C8B-B14F-4D97-AF65-F5344CB8AC3E}">
        <p14:creationId xmlns:p14="http://schemas.microsoft.com/office/powerpoint/2010/main" val="91412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AD03939-4897-42CC-C816-883A825DBF61}"/>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6260E900-A814-F17D-4327-AE36F842E6BA}"/>
              </a:ext>
            </a:extLst>
          </p:cNvPr>
          <p:cNvSpPr>
            <a:spLocks noGrp="1"/>
          </p:cNvSpPr>
          <p:nvPr>
            <p:ph type="title"/>
          </p:nvPr>
        </p:nvSpPr>
        <p:spPr>
          <a:xfrm>
            <a:off x="609600" y="317239"/>
            <a:ext cx="10972800" cy="1005840"/>
          </a:xfrm>
        </p:spPr>
        <p:txBody>
          <a:bodyPr/>
          <a:lstStyle/>
          <a:p>
            <a:r>
              <a:rPr lang="en-US" dirty="0">
                <a:latin typeface="Times New Roman" panose="02020603050405020304" pitchFamily="18" charset="0"/>
                <a:cs typeface="Times New Roman" panose="02020603050405020304" pitchFamily="18" charset="0"/>
              </a:rPr>
              <a:t>GFSK Modulation</a:t>
            </a:r>
          </a:p>
        </p:txBody>
      </p:sp>
      <p:sp>
        <p:nvSpPr>
          <p:cNvPr id="3" name="Text Placeholder 2">
            <a:extLst>
              <a:ext uri="{FF2B5EF4-FFF2-40B4-BE49-F238E27FC236}">
                <a16:creationId xmlns="" xmlns:a16="http://schemas.microsoft.com/office/drawing/2014/main" id="{9BF18308-C289-B991-0A5D-D6BA2CFB47DC}"/>
              </a:ext>
            </a:extLst>
          </p:cNvPr>
          <p:cNvSpPr>
            <a:spLocks noGrp="1"/>
          </p:cNvSpPr>
          <p:nvPr>
            <p:ph type="body" idx="1"/>
          </p:nvPr>
        </p:nvSpPr>
        <p:spPr>
          <a:xfrm>
            <a:off x="609600" y="1642189"/>
            <a:ext cx="10972800" cy="3564293"/>
          </a:xfrm>
        </p:spPr>
        <p:txBody>
          <a:bodyPr/>
          <a:lstStyle/>
          <a:p>
            <a:pPr>
              <a:buFont typeface="Wingdings" panose="05000000000000000000" pitchFamily="2" charset="2"/>
              <a:buChar char="q"/>
            </a:pPr>
            <a:r>
              <a:rPr lang="en-US" sz="2000" dirty="0"/>
              <a:t>GFSK uses a </a:t>
            </a:r>
            <a:r>
              <a:rPr lang="en-US" sz="2000" b="1" dirty="0"/>
              <a:t>Gaussian filter</a:t>
            </a:r>
            <a:r>
              <a:rPr lang="en-US" sz="2000" dirty="0"/>
              <a:t> (LPF) before modulating the baseband waveform signal (the data signal).</a:t>
            </a:r>
          </a:p>
          <a:p>
            <a:pPr>
              <a:buFont typeface="Wingdings" panose="05000000000000000000" pitchFamily="2" charset="2"/>
              <a:buChar char="q"/>
            </a:pPr>
            <a:r>
              <a:rPr lang="en-US" sz="2000" dirty="0"/>
              <a:t>The Gaussian filter smooths out the abrupt frequency changes in FSK(called pulse shaping).</a:t>
            </a:r>
          </a:p>
          <a:p>
            <a:pPr>
              <a:buFont typeface="Wingdings" panose="05000000000000000000" pitchFamily="2" charset="2"/>
              <a:buChar char="q"/>
            </a:pPr>
            <a:r>
              <a:rPr lang="en-US" sz="2000" dirty="0"/>
              <a:t>The filter’s impulse response follows a Gaussian function, which narrows the frequency response.</a:t>
            </a:r>
          </a:p>
          <a:p>
            <a:pPr>
              <a:buFont typeface="Wingdings" panose="05000000000000000000" pitchFamily="2" charset="2"/>
              <a:buChar char="q"/>
            </a:pPr>
            <a:r>
              <a:rPr lang="en-US" sz="2000" dirty="0"/>
              <a:t>As a result, any sudden frequency shifts are filtered out, making transitions smoother.</a:t>
            </a:r>
          </a:p>
          <a:p>
            <a:pPr>
              <a:buFont typeface="Wingdings" panose="05000000000000000000" pitchFamily="2" charset="2"/>
              <a:buChar char="q"/>
            </a:pPr>
            <a:r>
              <a:rPr lang="en-US" sz="2000" dirty="0"/>
              <a:t>The spectral width of the GFSK signal is reduced compared to unfiltered FSK.</a:t>
            </a:r>
          </a:p>
          <a:p>
            <a:endParaRPr lang="en-US" dirty="0"/>
          </a:p>
        </p:txBody>
      </p:sp>
      <p:pic>
        <p:nvPicPr>
          <p:cNvPr id="6" name="Picture 5">
            <a:extLst>
              <a:ext uri="{FF2B5EF4-FFF2-40B4-BE49-F238E27FC236}">
                <a16:creationId xmlns="" xmlns:a16="http://schemas.microsoft.com/office/drawing/2014/main" id="{BCB0F44A-8E7E-7D51-67FE-2F8440F38916}"/>
              </a:ext>
            </a:extLst>
          </p:cNvPr>
          <p:cNvPicPr>
            <a:picLocks noChangeAspect="1"/>
          </p:cNvPicPr>
          <p:nvPr/>
        </p:nvPicPr>
        <p:blipFill>
          <a:blip r:embed="rId2"/>
          <a:stretch>
            <a:fillRect/>
          </a:stretch>
        </p:blipFill>
        <p:spPr>
          <a:xfrm>
            <a:off x="1934547" y="4254759"/>
            <a:ext cx="3670040" cy="1907845"/>
          </a:xfrm>
          <a:prstGeom prst="rect">
            <a:avLst/>
          </a:prstGeom>
        </p:spPr>
      </p:pic>
      <p:pic>
        <p:nvPicPr>
          <p:cNvPr id="8" name="Picture 7">
            <a:extLst>
              <a:ext uri="{FF2B5EF4-FFF2-40B4-BE49-F238E27FC236}">
                <a16:creationId xmlns="" xmlns:a16="http://schemas.microsoft.com/office/drawing/2014/main" id="{459FFE72-B3C6-D49F-DAC4-6E3359071389}"/>
              </a:ext>
            </a:extLst>
          </p:cNvPr>
          <p:cNvPicPr>
            <a:picLocks noChangeAspect="1"/>
          </p:cNvPicPr>
          <p:nvPr/>
        </p:nvPicPr>
        <p:blipFill>
          <a:blip r:embed="rId3"/>
          <a:stretch>
            <a:fillRect/>
          </a:stretch>
        </p:blipFill>
        <p:spPr>
          <a:xfrm>
            <a:off x="6568751" y="3900196"/>
            <a:ext cx="4049485" cy="2262408"/>
          </a:xfrm>
          <a:prstGeom prst="rect">
            <a:avLst/>
          </a:prstGeom>
        </p:spPr>
      </p:pic>
    </p:spTree>
    <p:extLst>
      <p:ext uri="{BB962C8B-B14F-4D97-AF65-F5344CB8AC3E}">
        <p14:creationId xmlns:p14="http://schemas.microsoft.com/office/powerpoint/2010/main" val="3948296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BBC1F6-EA30-0CEF-13BF-ADA95B1D907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D93D616-D0D7-E99F-29F9-75206CB5C2A5}"/>
              </a:ext>
            </a:extLst>
          </p:cNvPr>
          <p:cNvSpPr>
            <a:spLocks noGrp="1"/>
          </p:cNvSpPr>
          <p:nvPr>
            <p:ph type="title"/>
          </p:nvPr>
        </p:nvSpPr>
        <p:spPr>
          <a:xfrm>
            <a:off x="609600" y="233264"/>
            <a:ext cx="10972800" cy="1005840"/>
          </a:xfrm>
        </p:spPr>
        <p:txBody>
          <a:bodyPr/>
          <a:lstStyle/>
          <a:p>
            <a:r>
              <a:rPr lang="en-US" dirty="0">
                <a:latin typeface="Times New Roman" panose="02020603050405020304" pitchFamily="18" charset="0"/>
                <a:cs typeface="Times New Roman" panose="02020603050405020304" pitchFamily="18" charset="0"/>
              </a:rPr>
              <a:t>GFSK Advantages/Trade-offs</a:t>
            </a:r>
          </a:p>
        </p:txBody>
      </p:sp>
      <p:sp>
        <p:nvSpPr>
          <p:cNvPr id="3" name="Text Placeholder 2">
            <a:extLst>
              <a:ext uri="{FF2B5EF4-FFF2-40B4-BE49-F238E27FC236}">
                <a16:creationId xmlns="" xmlns:a16="http://schemas.microsoft.com/office/drawing/2014/main" id="{1356A926-CA84-ACAC-36B4-ABAF4981FB4D}"/>
              </a:ext>
            </a:extLst>
          </p:cNvPr>
          <p:cNvSpPr>
            <a:spLocks noGrp="1"/>
          </p:cNvSpPr>
          <p:nvPr>
            <p:ph type="body" idx="1"/>
          </p:nvPr>
        </p:nvSpPr>
        <p:spPr>
          <a:xfrm>
            <a:off x="139959" y="1511559"/>
            <a:ext cx="11442441" cy="4767943"/>
          </a:xfrm>
        </p:spPr>
        <p:txBody>
          <a:bodyPr/>
          <a:lstStyle/>
          <a:p>
            <a:pPr lvl="1">
              <a:buFont typeface="Wingdings" panose="05000000000000000000" pitchFamily="2" charset="2"/>
              <a:buChar char="q"/>
            </a:pPr>
            <a:r>
              <a:rPr lang="en-US" b="1" dirty="0"/>
              <a:t>Reduced side lobes</a:t>
            </a:r>
            <a:r>
              <a:rPr lang="en-US" dirty="0"/>
              <a:t>: GFSK minimizes sideband power and out-of-band spectrum.</a:t>
            </a:r>
          </a:p>
          <a:p>
            <a:pPr lvl="1">
              <a:buFont typeface="Wingdings" panose="05000000000000000000" pitchFamily="2" charset="2"/>
              <a:buChar char="q"/>
            </a:pPr>
            <a:r>
              <a:rPr lang="en-US" b="1" dirty="0"/>
              <a:t>Better spectral efficiency</a:t>
            </a:r>
            <a:r>
              <a:rPr lang="en-US" dirty="0"/>
              <a:t>: By shaping the pulses, GFSK achieves improved spectral utilization.</a:t>
            </a:r>
          </a:p>
          <a:p>
            <a:pPr lvl="1">
              <a:buFont typeface="Wingdings" panose="05000000000000000000" pitchFamily="2" charset="2"/>
              <a:buChar char="q"/>
            </a:pPr>
            <a:r>
              <a:rPr lang="en-US" b="1" dirty="0"/>
              <a:t>Constant Envelope:</a:t>
            </a:r>
            <a:r>
              <a:rPr lang="en-US" dirty="0"/>
              <a:t> GFSK/FSK modulates only the frequency and not the amplitude, the transmitted signal has a constant envelope. This allows the use of </a:t>
            </a:r>
            <a:r>
              <a:rPr lang="en-US" b="1" dirty="0"/>
              <a:t>nonlinear power amplifiers</a:t>
            </a:r>
            <a:r>
              <a:rPr lang="en-US" dirty="0"/>
              <a:t> (such as Class C or E), which are more energy-efficient — an essential feature for battery-powered devices.</a:t>
            </a:r>
          </a:p>
          <a:p>
            <a:pPr lvl="1">
              <a:buFont typeface="Arial" panose="020B0604020202020204" pitchFamily="34" charset="0"/>
              <a:buChar char="•"/>
            </a:pPr>
            <a:endParaRPr lang="en-US" dirty="0"/>
          </a:p>
          <a:p>
            <a:pPr lvl="1">
              <a:buFont typeface="Arial" panose="020B0604020202020204" pitchFamily="34" charset="0"/>
              <a:buChar char="•"/>
            </a:pPr>
            <a:endParaRPr lang="en-US" dirty="0"/>
          </a:p>
          <a:p>
            <a:pPr marL="571500" lvl="1" indent="0">
              <a:buNone/>
            </a:pPr>
            <a:r>
              <a:rPr lang="en-US" sz="2400" b="1" dirty="0"/>
              <a:t>But…</a:t>
            </a:r>
          </a:p>
          <a:p>
            <a:pPr marL="571500" lvl="1" indent="0">
              <a:buNone/>
            </a:pPr>
            <a:endParaRPr lang="en-US" dirty="0"/>
          </a:p>
          <a:p>
            <a:pPr marL="571500" lvl="1" indent="0">
              <a:buNone/>
            </a:pPr>
            <a:endParaRPr lang="en-US" b="1" dirty="0"/>
          </a:p>
          <a:p>
            <a:pPr lvl="1">
              <a:buFont typeface="Wingdings" panose="05000000000000000000" pitchFamily="2" charset="2"/>
              <a:buChar char="q"/>
            </a:pPr>
            <a:r>
              <a:rPr lang="en-US" dirty="0"/>
              <a:t>While GFSK reduces spectral width, it increases the likelihood of </a:t>
            </a:r>
            <a:r>
              <a:rPr lang="en-US" b="1" dirty="0" err="1"/>
              <a:t>intersymbol</a:t>
            </a:r>
            <a:r>
              <a:rPr lang="en-US" b="1" dirty="0"/>
              <a:t> interference (ISI)</a:t>
            </a:r>
            <a:r>
              <a:rPr lang="en-US" dirty="0"/>
              <a:t> due to spreading in the time domain.</a:t>
            </a:r>
          </a:p>
          <a:p>
            <a:pPr lvl="1">
              <a:buFont typeface="Wingdings" panose="05000000000000000000" pitchFamily="2" charset="2"/>
              <a:buChar char="q"/>
            </a:pPr>
            <a:endParaRPr lang="en-US" sz="1800" dirty="0"/>
          </a:p>
          <a:p>
            <a:pPr marL="76200" indent="0">
              <a:buNone/>
            </a:pPr>
            <a:endParaRPr lang="en-US" dirty="0"/>
          </a:p>
        </p:txBody>
      </p:sp>
      <p:pic>
        <p:nvPicPr>
          <p:cNvPr id="5" name="Picture 4">
            <a:extLst>
              <a:ext uri="{FF2B5EF4-FFF2-40B4-BE49-F238E27FC236}">
                <a16:creationId xmlns="" xmlns:a16="http://schemas.microsoft.com/office/drawing/2014/main" id="{605F5CBF-50A3-BC41-1AF3-A9FFF4BC39EA}"/>
              </a:ext>
            </a:extLst>
          </p:cNvPr>
          <p:cNvPicPr>
            <a:picLocks noChangeAspect="1"/>
          </p:cNvPicPr>
          <p:nvPr/>
        </p:nvPicPr>
        <p:blipFill>
          <a:blip r:embed="rId2"/>
          <a:stretch>
            <a:fillRect/>
          </a:stretch>
        </p:blipFill>
        <p:spPr>
          <a:xfrm>
            <a:off x="7735078" y="3219061"/>
            <a:ext cx="3554962" cy="2127380"/>
          </a:xfrm>
          <a:prstGeom prst="rect">
            <a:avLst/>
          </a:prstGeom>
        </p:spPr>
      </p:pic>
      <p:pic>
        <p:nvPicPr>
          <p:cNvPr id="7" name="Picture 6">
            <a:extLst>
              <a:ext uri="{FF2B5EF4-FFF2-40B4-BE49-F238E27FC236}">
                <a16:creationId xmlns="" xmlns:a16="http://schemas.microsoft.com/office/drawing/2014/main" id="{8E8E4C2A-28FF-E361-3F07-78A69D0C0BD7}"/>
              </a:ext>
            </a:extLst>
          </p:cNvPr>
          <p:cNvPicPr>
            <a:picLocks noChangeAspect="1"/>
          </p:cNvPicPr>
          <p:nvPr/>
        </p:nvPicPr>
        <p:blipFill>
          <a:blip r:embed="rId3"/>
          <a:stretch>
            <a:fillRect/>
          </a:stretch>
        </p:blipFill>
        <p:spPr>
          <a:xfrm>
            <a:off x="4133459" y="3349690"/>
            <a:ext cx="2967137" cy="1996752"/>
          </a:xfrm>
          <a:prstGeom prst="rect">
            <a:avLst/>
          </a:prstGeom>
        </p:spPr>
      </p:pic>
    </p:spTree>
    <p:extLst>
      <p:ext uri="{BB962C8B-B14F-4D97-AF65-F5344CB8AC3E}">
        <p14:creationId xmlns:p14="http://schemas.microsoft.com/office/powerpoint/2010/main" val="14807481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F9C991-734E-EB5B-D22F-F959886E006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BEAED974-49AA-8E19-1525-813F4AA6015A}"/>
              </a:ext>
            </a:extLst>
          </p:cNvPr>
          <p:cNvSpPr>
            <a:spLocks noGrp="1"/>
          </p:cNvSpPr>
          <p:nvPr>
            <p:ph type="title"/>
          </p:nvPr>
        </p:nvSpPr>
        <p:spPr>
          <a:xfrm>
            <a:off x="609600" y="261257"/>
            <a:ext cx="10972800" cy="1005840"/>
          </a:xfrm>
        </p:spPr>
        <p:txBody>
          <a:bodyPr/>
          <a:lstStyle/>
          <a:p>
            <a:r>
              <a:rPr lang="en-US" dirty="0">
                <a:latin typeface="Times New Roman" panose="02020603050405020304" pitchFamily="18" charset="0"/>
                <a:cs typeface="Times New Roman" panose="02020603050405020304" pitchFamily="18" charset="0"/>
              </a:rPr>
              <a:t>GFSK Modulation index </a:t>
            </a:r>
          </a:p>
        </p:txBody>
      </p:sp>
      <p:sp>
        <p:nvSpPr>
          <p:cNvPr id="3" name="Text Placeholder 2">
            <a:extLst>
              <a:ext uri="{FF2B5EF4-FFF2-40B4-BE49-F238E27FC236}">
                <a16:creationId xmlns="" xmlns:a16="http://schemas.microsoft.com/office/drawing/2014/main" id="{64B9B395-7370-9A2B-78AA-A7397ED486E8}"/>
              </a:ext>
            </a:extLst>
          </p:cNvPr>
          <p:cNvSpPr>
            <a:spLocks noGrp="1"/>
          </p:cNvSpPr>
          <p:nvPr>
            <p:ph type="body" idx="1"/>
          </p:nvPr>
        </p:nvSpPr>
        <p:spPr>
          <a:xfrm>
            <a:off x="609600" y="1390261"/>
            <a:ext cx="10972800" cy="2360646"/>
          </a:xfrm>
        </p:spPr>
        <p:txBody>
          <a:bodyPr/>
          <a:lstStyle/>
          <a:p>
            <a:pPr>
              <a:buFont typeface="Wingdings" panose="05000000000000000000" pitchFamily="2" charset="2"/>
              <a:buChar char="q"/>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Modulation index describes how close should 2 symbols (tones) be without creating ISI.</a:t>
            </a:r>
          </a:p>
          <a:p>
            <a:pPr marL="76200" indent="0">
              <a:buNone/>
            </a:pPr>
            <a:r>
              <a:rPr lang="en-US" sz="2000" dirty="0"/>
              <a:t>mathematically defined as:</a:t>
            </a:r>
          </a:p>
          <a:p>
            <a:pPr marL="76200" indent="0">
              <a:buNone/>
            </a:pPr>
            <a:r>
              <a:rPr lang="en-US" sz="2000" dirty="0"/>
              <a:t> </a:t>
            </a:r>
          </a:p>
          <a:p>
            <a:pPr>
              <a:buFont typeface="Wingdings" panose="05000000000000000000" pitchFamily="2" charset="2"/>
              <a:buChar char="q"/>
            </a:pPr>
            <a:r>
              <a:rPr lang="en-US" sz="2000" b="1" dirty="0"/>
              <a:t>BLE Specification</a:t>
            </a:r>
          </a:p>
          <a:p>
            <a:pPr marL="76200" indent="0">
              <a:buNone/>
            </a:pPr>
            <a:r>
              <a:rPr lang="en-US" sz="2000" dirty="0"/>
              <a:t>For the standard BLE 1M PHY, the specification requires a tight range for h:   </a:t>
            </a:r>
          </a:p>
          <a:p>
            <a:pPr marL="76200" indent="0">
              <a:buNone/>
            </a:pPr>
            <a:r>
              <a:rPr lang="en-US" sz="2000" b="1" dirty="0"/>
              <a:t>                                                                            0.45≤h≤0.55</a:t>
            </a:r>
          </a:p>
          <a:p>
            <a:pPr marL="76200" indent="0">
              <a:buNone/>
            </a:pPr>
            <a:endParaRPr lang="en-US" sz="2000" b="1" dirty="0"/>
          </a:p>
          <a:p>
            <a:pPr>
              <a:buFont typeface="Arial" panose="020B0604020202020204" pitchFamily="34" charset="0"/>
              <a:buChar char="•"/>
            </a:pPr>
            <a:endParaRPr lang="en-US" sz="2000" dirty="0"/>
          </a:p>
          <a:p>
            <a:pPr>
              <a:buFont typeface="Wingdings" panose="05000000000000000000" pitchFamily="2" charset="2"/>
              <a:buChar char="q"/>
            </a:pPr>
            <a:endParaRPr lang="en-US" sz="2000" dirty="0"/>
          </a:p>
          <a:p>
            <a:pPr>
              <a:buFont typeface="Wingdings" panose="05000000000000000000" pitchFamily="2" charset="2"/>
              <a:buChar char="q"/>
            </a:pPr>
            <a:endParaRPr lang="en-US" sz="2200" b="1" dirty="0">
              <a:solidFill>
                <a:srgbClr val="15559F"/>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28442112-1D91-D31A-879F-7A90A493F399}"/>
              </a:ext>
            </a:extLst>
          </p:cNvPr>
          <p:cNvSpPr txBox="1"/>
          <p:nvPr/>
        </p:nvSpPr>
        <p:spPr>
          <a:xfrm>
            <a:off x="609599" y="3750907"/>
            <a:ext cx="5620139" cy="2677656"/>
          </a:xfrm>
          <a:prstGeom prst="rect">
            <a:avLst/>
          </a:prstGeom>
          <a:noFill/>
        </p:spPr>
        <p:txBody>
          <a:bodyPr wrap="square" rtlCol="0">
            <a:spAutoFit/>
          </a:bodyPr>
          <a:lstStyle/>
          <a:p>
            <a:pPr>
              <a:buFont typeface="Arial" panose="020B0604020202020204" pitchFamily="34" charset="0"/>
              <a:buChar char="•"/>
            </a:pPr>
            <a:r>
              <a:rPr lang="en-US" dirty="0"/>
              <a:t>Too low modulation indices (&lt;0.3) → </a:t>
            </a:r>
            <a:r>
              <a:rPr lang="en-US" b="1" dirty="0"/>
              <a:t>narrowest possible bandwidth</a:t>
            </a:r>
            <a:r>
              <a:rPr lang="en-US" dirty="0"/>
              <a:t> (best spectral efficiency) but poor demodulation performance (receiver struggles to distinguish the tones).</a:t>
            </a:r>
          </a:p>
          <a:p>
            <a:pPr>
              <a:buFont typeface="Arial" panose="020B0604020202020204" pitchFamily="34" charset="0"/>
              <a:buChar char="•"/>
            </a:pPr>
            <a:endParaRPr lang="en-US" dirty="0"/>
          </a:p>
          <a:p>
            <a:pPr>
              <a:buFont typeface="Arial" panose="020B0604020202020204" pitchFamily="34" charset="0"/>
              <a:buChar char="•"/>
            </a:pPr>
            <a:r>
              <a:rPr lang="en-US" dirty="0"/>
              <a:t>Too high modulation indices (&gt;1) → </a:t>
            </a:r>
            <a:r>
              <a:rPr lang="en-US" b="1" dirty="0"/>
              <a:t>better noise immunity but </a:t>
            </a:r>
            <a:r>
              <a:rPr lang="en-US" dirty="0"/>
              <a:t>wider spectrum, more adjacent channel leakage (decreases spectral </a:t>
            </a:r>
            <a:r>
              <a:rPr lang="en-US" dirty="0" err="1"/>
              <a:t>effiency</a:t>
            </a:r>
            <a:r>
              <a:rPr lang="en-US" dirty="0"/>
              <a:t> of gaussian filter).</a:t>
            </a:r>
          </a:p>
          <a:p>
            <a:pPr>
              <a:buFont typeface="Arial" panose="020B0604020202020204" pitchFamily="34" charset="0"/>
              <a:buChar char="•"/>
            </a:pPr>
            <a:endParaRPr lang="en-US" dirty="0"/>
          </a:p>
          <a:p>
            <a:pPr>
              <a:buFont typeface="Arial" panose="020B0604020202020204" pitchFamily="34" charset="0"/>
              <a:buChar char="•"/>
            </a:pPr>
            <a:r>
              <a:rPr lang="en-US" dirty="0"/>
              <a:t>0.5 → sweet spot for BLE: achieves the best possible balance </a:t>
            </a:r>
            <a:r>
              <a:rPr lang="en-US" b="1" dirty="0"/>
              <a:t>maximum spectral efficiency</a:t>
            </a:r>
            <a:r>
              <a:rPr lang="en-US" dirty="0"/>
              <a:t> without compromising the required </a:t>
            </a:r>
            <a:r>
              <a:rPr lang="en-US" b="1" dirty="0"/>
              <a:t>noise immunity.</a:t>
            </a:r>
            <a:endParaRPr lang="en-US" dirty="0"/>
          </a:p>
          <a:p>
            <a:endParaRPr lang="en-US" dirty="0"/>
          </a:p>
        </p:txBody>
      </p:sp>
      <p:pic>
        <p:nvPicPr>
          <p:cNvPr id="11" name="Picture 10" descr="A group of graphs with numbers&#10;&#10;AI-generated content may be incorrect.">
            <a:extLst>
              <a:ext uri="{FF2B5EF4-FFF2-40B4-BE49-F238E27FC236}">
                <a16:creationId xmlns="" xmlns:a16="http://schemas.microsoft.com/office/drawing/2014/main" id="{B9E5B096-A8AB-C005-02C8-E9F4E2CBF54E}"/>
              </a:ext>
            </a:extLst>
          </p:cNvPr>
          <p:cNvPicPr>
            <a:picLocks noChangeAspect="1"/>
          </p:cNvPicPr>
          <p:nvPr/>
        </p:nvPicPr>
        <p:blipFill>
          <a:blip r:embed="rId2"/>
          <a:stretch>
            <a:fillRect/>
          </a:stretch>
        </p:blipFill>
        <p:spPr>
          <a:xfrm>
            <a:off x="6447452" y="3293351"/>
            <a:ext cx="4926564" cy="3096390"/>
          </a:xfrm>
          <a:prstGeom prst="rect">
            <a:avLst/>
          </a:prstGeom>
        </p:spPr>
      </p:pic>
      <p:pic>
        <p:nvPicPr>
          <p:cNvPr id="13" name="Picture 12">
            <a:extLst>
              <a:ext uri="{FF2B5EF4-FFF2-40B4-BE49-F238E27FC236}">
                <a16:creationId xmlns="" xmlns:a16="http://schemas.microsoft.com/office/drawing/2014/main" id="{BFE80E3B-9512-5483-9930-F9FE3350D1E6}"/>
              </a:ext>
            </a:extLst>
          </p:cNvPr>
          <p:cNvPicPr>
            <a:picLocks noChangeAspect="1"/>
          </p:cNvPicPr>
          <p:nvPr/>
        </p:nvPicPr>
        <p:blipFill>
          <a:blip r:embed="rId3"/>
          <a:stretch>
            <a:fillRect/>
          </a:stretch>
        </p:blipFill>
        <p:spPr>
          <a:xfrm>
            <a:off x="3663846" y="1796187"/>
            <a:ext cx="1209844" cy="809738"/>
          </a:xfrm>
          <a:prstGeom prst="rect">
            <a:avLst/>
          </a:prstGeom>
        </p:spPr>
      </p:pic>
    </p:spTree>
    <p:extLst>
      <p:ext uri="{BB962C8B-B14F-4D97-AF65-F5344CB8AC3E}">
        <p14:creationId xmlns:p14="http://schemas.microsoft.com/office/powerpoint/2010/main" val="31649927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
            <a:ext cx="10972800" cy="6176514"/>
          </a:xfrm>
        </p:spPr>
        <p:txBody>
          <a:bodyPr anchor="ctr">
            <a:normAutofit/>
          </a:bodyPr>
          <a:lstStyle/>
          <a:p>
            <a:pPr algn="ctr"/>
            <a:r>
              <a:rPr lang="en-US" sz="6000" dirty="0">
                <a:latin typeface="Bodoni MT Black" panose="02070A03080606020203" pitchFamily="18" charset="0"/>
              </a:rPr>
              <a:t>MSK and GMSK</a:t>
            </a:r>
          </a:p>
        </p:txBody>
      </p:sp>
    </p:spTree>
    <p:extLst>
      <p:ext uri="{BB962C8B-B14F-4D97-AF65-F5344CB8AC3E}">
        <p14:creationId xmlns:p14="http://schemas.microsoft.com/office/powerpoint/2010/main" val="8945505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latin typeface="Times New Roman" pitchFamily="18"/>
                <a:cs typeface="Times New Roman" pitchFamily="18"/>
              </a:rPr>
              <a:t>Table of content </a:t>
            </a:r>
            <a:endParaRPr lang="en-US" sz="3600">
              <a:latin typeface="Times New Roman" pitchFamily="18"/>
              <a:cs typeface="Times New Roman" pitchFamily="18"/>
            </a:endParaRPr>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569047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What is MSK</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20620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MSK as CPFSK with </a:t>
            </a:r>
            <a:r>
              <a:rPr lang="en-US" sz="3600" i="1" smtClean="0"/>
              <a:t>h</a:t>
            </a:r>
            <a:r>
              <a:rPr lang="en-US" sz="3600" smtClean="0"/>
              <a:t> = 0.5</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7766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MSK as OQPSK with Sinusoidal Pulse Shaping</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03274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MSK Power Spectral Density</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85680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MSK Power Spectral Density Plot</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01652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Definition</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17732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Mathematical Definition</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48389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Gaussian Filter</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31478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Frequency Deviations</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844083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BT Product</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24663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Power Spectral Density Plot</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00774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Bandwidth</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34949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pPr lvl="0"/>
            <a:r>
              <a:rPr lang="en-US" sz="3600" smtClean="0"/>
              <a:t>GMSK Adjacent Channel Interference Plot</a:t>
            </a:r>
            <a:endParaRPr lang="en-US" sz="3600"/>
          </a:p>
        </p:txBody>
      </p:sp>
      <p:pic>
        <p:nvPicPr>
          <p:cNvPr id="3" name="Picture 2"/>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234360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
            <a:ext cx="10972800" cy="6185141"/>
          </a:xfrm>
        </p:spPr>
        <p:txBody>
          <a:bodyPr numCol="1" anchor="ctr">
            <a:normAutofit/>
          </a:bodyPr>
          <a:lstStyle/>
          <a:p>
            <a:pPr algn="ctr">
              <a:lnSpc>
                <a:spcPct val="300000"/>
              </a:lnSpc>
              <a:spcBef>
                <a:spcPts val="1800"/>
              </a:spcBef>
              <a:spcAft>
                <a:spcPts val="9600"/>
              </a:spcAft>
            </a:pPr>
            <a:r>
              <a:rPr lang="en-US" sz="6000" dirty="0" smtClean="0">
                <a:latin typeface="Bodoni MT Black" panose="02070A03080606020203" pitchFamily="18" charset="0"/>
              </a:rPr>
              <a:t>Eye diagram</a:t>
            </a:r>
            <a:endParaRPr lang="en-US" sz="6000" dirty="0">
              <a:latin typeface="Bodoni MT Black" panose="02070A03080606020203" pitchFamily="18" charset="0"/>
            </a:endParaRPr>
          </a:p>
        </p:txBody>
      </p:sp>
    </p:spTree>
    <p:extLst>
      <p:ext uri="{BB962C8B-B14F-4D97-AF65-F5344CB8AC3E}">
        <p14:creationId xmlns:p14="http://schemas.microsoft.com/office/powerpoint/2010/main" val="7505231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 </a:t>
            </a:r>
          </a:p>
        </p:txBody>
      </p:sp>
      <p:sp>
        <p:nvSpPr>
          <p:cNvPr id="3" name="Text Placeholder 2"/>
          <p:cNvSpPr>
            <a:spLocks noGrp="1"/>
          </p:cNvSpPr>
          <p:nvPr>
            <p:ph type="body" idx="1"/>
          </p:nvPr>
        </p:nvSpPr>
        <p:spPr/>
        <p:txBody>
          <a:bodyPr/>
          <a:lstStyle/>
          <a:p>
            <a:r>
              <a:rPr lang="en-US" sz="2800" b="1" dirty="0" smtClean="0"/>
              <a:t>Eye diagram</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What is an Eye diagram</a:t>
            </a:r>
            <a:endParaRPr lang="en-US" dirty="0" smtClean="0"/>
          </a:p>
          <a:p>
            <a:pPr lvl="1">
              <a:buFont typeface="Wingdings" panose="05000000000000000000" pitchFamily="2" charset="2"/>
              <a:buChar char="ü"/>
            </a:pPr>
            <a:r>
              <a:rPr lang="en-US" dirty="0" smtClean="0"/>
              <a:t>Eye diagram of GMSK</a:t>
            </a:r>
          </a:p>
          <a:p>
            <a:pPr lvl="1">
              <a:buFont typeface="Wingdings" panose="05000000000000000000" pitchFamily="2" charset="2"/>
              <a:buChar char="ü"/>
            </a:pPr>
            <a:r>
              <a:rPr lang="en-US" dirty="0" smtClean="0"/>
              <a:t>Zero crossing error</a:t>
            </a:r>
          </a:p>
          <a:p>
            <a:pPr lvl="1">
              <a:buFont typeface="Wingdings" panose="05000000000000000000" pitchFamily="2" charset="2"/>
              <a:buChar char="ü"/>
            </a:pPr>
            <a:r>
              <a:rPr lang="en-US" dirty="0" smtClean="0"/>
              <a:t>Jitter affects the zero crossing error</a:t>
            </a:r>
          </a:p>
          <a:p>
            <a:pPr lvl="1">
              <a:buFont typeface="Wingdings" panose="05000000000000000000" pitchFamily="2" charset="2"/>
              <a:buChar char="ü"/>
            </a:pPr>
            <a:r>
              <a:rPr lang="en-US" dirty="0"/>
              <a:t>Timing accuracy Frequency </a:t>
            </a:r>
            <a:r>
              <a:rPr lang="en-US" dirty="0" smtClean="0"/>
              <a:t>deviation</a:t>
            </a:r>
            <a:endParaRPr lang="en-US" b="1" dirty="0" smtClean="0"/>
          </a:p>
          <a:p>
            <a:endParaRPr lang="en-US" sz="2800" b="1" dirty="0" smtClean="0"/>
          </a:p>
          <a:p>
            <a:endParaRPr lang="en-US" sz="2800" b="1" dirty="0"/>
          </a:p>
        </p:txBody>
      </p:sp>
      <p:sp>
        <p:nvSpPr>
          <p:cNvPr id="4" name="Text Placeholder 3"/>
          <p:cNvSpPr>
            <a:spLocks noGrp="1"/>
          </p:cNvSpPr>
          <p:nvPr>
            <p:ph type="body" idx="2"/>
          </p:nvPr>
        </p:nvSpPr>
        <p:spPr/>
        <p:txBody>
          <a:bodyPr>
            <a:normAutofit fontScale="70000" lnSpcReduction="20000"/>
          </a:bodyPr>
          <a:lstStyle/>
          <a:p>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What is an Eye diagram</a:t>
            </a: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09600" y="1484802"/>
            <a:ext cx="10972800" cy="5036768"/>
          </a:xfrm>
        </p:spPr>
        <p:txBody>
          <a:bodyPr/>
          <a:lstStyle/>
          <a:p>
            <a:pPr marL="681900" indent="-342900"/>
            <a:r>
              <a:rPr lang="en-US" sz="2000" dirty="0" smtClean="0"/>
              <a:t>An </a:t>
            </a:r>
            <a:r>
              <a:rPr lang="en-US" sz="2000" b="1" dirty="0"/>
              <a:t>eye diagram</a:t>
            </a:r>
            <a:r>
              <a:rPr lang="en-US" sz="2000" dirty="0"/>
              <a:t> is a visual way to check the </a:t>
            </a:r>
            <a:r>
              <a:rPr lang="en-US" sz="2000" b="1" dirty="0" smtClean="0"/>
              <a:t>quality </a:t>
            </a:r>
            <a:r>
              <a:rPr lang="en-US" sz="2000" b="1" dirty="0"/>
              <a:t>of a </a:t>
            </a:r>
            <a:r>
              <a:rPr lang="en-US" sz="2000" b="1" dirty="0" smtClean="0"/>
              <a:t>digital </a:t>
            </a:r>
            <a:r>
              <a:rPr lang="en-US" sz="2000" b="1" dirty="0" err="1" smtClean="0"/>
              <a:t>signal</a:t>
            </a:r>
            <a:r>
              <a:rPr lang="en-US" sz="2000" dirty="0" err="1" smtClean="0"/>
              <a:t>.It</a:t>
            </a:r>
            <a:r>
              <a:rPr lang="en-US" sz="2000" dirty="0" smtClean="0"/>
              <a:t> </a:t>
            </a:r>
            <a:r>
              <a:rPr lang="en-US" sz="2000" dirty="0"/>
              <a:t>is made by </a:t>
            </a:r>
            <a:r>
              <a:rPr lang="en-US" sz="2000" b="1" dirty="0"/>
              <a:t>overlapping many bits</a:t>
            </a:r>
            <a:r>
              <a:rPr lang="en-US" sz="2000" dirty="0"/>
              <a:t> of the received </a:t>
            </a:r>
            <a:r>
              <a:rPr lang="en-US" sz="2000" dirty="0" err="1" smtClean="0"/>
              <a:t>signalon</a:t>
            </a:r>
            <a:r>
              <a:rPr lang="en-US" sz="2000" dirty="0" smtClean="0"/>
              <a:t> </a:t>
            </a:r>
            <a:r>
              <a:rPr lang="en-US" sz="2000" dirty="0"/>
              <a:t>an oscilloscope, creating a shape that looks like an </a:t>
            </a:r>
            <a:r>
              <a:rPr lang="en-US" sz="2000" b="1" dirty="0" err="1" smtClean="0"/>
              <a:t>eye</a:t>
            </a:r>
            <a:r>
              <a:rPr lang="en-US" sz="2000" dirty="0" err="1" smtClean="0"/>
              <a:t>.The</a:t>
            </a:r>
            <a:r>
              <a:rPr lang="en-US" sz="2000" dirty="0" smtClean="0"/>
              <a:t> </a:t>
            </a:r>
            <a:r>
              <a:rPr lang="en-US" sz="2000" dirty="0"/>
              <a:t>diagram shows how the signal changes between logical </a:t>
            </a:r>
            <a:r>
              <a:rPr lang="en-US" sz="2000" b="1" dirty="0"/>
              <a:t>1s</a:t>
            </a:r>
            <a:r>
              <a:rPr lang="en-US" sz="2000" dirty="0"/>
              <a:t> and </a:t>
            </a:r>
            <a:r>
              <a:rPr lang="en-US" sz="2000" b="1" dirty="0"/>
              <a:t>0s</a:t>
            </a:r>
            <a:r>
              <a:rPr lang="en-US" sz="2000" dirty="0"/>
              <a:t>, and helps identify problems such as </a:t>
            </a:r>
            <a:r>
              <a:rPr lang="en-US" sz="2000" b="1" dirty="0"/>
              <a:t>inter-symbol interference (ISI)</a:t>
            </a:r>
            <a:r>
              <a:rPr lang="en-US" sz="2000" dirty="0"/>
              <a:t> that can distort the </a:t>
            </a:r>
            <a:r>
              <a:rPr lang="en-US" sz="2000" dirty="0" smtClean="0"/>
              <a:t>signal</a:t>
            </a:r>
            <a:r>
              <a:rPr lang="en-US" sz="2000" dirty="0"/>
              <a:t>,</a:t>
            </a:r>
            <a:endParaRPr lang="en-US" sz="2000" dirty="0" smtClean="0"/>
          </a:p>
        </p:txBody>
      </p:sp>
      <p:sp>
        <p:nvSpPr>
          <p:cNvPr id="4" name="Text Placeholder 3"/>
          <p:cNvSpPr>
            <a:spLocks noGrp="1"/>
          </p:cNvSpPr>
          <p:nvPr>
            <p:ph type="body" idx="2"/>
          </p:nvPr>
        </p:nvSpPr>
        <p:spPr/>
        <p:txBody>
          <a:bodyPr>
            <a:normAutofit fontScale="70000" lnSpcReduction="20000"/>
          </a:bodyPr>
          <a:lstStyle/>
          <a:p>
            <a:endParaRPr lang="en-US"/>
          </a:p>
        </p:txBody>
      </p:sp>
      <p:pic>
        <p:nvPicPr>
          <p:cNvPr id="6" name="Picture 5"/>
          <p:cNvPicPr>
            <a:picLocks noChangeAspect="1"/>
          </p:cNvPicPr>
          <p:nvPr/>
        </p:nvPicPr>
        <p:blipFill>
          <a:blip r:embed="rId2"/>
          <a:stretch>
            <a:fillRect/>
          </a:stretch>
        </p:blipFill>
        <p:spPr>
          <a:xfrm>
            <a:off x="3109086" y="3088257"/>
            <a:ext cx="5613657" cy="3114135"/>
          </a:xfrm>
          <a:prstGeom prst="rect">
            <a:avLst/>
          </a:prstGeom>
        </p:spPr>
      </p:pic>
    </p:spTree>
    <p:extLst>
      <p:ext uri="{BB962C8B-B14F-4D97-AF65-F5344CB8AC3E}">
        <p14:creationId xmlns:p14="http://schemas.microsoft.com/office/powerpoint/2010/main" val="19025863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Eye diagrams of GMSK</a:t>
            </a:r>
            <a:endParaRPr lang="en-US" dirty="0"/>
          </a:p>
        </p:txBody>
      </p:sp>
      <p:pic>
        <p:nvPicPr>
          <p:cNvPr id="7" name="Picture 6"/>
          <p:cNvPicPr>
            <a:picLocks noChangeAspect="1"/>
          </p:cNvPicPr>
          <p:nvPr/>
        </p:nvPicPr>
        <p:blipFill>
          <a:blip r:embed="rId2"/>
          <a:stretch>
            <a:fillRect/>
          </a:stretch>
        </p:blipFill>
        <p:spPr>
          <a:xfrm>
            <a:off x="5879815" y="1371599"/>
            <a:ext cx="5702585" cy="4493304"/>
          </a:xfrm>
          <a:prstGeom prst="rect">
            <a:avLst/>
          </a:prstGeom>
        </p:spPr>
      </p:pic>
      <p:sp>
        <p:nvSpPr>
          <p:cNvPr id="3" name="Text Placeholder 2"/>
          <p:cNvSpPr>
            <a:spLocks noGrp="1"/>
          </p:cNvSpPr>
          <p:nvPr>
            <p:ph type="body" idx="1"/>
          </p:nvPr>
        </p:nvSpPr>
        <p:spPr>
          <a:xfrm>
            <a:off x="609599" y="1458923"/>
            <a:ext cx="5403011" cy="5088526"/>
          </a:xfrm>
        </p:spPr>
        <p:txBody>
          <a:bodyPr/>
          <a:lstStyle/>
          <a:p>
            <a:r>
              <a:rPr lang="en-US" sz="2000" dirty="0"/>
              <a:t>As </a:t>
            </a:r>
            <a:r>
              <a:rPr lang="en-US" sz="2000" b="1" dirty="0" smtClean="0"/>
              <a:t>BT</a:t>
            </a:r>
            <a:r>
              <a:rPr lang="en-US" sz="2000" dirty="0" smtClean="0"/>
              <a:t> </a:t>
            </a:r>
            <a:r>
              <a:rPr lang="en-US" sz="2000" dirty="0"/>
              <a:t>decreases, the </a:t>
            </a:r>
            <a:r>
              <a:rPr lang="en-US" sz="2000" b="1" dirty="0"/>
              <a:t>Gaussian </a:t>
            </a:r>
            <a:r>
              <a:rPr lang="en-US" sz="2000" b="1" dirty="0" smtClean="0"/>
              <a:t>filter</a:t>
            </a:r>
            <a:r>
              <a:rPr lang="en-US" sz="2000" dirty="0" smtClean="0"/>
              <a:t> becomes </a:t>
            </a:r>
            <a:r>
              <a:rPr lang="en-US" sz="2000" dirty="0"/>
              <a:t>narrower and </a:t>
            </a:r>
            <a:r>
              <a:rPr lang="en-US" sz="2000" dirty="0" err="1"/>
              <a:t>smooths</a:t>
            </a:r>
            <a:r>
              <a:rPr lang="en-US" sz="2000" dirty="0"/>
              <a:t> the transitions between symbols.       </a:t>
            </a:r>
            <a:endParaRPr lang="en-US" sz="2000" dirty="0" smtClean="0"/>
          </a:p>
          <a:p>
            <a:pPr>
              <a:buFont typeface="Wingdings" panose="05000000000000000000" pitchFamily="2" charset="2"/>
              <a:buChar char="q"/>
            </a:pPr>
            <a:r>
              <a:rPr lang="en-US" sz="2000" dirty="0"/>
              <a:t> </a:t>
            </a:r>
            <a:r>
              <a:rPr lang="en-US" sz="2000" b="1" dirty="0"/>
              <a:t>Power Spectral </a:t>
            </a:r>
            <a:r>
              <a:rPr lang="en-US" sz="2000" b="1" dirty="0" smtClean="0"/>
              <a:t>Density:</a:t>
            </a:r>
          </a:p>
          <a:p>
            <a:pPr lvl="1">
              <a:buFont typeface="Wingdings" panose="05000000000000000000" pitchFamily="2" charset="2"/>
              <a:buChar char="Ø"/>
            </a:pPr>
            <a:r>
              <a:rPr lang="en-US" sz="1600" dirty="0"/>
              <a:t>Main lobe becomes narrower.     </a:t>
            </a:r>
            <a:endParaRPr lang="en-US" sz="1600" dirty="0" smtClean="0"/>
          </a:p>
          <a:p>
            <a:pPr lvl="1">
              <a:buFont typeface="Wingdings" panose="05000000000000000000" pitchFamily="2" charset="2"/>
              <a:buChar char="Ø"/>
            </a:pPr>
            <a:r>
              <a:rPr lang="en-US" sz="1600" b="1" dirty="0"/>
              <a:t>Side lobes decrease</a:t>
            </a:r>
            <a:r>
              <a:rPr lang="en-US" sz="1600" dirty="0"/>
              <a:t>, reducing out-of-band emissions and improving spectral efficiency</a:t>
            </a:r>
            <a:r>
              <a:rPr lang="en-US" sz="1600" dirty="0" smtClean="0"/>
              <a:t>.    </a:t>
            </a:r>
          </a:p>
          <a:p>
            <a:pPr>
              <a:buFont typeface="Wingdings" panose="05000000000000000000" pitchFamily="2" charset="2"/>
              <a:buChar char="q"/>
            </a:pPr>
            <a:r>
              <a:rPr lang="en-US" sz="2000" b="1" dirty="0"/>
              <a:t>Eye Diagram</a:t>
            </a:r>
            <a:r>
              <a:rPr lang="en-US" dirty="0"/>
              <a:t>   </a:t>
            </a:r>
            <a:endParaRPr lang="en-US" dirty="0" smtClean="0"/>
          </a:p>
          <a:p>
            <a:pPr lvl="1">
              <a:buFont typeface="Wingdings" panose="05000000000000000000" pitchFamily="2" charset="2"/>
              <a:buChar char="Ø"/>
            </a:pPr>
            <a:r>
              <a:rPr lang="en-US" sz="1600" dirty="0"/>
              <a:t>Eye opening becomes </a:t>
            </a:r>
            <a:r>
              <a:rPr lang="en-US" sz="1600" b="1" dirty="0"/>
              <a:t>smaller and less clear</a:t>
            </a:r>
            <a:r>
              <a:rPr lang="en-US" sz="1600" dirty="0"/>
              <a:t> </a:t>
            </a:r>
            <a:r>
              <a:rPr lang="en-US" sz="1600" dirty="0" smtClean="0"/>
              <a:t>as BT </a:t>
            </a:r>
            <a:r>
              <a:rPr lang="en-US" sz="1600" dirty="0"/>
              <a:t>decreases</a:t>
            </a:r>
            <a:r>
              <a:rPr lang="en-US" dirty="0"/>
              <a:t>.         </a:t>
            </a:r>
            <a:endParaRPr lang="en-US" dirty="0" smtClean="0"/>
          </a:p>
          <a:p>
            <a:pPr lvl="1">
              <a:buFont typeface="Wingdings" panose="05000000000000000000" pitchFamily="2" charset="2"/>
              <a:buChar char="Ø"/>
            </a:pPr>
            <a:r>
              <a:rPr lang="en-US" sz="1600" dirty="0" smtClean="0"/>
              <a:t>increased </a:t>
            </a:r>
            <a:r>
              <a:rPr lang="en-US" sz="1600" b="1" dirty="0"/>
              <a:t>Inter-Symbol Interference (ISI)</a:t>
            </a:r>
            <a:r>
              <a:rPr lang="en-US" sz="1600" dirty="0"/>
              <a:t> due to smoother frequency transitions</a:t>
            </a:r>
            <a:r>
              <a:rPr lang="en-US" dirty="0"/>
              <a:t>.                                               </a:t>
            </a:r>
          </a:p>
        </p:txBody>
      </p:sp>
      <p:sp>
        <p:nvSpPr>
          <p:cNvPr id="4" name="Text Placeholder 3"/>
          <p:cNvSpPr>
            <a:spLocks noGrp="1"/>
          </p:cNvSpPr>
          <p:nvPr>
            <p:ph type="body" idx="2"/>
          </p:nvPr>
        </p:nvSpPr>
        <p:spPr/>
        <p:txBody>
          <a:bodyPr>
            <a:normAutofit fontScale="70000" lnSpcReduction="20000"/>
          </a:bodyPr>
          <a:lstStyle/>
          <a:p>
            <a:endParaRPr lang="en-US" dirty="0"/>
          </a:p>
        </p:txBody>
      </p:sp>
    </p:spTree>
    <p:extLst>
      <p:ext uri="{BB962C8B-B14F-4D97-AF65-F5344CB8AC3E}">
        <p14:creationId xmlns:p14="http://schemas.microsoft.com/office/powerpoint/2010/main" val="13632916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Crossing Error</a:t>
            </a:r>
            <a:endParaRPr lang="en-US" dirty="0"/>
          </a:p>
        </p:txBody>
      </p:sp>
      <p:sp>
        <p:nvSpPr>
          <p:cNvPr id="3" name="Text Placeholder 2"/>
          <p:cNvSpPr>
            <a:spLocks noGrp="1"/>
          </p:cNvSpPr>
          <p:nvPr>
            <p:ph type="body" idx="1"/>
          </p:nvPr>
        </p:nvSpPr>
        <p:spPr/>
        <p:txBody>
          <a:bodyPr/>
          <a:lstStyle/>
          <a:p>
            <a:pPr>
              <a:buFont typeface="Wingdings" panose="05000000000000000000" pitchFamily="2" charset="2"/>
              <a:buChar char="q"/>
            </a:pPr>
            <a:r>
              <a:rPr lang="en-US" b="1" dirty="0" smtClean="0">
                <a:latin typeface="Times New Roman" panose="02020603050405020304" pitchFamily="18" charset="0"/>
                <a:cs typeface="Times New Roman" panose="02020603050405020304" pitchFamily="18" charset="0"/>
              </a:rPr>
              <a:t>What is zero crossing in GFSK?</a:t>
            </a:r>
          </a:p>
          <a:p>
            <a:pPr lvl="1">
              <a:buFont typeface="Wingdings" panose="05000000000000000000" pitchFamily="2" charset="2"/>
              <a:buChar char="Ø"/>
            </a:pPr>
            <a:r>
              <a:rPr lang="en-US" dirty="0"/>
              <a:t>In </a:t>
            </a:r>
            <a:r>
              <a:rPr lang="en-US" b="1" dirty="0"/>
              <a:t>GFSK</a:t>
            </a:r>
            <a:r>
              <a:rPr lang="en-US" dirty="0"/>
              <a:t>, the transmitted signal’s </a:t>
            </a:r>
            <a:r>
              <a:rPr lang="en-US" b="1" dirty="0"/>
              <a:t>instantaneous frequency</a:t>
            </a:r>
            <a:r>
              <a:rPr lang="en-US" dirty="0"/>
              <a:t> shifts up and down around a center frequency </a:t>
            </a:r>
            <a:r>
              <a:rPr lang="en-US" dirty="0" smtClean="0"/>
              <a:t>Ft</a:t>
            </a:r>
            <a:r>
              <a:rPr lang="en-US" dirty="0"/>
              <a:t>​, depending on whether you’re sending a “1” or a “0</a:t>
            </a:r>
            <a:r>
              <a:rPr lang="en-US" dirty="0" smtClean="0"/>
              <a:t>”.</a:t>
            </a:r>
          </a:p>
          <a:p>
            <a:pPr lvl="1">
              <a:buFont typeface="Wingdings" panose="05000000000000000000" pitchFamily="2" charset="2"/>
              <a:buChar char="Ø"/>
            </a:pPr>
            <a:endParaRPr lang="en-US" dirty="0"/>
          </a:p>
          <a:p>
            <a:pPr>
              <a:buFont typeface="Arial" panose="020B0604020202020204" pitchFamily="34" charset="0"/>
              <a:buChar char="•"/>
            </a:pPr>
            <a:r>
              <a:rPr lang="en-US" sz="2000" dirty="0" smtClean="0"/>
              <a:t>Ideally each </a:t>
            </a:r>
            <a:r>
              <a:rPr lang="en-US" sz="2000" dirty="0"/>
              <a:t>zero crossing happens </a:t>
            </a:r>
            <a:r>
              <a:rPr lang="en-US" sz="2000" b="1" dirty="0"/>
              <a:t>exactly halfway between symbols</a:t>
            </a:r>
            <a:r>
              <a:rPr lang="en-US" sz="2000" dirty="0"/>
              <a:t> (at the expected time</a:t>
            </a:r>
            <a:r>
              <a:rPr lang="en-US" sz="2000" dirty="0" smtClean="0"/>
              <a:t>).</a:t>
            </a:r>
          </a:p>
          <a:p>
            <a:pPr>
              <a:buFont typeface="Wingdings" panose="05000000000000000000" pitchFamily="2" charset="2"/>
              <a:buChar char="q"/>
            </a:pPr>
            <a:r>
              <a:rPr lang="en-US" b="1" dirty="0"/>
              <a:t>What is the zero crossing error?</a:t>
            </a:r>
            <a:endParaRPr lang="en-US" dirty="0"/>
          </a:p>
          <a:p>
            <a:pPr lvl="1">
              <a:buFont typeface="Wingdings" panose="05000000000000000000" pitchFamily="2" charset="2"/>
              <a:buChar char="Ø"/>
            </a:pPr>
            <a:r>
              <a:rPr lang="en-US" sz="1800" b="1" dirty="0"/>
              <a:t>Zero crossing error</a:t>
            </a:r>
            <a:r>
              <a:rPr lang="en-US" sz="1800" dirty="0"/>
              <a:t> is the </a:t>
            </a:r>
            <a:r>
              <a:rPr lang="en-US" sz="1800" b="1" dirty="0"/>
              <a:t>time difference</a:t>
            </a:r>
            <a:r>
              <a:rPr lang="en-US" sz="1800" dirty="0"/>
              <a:t> between the </a:t>
            </a:r>
            <a:r>
              <a:rPr lang="en-US" sz="1800" b="1" dirty="0"/>
              <a:t>expected zero crossing</a:t>
            </a:r>
            <a:r>
              <a:rPr lang="en-US" sz="1800" dirty="0"/>
              <a:t> (ideal) and the </a:t>
            </a:r>
            <a:r>
              <a:rPr lang="en-US" sz="1800" b="1" dirty="0"/>
              <a:t>measured one</a:t>
            </a:r>
            <a:r>
              <a:rPr lang="en-US" sz="1800" dirty="0"/>
              <a:t> (actual).</a:t>
            </a:r>
          </a:p>
          <a:p>
            <a:pPr lvl="1">
              <a:buFont typeface="Wingdings" panose="05000000000000000000" pitchFamily="2" charset="2"/>
              <a:buChar char="Ø"/>
            </a:pPr>
            <a:r>
              <a:rPr lang="en-US" sz="1800" b="1" i="1" dirty="0"/>
              <a:t>Zero Crossing Error = </a:t>
            </a:r>
            <a:r>
              <a:rPr lang="en-US" sz="1800" b="1" i="1" dirty="0" err="1"/>
              <a:t>t_actual</a:t>
            </a:r>
            <a:r>
              <a:rPr lang="en-US" sz="1800" b="1" i="1" dirty="0"/>
              <a:t>​ − </a:t>
            </a:r>
            <a:r>
              <a:rPr lang="en-US" sz="1800" b="1" i="1" dirty="0" err="1"/>
              <a:t>t_ideal</a:t>
            </a:r>
            <a:r>
              <a:rPr lang="en-US" sz="1800" b="1" i="1" dirty="0"/>
              <a:t>​</a:t>
            </a:r>
            <a:endParaRPr lang="en-US" sz="1800" dirty="0"/>
          </a:p>
          <a:p>
            <a:pPr marL="76200" indent="0">
              <a:buNone/>
            </a:pPr>
            <a:endParaRPr lang="en-US" sz="2000" dirty="0" smtClean="0"/>
          </a:p>
          <a:p>
            <a:pPr indent="-342900"/>
            <a:r>
              <a:rPr lang="en-US" b="1" i="1" dirty="0" smtClean="0">
                <a:latin typeface="Times New Roman" panose="02020603050405020304" pitchFamily="18" charset="0"/>
                <a:cs typeface="Times New Roman" panose="02020603050405020304" pitchFamily="18" charset="0"/>
              </a:rPr>
              <a:t>SPEC</a:t>
            </a:r>
            <a:r>
              <a:rPr lang="en-US" b="1" i="1" dirty="0">
                <a:latin typeface="Times New Roman" panose="02020603050405020304" pitchFamily="18" charset="0"/>
                <a:cs typeface="Times New Roman" panose="02020603050405020304" pitchFamily="18" charset="0"/>
              </a:rPr>
              <a:t>.: Zero crossing shall be less than ±1/8 of a symbol </a:t>
            </a:r>
            <a:r>
              <a:rPr lang="en-US" b="1" i="1" dirty="0" smtClean="0">
                <a:latin typeface="Times New Roman" panose="02020603050405020304" pitchFamily="18" charset="0"/>
                <a:cs typeface="Times New Roman" panose="02020603050405020304" pitchFamily="18" charset="0"/>
              </a:rPr>
              <a:t>period(0.125 micro sec)</a:t>
            </a:r>
            <a:endParaRPr lang="en-US" b="1" i="1" dirty="0">
              <a:latin typeface="Times New Roman" panose="02020603050405020304" pitchFamily="18" charset="0"/>
              <a:cs typeface="Times New Roman" panose="02020603050405020304" pitchFamily="18" charset="0"/>
            </a:endParaRPr>
          </a:p>
          <a:p>
            <a:pPr marL="76200" indent="0">
              <a:buNone/>
            </a:pPr>
            <a:endParaRPr lang="en-US" sz="2000" b="1" dirty="0" smtClean="0">
              <a:latin typeface="Times New Roman" panose="02020603050405020304" pitchFamily="18" charset="0"/>
              <a:cs typeface="Times New Roman" panose="02020603050405020304" pitchFamily="18" charset="0"/>
            </a:endParaRPr>
          </a:p>
          <a:p>
            <a:pPr marL="76200" indent="0">
              <a:buNone/>
            </a:pPr>
            <a:endParaRPr lang="en-US" dirty="0"/>
          </a:p>
          <a:p>
            <a:pPr marL="76200" indent="0">
              <a:buNone/>
            </a:pPr>
            <a:endParaRPr lang="en-US" dirty="0" smtClean="0"/>
          </a:p>
          <a:p>
            <a:pPr marL="76200" indent="0">
              <a:buNone/>
            </a:pPr>
            <a:endParaRPr lang="en-US" dirty="0"/>
          </a:p>
          <a:p>
            <a:pPr marL="76200" indent="0">
              <a:buNone/>
            </a:pPr>
            <a:endParaRPr lang="en-US" dirty="0" smtClean="0"/>
          </a:p>
          <a:p>
            <a:pPr marL="76200" indent="0">
              <a:buNone/>
            </a:pPr>
            <a:endParaRPr lang="en-US" dirty="0"/>
          </a:p>
        </p:txBody>
      </p:sp>
      <p:sp>
        <p:nvSpPr>
          <p:cNvPr id="4" name="Text Placeholder 3"/>
          <p:cNvSpPr>
            <a:spLocks noGrp="1"/>
          </p:cNvSpPr>
          <p:nvPr>
            <p:ph type="body" idx="2"/>
          </p:nvPr>
        </p:nvSpPr>
        <p:spPr/>
        <p:txBody>
          <a:bodyPr>
            <a:normAutofit fontScale="70000" lnSpcReduction="20000"/>
          </a:bodyPr>
          <a:lstStyle/>
          <a:p>
            <a:endParaRPr lang="en-US"/>
          </a:p>
        </p:txBody>
      </p:sp>
      <p:pic>
        <p:nvPicPr>
          <p:cNvPr id="6" name="Picture 5"/>
          <p:cNvPicPr>
            <a:picLocks noChangeAspect="1"/>
          </p:cNvPicPr>
          <p:nvPr/>
        </p:nvPicPr>
        <p:blipFill>
          <a:blip r:embed="rId2"/>
          <a:stretch>
            <a:fillRect/>
          </a:stretch>
        </p:blipFill>
        <p:spPr>
          <a:xfrm>
            <a:off x="8186527" y="-33644"/>
            <a:ext cx="3807065" cy="2078966"/>
          </a:xfrm>
          <a:prstGeom prst="rect">
            <a:avLst/>
          </a:prstGeom>
        </p:spPr>
      </p:pic>
    </p:spTree>
    <p:extLst>
      <p:ext uri="{BB962C8B-B14F-4D97-AF65-F5344CB8AC3E}">
        <p14:creationId xmlns:p14="http://schemas.microsoft.com/office/powerpoint/2010/main" val="11650469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Zero Crossing Error</a:t>
            </a:r>
          </a:p>
        </p:txBody>
      </p:sp>
      <p:sp>
        <p:nvSpPr>
          <p:cNvPr id="3" name="Text Placeholder 2"/>
          <p:cNvSpPr>
            <a:spLocks noGrp="1"/>
          </p:cNvSpPr>
          <p:nvPr>
            <p:ph type="body" idx="1"/>
          </p:nvPr>
        </p:nvSpPr>
        <p:spPr/>
        <p:txBody>
          <a:bodyPr/>
          <a:lstStyle/>
          <a:p>
            <a:pPr>
              <a:buFont typeface="Wingdings" panose="05000000000000000000" pitchFamily="2" charset="2"/>
              <a:buChar char="q"/>
            </a:pPr>
            <a:r>
              <a:rPr lang="en-US" b="1" dirty="0" smtClean="0"/>
              <a:t>Why zero crossing error is an issue ?</a:t>
            </a:r>
          </a:p>
          <a:p>
            <a:pPr lvl="1">
              <a:buFont typeface="Wingdings" panose="05000000000000000000" pitchFamily="2" charset="2"/>
              <a:buChar char="Ø"/>
            </a:pPr>
            <a:r>
              <a:rPr lang="en-US" dirty="0" smtClean="0"/>
              <a:t>The </a:t>
            </a:r>
            <a:r>
              <a:rPr lang="en-US" dirty="0"/>
              <a:t>receiver may sample the signal at the </a:t>
            </a:r>
            <a:r>
              <a:rPr lang="en-US" b="1" dirty="0"/>
              <a:t>wrong instant </a:t>
            </a:r>
            <a:r>
              <a:rPr lang="en-US" dirty="0"/>
              <a:t>and decode the wrong bit (1 instead of 0</a:t>
            </a:r>
            <a:r>
              <a:rPr lang="en-US" dirty="0" smtClean="0"/>
              <a:t>).</a:t>
            </a:r>
          </a:p>
          <a:p>
            <a:pPr lvl="1">
              <a:buFont typeface="Wingdings" panose="05000000000000000000" pitchFamily="2" charset="2"/>
              <a:buChar char="Ø"/>
            </a:pPr>
            <a:r>
              <a:rPr lang="en-US" dirty="0"/>
              <a:t>O</a:t>
            </a:r>
            <a:r>
              <a:rPr lang="en-US" dirty="0" smtClean="0"/>
              <a:t>ver </a:t>
            </a:r>
            <a:r>
              <a:rPr lang="en-US" dirty="0"/>
              <a:t>many bits, small zero-crossing shifts accumulate, making it harder for the receiver to stay synchronized with the transmitter</a:t>
            </a:r>
            <a:r>
              <a:rPr lang="en-US" dirty="0" smtClean="0"/>
              <a:t>.</a:t>
            </a:r>
            <a:endParaRPr lang="en-US" b="1" dirty="0" smtClean="0"/>
          </a:p>
          <a:p>
            <a:pPr>
              <a:buFont typeface="Wingdings" panose="05000000000000000000" pitchFamily="2" charset="2"/>
              <a:buChar char="q"/>
            </a:pPr>
            <a:r>
              <a:rPr lang="en-US" b="1" dirty="0" smtClean="0"/>
              <a:t>Causes of Zero crossing error:</a:t>
            </a:r>
          </a:p>
          <a:p>
            <a:pPr marL="914400" lvl="2" indent="-381000">
              <a:spcBef>
                <a:spcPts val="480"/>
              </a:spcBef>
              <a:buSzPts val="2400"/>
              <a:buFont typeface="Wingdings" panose="05000000000000000000" pitchFamily="2" charset="2"/>
              <a:buChar char="Ø"/>
            </a:pPr>
            <a:r>
              <a:rPr lang="en-US" sz="1600" b="1" dirty="0"/>
              <a:t>Oscillator phase noise or jitter:</a:t>
            </a:r>
            <a:r>
              <a:rPr lang="en-US" sz="1600" dirty="0"/>
              <a:t> Small timing fluctuations in the RF oscillator cause random shifts in zero-crossing timing</a:t>
            </a:r>
            <a:r>
              <a:rPr lang="en-US" sz="1600" dirty="0" smtClean="0"/>
              <a:t>.</a:t>
            </a:r>
            <a:endParaRPr lang="en-US" b="1" dirty="0" smtClean="0"/>
          </a:p>
          <a:p>
            <a:pPr marL="876300" lvl="1">
              <a:buFont typeface="Wingdings" panose="05000000000000000000" pitchFamily="2" charset="2"/>
              <a:buChar char="Ø"/>
            </a:pPr>
            <a:r>
              <a:rPr lang="en-US" sz="1800" b="1" dirty="0" smtClean="0"/>
              <a:t>Incorrect frequency deviation:</a:t>
            </a:r>
            <a:r>
              <a:rPr lang="en-US" sz="1800" dirty="0" smtClean="0"/>
              <a:t> When the frequency shift (±185 kHz or ±370 kHz) isn’t accurate, the zero crossings occur earlier or later than expected.</a:t>
            </a:r>
          </a:p>
          <a:p>
            <a:pPr marL="876300" lvl="1">
              <a:buFont typeface="Wingdings" panose="05000000000000000000" pitchFamily="2" charset="2"/>
              <a:buChar char="Ø"/>
            </a:pPr>
            <a:r>
              <a:rPr lang="en-US" sz="1800" b="1" dirty="0" smtClean="0"/>
              <a:t>Gaussian filter distortion:</a:t>
            </a:r>
            <a:r>
              <a:rPr lang="en-US" sz="1800" dirty="0" smtClean="0"/>
              <a:t> Imperfect filtering or pulse shaping makes the transitions asymmetric, shifting the crossing points.</a:t>
            </a:r>
          </a:p>
          <a:p>
            <a:pPr marL="876300" lvl="1">
              <a:buFont typeface="Wingdings" panose="05000000000000000000" pitchFamily="2" charset="2"/>
              <a:buChar char="Ø"/>
            </a:pPr>
            <a:r>
              <a:rPr lang="en-US" sz="1800" b="1" dirty="0" smtClean="0"/>
              <a:t>Symbol timing inaccuracy:</a:t>
            </a:r>
            <a:r>
              <a:rPr lang="en-US" sz="1800" dirty="0" smtClean="0"/>
              <a:t> If the transmitter clock drifts beyond the ±50 ppm limit, zero-crossing timing also drifts.</a:t>
            </a:r>
          </a:p>
        </p:txBody>
      </p:sp>
      <p:sp>
        <p:nvSpPr>
          <p:cNvPr id="4" name="Text Placeholder 3"/>
          <p:cNvSpPr>
            <a:spLocks noGrp="1"/>
          </p:cNvSpPr>
          <p:nvPr>
            <p:ph type="body" idx="2"/>
          </p:nvPr>
        </p:nvSpPr>
        <p:spPr/>
        <p:txBody>
          <a:bodyPr>
            <a:normAutofit fontScale="70000" lnSpcReduction="20000"/>
          </a:bodyPr>
          <a:lstStyle/>
          <a:p>
            <a:endParaRPr lang="en-US"/>
          </a:p>
        </p:txBody>
      </p:sp>
    </p:spTree>
    <p:extLst>
      <p:ext uri="{BB962C8B-B14F-4D97-AF65-F5344CB8AC3E}">
        <p14:creationId xmlns:p14="http://schemas.microsoft.com/office/powerpoint/2010/main" val="30361606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Jitter affects the zero crossing </a:t>
            </a:r>
            <a:endParaRPr lang="en-US" dirty="0"/>
          </a:p>
        </p:txBody>
      </p:sp>
      <p:sp>
        <p:nvSpPr>
          <p:cNvPr id="3" name="Text Placeholder 2"/>
          <p:cNvSpPr>
            <a:spLocks noGrp="1"/>
          </p:cNvSpPr>
          <p:nvPr>
            <p:ph type="body" idx="1"/>
          </p:nvPr>
        </p:nvSpPr>
        <p:spPr>
          <a:xfrm>
            <a:off x="609600" y="1484802"/>
            <a:ext cx="10972800" cy="2578239"/>
          </a:xfrm>
        </p:spPr>
        <p:txBody>
          <a:bodyPr/>
          <a:lstStyle/>
          <a:p>
            <a:pPr marL="381000" indent="-342900"/>
            <a:r>
              <a:rPr lang="en-US" b="1" dirty="0"/>
              <a:t>Jitter</a:t>
            </a:r>
            <a:r>
              <a:rPr lang="en-US" dirty="0"/>
              <a:t> is a </a:t>
            </a:r>
            <a:r>
              <a:rPr lang="en-US" b="1" dirty="0"/>
              <a:t>time uncertainty</a:t>
            </a:r>
            <a:r>
              <a:rPr lang="en-US" dirty="0"/>
              <a:t> in signal transitions between logic ‘0’ and ‘1</a:t>
            </a:r>
            <a:r>
              <a:rPr lang="en-US" dirty="0" smtClean="0"/>
              <a:t>’ and classified one of the main reasons of zero crossing error.</a:t>
            </a:r>
          </a:p>
          <a:p>
            <a:r>
              <a:rPr lang="en-US" dirty="0"/>
              <a:t>Jitter is classified into:</a:t>
            </a:r>
          </a:p>
          <a:p>
            <a:pPr lvl="1"/>
            <a:r>
              <a:rPr lang="en-US" b="1" dirty="0"/>
              <a:t>Deterministic </a:t>
            </a:r>
            <a:r>
              <a:rPr lang="en-US" b="1" dirty="0" smtClean="0"/>
              <a:t>jitter(DJ):</a:t>
            </a:r>
            <a:r>
              <a:rPr lang="en-US" dirty="0" smtClean="0"/>
              <a:t> </a:t>
            </a:r>
            <a:r>
              <a:rPr lang="en-US" dirty="0"/>
              <a:t>predictable and repeatable</a:t>
            </a:r>
            <a:r>
              <a:rPr lang="en-US" dirty="0" smtClean="0"/>
              <a:t>.</a:t>
            </a:r>
            <a:r>
              <a:rPr lang="en-US" dirty="0"/>
              <a:t> </a:t>
            </a:r>
            <a:r>
              <a:rPr lang="en-US" dirty="0" smtClean="0"/>
              <a:t>(</a:t>
            </a:r>
            <a:r>
              <a:rPr lang="en-US" sz="1600" i="1" dirty="0" smtClean="0"/>
              <a:t>The most</a:t>
            </a:r>
          </a:p>
          <a:p>
            <a:pPr marL="571500" lvl="1" indent="0">
              <a:buNone/>
            </a:pPr>
            <a:r>
              <a:rPr lang="en-US" sz="1600" i="1" dirty="0" smtClean="0"/>
              <a:t>         common </a:t>
            </a:r>
            <a:r>
              <a:rPr lang="en-US" sz="1600" i="1" dirty="0"/>
              <a:t>causes of DJ are modulation of the clock due to </a:t>
            </a:r>
            <a:r>
              <a:rPr lang="en-US" sz="1600" i="1" dirty="0" smtClean="0"/>
              <a:t>supply </a:t>
            </a:r>
            <a:r>
              <a:rPr lang="en-US" sz="1600" i="1" dirty="0"/>
              <a:t>noise</a:t>
            </a:r>
            <a:r>
              <a:rPr lang="en-US" sz="1600" i="1" dirty="0" smtClean="0"/>
              <a:t>,</a:t>
            </a:r>
          </a:p>
          <a:p>
            <a:pPr marL="571500" lvl="1" indent="0">
              <a:buNone/>
            </a:pPr>
            <a:r>
              <a:rPr lang="en-US" sz="1600" i="1" dirty="0" smtClean="0"/>
              <a:t>         cross-talk </a:t>
            </a:r>
            <a:r>
              <a:rPr lang="en-US" sz="1600" i="1" dirty="0"/>
              <a:t>from other signals or channels, duty cycle </a:t>
            </a:r>
            <a:r>
              <a:rPr lang="en-US" sz="1600" i="1" dirty="0" smtClean="0"/>
              <a:t>distortion).</a:t>
            </a:r>
            <a:endParaRPr lang="en-US" sz="1600" i="1" dirty="0"/>
          </a:p>
          <a:p>
            <a:pPr lvl="1"/>
            <a:r>
              <a:rPr lang="en-US" b="1" dirty="0"/>
              <a:t>Random </a:t>
            </a:r>
            <a:r>
              <a:rPr lang="en-US" b="1" dirty="0" smtClean="0"/>
              <a:t>jitter:</a:t>
            </a:r>
            <a:r>
              <a:rPr lang="en-US" dirty="0" smtClean="0"/>
              <a:t> </a:t>
            </a:r>
            <a:r>
              <a:rPr lang="en-US" dirty="0"/>
              <a:t>unpredictable and noise-induced.</a:t>
            </a:r>
          </a:p>
          <a:p>
            <a:pPr marL="495300" lvl="1" indent="0">
              <a:buNone/>
            </a:pPr>
            <a:endParaRPr lang="en-US" dirty="0" smtClean="0"/>
          </a:p>
        </p:txBody>
      </p:sp>
      <p:sp>
        <p:nvSpPr>
          <p:cNvPr id="4" name="Text Placeholder 3"/>
          <p:cNvSpPr>
            <a:spLocks noGrp="1"/>
          </p:cNvSpPr>
          <p:nvPr>
            <p:ph type="body" idx="2"/>
          </p:nvPr>
        </p:nvSpPr>
        <p:spPr/>
        <p:txBody>
          <a:bodyPr>
            <a:normAutofit fontScale="70000" lnSpcReduction="20000"/>
          </a:bodyPr>
          <a:lstStyle/>
          <a:p>
            <a:endParaRPr lang="en-US"/>
          </a:p>
        </p:txBody>
      </p:sp>
      <p:pic>
        <p:nvPicPr>
          <p:cNvPr id="7" name="Picture 6"/>
          <p:cNvPicPr>
            <a:picLocks noChangeAspect="1"/>
          </p:cNvPicPr>
          <p:nvPr/>
        </p:nvPicPr>
        <p:blipFill>
          <a:blip r:embed="rId2"/>
          <a:stretch>
            <a:fillRect/>
          </a:stretch>
        </p:blipFill>
        <p:spPr>
          <a:xfrm>
            <a:off x="8106272" y="2624818"/>
            <a:ext cx="3177080" cy="1253219"/>
          </a:xfrm>
          <a:prstGeom prst="rect">
            <a:avLst/>
          </a:prstGeom>
        </p:spPr>
      </p:pic>
      <p:pic>
        <p:nvPicPr>
          <p:cNvPr id="8" name="Picture 7"/>
          <p:cNvPicPr>
            <a:picLocks noChangeAspect="1"/>
          </p:cNvPicPr>
          <p:nvPr/>
        </p:nvPicPr>
        <p:blipFill>
          <a:blip r:embed="rId3"/>
          <a:stretch>
            <a:fillRect/>
          </a:stretch>
        </p:blipFill>
        <p:spPr>
          <a:xfrm>
            <a:off x="8106272" y="3958153"/>
            <a:ext cx="3177080" cy="1244078"/>
          </a:xfrm>
          <a:prstGeom prst="rect">
            <a:avLst/>
          </a:prstGeom>
        </p:spPr>
      </p:pic>
      <p:pic>
        <p:nvPicPr>
          <p:cNvPr id="9" name="Picture 8"/>
          <p:cNvPicPr>
            <a:picLocks noChangeAspect="1"/>
          </p:cNvPicPr>
          <p:nvPr/>
        </p:nvPicPr>
        <p:blipFill>
          <a:blip r:embed="rId4"/>
          <a:stretch>
            <a:fillRect/>
          </a:stretch>
        </p:blipFill>
        <p:spPr>
          <a:xfrm>
            <a:off x="8106273" y="5202232"/>
            <a:ext cx="3177080" cy="1268076"/>
          </a:xfrm>
          <a:prstGeom prst="rect">
            <a:avLst/>
          </a:prstGeom>
        </p:spPr>
      </p:pic>
      <p:sp>
        <p:nvSpPr>
          <p:cNvPr id="10" name="TextBox 9"/>
          <p:cNvSpPr txBox="1"/>
          <p:nvPr/>
        </p:nvSpPr>
        <p:spPr>
          <a:xfrm>
            <a:off x="609600" y="4176244"/>
            <a:ext cx="7326702" cy="2585323"/>
          </a:xfrm>
          <a:prstGeom prst="rect">
            <a:avLst/>
          </a:prstGeom>
          <a:noFill/>
        </p:spPr>
        <p:txBody>
          <a:bodyPr wrap="square" rtlCol="0">
            <a:spAutoFit/>
          </a:bodyPr>
          <a:lstStyle/>
          <a:p>
            <a:pPr marL="342900" indent="-342900">
              <a:buFont typeface="Arial" panose="020B0604020202020204" pitchFamily="34" charset="0"/>
              <a:buChar char="•"/>
            </a:pPr>
            <a:r>
              <a:rPr lang="en-US" sz="2000" b="1" dirty="0" smtClean="0">
                <a:latin typeface="Calibri" panose="020F0502020204030204" pitchFamily="34" charset="0"/>
                <a:ea typeface="Calibri" panose="020F0502020204030204" pitchFamily="34" charset="0"/>
                <a:cs typeface="Calibri" panose="020F0502020204030204" pitchFamily="34" charset="0"/>
              </a:rPr>
              <a:t>Figure 1</a:t>
            </a:r>
            <a:r>
              <a:rPr lang="en-US" sz="2000" dirty="0" smtClean="0">
                <a:latin typeface="Calibri" panose="020F0502020204030204" pitchFamily="34" charset="0"/>
                <a:ea typeface="Calibri" panose="020F0502020204030204" pitchFamily="34" charset="0"/>
                <a:cs typeface="Calibri" panose="020F0502020204030204" pitchFamily="34" charset="0"/>
              </a:rPr>
              <a:t> shows an eye diagram with low jitter </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1" dirty="0" smtClean="0">
                <a:latin typeface="Calibri" panose="020F0502020204030204" pitchFamily="34" charset="0"/>
                <a:ea typeface="Calibri" panose="020F0502020204030204" pitchFamily="34" charset="0"/>
                <a:cs typeface="Calibri" panose="020F0502020204030204" pitchFamily="34" charset="0"/>
              </a:rPr>
              <a:t>Figure 2</a:t>
            </a:r>
            <a:r>
              <a:rPr lang="en-US" sz="2000" dirty="0" smtClean="0">
                <a:latin typeface="Calibri" panose="020F0502020204030204" pitchFamily="34" charset="0"/>
                <a:ea typeface="Calibri" panose="020F0502020204030204" pitchFamily="34" charset="0"/>
                <a:cs typeface="Calibri" panose="020F0502020204030204" pitchFamily="34" charset="0"/>
              </a:rPr>
              <a:t> shows an eye diagram with high Random jitter</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endParaRPr lang="en-US" sz="2000" dirty="0" smtClean="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1" dirty="0" smtClean="0">
                <a:latin typeface="Calibri" panose="020F0502020204030204" pitchFamily="34" charset="0"/>
                <a:ea typeface="Calibri" panose="020F0502020204030204" pitchFamily="34" charset="0"/>
                <a:cs typeface="Calibri" panose="020F0502020204030204" pitchFamily="34" charset="0"/>
              </a:rPr>
              <a:t>Figure 3 </a:t>
            </a:r>
            <a:r>
              <a:rPr lang="en-US" sz="2000" dirty="0" smtClean="0">
                <a:latin typeface="Calibri" panose="020F0502020204030204" pitchFamily="34" charset="0"/>
                <a:ea typeface="Calibri" panose="020F0502020204030204" pitchFamily="34" charset="0"/>
                <a:cs typeface="Calibri" panose="020F0502020204030204" pitchFamily="34" charset="0"/>
              </a:rPr>
              <a:t>shows an eye diagram with deterministic jitter</a:t>
            </a:r>
          </a:p>
          <a:p>
            <a:pPr marL="342900" indent="-342900">
              <a:buFont typeface="Arial" panose="020B0604020202020204" pitchFamily="34" charset="0"/>
              <a:buChar char="•"/>
            </a:pPr>
            <a:endParaRPr lang="en-US" sz="2000" dirty="0"/>
          </a:p>
          <a:p>
            <a:endParaRPr lang="en-US" dirty="0" smtClean="0"/>
          </a:p>
          <a:p>
            <a:endParaRPr lang="en-US" dirty="0"/>
          </a:p>
          <a:p>
            <a:endParaRPr lang="en-US" dirty="0" smtClean="0"/>
          </a:p>
        </p:txBody>
      </p:sp>
    </p:spTree>
    <p:extLst>
      <p:ext uri="{BB962C8B-B14F-4D97-AF65-F5344CB8AC3E}">
        <p14:creationId xmlns:p14="http://schemas.microsoft.com/office/powerpoint/2010/main" val="233524233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Timing accuracy and </a:t>
            </a:r>
            <a:r>
              <a:rPr lang="en-US" dirty="0"/>
              <a:t>Frequency </a:t>
            </a:r>
            <a:r>
              <a:rPr lang="en-US" dirty="0" smtClean="0"/>
              <a:t>deviation</a:t>
            </a:r>
            <a:endParaRPr lang="en-US" dirty="0"/>
          </a:p>
        </p:txBody>
      </p:sp>
      <p:sp>
        <p:nvSpPr>
          <p:cNvPr id="3" name="Text Placeholder 2"/>
          <p:cNvSpPr>
            <a:spLocks noGrp="1"/>
          </p:cNvSpPr>
          <p:nvPr>
            <p:ph type="body" idx="1"/>
          </p:nvPr>
        </p:nvSpPr>
        <p:spPr>
          <a:xfrm>
            <a:off x="609600" y="1155940"/>
            <a:ext cx="10972800" cy="5287992"/>
          </a:xfrm>
        </p:spPr>
        <p:txBody>
          <a:bodyPr/>
          <a:lstStyle/>
          <a:p>
            <a:pPr>
              <a:buFont typeface="Wingdings" panose="05000000000000000000" pitchFamily="2" charset="2"/>
              <a:buChar char="q"/>
            </a:pPr>
            <a:r>
              <a:rPr lang="en-US" b="1" dirty="0" smtClean="0"/>
              <a:t>What does timing accuracy means?</a:t>
            </a:r>
          </a:p>
          <a:p>
            <a:pPr lvl="1">
              <a:buFont typeface="Wingdings" panose="05000000000000000000" pitchFamily="2" charset="2"/>
              <a:buChar char="Ø"/>
            </a:pPr>
            <a:r>
              <a:rPr lang="en-US" dirty="0"/>
              <a:t>timing accuracy refers to how precisely the transmitter and receiver keep their symbol clocks </a:t>
            </a:r>
            <a:r>
              <a:rPr lang="en-US" dirty="0" smtClean="0"/>
              <a:t>synchronized</a:t>
            </a:r>
          </a:p>
          <a:p>
            <a:pPr lvl="1">
              <a:buFont typeface="Wingdings" panose="05000000000000000000" pitchFamily="2" charset="2"/>
              <a:buChar char="Ø"/>
            </a:pPr>
            <a:r>
              <a:rPr lang="en-US" dirty="0"/>
              <a:t>If the transmitter’s or receiver’s clock is slightly off (too fast or too slow), the </a:t>
            </a:r>
            <a:r>
              <a:rPr lang="en-US" b="1" dirty="0"/>
              <a:t>symbol duration</a:t>
            </a:r>
            <a:r>
              <a:rPr lang="en-US" dirty="0"/>
              <a:t> will </a:t>
            </a:r>
            <a:r>
              <a:rPr lang="en-US" dirty="0" err="1" smtClean="0"/>
              <a:t>change,that’s</a:t>
            </a:r>
            <a:r>
              <a:rPr lang="en-US" dirty="0" smtClean="0"/>
              <a:t> </a:t>
            </a:r>
            <a:r>
              <a:rPr lang="en-US" dirty="0"/>
              <a:t>what we call </a:t>
            </a:r>
            <a:r>
              <a:rPr lang="en-US" b="1" dirty="0"/>
              <a:t>symbol timing </a:t>
            </a:r>
            <a:r>
              <a:rPr lang="en-US" b="1" dirty="0" smtClean="0"/>
              <a:t>error</a:t>
            </a:r>
          </a:p>
          <a:p>
            <a:pPr>
              <a:buFont typeface="Wingdings" panose="05000000000000000000" pitchFamily="2" charset="2"/>
              <a:buChar char="q"/>
            </a:pPr>
            <a:r>
              <a:rPr lang="en-US" b="1" dirty="0" smtClean="0"/>
              <a:t>Why it is important ?</a:t>
            </a:r>
            <a:endParaRPr lang="en-US" b="1" dirty="0"/>
          </a:p>
          <a:p>
            <a:pPr lvl="1">
              <a:buFont typeface="Wingdings" panose="05000000000000000000" pitchFamily="2" charset="2"/>
              <a:buChar char="Ø"/>
            </a:pPr>
            <a:r>
              <a:rPr lang="en-US" dirty="0"/>
              <a:t>The transmitter sends bits at regular time </a:t>
            </a:r>
            <a:r>
              <a:rPr lang="en-US" dirty="0" smtClean="0"/>
              <a:t>intervals </a:t>
            </a:r>
            <a:r>
              <a:rPr lang="en-US" dirty="0"/>
              <a:t>and The receiver samples those bits at the expected </a:t>
            </a:r>
            <a:r>
              <a:rPr lang="en-US" dirty="0" smtClean="0"/>
              <a:t>times. If there is a </a:t>
            </a:r>
            <a:r>
              <a:rPr lang="en-US" dirty="0"/>
              <a:t>bad timing accuracy </a:t>
            </a:r>
            <a:r>
              <a:rPr lang="en-US" dirty="0" smtClean="0"/>
              <a:t>the </a:t>
            </a:r>
            <a:r>
              <a:rPr lang="en-US" dirty="0"/>
              <a:t>receiver will sample at the </a:t>
            </a:r>
            <a:r>
              <a:rPr lang="en-US" b="1" dirty="0"/>
              <a:t>wrong </a:t>
            </a:r>
            <a:r>
              <a:rPr lang="en-US" b="1" dirty="0" smtClean="0"/>
              <a:t>moments, </a:t>
            </a:r>
            <a:r>
              <a:rPr lang="en-US" dirty="0"/>
              <a:t>Which causes </a:t>
            </a:r>
            <a:r>
              <a:rPr lang="en-US" b="1" dirty="0"/>
              <a:t>symbol errors</a:t>
            </a:r>
            <a:r>
              <a:rPr lang="en-US" dirty="0"/>
              <a:t>, </a:t>
            </a:r>
            <a:r>
              <a:rPr lang="en-US" b="1" dirty="0"/>
              <a:t>loss of </a:t>
            </a:r>
            <a:r>
              <a:rPr lang="en-US" b="1" dirty="0" smtClean="0"/>
              <a:t>sync</a:t>
            </a:r>
            <a:r>
              <a:rPr lang="en-US" dirty="0" smtClean="0"/>
              <a:t> </a:t>
            </a:r>
            <a:r>
              <a:rPr lang="en-US" dirty="0"/>
              <a:t>or </a:t>
            </a:r>
            <a:r>
              <a:rPr lang="en-US" b="1" dirty="0"/>
              <a:t>packet </a:t>
            </a:r>
            <a:r>
              <a:rPr lang="en-US" b="1" dirty="0" smtClean="0"/>
              <a:t>corruption.</a:t>
            </a:r>
          </a:p>
          <a:p>
            <a:pPr marL="571500" lvl="1" indent="0">
              <a:buNone/>
            </a:pPr>
            <a:endParaRPr lang="en-US" b="1" dirty="0" smtClean="0"/>
          </a:p>
          <a:p>
            <a:pPr>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Spec: The symbol timing accuracy shall be better than ±50 ppm(</a:t>
            </a:r>
            <a:r>
              <a:rPr lang="en-US" dirty="0">
                <a:latin typeface="Times New Roman" panose="02020603050405020304" pitchFamily="18" charset="0"/>
                <a:cs typeface="Times New Roman" panose="02020603050405020304" pitchFamily="18" charset="0"/>
              </a:rPr>
              <a:t>1 µs ± 0.05 ns</a:t>
            </a:r>
            <a:r>
              <a:rPr lang="en-US" dirty="0" smtClean="0"/>
              <a:t>)</a:t>
            </a:r>
            <a:endParaRPr lang="en-US" b="1" dirty="0" smtClean="0"/>
          </a:p>
          <a:p>
            <a:r>
              <a:rPr lang="en-US" b="1" i="1" dirty="0" smtClean="0">
                <a:latin typeface="Times New Roman" panose="02020603050405020304" pitchFamily="18" charset="0"/>
                <a:cs typeface="Times New Roman" panose="02020603050405020304" pitchFamily="18" charset="0"/>
              </a:rPr>
              <a:t>Spec: </a:t>
            </a:r>
            <a:r>
              <a:rPr lang="en-US" b="1" i="1" dirty="0">
                <a:latin typeface="Times New Roman" panose="02020603050405020304" pitchFamily="18" charset="0"/>
                <a:cs typeface="Times New Roman" panose="02020603050405020304" pitchFamily="18" charset="0"/>
              </a:rPr>
              <a:t>The minimum frequency deviation shall never be less </a:t>
            </a:r>
            <a:r>
              <a:rPr lang="en-US" b="1" i="1" dirty="0" smtClean="0">
                <a:latin typeface="Times New Roman" panose="02020603050405020304" pitchFamily="18" charset="0"/>
                <a:cs typeface="Times New Roman" panose="02020603050405020304" pitchFamily="18" charset="0"/>
              </a:rPr>
              <a:t>than </a:t>
            </a:r>
            <a:r>
              <a:rPr lang="en-US" b="1" i="1" dirty="0">
                <a:latin typeface="Times New Roman" panose="02020603050405020304" pitchFamily="18" charset="0"/>
                <a:cs typeface="Times New Roman" panose="02020603050405020304" pitchFamily="18" charset="0"/>
              </a:rPr>
              <a:t>185 kHz when transmitting at 1 </a:t>
            </a:r>
            <a:r>
              <a:rPr lang="en-US" b="1" i="1" dirty="0" err="1">
                <a:latin typeface="Times New Roman" panose="02020603050405020304" pitchFamily="18" charset="0"/>
                <a:cs typeface="Times New Roman" panose="02020603050405020304" pitchFamily="18" charset="0"/>
              </a:rPr>
              <a:t>megasymbol</a:t>
            </a:r>
            <a:r>
              <a:rPr lang="en-US" b="1" i="1" dirty="0">
                <a:latin typeface="Times New Roman" panose="02020603050405020304" pitchFamily="18" charset="0"/>
                <a:cs typeface="Times New Roman" panose="02020603050405020304" pitchFamily="18" charset="0"/>
              </a:rPr>
              <a:t> per second (</a:t>
            </a:r>
            <a:r>
              <a:rPr lang="en-US" b="1" i="1" dirty="0" err="1">
                <a:latin typeface="Times New Roman" panose="02020603050405020304" pitchFamily="18" charset="0"/>
                <a:cs typeface="Times New Roman" panose="02020603050405020304" pitchFamily="18" charset="0"/>
              </a:rPr>
              <a:t>Msym</a:t>
            </a:r>
            <a:r>
              <a:rPr lang="en-US" b="1" i="1" dirty="0">
                <a:latin typeface="Times New Roman" panose="02020603050405020304" pitchFamily="18" charset="0"/>
                <a:cs typeface="Times New Roman" panose="02020603050405020304" pitchFamily="18" charset="0"/>
              </a:rPr>
              <a:t>/s) symbol rate and never be less than 370 kHz when transmitting at 2 </a:t>
            </a:r>
            <a:r>
              <a:rPr lang="en-US" b="1" i="1" dirty="0" err="1">
                <a:latin typeface="Times New Roman" panose="02020603050405020304" pitchFamily="18" charset="0"/>
                <a:cs typeface="Times New Roman" panose="02020603050405020304" pitchFamily="18" charset="0"/>
              </a:rPr>
              <a:t>Msym</a:t>
            </a:r>
            <a:r>
              <a:rPr lang="en-US" b="1" i="1" dirty="0">
                <a:latin typeface="Times New Roman" panose="02020603050405020304" pitchFamily="18" charset="0"/>
                <a:cs typeface="Times New Roman" panose="02020603050405020304" pitchFamily="18" charset="0"/>
              </a:rPr>
              <a:t>/s symbol rate</a:t>
            </a:r>
          </a:p>
          <a:p>
            <a:pPr marL="76200" indent="0">
              <a:buNone/>
            </a:pPr>
            <a:endParaRPr lang="en-US" dirty="0" smtClean="0"/>
          </a:p>
        </p:txBody>
      </p:sp>
      <p:pic>
        <p:nvPicPr>
          <p:cNvPr id="5" name="Picture 4"/>
          <p:cNvPicPr>
            <a:picLocks noChangeAspect="1"/>
          </p:cNvPicPr>
          <p:nvPr/>
        </p:nvPicPr>
        <p:blipFill>
          <a:blip r:embed="rId2"/>
          <a:stretch>
            <a:fillRect/>
          </a:stretch>
        </p:blipFill>
        <p:spPr>
          <a:xfrm>
            <a:off x="9109494" y="79560"/>
            <a:ext cx="3082506" cy="1683298"/>
          </a:xfrm>
          <a:prstGeom prst="rect">
            <a:avLst/>
          </a:prstGeom>
        </p:spPr>
      </p:pic>
    </p:spTree>
    <p:extLst>
      <p:ext uri="{BB962C8B-B14F-4D97-AF65-F5344CB8AC3E}">
        <p14:creationId xmlns:p14="http://schemas.microsoft.com/office/powerpoint/2010/main" val="32978629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1"/>
            <a:ext cx="10972800" cy="6340416"/>
          </a:xfrm>
        </p:spPr>
        <p:txBody>
          <a:bodyPr anchor="ctr">
            <a:normAutofit/>
          </a:bodyPr>
          <a:lstStyle/>
          <a:p>
            <a:pPr algn="ctr"/>
            <a:r>
              <a:rPr lang="en-US" sz="6000" dirty="0">
                <a:latin typeface="Bodoni MT Black" panose="02070A03080606020203" pitchFamily="18" charset="0"/>
              </a:rPr>
              <a:t>Power</a:t>
            </a:r>
          </a:p>
        </p:txBody>
      </p:sp>
    </p:spTree>
    <p:extLst>
      <p:ext uri="{BB962C8B-B14F-4D97-AF65-F5344CB8AC3E}">
        <p14:creationId xmlns:p14="http://schemas.microsoft.com/office/powerpoint/2010/main" val="2343567599"/>
      </p:ext>
    </p:extLst>
  </p:cSld>
  <p:clrMapOvr>
    <a:overrideClrMapping bg1="lt1" tx1="dk1" bg2="dk2" tx2="lt2" accent1="accent1" accent2="accent2" accent3="accent3" accent4="accent4" accent5="accent5" accent6="accent6" hlink="hlink" folHlink="folHlink"/>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a:t>
            </a:r>
            <a:endParaRPr lang="en-US" dirty="0"/>
          </a:p>
        </p:txBody>
      </p:sp>
      <p:sp>
        <p:nvSpPr>
          <p:cNvPr id="3" name="Text Placeholder 2"/>
          <p:cNvSpPr>
            <a:spLocks noGrp="1"/>
          </p:cNvSpPr>
          <p:nvPr>
            <p:ph type="body" idx="1"/>
          </p:nvPr>
        </p:nvSpPr>
        <p:spPr/>
        <p:txBody>
          <a:bodyPr/>
          <a:lstStyle/>
          <a:p>
            <a:r>
              <a:rPr lang="en-US" b="1" dirty="0" smtClean="0"/>
              <a:t>Maximum </a:t>
            </a:r>
            <a:r>
              <a:rPr lang="en-US" b="1" dirty="0"/>
              <a:t>power</a:t>
            </a:r>
            <a:r>
              <a:rPr lang="en-US" dirty="0"/>
              <a:t> setting shall be between 0.01 </a:t>
            </a:r>
            <a:r>
              <a:rPr lang="en-US" dirty="0" err="1"/>
              <a:t>mW</a:t>
            </a:r>
            <a:r>
              <a:rPr lang="en-US" dirty="0"/>
              <a:t> (-20 </a:t>
            </a:r>
            <a:r>
              <a:rPr lang="en-US" dirty="0" err="1"/>
              <a:t>dBm</a:t>
            </a:r>
            <a:r>
              <a:rPr lang="en-US" dirty="0"/>
              <a:t>) and 100 </a:t>
            </a:r>
            <a:r>
              <a:rPr lang="en-US" dirty="0" err="1"/>
              <a:t>mW</a:t>
            </a:r>
            <a:r>
              <a:rPr lang="en-US" dirty="0"/>
              <a:t> (+20 </a:t>
            </a:r>
            <a:r>
              <a:rPr lang="en-US" dirty="0" err="1"/>
              <a:t>dBm</a:t>
            </a:r>
            <a:r>
              <a:rPr lang="en-US" dirty="0" smtClean="0"/>
              <a:t>).</a:t>
            </a:r>
          </a:p>
          <a:p>
            <a:r>
              <a:rPr lang="en-US" dirty="0" smtClean="0"/>
              <a:t>Using </a:t>
            </a:r>
            <a:r>
              <a:rPr lang="en-US" dirty="0"/>
              <a:t>high transmit power in use cases where short </a:t>
            </a:r>
            <a:r>
              <a:rPr lang="en-US" dirty="0" smtClean="0"/>
              <a:t>ranges </a:t>
            </a:r>
            <a:r>
              <a:rPr lang="en-US" dirty="0"/>
              <a:t>could </a:t>
            </a:r>
            <a:r>
              <a:rPr lang="en-US" dirty="0" smtClean="0"/>
              <a:t>cause the remote </a:t>
            </a:r>
            <a:r>
              <a:rPr lang="en-US" dirty="0"/>
              <a:t>device to be saturated and result in </a:t>
            </a:r>
            <a:r>
              <a:rPr lang="en-US" b="1" dirty="0"/>
              <a:t>link </a:t>
            </a:r>
            <a:r>
              <a:rPr lang="en-US" b="1" dirty="0" smtClean="0"/>
              <a:t>failure, </a:t>
            </a:r>
            <a:r>
              <a:rPr lang="en-US" dirty="0" smtClean="0"/>
              <a:t>this can be controlled by </a:t>
            </a:r>
            <a:r>
              <a:rPr lang="en-US" b="1" dirty="0"/>
              <a:t>LE Power Control Request </a:t>
            </a:r>
            <a:r>
              <a:rPr lang="en-US" b="1" dirty="0" smtClean="0"/>
              <a:t>feature:</a:t>
            </a:r>
          </a:p>
          <a:p>
            <a:pPr lvl="1">
              <a:buFont typeface="Wingdings" panose="05000000000000000000" pitchFamily="2" charset="2"/>
              <a:buChar char="Ø"/>
            </a:pPr>
            <a:r>
              <a:rPr lang="en-US" b="1" dirty="0"/>
              <a:t>RSSI Monitoring at the Receiver:</a:t>
            </a:r>
            <a:r>
              <a:rPr lang="en-US" dirty="0"/>
              <a:t> The </a:t>
            </a:r>
            <a:r>
              <a:rPr lang="en-US" b="1" dirty="0" smtClean="0"/>
              <a:t>Rx</a:t>
            </a:r>
            <a:r>
              <a:rPr lang="en-US" dirty="0" smtClean="0"/>
              <a:t>, </a:t>
            </a:r>
            <a:r>
              <a:rPr lang="en-US" dirty="0"/>
              <a:t>measures the Received Signal Strength Indicator </a:t>
            </a:r>
            <a:r>
              <a:rPr lang="en-US" b="1" dirty="0"/>
              <a:t>(RSSI) </a:t>
            </a:r>
            <a:r>
              <a:rPr lang="en-US" dirty="0"/>
              <a:t>to determine how strong the incoming signal </a:t>
            </a:r>
            <a:r>
              <a:rPr lang="en-US" dirty="0" smtClean="0"/>
              <a:t>is (-</a:t>
            </a:r>
            <a:r>
              <a:rPr lang="en-US" dirty="0"/>
              <a:t>30 to -</a:t>
            </a:r>
            <a:r>
              <a:rPr lang="en-US" dirty="0" smtClean="0"/>
              <a:t>55)</a:t>
            </a:r>
            <a:r>
              <a:rPr lang="en-US" dirty="0" err="1" smtClean="0"/>
              <a:t>dbm</a:t>
            </a:r>
            <a:endParaRPr lang="en-US" dirty="0" smtClean="0"/>
          </a:p>
          <a:p>
            <a:pPr lvl="1">
              <a:buFont typeface="Wingdings" panose="05000000000000000000" pitchFamily="2" charset="2"/>
              <a:buChar char="Ø"/>
            </a:pPr>
            <a:r>
              <a:rPr lang="en-US" dirty="0" smtClean="0"/>
              <a:t>If </a:t>
            </a:r>
            <a:r>
              <a:rPr lang="en-US" dirty="0"/>
              <a:t>the </a:t>
            </a:r>
            <a:r>
              <a:rPr lang="en-US" b="1" dirty="0"/>
              <a:t>RSSI</a:t>
            </a:r>
            <a:r>
              <a:rPr lang="en-US" dirty="0"/>
              <a:t> is too high (meaning the devices are </a:t>
            </a:r>
            <a:r>
              <a:rPr lang="en-US" dirty="0" smtClean="0"/>
              <a:t>close), </a:t>
            </a:r>
            <a:r>
              <a:rPr lang="en-US" dirty="0"/>
              <a:t>the receiver sends a Power Control Request asking the transmitter to reduce its </a:t>
            </a:r>
            <a:r>
              <a:rPr lang="en-US" dirty="0" smtClean="0"/>
              <a:t>power</a:t>
            </a:r>
          </a:p>
          <a:p>
            <a:pPr lvl="1">
              <a:buFont typeface="Wingdings" panose="05000000000000000000" pitchFamily="2" charset="2"/>
              <a:buChar char="Ø"/>
            </a:pPr>
            <a:r>
              <a:rPr lang="en-US" dirty="0" smtClean="0"/>
              <a:t>Transmitter </a:t>
            </a:r>
            <a:r>
              <a:rPr lang="en-US" dirty="0"/>
              <a:t>then adjusts its output power accordingly, maintaining a stable link while avoiding excessive power, saving energy, and reducing interference to nearby devices</a:t>
            </a:r>
            <a:r>
              <a:rPr lang="en-US" dirty="0" smtClean="0"/>
              <a:t>.</a:t>
            </a:r>
          </a:p>
          <a:p>
            <a:pPr>
              <a:buFont typeface="Arial" panose="020B0604020202020204" pitchFamily="34" charset="0"/>
              <a:buChar char="•"/>
            </a:pPr>
            <a:r>
              <a:rPr lang="en-US" dirty="0"/>
              <a:t>T</a:t>
            </a:r>
            <a:r>
              <a:rPr lang="en-US" dirty="0" smtClean="0"/>
              <a:t>he </a:t>
            </a:r>
            <a:r>
              <a:rPr lang="en-US" dirty="0"/>
              <a:t>difference between any two adjacent transmit power levels supported by the radio design should be no greater than </a:t>
            </a:r>
            <a:r>
              <a:rPr lang="en-US" b="1" dirty="0"/>
              <a:t>8 </a:t>
            </a:r>
            <a:r>
              <a:rPr lang="en-US" b="1" dirty="0" err="1"/>
              <a:t>dB.</a:t>
            </a:r>
            <a:endParaRPr lang="en-US" b="1" dirty="0"/>
          </a:p>
        </p:txBody>
      </p:sp>
      <p:sp>
        <p:nvSpPr>
          <p:cNvPr id="4" name="Text Placeholder 3"/>
          <p:cNvSpPr>
            <a:spLocks noGrp="1"/>
          </p:cNvSpPr>
          <p:nvPr>
            <p:ph type="body" idx="2"/>
          </p:nvPr>
        </p:nvSpPr>
        <p:spPr/>
        <p:txBody>
          <a:bodyPr>
            <a:normAutofit fontScale="70000" lnSpcReduction="20000"/>
          </a:bodyPr>
          <a:lstStyle/>
          <a:p>
            <a:endParaRPr lang="en-US" dirty="0"/>
          </a:p>
        </p:txBody>
      </p:sp>
    </p:spTree>
    <p:extLst>
      <p:ext uri="{BB962C8B-B14F-4D97-AF65-F5344CB8AC3E}">
        <p14:creationId xmlns:p14="http://schemas.microsoft.com/office/powerpoint/2010/main" val="139752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55319"/>
            <a:ext cx="10972800" cy="5524501"/>
          </a:xfrm>
        </p:spPr>
        <p:txBody>
          <a:bodyPr anchor="ctr">
            <a:noAutofit/>
          </a:bodyPr>
          <a:lstStyle/>
          <a:p>
            <a:pPr algn="ctr"/>
            <a:r>
              <a:rPr lang="en-US" sz="6000" dirty="0">
                <a:latin typeface="Bodoni MT Black" panose="02070A03080606020203" pitchFamily="18" charset="0"/>
              </a:rPr>
              <a:t>Spurious emissions and Radio frequency tolerance</a:t>
            </a:r>
            <a:br>
              <a:rPr lang="en-US" sz="6000" dirty="0">
                <a:latin typeface="Bodoni MT Black" panose="02070A03080606020203" pitchFamily="18" charset="0"/>
              </a:rPr>
            </a:br>
            <a:r>
              <a:rPr lang="en-US" sz="6000" dirty="0">
                <a:latin typeface="Bodoni MT Black" panose="02070A03080606020203" pitchFamily="18" charset="0"/>
              </a:rPr>
              <a:t/>
            </a:r>
            <a:br>
              <a:rPr lang="en-US" sz="6000" dirty="0">
                <a:latin typeface="Bodoni MT Black" panose="02070A03080606020203" pitchFamily="18" charset="0"/>
              </a:rPr>
            </a:br>
            <a:endParaRPr lang="en-US" sz="6000" dirty="0">
              <a:latin typeface="Bodoni MT Black" panose="02070A03080606020203" pitchFamily="18" charset="0"/>
            </a:endParaRPr>
          </a:p>
        </p:txBody>
      </p:sp>
    </p:spTree>
    <p:extLst>
      <p:ext uri="{BB962C8B-B14F-4D97-AF65-F5344CB8AC3E}">
        <p14:creationId xmlns:p14="http://schemas.microsoft.com/office/powerpoint/2010/main" val="14195769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462E58-BA28-0E1E-182D-D62B4A3DC8B5}"/>
              </a:ext>
            </a:extLst>
          </p:cNvPr>
          <p:cNvSpPr>
            <a:spLocks noGrp="1"/>
          </p:cNvSpPr>
          <p:nvPr>
            <p:ph type="title"/>
          </p:nvPr>
        </p:nvSpPr>
        <p:spPr>
          <a:xfrm>
            <a:off x="609600" y="251926"/>
            <a:ext cx="10972800" cy="1005840"/>
          </a:xfrm>
        </p:spPr>
        <p:txBody>
          <a:bodyPr/>
          <a:lstStyle/>
          <a:p>
            <a:r>
              <a:rPr lang="en-US" dirty="0"/>
              <a:t>Table of content </a:t>
            </a:r>
          </a:p>
        </p:txBody>
      </p:sp>
      <p:sp>
        <p:nvSpPr>
          <p:cNvPr id="3" name="Text Placeholder 2">
            <a:extLst>
              <a:ext uri="{FF2B5EF4-FFF2-40B4-BE49-F238E27FC236}">
                <a16:creationId xmlns:a16="http://schemas.microsoft.com/office/drawing/2014/main" xmlns="" id="{6D03333D-1225-2C41-CA6A-2FAC02F07F80}"/>
              </a:ext>
            </a:extLst>
          </p:cNvPr>
          <p:cNvSpPr>
            <a:spLocks noGrp="1"/>
          </p:cNvSpPr>
          <p:nvPr>
            <p:ph type="body" idx="1"/>
          </p:nvPr>
        </p:nvSpPr>
        <p:spPr/>
        <p:txBody>
          <a:bodyPr/>
          <a:lstStyle/>
          <a:p>
            <a:r>
              <a:rPr lang="en-US" b="1" dirty="0"/>
              <a:t>Spurious emissions</a:t>
            </a:r>
          </a:p>
          <a:p>
            <a:pPr lvl="1">
              <a:buFont typeface="Arial" panose="020B0604020202020204" pitchFamily="34" charset="0"/>
              <a:buChar char="•"/>
            </a:pPr>
            <a:r>
              <a:rPr lang="en-US" sz="1800" dirty="0"/>
              <a:t>What are spurious emissions?</a:t>
            </a:r>
          </a:p>
          <a:p>
            <a:pPr lvl="1">
              <a:buFont typeface="Arial" panose="020B0604020202020204" pitchFamily="34" charset="0"/>
              <a:buChar char="•"/>
            </a:pPr>
            <a:r>
              <a:rPr lang="en-US" sz="1800" dirty="0"/>
              <a:t>Why are they a problem?</a:t>
            </a:r>
          </a:p>
          <a:p>
            <a:pPr lvl="1">
              <a:buFont typeface="Arial" panose="020B0604020202020204" pitchFamily="34" charset="0"/>
              <a:buChar char="•"/>
            </a:pPr>
            <a:r>
              <a:rPr lang="en-US" sz="1800" dirty="0"/>
              <a:t>Where do spurs come from?</a:t>
            </a:r>
          </a:p>
          <a:p>
            <a:pPr lvl="1">
              <a:buFont typeface="Arial" panose="020B0604020202020204" pitchFamily="34" charset="0"/>
              <a:buChar char="•"/>
            </a:pPr>
            <a:r>
              <a:rPr lang="en-US" sz="1800" dirty="0"/>
              <a:t>Introduced solutions.</a:t>
            </a:r>
          </a:p>
          <a:p>
            <a:r>
              <a:rPr lang="en-US" b="1" dirty="0"/>
              <a:t>Radio frequency tolerance</a:t>
            </a:r>
          </a:p>
          <a:p>
            <a:pPr lvl="1">
              <a:buFont typeface="Arial" panose="020B0604020202020204" pitchFamily="34" charset="0"/>
              <a:buChar char="•"/>
            </a:pPr>
            <a:r>
              <a:rPr lang="en-US" sz="1800" dirty="0"/>
              <a:t>What is RF tolerance?</a:t>
            </a:r>
          </a:p>
          <a:p>
            <a:pPr lvl="1">
              <a:buFont typeface="Arial" panose="020B0604020202020204" pitchFamily="34" charset="0"/>
              <a:buChar char="•"/>
            </a:pPr>
            <a:r>
              <a:rPr lang="en-US" sz="1800" dirty="0"/>
              <a:t>What is the problem?</a:t>
            </a:r>
          </a:p>
          <a:p>
            <a:pPr lvl="1">
              <a:buFont typeface="Arial" panose="020B0604020202020204" pitchFamily="34" charset="0"/>
              <a:buChar char="•"/>
            </a:pPr>
            <a:r>
              <a:rPr lang="en-US" sz="1800" dirty="0"/>
              <a:t>Frequency drift rate.</a:t>
            </a:r>
          </a:p>
          <a:p>
            <a:pPr lvl="1">
              <a:buFont typeface="Arial" panose="020B0604020202020204" pitchFamily="34" charset="0"/>
              <a:buChar char="•"/>
            </a:pPr>
            <a:r>
              <a:rPr lang="en-US" sz="1800" dirty="0"/>
              <a:t>Introduced solutions.</a:t>
            </a:r>
          </a:p>
          <a:p>
            <a:pPr lvl="1"/>
            <a:endParaRPr lang="en-US" dirty="0"/>
          </a:p>
        </p:txBody>
      </p:sp>
    </p:spTree>
    <p:extLst>
      <p:ext uri="{BB962C8B-B14F-4D97-AF65-F5344CB8AC3E}">
        <p14:creationId xmlns:p14="http://schemas.microsoft.com/office/powerpoint/2010/main" val="16816498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61256"/>
            <a:ext cx="10972800" cy="1005840"/>
          </a:xfrm>
        </p:spPr>
        <p:txBody>
          <a:bodyPr/>
          <a:lstStyle/>
          <a:p>
            <a:r>
              <a:rPr lang="en-US" dirty="0"/>
              <a:t>Spurious Emissions(spurs)</a:t>
            </a:r>
          </a:p>
        </p:txBody>
      </p:sp>
      <p:sp>
        <p:nvSpPr>
          <p:cNvPr id="3" name="Text Placeholder 2"/>
          <p:cNvSpPr>
            <a:spLocks noGrp="1"/>
          </p:cNvSpPr>
          <p:nvPr>
            <p:ph type="body" idx="1"/>
          </p:nvPr>
        </p:nvSpPr>
        <p:spPr>
          <a:xfrm>
            <a:off x="609600" y="1484803"/>
            <a:ext cx="5763208" cy="4443558"/>
          </a:xfrm>
        </p:spPr>
        <p:txBody>
          <a:bodyPr/>
          <a:lstStyle/>
          <a:p>
            <a:pPr>
              <a:buFont typeface="Wingdings" panose="05000000000000000000" pitchFamily="2" charset="2"/>
              <a:buChar char="q"/>
            </a:pPr>
            <a:r>
              <a:rPr lang="en-US" b="1" dirty="0"/>
              <a:t>What are Spurious Emissions?</a:t>
            </a:r>
            <a:endParaRPr lang="en-US" dirty="0"/>
          </a:p>
          <a:p>
            <a:pPr marL="76200" indent="0">
              <a:buNone/>
            </a:pPr>
            <a:r>
              <a:rPr lang="en-US" sz="1800" dirty="0"/>
              <a:t>Spurious emissions are unintentional, unwanted radio frequency signals </a:t>
            </a:r>
            <a:r>
              <a:rPr lang="en-US" sz="2000" dirty="0"/>
              <a:t>outside the necessary bandwidth</a:t>
            </a:r>
            <a:r>
              <a:rPr lang="en-US" sz="1600" dirty="0"/>
              <a:t>.</a:t>
            </a:r>
            <a:endParaRPr lang="ar-EG" sz="1800" dirty="0"/>
          </a:p>
          <a:p>
            <a:pPr marL="76200" indent="0">
              <a:buNone/>
            </a:pPr>
            <a:r>
              <a:rPr lang="en-US" sz="1800" dirty="0"/>
              <a:t> </a:t>
            </a:r>
            <a:r>
              <a:rPr lang="en-US" sz="1800" dirty="0">
                <a:solidFill>
                  <a:srgbClr val="C00000"/>
                </a:solidFill>
              </a:rPr>
              <a:t>“Unwanted </a:t>
            </a:r>
            <a:r>
              <a:rPr lang="en-US" sz="2000" i="1" dirty="0">
                <a:solidFill>
                  <a:srgbClr val="C00000"/>
                </a:solidFill>
              </a:rPr>
              <a:t>radio noise pollution</a:t>
            </a:r>
            <a:r>
              <a:rPr lang="en-US" sz="1800" i="1" dirty="0">
                <a:solidFill>
                  <a:srgbClr val="C00000"/>
                </a:solidFill>
              </a:rPr>
              <a:t>”</a:t>
            </a:r>
          </a:p>
          <a:p>
            <a:pPr marL="76200" indent="0">
              <a:buNone/>
            </a:pPr>
            <a:endParaRPr lang="en-US" sz="2000" b="1" dirty="0">
              <a:solidFill>
                <a:schemeClr val="tx1"/>
              </a:solidFill>
            </a:endParaRPr>
          </a:p>
          <a:p>
            <a:pPr>
              <a:buFont typeface="Wingdings" panose="05000000000000000000" pitchFamily="2" charset="2"/>
              <a:buChar char="q"/>
            </a:pPr>
            <a:r>
              <a:rPr lang="en-US" b="1" dirty="0">
                <a:solidFill>
                  <a:schemeClr val="tx1"/>
                </a:solidFill>
              </a:rPr>
              <a:t>Why are they a problem?</a:t>
            </a:r>
          </a:p>
          <a:p>
            <a:r>
              <a:rPr lang="en-US" sz="1800" dirty="0">
                <a:solidFill>
                  <a:schemeClr val="tx1"/>
                </a:solidFill>
              </a:rPr>
              <a:t>Inefficient use of spectrum.</a:t>
            </a:r>
          </a:p>
          <a:p>
            <a:r>
              <a:rPr lang="en-US" sz="1800" dirty="0">
                <a:solidFill>
                  <a:schemeClr val="tx1"/>
                </a:solidFill>
              </a:rPr>
              <a:t>Interference with other devices.  </a:t>
            </a:r>
          </a:p>
          <a:p>
            <a:r>
              <a:rPr lang="en-US" sz="1800" dirty="0">
                <a:solidFill>
                  <a:schemeClr val="tx1"/>
                </a:solidFill>
              </a:rPr>
              <a:t>Reduced battery life (wasted energy). </a:t>
            </a:r>
          </a:p>
          <a:p>
            <a:r>
              <a:rPr lang="en-US" sz="1800" dirty="0">
                <a:solidFill>
                  <a:schemeClr val="tx1"/>
                </a:solidFill>
              </a:rPr>
              <a:t>Compliance to regulations.  </a:t>
            </a:r>
          </a:p>
          <a:p>
            <a:endParaRPr lang="en-US" sz="1600" dirty="0">
              <a:solidFill>
                <a:schemeClr val="tx1"/>
              </a:solidFill>
            </a:endParaRPr>
          </a:p>
        </p:txBody>
      </p:sp>
      <p:pic>
        <p:nvPicPr>
          <p:cNvPr id="5" name="Picture 4" descr="Spurious emission in TX output. | Download Scientific Diagram">
            <a:extLst>
              <a:ext uri="{FF2B5EF4-FFF2-40B4-BE49-F238E27FC236}">
                <a16:creationId xmlns:a16="http://schemas.microsoft.com/office/drawing/2014/main" xmlns="" id="{0BFB59CC-26C7-4747-C137-6ED2BEB284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72808" y="1670797"/>
            <a:ext cx="5021137" cy="3516405"/>
          </a:xfrm>
          <a:prstGeom prst="rect">
            <a:avLst/>
          </a:prstGeom>
          <a:noFill/>
          <a:ln>
            <a:noFill/>
          </a:ln>
        </p:spPr>
      </p:pic>
    </p:spTree>
    <p:extLst>
      <p:ext uri="{BB962C8B-B14F-4D97-AF65-F5344CB8AC3E}">
        <p14:creationId xmlns:p14="http://schemas.microsoft.com/office/powerpoint/2010/main" val="334098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AD2B54-6DBF-39D2-E87F-61C4B507E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C341373-38E0-D676-3595-1C42E4E9C839}"/>
              </a:ext>
            </a:extLst>
          </p:cNvPr>
          <p:cNvSpPr>
            <a:spLocks noGrp="1"/>
          </p:cNvSpPr>
          <p:nvPr>
            <p:ph type="title"/>
          </p:nvPr>
        </p:nvSpPr>
        <p:spPr>
          <a:xfrm>
            <a:off x="609600" y="261256"/>
            <a:ext cx="10972800" cy="1005840"/>
          </a:xfrm>
        </p:spPr>
        <p:txBody>
          <a:bodyPr/>
          <a:lstStyle/>
          <a:p>
            <a:r>
              <a:rPr lang="en-US" dirty="0"/>
              <a:t>Spurious Emissions(spurs)</a:t>
            </a:r>
          </a:p>
        </p:txBody>
      </p:sp>
      <p:sp>
        <p:nvSpPr>
          <p:cNvPr id="3" name="Text Placeholder 2">
            <a:extLst>
              <a:ext uri="{FF2B5EF4-FFF2-40B4-BE49-F238E27FC236}">
                <a16:creationId xmlns:a16="http://schemas.microsoft.com/office/drawing/2014/main" xmlns="" id="{96B590F4-1D6F-45AD-90B7-2B57C1D122F6}"/>
              </a:ext>
            </a:extLst>
          </p:cNvPr>
          <p:cNvSpPr>
            <a:spLocks noGrp="1"/>
          </p:cNvSpPr>
          <p:nvPr>
            <p:ph type="body" idx="1"/>
          </p:nvPr>
        </p:nvSpPr>
        <p:spPr>
          <a:xfrm>
            <a:off x="609600" y="1456809"/>
            <a:ext cx="9019592" cy="4813361"/>
          </a:xfrm>
        </p:spPr>
        <p:txBody>
          <a:bodyPr/>
          <a:lstStyle/>
          <a:p>
            <a:pPr>
              <a:buFont typeface="Wingdings" panose="05000000000000000000" pitchFamily="2" charset="2"/>
              <a:buChar char="q"/>
            </a:pPr>
            <a:r>
              <a:rPr lang="en-US" b="1" dirty="0">
                <a:solidFill>
                  <a:schemeClr val="tx1"/>
                </a:solidFill>
              </a:rPr>
              <a:t>Where do spurs come from?</a:t>
            </a:r>
          </a:p>
          <a:p>
            <a:pPr>
              <a:lnSpc>
                <a:spcPct val="150000"/>
              </a:lnSpc>
              <a:buFont typeface="Wingdings" panose="05000000000000000000" pitchFamily="2" charset="2"/>
              <a:buChar char="Ø"/>
            </a:pPr>
            <a:r>
              <a:rPr lang="en-US" sz="2000" b="1" dirty="0">
                <a:solidFill>
                  <a:schemeClr val="tx1"/>
                </a:solidFill>
              </a:rPr>
              <a:t>In-Band spurious emissions.  (within the 2.400 - 2.4835 GHz band)</a:t>
            </a:r>
          </a:p>
          <a:p>
            <a:pPr lvl="1">
              <a:buFont typeface="Arial" panose="020B0604020202020204" pitchFamily="34" charset="0"/>
              <a:buChar char="•"/>
            </a:pPr>
            <a:r>
              <a:rPr lang="en-US" dirty="0">
                <a:solidFill>
                  <a:schemeClr val="tx1"/>
                </a:solidFill>
              </a:rPr>
              <a:t>Due to signal spread resulting from modulation.</a:t>
            </a:r>
          </a:p>
          <a:p>
            <a:pPr marL="76200" indent="0">
              <a:buNone/>
            </a:pPr>
            <a:r>
              <a:rPr lang="en-US" sz="2000" dirty="0">
                <a:solidFill>
                  <a:schemeClr val="tx1"/>
                </a:solidFill>
              </a:rPr>
              <a:t>              </a:t>
            </a:r>
            <a:r>
              <a:rPr lang="en-US" sz="2000" i="1" dirty="0">
                <a:solidFill>
                  <a:srgbClr val="C00000"/>
                </a:solidFill>
              </a:rPr>
              <a:t>(sharp transitions). </a:t>
            </a:r>
          </a:p>
          <a:p>
            <a:pPr lvl="1">
              <a:buFont typeface="Arial" panose="020B0604020202020204" pitchFamily="34" charset="0"/>
              <a:buChar char="•"/>
            </a:pPr>
            <a:r>
              <a:rPr lang="en-US" dirty="0">
                <a:solidFill>
                  <a:schemeClr val="tx1"/>
                </a:solidFill>
              </a:rPr>
              <a:t>PLL phase noise.</a:t>
            </a:r>
          </a:p>
          <a:p>
            <a:pPr marL="76200" indent="0">
              <a:lnSpc>
                <a:spcPct val="150000"/>
              </a:lnSpc>
              <a:buNone/>
            </a:pPr>
            <a:endParaRPr lang="en-US" sz="2800" b="1" dirty="0"/>
          </a:p>
          <a:p>
            <a:pPr marL="76200" indent="0">
              <a:buNone/>
            </a:pPr>
            <a:r>
              <a:rPr lang="en-US" dirty="0">
                <a:solidFill>
                  <a:schemeClr val="tx1"/>
                </a:solidFill>
                <a:latin typeface="Aptos" panose="020B0004020202020204" pitchFamily="34" charset="0"/>
                <a:cs typeface="Arial" panose="020B0604020202020204" pitchFamily="34" charset="0"/>
              </a:rPr>
              <a:t>    </a:t>
            </a:r>
            <a:endParaRPr lang="en-US" dirty="0">
              <a:solidFill>
                <a:schemeClr val="tx1"/>
              </a:solidFill>
            </a:endParaRPr>
          </a:p>
        </p:txBody>
      </p:sp>
      <p:pic>
        <p:nvPicPr>
          <p:cNvPr id="4" name="Picture 3" descr="A diagram of a signal&#10;&#10;AI-generated content may be incorrect.">
            <a:extLst>
              <a:ext uri="{FF2B5EF4-FFF2-40B4-BE49-F238E27FC236}">
                <a16:creationId xmlns:a16="http://schemas.microsoft.com/office/drawing/2014/main" xmlns="" id="{2680C795-1BDD-0FA1-96E3-3ABB1029856C}"/>
              </a:ext>
            </a:extLst>
          </p:cNvPr>
          <p:cNvPicPr>
            <a:picLocks noChangeAspect="1"/>
          </p:cNvPicPr>
          <p:nvPr/>
        </p:nvPicPr>
        <p:blipFill>
          <a:blip r:embed="rId2"/>
          <a:srcRect l="7692" t="41190" r="1654"/>
          <a:stretch>
            <a:fillRect/>
          </a:stretch>
        </p:blipFill>
        <p:spPr>
          <a:xfrm>
            <a:off x="609600" y="3949179"/>
            <a:ext cx="5388077" cy="1899706"/>
          </a:xfrm>
          <a:prstGeom prst="rect">
            <a:avLst/>
          </a:prstGeom>
        </p:spPr>
      </p:pic>
      <p:pic>
        <p:nvPicPr>
          <p:cNvPr id="7" name="Picture 6">
            <a:extLst>
              <a:ext uri="{FF2B5EF4-FFF2-40B4-BE49-F238E27FC236}">
                <a16:creationId xmlns:a16="http://schemas.microsoft.com/office/drawing/2014/main" xmlns="" id="{ECF0471B-C6AE-6782-F873-DE8F6940DD50}"/>
              </a:ext>
            </a:extLst>
          </p:cNvPr>
          <p:cNvPicPr>
            <a:picLocks noChangeAspect="1"/>
          </p:cNvPicPr>
          <p:nvPr/>
        </p:nvPicPr>
        <p:blipFill>
          <a:blip r:embed="rId3"/>
          <a:srcRect l="-20299" r="20299" b="17217"/>
          <a:stretch>
            <a:fillRect/>
          </a:stretch>
        </p:blipFill>
        <p:spPr>
          <a:xfrm>
            <a:off x="5119396" y="4258706"/>
            <a:ext cx="6569009" cy="1280652"/>
          </a:xfrm>
          <a:prstGeom prst="rect">
            <a:avLst/>
          </a:prstGeom>
        </p:spPr>
      </p:pic>
    </p:spTree>
    <p:extLst>
      <p:ext uri="{BB962C8B-B14F-4D97-AF65-F5344CB8AC3E}">
        <p14:creationId xmlns:p14="http://schemas.microsoft.com/office/powerpoint/2010/main" val="192062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BE55EA4-A3EF-FFC7-4233-C018BE8F7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D73B827-5375-18F6-7DBF-6A01692562F7}"/>
              </a:ext>
            </a:extLst>
          </p:cNvPr>
          <p:cNvSpPr>
            <a:spLocks noGrp="1"/>
          </p:cNvSpPr>
          <p:nvPr>
            <p:ph type="title"/>
          </p:nvPr>
        </p:nvSpPr>
        <p:spPr>
          <a:xfrm>
            <a:off x="609600" y="261256"/>
            <a:ext cx="10972800" cy="1005840"/>
          </a:xfrm>
        </p:spPr>
        <p:txBody>
          <a:bodyPr/>
          <a:lstStyle/>
          <a:p>
            <a:r>
              <a:rPr lang="en-US" dirty="0"/>
              <a:t>Spurious Emissions(spurs)</a:t>
            </a:r>
          </a:p>
        </p:txBody>
      </p:sp>
      <p:sp>
        <p:nvSpPr>
          <p:cNvPr id="3" name="Text Placeholder 2">
            <a:extLst>
              <a:ext uri="{FF2B5EF4-FFF2-40B4-BE49-F238E27FC236}">
                <a16:creationId xmlns:a16="http://schemas.microsoft.com/office/drawing/2014/main" xmlns="" id="{F0C40DA4-BCB5-C10C-5A8A-9DF78848CD55}"/>
              </a:ext>
            </a:extLst>
          </p:cNvPr>
          <p:cNvSpPr>
            <a:spLocks noGrp="1"/>
          </p:cNvSpPr>
          <p:nvPr>
            <p:ph type="body" idx="1"/>
          </p:nvPr>
        </p:nvSpPr>
        <p:spPr>
          <a:xfrm>
            <a:off x="609600" y="1456809"/>
            <a:ext cx="9019592" cy="4813361"/>
          </a:xfrm>
        </p:spPr>
        <p:txBody>
          <a:bodyPr/>
          <a:lstStyle/>
          <a:p>
            <a:pPr>
              <a:buFont typeface="Wingdings" panose="05000000000000000000" pitchFamily="2" charset="2"/>
              <a:buChar char="q"/>
            </a:pPr>
            <a:r>
              <a:rPr lang="en-US" b="1" dirty="0">
                <a:solidFill>
                  <a:schemeClr val="tx1"/>
                </a:solidFill>
              </a:rPr>
              <a:t>Where do spurs come from?</a:t>
            </a:r>
          </a:p>
          <a:p>
            <a:pPr>
              <a:lnSpc>
                <a:spcPct val="150000"/>
              </a:lnSpc>
              <a:buFont typeface="Wingdings" panose="05000000000000000000" pitchFamily="2" charset="2"/>
              <a:buChar char="Ø"/>
            </a:pPr>
            <a:r>
              <a:rPr lang="en-US" sz="2000" b="1" dirty="0">
                <a:solidFill>
                  <a:schemeClr val="tx1"/>
                </a:solidFill>
              </a:rPr>
              <a:t>Out of band spurious emissions.</a:t>
            </a:r>
          </a:p>
          <a:p>
            <a:pPr lvl="1">
              <a:buFont typeface="Arial" panose="020B0604020202020204" pitchFamily="34" charset="0"/>
              <a:buChar char="•"/>
            </a:pPr>
            <a:r>
              <a:rPr lang="en-US" dirty="0">
                <a:solidFill>
                  <a:schemeClr val="tx1"/>
                </a:solidFill>
              </a:rPr>
              <a:t>Clocking (</a:t>
            </a:r>
            <a:r>
              <a:rPr lang="en-US" i="1" dirty="0">
                <a:solidFill>
                  <a:schemeClr val="tx1"/>
                </a:solidFill>
              </a:rPr>
              <a:t>Harmonics)</a:t>
            </a:r>
            <a:r>
              <a:rPr lang="en-US" dirty="0">
                <a:solidFill>
                  <a:schemeClr val="tx1"/>
                </a:solidFill>
              </a:rPr>
              <a:t>. </a:t>
            </a:r>
          </a:p>
          <a:p>
            <a:pPr lvl="1">
              <a:buFont typeface="Arial" panose="020B0604020202020204" pitchFamily="34" charset="0"/>
              <a:buChar char="•"/>
            </a:pPr>
            <a:r>
              <a:rPr lang="en-US" dirty="0">
                <a:solidFill>
                  <a:schemeClr val="tx1"/>
                </a:solidFill>
              </a:rPr>
              <a:t>PA nonlinearities (</a:t>
            </a:r>
            <a:r>
              <a:rPr lang="en-US" i="1" dirty="0">
                <a:solidFill>
                  <a:schemeClr val="tx1"/>
                </a:solidFill>
              </a:rPr>
              <a:t>Harmonics</a:t>
            </a:r>
            <a:r>
              <a:rPr lang="en-US" dirty="0">
                <a:solidFill>
                  <a:schemeClr val="tx1"/>
                </a:solidFill>
              </a:rPr>
              <a:t>).</a:t>
            </a:r>
          </a:p>
          <a:p>
            <a:pPr lvl="1">
              <a:buFont typeface="Arial" panose="020B0604020202020204" pitchFamily="34" charset="0"/>
              <a:buChar char="•"/>
            </a:pPr>
            <a:r>
              <a:rPr lang="en-US" dirty="0">
                <a:latin typeface="Aptos" panose="020B0004020202020204" pitchFamily="34" charset="0"/>
                <a:ea typeface="Aptos" panose="020B0004020202020204" pitchFamily="34" charset="0"/>
                <a:cs typeface="Arial" panose="020B0604020202020204" pitchFamily="34" charset="0"/>
              </a:rPr>
              <a:t>Frequency Synthesizer leakage.</a:t>
            </a:r>
          </a:p>
          <a:p>
            <a:pPr lvl="1">
              <a:buFont typeface="Arial" panose="020B0604020202020204" pitchFamily="34" charset="0"/>
              <a:buChar char="•"/>
            </a:pPr>
            <a:r>
              <a:rPr lang="en-US" dirty="0"/>
              <a:t>Reference spurs.</a:t>
            </a:r>
          </a:p>
          <a:p>
            <a:pPr lvl="1">
              <a:buFont typeface="Arial" panose="020B0604020202020204" pitchFamily="34" charset="0"/>
              <a:buChar char="•"/>
            </a:pPr>
            <a:r>
              <a:rPr lang="en-US" dirty="0"/>
              <a:t>fractional-N PLL spurs.</a:t>
            </a:r>
          </a:p>
          <a:p>
            <a:pPr>
              <a:buFont typeface="Wingdings" panose="05000000000000000000" pitchFamily="2" charset="2"/>
              <a:buChar char="Ø"/>
            </a:pPr>
            <a:r>
              <a:rPr lang="en-US" sz="2000" dirty="0"/>
              <a:t>The equipment manufacturer is responsible for the ISM out-of-band spurious emissions requirements in the intended countries of sale.</a:t>
            </a:r>
            <a:r>
              <a:rPr lang="en-US" sz="2000" dirty="0">
                <a:solidFill>
                  <a:schemeClr val="tx1"/>
                </a:solidFill>
                <a:latin typeface="Aptos" panose="020B0004020202020204" pitchFamily="34" charset="0"/>
                <a:cs typeface="Arial" panose="020B0604020202020204" pitchFamily="34" charset="0"/>
              </a:rPr>
              <a:t>  </a:t>
            </a:r>
            <a:endParaRPr lang="en-US" sz="2000" dirty="0">
              <a:solidFill>
                <a:schemeClr val="tx1"/>
              </a:solidFill>
            </a:endParaRPr>
          </a:p>
        </p:txBody>
      </p:sp>
      <p:sp>
        <p:nvSpPr>
          <p:cNvPr id="5" name="AutoShape 6">
            <a:extLst>
              <a:ext uri="{FF2B5EF4-FFF2-40B4-BE49-F238E27FC236}">
                <a16:creationId xmlns:a16="http://schemas.microsoft.com/office/drawing/2014/main" xmlns="" id="{96B8B7E0-B749-B9C5-4B27-45B252BF00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6" name="Picture 8">
            <a:extLst>
              <a:ext uri="{FF2B5EF4-FFF2-40B4-BE49-F238E27FC236}">
                <a16:creationId xmlns:a16="http://schemas.microsoft.com/office/drawing/2014/main" xmlns="" id="{5C60DB45-8969-B056-0D63-735D263803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67" t="7640" r="4527" b="69313"/>
          <a:stretch>
            <a:fillRect/>
          </a:stretch>
        </p:blipFill>
        <p:spPr bwMode="auto">
          <a:xfrm>
            <a:off x="6096000" y="1877961"/>
            <a:ext cx="5643716" cy="178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491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43C24C-9DE0-86EE-8D90-09D4691D9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08059021-500A-E3FC-108B-F4D7A1C90941}"/>
              </a:ext>
            </a:extLst>
          </p:cNvPr>
          <p:cNvSpPr>
            <a:spLocks noGrp="1"/>
          </p:cNvSpPr>
          <p:nvPr>
            <p:ph type="title"/>
          </p:nvPr>
        </p:nvSpPr>
        <p:spPr>
          <a:xfrm>
            <a:off x="609600" y="261256"/>
            <a:ext cx="10972800" cy="1005840"/>
          </a:xfrm>
        </p:spPr>
        <p:txBody>
          <a:bodyPr/>
          <a:lstStyle/>
          <a:p>
            <a:r>
              <a:rPr lang="en-US" dirty="0"/>
              <a:t>Spurious Emissions(spurs)</a:t>
            </a:r>
          </a:p>
        </p:txBody>
      </p:sp>
      <p:sp>
        <p:nvSpPr>
          <p:cNvPr id="3" name="Text Placeholder 2">
            <a:extLst>
              <a:ext uri="{FF2B5EF4-FFF2-40B4-BE49-F238E27FC236}">
                <a16:creationId xmlns:a16="http://schemas.microsoft.com/office/drawing/2014/main" xmlns="" id="{6BF197B4-A9C3-FD5A-EDC7-1108570658A3}"/>
              </a:ext>
            </a:extLst>
          </p:cNvPr>
          <p:cNvSpPr>
            <a:spLocks noGrp="1"/>
          </p:cNvSpPr>
          <p:nvPr>
            <p:ph type="body" idx="1"/>
          </p:nvPr>
        </p:nvSpPr>
        <p:spPr>
          <a:xfrm>
            <a:off x="609599" y="1466142"/>
            <a:ext cx="11680723" cy="4443558"/>
          </a:xfrm>
        </p:spPr>
        <p:txBody>
          <a:bodyPr/>
          <a:lstStyle/>
          <a:p>
            <a:pPr marL="76200" indent="0">
              <a:buNone/>
            </a:pPr>
            <a:r>
              <a:rPr lang="en-US" sz="2800" b="1" dirty="0"/>
              <a:t>Introduced solutions</a:t>
            </a:r>
            <a:endParaRPr lang="en-US" sz="2800" dirty="0"/>
          </a:p>
          <a:p>
            <a:pPr>
              <a:lnSpc>
                <a:spcPct val="150000"/>
              </a:lnSpc>
              <a:buFont typeface="Wingdings" panose="05000000000000000000" pitchFamily="2" charset="2"/>
              <a:buChar char="Ø"/>
            </a:pPr>
            <a:r>
              <a:rPr lang="en-US" sz="2000" dirty="0">
                <a:solidFill>
                  <a:srgbClr val="C00000"/>
                </a:solidFill>
              </a:rPr>
              <a:t> </a:t>
            </a:r>
            <a:r>
              <a:rPr lang="en-US" sz="2000" b="1" dirty="0">
                <a:solidFill>
                  <a:schemeClr val="tx1"/>
                </a:solidFill>
              </a:rPr>
              <a:t>Pulse shaping:</a:t>
            </a:r>
          </a:p>
          <a:p>
            <a:pPr marL="533400" lvl="1" indent="0">
              <a:buNone/>
            </a:pPr>
            <a:r>
              <a:rPr lang="en-US" sz="1600" dirty="0">
                <a:solidFill>
                  <a:schemeClr val="tx1"/>
                </a:solidFill>
              </a:rPr>
              <a:t>         </a:t>
            </a:r>
            <a:r>
              <a:rPr lang="en-US" dirty="0">
                <a:solidFill>
                  <a:schemeClr val="tx1"/>
                </a:solidFill>
              </a:rPr>
              <a:t>Use of Gaussian filter reduces side lobes and increases spectral efficiency </a:t>
            </a:r>
            <a:r>
              <a:rPr lang="en-US" dirty="0">
                <a:solidFill>
                  <a:srgbClr val="C00000"/>
                </a:solidFill>
              </a:rPr>
              <a:t>“</a:t>
            </a:r>
            <a:r>
              <a:rPr lang="en-US" b="1" dirty="0">
                <a:solidFill>
                  <a:srgbClr val="C00000"/>
                </a:solidFill>
              </a:rPr>
              <a:t>GMSK</a:t>
            </a:r>
            <a:r>
              <a:rPr lang="en-US" dirty="0">
                <a:solidFill>
                  <a:srgbClr val="C00000"/>
                </a:solidFill>
              </a:rPr>
              <a:t>”</a:t>
            </a:r>
            <a:r>
              <a:rPr lang="en-US" sz="1600" dirty="0">
                <a:solidFill>
                  <a:schemeClr val="tx1"/>
                </a:solidFill>
              </a:rPr>
              <a:t>. </a:t>
            </a:r>
          </a:p>
          <a:p>
            <a:pPr>
              <a:buFont typeface="Wingdings" panose="05000000000000000000" pitchFamily="2" charset="2"/>
              <a:buChar char="Ø"/>
            </a:pPr>
            <a:r>
              <a:rPr lang="en-US" sz="2000" dirty="0">
                <a:solidFill>
                  <a:schemeClr val="tx1"/>
                </a:solidFill>
              </a:rPr>
              <a:t>Lower modulation index (</a:t>
            </a:r>
            <a:r>
              <a:rPr lang="en-US" sz="2000" i="1" dirty="0">
                <a:solidFill>
                  <a:schemeClr val="tx1"/>
                </a:solidFill>
              </a:rPr>
              <a:t>optimum 0.5</a:t>
            </a:r>
            <a:r>
              <a:rPr lang="en-US" sz="2000" dirty="0">
                <a:solidFill>
                  <a:schemeClr val="tx1"/>
                </a:solidFill>
              </a:rPr>
              <a:t>).</a:t>
            </a:r>
          </a:p>
          <a:p>
            <a:pPr>
              <a:buFont typeface="Wingdings" panose="05000000000000000000" pitchFamily="2" charset="2"/>
              <a:buChar char="Ø"/>
            </a:pPr>
            <a:r>
              <a:rPr lang="en-US" sz="2000" b="1" dirty="0">
                <a:solidFill>
                  <a:schemeClr val="tx1"/>
                </a:solidFill>
              </a:rPr>
              <a:t>ADPLL</a:t>
            </a:r>
            <a:r>
              <a:rPr lang="en-US" sz="2000" dirty="0">
                <a:solidFill>
                  <a:schemeClr val="tx1"/>
                </a:solidFill>
              </a:rPr>
              <a:t> reduces frequency leakage.</a:t>
            </a:r>
          </a:p>
          <a:p>
            <a:pPr>
              <a:buFont typeface="Wingdings" panose="05000000000000000000" pitchFamily="2" charset="2"/>
              <a:buChar char="Ø"/>
            </a:pPr>
            <a:r>
              <a:rPr lang="en-US" sz="2000" b="1" dirty="0">
                <a:solidFill>
                  <a:schemeClr val="tx1"/>
                </a:solidFill>
              </a:rPr>
              <a:t>Dithering: </a:t>
            </a:r>
          </a:p>
          <a:p>
            <a:pPr marL="571500" lvl="1" indent="0">
              <a:buNone/>
            </a:pPr>
            <a:r>
              <a:rPr lang="en-US" dirty="0"/>
              <a:t>Low-level, random noise is added to the signal </a:t>
            </a:r>
          </a:p>
          <a:p>
            <a:pPr marL="571500" lvl="1" indent="0">
              <a:buNone/>
            </a:pPr>
            <a:r>
              <a:rPr lang="en-US" dirty="0"/>
              <a:t>to break up periodic patterns and spread them over </a:t>
            </a:r>
          </a:p>
          <a:p>
            <a:pPr marL="571500" lvl="1" indent="0">
              <a:buNone/>
            </a:pPr>
            <a:r>
              <a:rPr lang="en-US" dirty="0"/>
              <a:t>a wider frequency range (reduces its amplitude).</a:t>
            </a:r>
            <a:endParaRPr lang="en-US" dirty="0">
              <a:solidFill>
                <a:schemeClr val="tx1"/>
              </a:solidFill>
            </a:endParaRPr>
          </a:p>
          <a:p>
            <a:pPr>
              <a:buFont typeface="Wingdings" panose="05000000000000000000" pitchFamily="2" charset="2"/>
              <a:buChar char="Ø"/>
            </a:pPr>
            <a:endParaRPr lang="en-US" sz="2000" dirty="0">
              <a:solidFill>
                <a:schemeClr val="tx1"/>
              </a:solidFill>
            </a:endParaRPr>
          </a:p>
          <a:p>
            <a:pPr>
              <a:buFont typeface="Wingdings" panose="05000000000000000000" pitchFamily="2" charset="2"/>
              <a:buChar char="Ø"/>
            </a:pPr>
            <a:endParaRPr lang="en-US" sz="2000" dirty="0">
              <a:solidFill>
                <a:schemeClr val="tx1"/>
              </a:solidFill>
            </a:endParaRPr>
          </a:p>
          <a:p>
            <a:pPr marL="990600" lvl="2" indent="0">
              <a:buNone/>
            </a:pPr>
            <a:endParaRPr lang="en-US" sz="1400" b="1" dirty="0">
              <a:solidFill>
                <a:schemeClr val="tx1"/>
              </a:solidFill>
            </a:endParaRPr>
          </a:p>
          <a:p>
            <a:pPr marL="76200" indent="0">
              <a:buNone/>
            </a:pPr>
            <a:endParaRPr lang="en-US" sz="2000" dirty="0">
              <a:solidFill>
                <a:schemeClr val="tx1"/>
              </a:solidFill>
            </a:endParaRPr>
          </a:p>
        </p:txBody>
      </p:sp>
      <p:pic>
        <p:nvPicPr>
          <p:cNvPr id="4" name="Picture 3" descr="Frequency spectrum of a BLE signal">
            <a:extLst>
              <a:ext uri="{FF2B5EF4-FFF2-40B4-BE49-F238E27FC236}">
                <a16:creationId xmlns:a16="http://schemas.microsoft.com/office/drawing/2014/main" xmlns="" id="{271ADC84-5E49-A0D8-5313-CF1A85AAF1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48158" y="3019131"/>
            <a:ext cx="4054131" cy="3337728"/>
          </a:xfrm>
          <a:prstGeom prst="rect">
            <a:avLst/>
          </a:prstGeom>
          <a:noFill/>
          <a:ln>
            <a:noFill/>
          </a:ln>
        </p:spPr>
      </p:pic>
    </p:spTree>
    <p:extLst>
      <p:ext uri="{BB962C8B-B14F-4D97-AF65-F5344CB8AC3E}">
        <p14:creationId xmlns:p14="http://schemas.microsoft.com/office/powerpoint/2010/main" val="123827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8C93309-286C-AC49-FE05-8EEF90029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C5C08A7-F860-6F14-A348-C8517B0CEE7B}"/>
              </a:ext>
            </a:extLst>
          </p:cNvPr>
          <p:cNvSpPr>
            <a:spLocks noGrp="1"/>
          </p:cNvSpPr>
          <p:nvPr>
            <p:ph type="title"/>
          </p:nvPr>
        </p:nvSpPr>
        <p:spPr>
          <a:xfrm>
            <a:off x="609600" y="261255"/>
            <a:ext cx="10972800" cy="1059141"/>
          </a:xfrm>
        </p:spPr>
        <p:txBody>
          <a:bodyPr/>
          <a:lstStyle/>
          <a:p>
            <a:r>
              <a:rPr lang="en-US" dirty="0"/>
              <a:t>Radio Frequency Tolerance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6F270475-05C6-572D-901E-C080AE5C0CB0}"/>
                  </a:ext>
                </a:extLst>
              </p:cNvPr>
              <p:cNvSpPr>
                <a:spLocks noGrp="1"/>
              </p:cNvSpPr>
              <p:nvPr>
                <p:ph type="body" idx="1"/>
              </p:nvPr>
            </p:nvSpPr>
            <p:spPr>
              <a:xfrm>
                <a:off x="609600" y="1540283"/>
                <a:ext cx="11090987" cy="4443558"/>
              </a:xfrm>
            </p:spPr>
            <p:txBody>
              <a:bodyPr/>
              <a:lstStyle/>
              <a:p>
                <a:pPr marL="76200" indent="0">
                  <a:buNone/>
                </a:pPr>
                <a:r>
                  <a:rPr lang="en-US" sz="2800" b="1" dirty="0">
                    <a:solidFill>
                      <a:schemeClr val="tx1"/>
                    </a:solidFill>
                  </a:rPr>
                  <a:t>What is RF frequency tolerance?</a:t>
                </a:r>
              </a:p>
              <a:p>
                <a:pPr>
                  <a:buFont typeface="Wingdings" panose="05000000000000000000" pitchFamily="2" charset="2"/>
                  <a:buChar char="Ø"/>
                </a:pPr>
                <a:r>
                  <a:rPr lang="en-US" sz="2000" dirty="0">
                    <a:solidFill>
                      <a:schemeClr val="tx1"/>
                    </a:solidFill>
                  </a:rPr>
                  <a:t>Ensures frequency stability during communication.</a:t>
                </a:r>
              </a:p>
              <a:p>
                <a:pPr>
                  <a:buFont typeface="Wingdings" panose="05000000000000000000" pitchFamily="2" charset="2"/>
                  <a:buChar char="Ø"/>
                </a:pPr>
                <a:r>
                  <a:rPr lang="en-US" sz="2000" dirty="0">
                    <a:solidFill>
                      <a:schemeClr val="tx1"/>
                    </a:solidFill>
                  </a:rPr>
                  <a:t>Oscillators don’t ideally generate specific frequency, It can change due to various reasons like:</a:t>
                </a:r>
              </a:p>
              <a:p>
                <a:r>
                  <a:rPr lang="en-US" sz="2000" dirty="0">
                    <a:solidFill>
                      <a:schemeClr val="tx1"/>
                    </a:solidFill>
                  </a:rPr>
                  <a:t>Temperature changes(</a:t>
                </a:r>
                <a:r>
                  <a:rPr lang="en-US" sz="2000" i="1" dirty="0">
                    <a:solidFill>
                      <a:schemeClr val="tx1"/>
                    </a:solidFill>
                  </a:rPr>
                  <a:t>Crystal temperature sensitivity</a:t>
                </a:r>
                <a:r>
                  <a:rPr lang="en-US" sz="2000" dirty="0">
                    <a:solidFill>
                      <a:schemeClr val="tx1"/>
                    </a:solidFill>
                  </a:rPr>
                  <a:t>)</a:t>
                </a:r>
              </a:p>
              <a:p>
                <a:r>
                  <a:rPr lang="en-US" sz="2000" dirty="0">
                    <a:solidFill>
                      <a:schemeClr val="tx1"/>
                    </a:solidFill>
                  </a:rPr>
                  <a:t>Power Supply Variations.</a:t>
                </a:r>
              </a:p>
              <a:p>
                <a:r>
                  <a:rPr lang="en-US" sz="2000" dirty="0"/>
                  <a:t>PLL Settling Behavior according to implementation.</a:t>
                </a:r>
              </a:p>
              <a:p>
                <a:pPr marL="76200" indent="0">
                  <a:buNone/>
                </a:pPr>
                <a:r>
                  <a:rPr lang="en-US" sz="2000" i="1" dirty="0"/>
                  <a:t>       (Incomplete lock or slow response)</a:t>
                </a:r>
                <a:endParaRPr lang="en-US" dirty="0">
                  <a:solidFill>
                    <a:schemeClr val="tx1"/>
                  </a:solidFill>
                </a:endParaRPr>
              </a:p>
              <a:p>
                <a:pPr>
                  <a:buFont typeface="Wingdings" panose="05000000000000000000" pitchFamily="2" charset="2"/>
                  <a:buChar char="Ø"/>
                </a:pPr>
                <a:r>
                  <a:rPr lang="en-US" sz="2000" dirty="0">
                    <a:solidFill>
                      <a:schemeClr val="tx1"/>
                    </a:solidFill>
                  </a:rPr>
                  <a:t>Defines the </a:t>
                </a:r>
                <a:r>
                  <a:rPr lang="en-US" sz="2000" b="1" dirty="0">
                    <a:solidFill>
                      <a:schemeClr val="tx1"/>
                    </a:solidFill>
                  </a:rPr>
                  <a:t>Max</a:t>
                </a:r>
                <a:r>
                  <a:rPr lang="en-US" sz="2000" dirty="0">
                    <a:solidFill>
                      <a:schemeClr val="tx1"/>
                    </a:solidFill>
                  </a:rPr>
                  <a:t> allowable Transmitter frequency deviation from the intended channel frequency.</a:t>
                </a:r>
              </a:p>
              <a:p>
                <a:pPr>
                  <a:buFont typeface="Wingdings" panose="05000000000000000000" pitchFamily="2" charset="2"/>
                  <a:buChar char="Ø"/>
                </a:pPr>
                <a:r>
                  <a:rPr lang="en-US" sz="2000" dirty="0">
                    <a:solidFill>
                      <a:schemeClr val="tx1"/>
                    </a:solidFill>
                  </a:rPr>
                  <a:t>The deviation of central frequency during the packet shall not exceed </a:t>
                </a:r>
                <a14:m>
                  <m:oMath xmlns:m="http://schemas.openxmlformats.org/officeDocument/2006/math">
                    <m:r>
                      <a:rPr lang="en-US" sz="2000" i="1" smtClean="0">
                        <a:solidFill>
                          <a:srgbClr val="C00000"/>
                        </a:solidFill>
                        <a:latin typeface="Cambria Math" panose="02040503050406030204" pitchFamily="18" charset="0"/>
                        <a:ea typeface="Cambria Math" panose="02040503050406030204" pitchFamily="18" charset="0"/>
                      </a:rPr>
                      <m:t>±</m:t>
                    </m:r>
                  </m:oMath>
                </a14:m>
                <a:r>
                  <a:rPr lang="en-US" sz="2000" dirty="0">
                    <a:solidFill>
                      <a:srgbClr val="C00000"/>
                    </a:solidFill>
                  </a:rPr>
                  <a:t> 150KHz </a:t>
                </a:r>
                <a:r>
                  <a:rPr lang="en-US" sz="2000" dirty="0">
                    <a:solidFill>
                      <a:schemeClr val="tx1"/>
                    </a:solidFill>
                  </a:rPr>
                  <a:t>including initial frequency offset and drift. </a:t>
                </a:r>
              </a:p>
              <a:p>
                <a:pPr>
                  <a:buFont typeface="Wingdings" panose="05000000000000000000" pitchFamily="2" charset="2"/>
                  <a:buChar char="Ø"/>
                </a:pPr>
                <a:endParaRPr lang="en-US" sz="2000" dirty="0">
                  <a:solidFill>
                    <a:schemeClr val="tx1"/>
                  </a:solidFill>
                </a:endParaRPr>
              </a:p>
              <a:p>
                <a:pPr>
                  <a:buFont typeface="Wingdings" panose="05000000000000000000" pitchFamily="2" charset="2"/>
                  <a:buChar char="Ø"/>
                </a:pPr>
                <a:endParaRPr lang="en-US" sz="2000" dirty="0">
                  <a:solidFill>
                    <a:srgbClr val="C00000"/>
                  </a:solidFill>
                </a:endParaRPr>
              </a:p>
              <a:p>
                <a:pPr>
                  <a:buFont typeface="Wingdings" panose="05000000000000000000" pitchFamily="2" charset="2"/>
                  <a:buChar char="Ø"/>
                </a:pPr>
                <a:endParaRPr lang="en-US" sz="2000" dirty="0">
                  <a:solidFill>
                    <a:schemeClr val="tx1"/>
                  </a:solidFill>
                </a:endParaRPr>
              </a:p>
              <a:p>
                <a:pPr>
                  <a:buFont typeface="Wingdings" panose="05000000000000000000" pitchFamily="2" charset="2"/>
                  <a:buChar char="Ø"/>
                </a:pPr>
                <a:endParaRPr lang="en-US" sz="2000" dirty="0">
                  <a:solidFill>
                    <a:schemeClr val="tx1"/>
                  </a:solidFill>
                </a:endParaRPr>
              </a:p>
              <a:p>
                <a:pPr>
                  <a:buFont typeface="Wingdings" panose="05000000000000000000" pitchFamily="2" charset="2"/>
                  <a:buChar char="Ø"/>
                </a:pPr>
                <a:endParaRPr lang="en-US" sz="2000" dirty="0">
                  <a:solidFill>
                    <a:schemeClr val="tx1"/>
                  </a:solidFill>
                </a:endParaRPr>
              </a:p>
              <a:p>
                <a:pPr marL="76200" indent="0">
                  <a:buNone/>
                </a:pPr>
                <a:endParaRPr lang="en-US" b="1" i="1" dirty="0">
                  <a:solidFill>
                    <a:schemeClr val="tx1"/>
                  </a:solidFill>
                </a:endParaRPr>
              </a:p>
            </p:txBody>
          </p:sp>
        </mc:Choice>
        <mc:Fallback xmlns="">
          <p:sp>
            <p:nvSpPr>
              <p:cNvPr id="3" name="Text Placeholder 2">
                <a:extLst>
                  <a:ext uri="{FF2B5EF4-FFF2-40B4-BE49-F238E27FC236}">
                    <a16:creationId xmlns:a16="http://schemas.microsoft.com/office/drawing/2014/main" id="{6F270475-05C6-572D-901E-C080AE5C0CB0}"/>
                  </a:ext>
                </a:extLst>
              </p:cNvPr>
              <p:cNvSpPr>
                <a:spLocks noGrp="1" noRot="1" noChangeAspect="1" noMove="1" noResize="1" noEditPoints="1" noAdjustHandles="1" noChangeArrowheads="1" noChangeShapeType="1" noTextEdit="1"/>
              </p:cNvSpPr>
              <p:nvPr>
                <p:ph type="body" idx="1"/>
              </p:nvPr>
            </p:nvSpPr>
            <p:spPr>
              <a:xfrm>
                <a:off x="609600" y="1540283"/>
                <a:ext cx="11090987" cy="4443558"/>
              </a:xfrm>
              <a:blipFill>
                <a:blip r:embed="rId2"/>
                <a:stretch>
                  <a:fillRect l="-440"/>
                </a:stretch>
              </a:blipFill>
            </p:spPr>
            <p:txBody>
              <a:bodyPr/>
              <a:lstStyle/>
              <a:p>
                <a:r>
                  <a:rPr lang="en-US">
                    <a:noFill/>
                  </a:rPr>
                  <a:t> </a:t>
                </a:r>
              </a:p>
            </p:txBody>
          </p:sp>
        </mc:Fallback>
      </mc:AlternateContent>
      <p:sp>
        <p:nvSpPr>
          <p:cNvPr id="16" name="AutoShape 6">
            <a:extLst>
              <a:ext uri="{FF2B5EF4-FFF2-40B4-BE49-F238E27FC236}">
                <a16:creationId xmlns:a16="http://schemas.microsoft.com/office/drawing/2014/main" xmlns="" id="{7F5C84EE-A904-53AB-264B-4207C57203E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a:extLst>
              <a:ext uri="{FF2B5EF4-FFF2-40B4-BE49-F238E27FC236}">
                <a16:creationId xmlns:a16="http://schemas.microsoft.com/office/drawing/2014/main" xmlns="" id="{6764CE24-4634-5ACF-719E-301F089F6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70" t="53872" r="32709" b="14796"/>
          <a:stretch>
            <a:fillRect/>
          </a:stretch>
        </p:blipFill>
        <p:spPr bwMode="auto">
          <a:xfrm>
            <a:off x="6650898" y="874159"/>
            <a:ext cx="5049690" cy="136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344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8324B7C-34AE-912E-3790-C180BDB80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75D93BF-F1A8-45FF-5D20-228EAC98F54D}"/>
              </a:ext>
            </a:extLst>
          </p:cNvPr>
          <p:cNvSpPr>
            <a:spLocks noGrp="1"/>
          </p:cNvSpPr>
          <p:nvPr>
            <p:ph type="title"/>
          </p:nvPr>
        </p:nvSpPr>
        <p:spPr>
          <a:xfrm>
            <a:off x="609600" y="354563"/>
            <a:ext cx="10972800" cy="1005840"/>
          </a:xfrm>
        </p:spPr>
        <p:txBody>
          <a:bodyPr/>
          <a:lstStyle/>
          <a:p>
            <a:r>
              <a:rPr lang="en-US" dirty="0"/>
              <a:t>Radio Frequency Tolerance</a:t>
            </a:r>
          </a:p>
        </p:txBody>
      </p:sp>
      <p:sp>
        <p:nvSpPr>
          <p:cNvPr id="3" name="Text Placeholder 2">
            <a:extLst>
              <a:ext uri="{FF2B5EF4-FFF2-40B4-BE49-F238E27FC236}">
                <a16:creationId xmlns:a16="http://schemas.microsoft.com/office/drawing/2014/main" xmlns="" id="{007BE85E-D277-6291-B41C-D0688739480E}"/>
              </a:ext>
            </a:extLst>
          </p:cNvPr>
          <p:cNvSpPr>
            <a:spLocks noGrp="1"/>
          </p:cNvSpPr>
          <p:nvPr>
            <p:ph type="body" idx="1"/>
          </p:nvPr>
        </p:nvSpPr>
        <p:spPr>
          <a:xfrm>
            <a:off x="609600" y="1466142"/>
            <a:ext cx="10055289" cy="4443558"/>
          </a:xfrm>
        </p:spPr>
        <p:txBody>
          <a:bodyPr/>
          <a:lstStyle/>
          <a:p>
            <a:pPr marL="76200" indent="0">
              <a:buNone/>
            </a:pPr>
            <a:r>
              <a:rPr lang="en-US" sz="2800" b="1" dirty="0">
                <a:solidFill>
                  <a:schemeClr val="tx1"/>
                </a:solidFill>
              </a:rPr>
              <a:t>Frequency Drift:</a:t>
            </a:r>
          </a:p>
          <a:p>
            <a:pPr marL="76200" indent="0">
              <a:buNone/>
            </a:pPr>
            <a:r>
              <a:rPr lang="en-US" sz="2000" dirty="0">
                <a:solidFill>
                  <a:schemeClr val="tx1"/>
                </a:solidFill>
              </a:rPr>
              <a:t>undesired change or variation in the oscillator output frequency during transmission.</a:t>
            </a:r>
          </a:p>
          <a:p>
            <a:pPr>
              <a:buFont typeface="Wingdings" panose="05000000000000000000" pitchFamily="2" charset="2"/>
              <a:buChar char="Ø"/>
            </a:pPr>
            <a:r>
              <a:rPr lang="en-US" b="1" dirty="0">
                <a:solidFill>
                  <a:schemeClr val="tx1"/>
                </a:solidFill>
              </a:rPr>
              <a:t>What is the problem?</a:t>
            </a:r>
          </a:p>
          <a:p>
            <a:r>
              <a:rPr lang="en-US" sz="2000" dirty="0">
                <a:solidFill>
                  <a:schemeClr val="tx1"/>
                </a:solidFill>
              </a:rPr>
              <a:t>When frequency drifts from its center, it could interfere</a:t>
            </a:r>
            <a:endParaRPr lang="en-US" sz="1800" dirty="0">
              <a:solidFill>
                <a:schemeClr val="tx1"/>
              </a:solidFill>
            </a:endParaRPr>
          </a:p>
          <a:p>
            <a:pPr marL="76200" indent="0">
              <a:buNone/>
            </a:pPr>
            <a:r>
              <a:rPr lang="en-US" sz="2000" dirty="0">
                <a:solidFill>
                  <a:schemeClr val="tx1"/>
                </a:solidFill>
              </a:rPr>
              <a:t>       with another adjacent channel. </a:t>
            </a:r>
          </a:p>
          <a:p>
            <a:r>
              <a:rPr lang="en-US" sz="2000" dirty="0">
                <a:solidFill>
                  <a:schemeClr val="tx1"/>
                </a:solidFill>
              </a:rPr>
              <a:t>The receiver will lose track of the packet.</a:t>
            </a:r>
          </a:p>
          <a:p>
            <a:r>
              <a:rPr lang="en-US" sz="2000" dirty="0"/>
              <a:t>Increased Bit Error Rate (BER).</a:t>
            </a:r>
            <a:endParaRPr lang="en-US" sz="1800" dirty="0">
              <a:solidFill>
                <a:schemeClr val="tx1"/>
              </a:solidFill>
            </a:endParaRPr>
          </a:p>
          <a:p>
            <a:pPr marL="76200" indent="0">
              <a:buNone/>
            </a:pPr>
            <a:endParaRPr lang="en-US" dirty="0"/>
          </a:p>
        </p:txBody>
      </p:sp>
      <p:pic>
        <p:nvPicPr>
          <p:cNvPr id="17" name="Picture 16">
            <a:extLst>
              <a:ext uri="{FF2B5EF4-FFF2-40B4-BE49-F238E27FC236}">
                <a16:creationId xmlns:a16="http://schemas.microsoft.com/office/drawing/2014/main" xmlns="" id="{6EB583AB-8173-6FCE-080B-EA7E866A022D}"/>
              </a:ext>
            </a:extLst>
          </p:cNvPr>
          <p:cNvPicPr>
            <a:picLocks noChangeAspect="1"/>
          </p:cNvPicPr>
          <p:nvPr/>
        </p:nvPicPr>
        <p:blipFill>
          <a:blip r:embed="rId2"/>
          <a:stretch>
            <a:fillRect/>
          </a:stretch>
        </p:blipFill>
        <p:spPr>
          <a:xfrm>
            <a:off x="7656826" y="2547559"/>
            <a:ext cx="3511140" cy="2340760"/>
          </a:xfrm>
          <a:prstGeom prst="rect">
            <a:avLst/>
          </a:prstGeom>
        </p:spPr>
      </p:pic>
      <p:pic>
        <p:nvPicPr>
          <p:cNvPr id="2056" name="Picture 8" descr="Dive Into the BLE PHY Layer—The Basics of Bluetooth LE PHY Radio -  Technical Articles">
            <a:extLst>
              <a:ext uri="{FF2B5EF4-FFF2-40B4-BE49-F238E27FC236}">
                <a16:creationId xmlns:a16="http://schemas.microsoft.com/office/drawing/2014/main" xmlns="" id="{4F0AFE21-9884-EE20-BF16-04F24AEDF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169" y="4506033"/>
            <a:ext cx="6667500"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82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B0D081-E2D8-7B0C-720C-05DE45C41C45}"/>
              </a:ext>
            </a:extLst>
          </p:cNvPr>
          <p:cNvSpPr>
            <a:spLocks noGrp="1"/>
          </p:cNvSpPr>
          <p:nvPr>
            <p:ph type="title"/>
          </p:nvPr>
        </p:nvSpPr>
        <p:spPr>
          <a:xfrm>
            <a:off x="609600" y="334953"/>
            <a:ext cx="10972800" cy="1005840"/>
          </a:xfrm>
        </p:spPr>
        <p:txBody>
          <a:bodyPr/>
          <a:lstStyle/>
          <a:p>
            <a:r>
              <a:rPr lang="en-US" dirty="0"/>
              <a:t>Radio Frequency Tolerance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xmlns="" id="{D54B4B3D-DABE-D337-7C87-808DA2717E42}"/>
                  </a:ext>
                </a:extLst>
              </p:cNvPr>
              <p:cNvSpPr>
                <a:spLocks noGrp="1"/>
              </p:cNvSpPr>
              <p:nvPr>
                <p:ph type="body" idx="1"/>
              </p:nvPr>
            </p:nvSpPr>
            <p:spPr>
              <a:xfrm>
                <a:off x="609600" y="1419487"/>
                <a:ext cx="5147388" cy="4848225"/>
              </a:xfrm>
            </p:spPr>
            <p:txBody>
              <a:bodyPr/>
              <a:lstStyle/>
              <a:p>
                <a:pPr>
                  <a:buFont typeface="Wingdings" panose="05000000000000000000" pitchFamily="2" charset="2"/>
                  <a:buChar char="Ø"/>
                </a:pPr>
                <a:r>
                  <a:rPr lang="en-US" b="1" dirty="0"/>
                  <a:t>The spec:</a:t>
                </a:r>
              </a:p>
              <a:p>
                <a:pPr marL="76200" indent="0">
                  <a:buNone/>
                </a:pPr>
                <a:r>
                  <a:rPr lang="en-US" sz="2000" b="1" dirty="0">
                    <a:solidFill>
                      <a:schemeClr val="tx1"/>
                    </a:solidFill>
                  </a:rPr>
                  <a:t>initial frequency offset and drift during whole packet don’t exceed </a:t>
                </a:r>
                <a14:m>
                  <m:oMath xmlns:m="http://schemas.openxmlformats.org/officeDocument/2006/math">
                    <m:r>
                      <a:rPr lang="en-US" sz="2000" b="1" i="1" smtClean="0">
                        <a:solidFill>
                          <a:srgbClr val="C00000"/>
                        </a:solidFill>
                        <a:latin typeface="Cambria Math" panose="02040503050406030204" pitchFamily="18" charset="0"/>
                        <a:ea typeface="Cambria Math" panose="02040503050406030204" pitchFamily="18" charset="0"/>
                      </a:rPr>
                      <m:t>±</m:t>
                    </m:r>
                  </m:oMath>
                </a14:m>
                <a:r>
                  <a:rPr lang="en-US" sz="2000" b="1" dirty="0">
                    <a:solidFill>
                      <a:srgbClr val="C00000"/>
                    </a:solidFill>
                  </a:rPr>
                  <a:t> 150KHz</a:t>
                </a:r>
                <a:r>
                  <a:rPr lang="en-US" sz="2000" dirty="0">
                    <a:solidFill>
                      <a:srgbClr val="C00000"/>
                    </a:solidFill>
                  </a:rPr>
                  <a:t>.</a:t>
                </a:r>
              </a:p>
              <a:p>
                <a:r>
                  <a:rPr lang="en-US" sz="2000" dirty="0">
                    <a:solidFill>
                      <a:schemeClr val="tx1"/>
                    </a:solidFill>
                  </a:rPr>
                  <a:t>Initial frequency offset: Error when the transmission begins and PLL first lock the frequency </a:t>
                </a:r>
                <a:r>
                  <a:rPr lang="en-US" sz="2000" b="1" dirty="0">
                    <a:solidFill>
                      <a:srgbClr val="C00000"/>
                    </a:solidFill>
                  </a:rPr>
                  <a:t>(</a:t>
                </a:r>
                <a14:m>
                  <m:oMath xmlns:m="http://schemas.openxmlformats.org/officeDocument/2006/math">
                    <m:d>
                      <m:dPr>
                        <m:begChr m:val="|"/>
                        <m:endChr m:val="|"/>
                        <m:ctrlPr>
                          <a:rPr lang="en-US" sz="1800" b="1" i="1">
                            <a:solidFill>
                              <a:srgbClr val="C00000"/>
                            </a:solidFill>
                            <a:latin typeface="Cambria Math" panose="02040503050406030204" pitchFamily="18" charset="0"/>
                            <a:ea typeface="Cambria Math" panose="02040503050406030204" pitchFamily="18" charset="0"/>
                          </a:rPr>
                        </m:ctrlPr>
                      </m:dPr>
                      <m:e>
                        <m:r>
                          <m:rPr>
                            <m:nor/>
                          </m:rPr>
                          <a:rPr lang="en-US" sz="2000" b="1" smtClean="0">
                            <a:solidFill>
                              <a:srgbClr val="C00000"/>
                            </a:solidFill>
                          </a:rPr>
                          <m:t>f</m:t>
                        </m:r>
                        <m:r>
                          <m:rPr>
                            <m:nor/>
                          </m:rPr>
                          <a:rPr lang="en-US" sz="2000" b="1" smtClean="0">
                            <a:solidFill>
                              <a:srgbClr val="C00000"/>
                            </a:solidFill>
                          </a:rPr>
                          <m:t>₀</m:t>
                        </m:r>
                        <m:r>
                          <a:rPr lang="en-US" sz="1800" b="1" i="1">
                            <a:solidFill>
                              <a:srgbClr val="C00000"/>
                            </a:solidFill>
                            <a:latin typeface="Cambria Math" panose="02040503050406030204" pitchFamily="18" charset="0"/>
                            <a:ea typeface="Cambria Math" panose="02040503050406030204" pitchFamily="18" charset="0"/>
                          </a:rPr>
                          <m:t>−</m:t>
                        </m:r>
                        <m:r>
                          <m:rPr>
                            <m:nor/>
                          </m:rPr>
                          <a:rPr lang="en-US" sz="2000" b="1" smtClean="0">
                            <a:solidFill>
                              <a:srgbClr val="C00000"/>
                            </a:solidFill>
                          </a:rPr>
                          <m:t>f</m:t>
                        </m:r>
                        <m:r>
                          <m:rPr>
                            <m:nor/>
                          </m:rPr>
                          <a:rPr lang="en-US" sz="2000" b="1" smtClean="0">
                            <a:solidFill>
                              <a:srgbClr val="C00000"/>
                            </a:solidFill>
                          </a:rPr>
                          <m:t>_</m:t>
                        </m:r>
                        <m:r>
                          <m:rPr>
                            <m:nor/>
                          </m:rPr>
                          <a:rPr lang="en-US" sz="2000" b="1" smtClean="0">
                            <a:solidFill>
                              <a:srgbClr val="C00000"/>
                            </a:solidFill>
                          </a:rPr>
                          <m:t>channel</m:t>
                        </m:r>
                      </m:e>
                    </m:d>
                    <m:r>
                      <a:rPr lang="en-US" sz="1800" b="1" i="1" smtClean="0">
                        <a:solidFill>
                          <a:srgbClr val="C00000"/>
                        </a:solidFill>
                        <a:latin typeface="Cambria Math" panose="02040503050406030204" pitchFamily="18" charset="0"/>
                        <a:ea typeface="Cambria Math" panose="02040503050406030204" pitchFamily="18" charset="0"/>
                      </a:rPr>
                      <m:t>= </m:t>
                    </m:r>
                  </m:oMath>
                </a14:m>
                <a:r>
                  <a:rPr lang="en-US" sz="2000" b="1" dirty="0">
                    <a:solidFill>
                      <a:srgbClr val="C00000"/>
                    </a:solidFill>
                  </a:rPr>
                  <a:t>100KHz).</a:t>
                </a:r>
                <a:endParaRPr lang="en-US" sz="2000" b="1" dirty="0">
                  <a:solidFill>
                    <a:schemeClr val="tx1"/>
                  </a:solidFill>
                </a:endParaRPr>
              </a:p>
              <a:p>
                <a:r>
                  <a:rPr lang="en-US" sz="2000" dirty="0">
                    <a:solidFill>
                      <a:schemeClr val="tx1"/>
                    </a:solidFill>
                  </a:rPr>
                  <a:t>Frequency drift: during the packet transmission </a:t>
                </a:r>
                <a:r>
                  <a:rPr lang="en-US" sz="1800" b="1" dirty="0">
                    <a:solidFill>
                      <a:srgbClr val="C00000"/>
                    </a:solidFill>
                  </a:rPr>
                  <a:t>(</a:t>
                </a:r>
                <a:r>
                  <a:rPr lang="en-US" sz="2000" b="1" dirty="0">
                    <a:solidFill>
                      <a:srgbClr val="C00000"/>
                    </a:solidFill>
                  </a:rPr>
                  <a:t>|f₆ - f₀|</a:t>
                </a:r>
                <a14:m>
                  <m:oMath xmlns:m="http://schemas.openxmlformats.org/officeDocument/2006/math">
                    <m:r>
                      <a:rPr lang="en-US" sz="2000" b="1" i="1">
                        <a:solidFill>
                          <a:srgbClr val="C00000"/>
                        </a:solidFill>
                        <a:latin typeface="Cambria Math" panose="02040503050406030204" pitchFamily="18" charset="0"/>
                        <a:ea typeface="Cambria Math" panose="02040503050406030204" pitchFamily="18" charset="0"/>
                      </a:rPr>
                      <m:t>= </m:t>
                    </m:r>
                  </m:oMath>
                </a14:m>
                <a:r>
                  <a:rPr lang="en-US" sz="2000" b="1" dirty="0">
                    <a:solidFill>
                      <a:srgbClr val="C00000"/>
                    </a:solidFill>
                  </a:rPr>
                  <a:t>50KHz)</a:t>
                </a:r>
                <a:r>
                  <a:rPr lang="en-US" sz="2000" dirty="0">
                    <a:solidFill>
                      <a:schemeClr val="tx1"/>
                    </a:solidFill>
                  </a:rPr>
                  <a:t>. </a:t>
                </a:r>
              </a:p>
              <a:p>
                <a:pPr>
                  <a:buFont typeface="Wingdings" panose="05000000000000000000" pitchFamily="2" charset="2"/>
                  <a:buChar char="Ø"/>
                </a:pPr>
                <a:r>
                  <a:rPr lang="en-US" sz="2800" b="1" dirty="0">
                    <a:solidFill>
                      <a:schemeClr val="tx1"/>
                    </a:solidFill>
                  </a:rPr>
                  <a:t>Testing:</a:t>
                </a:r>
              </a:p>
            </p:txBody>
          </p:sp>
        </mc:Choice>
        <mc:Fallback xmlns="">
          <p:sp>
            <p:nvSpPr>
              <p:cNvPr id="3" name="Text Placeholder 2">
                <a:extLst>
                  <a:ext uri="{FF2B5EF4-FFF2-40B4-BE49-F238E27FC236}">
                    <a16:creationId xmlns:a16="http://schemas.microsoft.com/office/drawing/2014/main" id="{D54B4B3D-DABE-D337-7C87-808DA2717E42}"/>
                  </a:ext>
                </a:extLst>
              </p:cNvPr>
              <p:cNvSpPr>
                <a:spLocks noGrp="1" noRot="1" noChangeAspect="1" noMove="1" noResize="1" noEditPoints="1" noAdjustHandles="1" noChangeArrowheads="1" noChangeShapeType="1" noTextEdit="1"/>
              </p:cNvSpPr>
              <p:nvPr>
                <p:ph type="body" idx="1"/>
              </p:nvPr>
            </p:nvSpPr>
            <p:spPr>
              <a:xfrm>
                <a:off x="609600" y="1419487"/>
                <a:ext cx="5147388" cy="4848225"/>
              </a:xfrm>
              <a:blipFill>
                <a:blip r:embed="rId2"/>
                <a:stretch>
                  <a:fillRect l="-118" r="-948"/>
                </a:stretch>
              </a:blipFill>
            </p:spPr>
            <p:txBody>
              <a:bodyPr/>
              <a:lstStyle/>
              <a:p>
                <a:r>
                  <a:rPr lang="en-US">
                    <a:noFill/>
                  </a:rPr>
                  <a:t> </a:t>
                </a:r>
              </a:p>
            </p:txBody>
          </p:sp>
        </mc:Fallback>
      </mc:AlternateContent>
      <p:pic>
        <p:nvPicPr>
          <p:cNvPr id="2052" name="Picture 4" descr="Advertising Payload format on BLE – JimmyIoT">
            <a:extLst>
              <a:ext uri="{FF2B5EF4-FFF2-40B4-BE49-F238E27FC236}">
                <a16:creationId xmlns:a16="http://schemas.microsoft.com/office/drawing/2014/main" xmlns="" id="{F036C3FF-BF85-5E78-CA90-D496EF35E9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0811"/>
          <a:stretch>
            <a:fillRect/>
          </a:stretch>
        </p:blipFill>
        <p:spPr bwMode="auto">
          <a:xfrm>
            <a:off x="6096000" y="2044638"/>
            <a:ext cx="5557357" cy="113334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xmlns="" id="{E461CBC7-3B6F-4063-1D85-A3A8D07F1BE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639" b="17132"/>
          <a:stretch>
            <a:fillRect/>
          </a:stretch>
        </p:blipFill>
        <p:spPr bwMode="auto">
          <a:xfrm>
            <a:off x="4386847" y="3915942"/>
            <a:ext cx="7695718" cy="2351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17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364DA6-2EDD-2D59-2573-145C1F347C56}"/>
              </a:ext>
            </a:extLst>
          </p:cNvPr>
          <p:cNvSpPr>
            <a:spLocks noGrp="1"/>
          </p:cNvSpPr>
          <p:nvPr>
            <p:ph type="title"/>
          </p:nvPr>
        </p:nvSpPr>
        <p:spPr>
          <a:xfrm>
            <a:off x="609600" y="317240"/>
            <a:ext cx="10972800" cy="1005840"/>
          </a:xfrm>
        </p:spPr>
        <p:txBody>
          <a:bodyPr/>
          <a:lstStyle/>
          <a:p>
            <a:r>
              <a:rPr lang="en-US" dirty="0"/>
              <a:t>Radio Frequency Tolerance</a:t>
            </a:r>
          </a:p>
        </p:txBody>
      </p:sp>
      <p:sp>
        <p:nvSpPr>
          <p:cNvPr id="3" name="Text Placeholder 2">
            <a:extLst>
              <a:ext uri="{FF2B5EF4-FFF2-40B4-BE49-F238E27FC236}">
                <a16:creationId xmlns:a16="http://schemas.microsoft.com/office/drawing/2014/main" xmlns="" id="{47DE81C6-BE91-E0D9-B7CD-EEEF75D9BDB9}"/>
              </a:ext>
            </a:extLst>
          </p:cNvPr>
          <p:cNvSpPr>
            <a:spLocks noGrp="1"/>
          </p:cNvSpPr>
          <p:nvPr>
            <p:ph type="body" idx="1"/>
          </p:nvPr>
        </p:nvSpPr>
        <p:spPr>
          <a:xfrm>
            <a:off x="609600" y="1446838"/>
            <a:ext cx="10972800" cy="5073394"/>
          </a:xfrm>
        </p:spPr>
        <p:txBody>
          <a:bodyPr/>
          <a:lstStyle/>
          <a:p>
            <a:pPr marL="76200" indent="0">
              <a:buNone/>
            </a:pPr>
            <a:r>
              <a:rPr lang="en-US" sz="2800" b="1" dirty="0"/>
              <a:t>Frequency drift rate:</a:t>
            </a:r>
          </a:p>
          <a:p>
            <a:pPr>
              <a:buFont typeface="Wingdings" panose="05000000000000000000" pitchFamily="2" charset="2"/>
              <a:buChar char="Ø"/>
            </a:pPr>
            <a:r>
              <a:rPr lang="en-US" b="1" dirty="0"/>
              <a:t>The spec: </a:t>
            </a:r>
          </a:p>
          <a:p>
            <a:pPr marL="76200" indent="0">
              <a:buNone/>
            </a:pPr>
            <a:r>
              <a:rPr lang="en-US" sz="2000" dirty="0">
                <a:solidFill>
                  <a:schemeClr val="tx1"/>
                </a:solidFill>
              </a:rPr>
              <a:t>Drift rate shall be less than </a:t>
            </a:r>
            <a:r>
              <a:rPr lang="en-US" sz="2000" b="1" dirty="0">
                <a:solidFill>
                  <a:srgbClr val="C00000"/>
                </a:solidFill>
              </a:rPr>
              <a:t>400Hz/µs.</a:t>
            </a:r>
          </a:p>
          <a:p>
            <a:pPr>
              <a:lnSpc>
                <a:spcPct val="150000"/>
              </a:lnSpc>
              <a:buFont typeface="Wingdings" panose="05000000000000000000" pitchFamily="2" charset="2"/>
              <a:buChar char="Ø"/>
            </a:pPr>
            <a:r>
              <a:rPr lang="en-US" b="1" dirty="0"/>
              <a:t>What is the problem?</a:t>
            </a:r>
          </a:p>
          <a:p>
            <a:r>
              <a:rPr lang="en-US" sz="2000" dirty="0"/>
              <a:t>Receiver uses preamble for synchronization. </a:t>
            </a:r>
          </a:p>
          <a:p>
            <a:r>
              <a:rPr lang="en-US" sz="2000" dirty="0"/>
              <a:t>When frequency drift rate is high receiver can lose synchronization. </a:t>
            </a:r>
          </a:p>
          <a:p>
            <a:pPr marL="76200" indent="0">
              <a:buNone/>
            </a:pPr>
            <a:r>
              <a:rPr lang="en-US" sz="2000" i="1" dirty="0">
                <a:solidFill>
                  <a:srgbClr val="C00000"/>
                </a:solidFill>
              </a:rPr>
              <a:t>      “Channel estimation is inaccurate”</a:t>
            </a:r>
            <a:r>
              <a:rPr lang="en-US" sz="2000" dirty="0">
                <a:solidFill>
                  <a:srgbClr val="C00000"/>
                </a:solidFill>
              </a:rPr>
              <a:t>.</a:t>
            </a:r>
          </a:p>
          <a:p>
            <a:r>
              <a:rPr lang="en-US" sz="2000" dirty="0"/>
              <a:t>Increased bit error rate.</a:t>
            </a:r>
          </a:p>
          <a:p>
            <a:pPr>
              <a:buFont typeface="Wingdings" panose="05000000000000000000" pitchFamily="2" charset="2"/>
              <a:buChar char="Ø"/>
            </a:pPr>
            <a:endParaRPr lang="en-US" sz="2000" dirty="0"/>
          </a:p>
        </p:txBody>
      </p:sp>
    </p:spTree>
    <p:extLst>
      <p:ext uri="{BB962C8B-B14F-4D97-AF65-F5344CB8AC3E}">
        <p14:creationId xmlns:p14="http://schemas.microsoft.com/office/powerpoint/2010/main" val="325137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7C657A-3F9D-0A9B-293C-070319A6F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353087C-8F97-F97D-FB16-4EC88EE22401}"/>
              </a:ext>
            </a:extLst>
          </p:cNvPr>
          <p:cNvSpPr>
            <a:spLocks noGrp="1"/>
          </p:cNvSpPr>
          <p:nvPr>
            <p:ph type="title"/>
          </p:nvPr>
        </p:nvSpPr>
        <p:spPr>
          <a:xfrm>
            <a:off x="609600" y="317240"/>
            <a:ext cx="10972800" cy="1005840"/>
          </a:xfrm>
        </p:spPr>
        <p:txBody>
          <a:bodyPr/>
          <a:lstStyle/>
          <a:p>
            <a:r>
              <a:rPr lang="en-US" dirty="0"/>
              <a:t>Radio Frequency Tolerance</a:t>
            </a:r>
          </a:p>
        </p:txBody>
      </p:sp>
      <p:sp>
        <p:nvSpPr>
          <p:cNvPr id="3" name="Text Placeholder 2">
            <a:extLst>
              <a:ext uri="{FF2B5EF4-FFF2-40B4-BE49-F238E27FC236}">
                <a16:creationId xmlns:a16="http://schemas.microsoft.com/office/drawing/2014/main" xmlns="" id="{8AECC6D8-D083-2613-18E4-C63FFEC2931A}"/>
              </a:ext>
            </a:extLst>
          </p:cNvPr>
          <p:cNvSpPr>
            <a:spLocks noGrp="1"/>
          </p:cNvSpPr>
          <p:nvPr>
            <p:ph type="body" idx="1"/>
          </p:nvPr>
        </p:nvSpPr>
        <p:spPr>
          <a:xfrm>
            <a:off x="609600" y="1446838"/>
            <a:ext cx="10972800" cy="5073394"/>
          </a:xfrm>
        </p:spPr>
        <p:txBody>
          <a:bodyPr/>
          <a:lstStyle/>
          <a:p>
            <a:pPr marL="76200" indent="0">
              <a:buNone/>
            </a:pPr>
            <a:r>
              <a:rPr lang="en-US" sz="2800" b="1" dirty="0"/>
              <a:t>Introduced solutions:</a:t>
            </a:r>
          </a:p>
          <a:p>
            <a:pPr>
              <a:lnSpc>
                <a:spcPct val="150000"/>
              </a:lnSpc>
              <a:buFont typeface="Wingdings" panose="05000000000000000000" pitchFamily="2" charset="2"/>
              <a:buChar char="Ø"/>
            </a:pPr>
            <a:r>
              <a:rPr lang="en-US" sz="2000" dirty="0"/>
              <a:t>Short packets reduce drift effect.</a:t>
            </a:r>
          </a:p>
          <a:p>
            <a:pPr>
              <a:buFont typeface="Wingdings" panose="05000000000000000000" pitchFamily="2" charset="2"/>
              <a:buChar char="Ø"/>
            </a:pPr>
            <a:r>
              <a:rPr lang="en-US" sz="2000" dirty="0"/>
              <a:t>Closed-loop frequency correction with receiver feedback.</a:t>
            </a:r>
          </a:p>
          <a:p>
            <a:pPr>
              <a:lnSpc>
                <a:spcPct val="150000"/>
              </a:lnSpc>
              <a:buFont typeface="Wingdings" panose="05000000000000000000" pitchFamily="2" charset="2"/>
              <a:buChar char="Ø"/>
            </a:pPr>
            <a:r>
              <a:rPr lang="en-US" sz="2000" b="1" dirty="0"/>
              <a:t>ADPLL</a:t>
            </a:r>
            <a:r>
              <a:rPr lang="en-US" sz="2000" dirty="0"/>
              <a:t> has better RF tolerance:</a:t>
            </a:r>
          </a:p>
          <a:p>
            <a:pPr lvl="1">
              <a:lnSpc>
                <a:spcPct val="150000"/>
              </a:lnSpc>
              <a:buFont typeface="Arial" panose="020B0604020202020204" pitchFamily="34" charset="0"/>
              <a:buChar char="•"/>
            </a:pPr>
            <a:r>
              <a:rPr lang="en-US" dirty="0"/>
              <a:t>Digital blocks are more resistant to PVT variations.</a:t>
            </a:r>
          </a:p>
          <a:p>
            <a:pPr lvl="1">
              <a:buFont typeface="Arial" panose="020B0604020202020204" pitchFamily="34" charset="0"/>
              <a:buChar char="•"/>
            </a:pPr>
            <a:r>
              <a:rPr lang="en-US" dirty="0"/>
              <a:t>Better frequency Positioning </a:t>
            </a:r>
            <a:r>
              <a:rPr lang="en-US" i="1" dirty="0"/>
              <a:t>(DCO: fine frequency steps).</a:t>
            </a:r>
          </a:p>
          <a:p>
            <a:pPr lvl="1">
              <a:buFont typeface="Arial" panose="020B0604020202020204" pitchFamily="34" charset="0"/>
              <a:buChar char="•"/>
            </a:pPr>
            <a:r>
              <a:rPr lang="en-US" dirty="0"/>
              <a:t>Faster frequency settling.</a:t>
            </a:r>
          </a:p>
          <a:p>
            <a:pPr lvl="1">
              <a:buFont typeface="Arial" panose="020B0604020202020204" pitchFamily="34" charset="0"/>
              <a:buChar char="•"/>
            </a:pPr>
            <a:r>
              <a:rPr lang="en-US" dirty="0"/>
              <a:t>More immune to noise. </a:t>
            </a:r>
          </a:p>
        </p:txBody>
      </p:sp>
      <p:pic>
        <p:nvPicPr>
          <p:cNvPr id="1026" name="Picture 2" descr="All digital phase locked loop- ADPLL : r/chipdesign">
            <a:extLst>
              <a:ext uri="{FF2B5EF4-FFF2-40B4-BE49-F238E27FC236}">
                <a16:creationId xmlns:a16="http://schemas.microsoft.com/office/drawing/2014/main" xmlns="" id="{D3E810B6-A1ED-4FB6-6424-C13258DEF3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8465" y="2769442"/>
            <a:ext cx="4474526" cy="2270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802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
            <a:ext cx="10972800" cy="6262778"/>
          </a:xfrm>
        </p:spPr>
        <p:txBody>
          <a:bodyPr anchor="ctr">
            <a:normAutofit/>
          </a:bodyPr>
          <a:lstStyle/>
          <a:p>
            <a:pPr algn="ctr"/>
            <a:r>
              <a:rPr lang="en-US" sz="6000" dirty="0">
                <a:latin typeface="Bodoni MT Black" panose="02070A03080606020203" pitchFamily="18" charset="0"/>
              </a:rPr>
              <a:t>PLL</a:t>
            </a:r>
          </a:p>
        </p:txBody>
      </p:sp>
    </p:spTree>
    <p:extLst>
      <p:ext uri="{BB962C8B-B14F-4D97-AF65-F5344CB8AC3E}">
        <p14:creationId xmlns:p14="http://schemas.microsoft.com/office/powerpoint/2010/main" val="215914038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 </a:t>
            </a:r>
            <a:endParaRPr lang="en-US" dirty="0"/>
          </a:p>
        </p:txBody>
      </p:sp>
      <p:sp>
        <p:nvSpPr>
          <p:cNvPr id="3" name="Text Placeholder 2"/>
          <p:cNvSpPr>
            <a:spLocks noGrp="1"/>
          </p:cNvSpPr>
          <p:nvPr>
            <p:ph type="body" idx="1"/>
          </p:nvPr>
        </p:nvSpPr>
        <p:spPr/>
        <p:txBody>
          <a:bodyPr/>
          <a:lstStyle/>
          <a:p>
            <a:r>
              <a:rPr lang="en-US" b="1" dirty="0" smtClean="0"/>
              <a:t>PLL</a:t>
            </a:r>
          </a:p>
          <a:p>
            <a:pPr lvl="1">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Introduction to PLL </a:t>
            </a:r>
          </a:p>
          <a:p>
            <a:pPr lvl="1">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PLL Architecture </a:t>
            </a:r>
          </a:p>
          <a:p>
            <a:pPr lvl="1">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PLL T</a:t>
            </a:r>
            <a:r>
              <a:rPr lang="en-US" dirty="0" smtClean="0">
                <a:latin typeface="Times New Roman" panose="02020603050405020304" pitchFamily="18" charset="0"/>
                <a:cs typeface="Times New Roman" panose="02020603050405020304" pitchFamily="18" charset="0"/>
              </a:rPr>
              <a:t>ype</a:t>
            </a:r>
            <a:endParaRPr lang="en-US" dirty="0">
              <a:latin typeface="Times New Roman" panose="02020603050405020304" pitchFamily="18" charset="0"/>
              <a:cs typeface="Times New Roman" panose="02020603050405020304" pitchFamily="18" charset="0"/>
            </a:endParaRPr>
          </a:p>
          <a:p>
            <a:pPr lvl="1">
              <a:buFont typeface="Calibri" panose="020F0502020204030204" pitchFamily="34" charset="0"/>
              <a:buChar char="√"/>
            </a:pPr>
            <a:r>
              <a:rPr lang="en-US" dirty="0">
                <a:latin typeface="Times New Roman" panose="02020603050405020304" pitchFamily="18" charset="0"/>
                <a:cs typeface="Times New Roman" panose="02020603050405020304" pitchFamily="18" charset="0"/>
              </a:rPr>
              <a:t>PLL limitation</a:t>
            </a:r>
          </a:p>
          <a:p>
            <a:endParaRPr lang="en-US" b="1" dirty="0" smtClean="0"/>
          </a:p>
          <a:p>
            <a:endParaRPr lang="en-US" b="1" dirty="0"/>
          </a:p>
        </p:txBody>
      </p:sp>
      <p:sp>
        <p:nvSpPr>
          <p:cNvPr id="4" name="Text Placeholder 3"/>
          <p:cNvSpPr>
            <a:spLocks noGrp="1"/>
          </p:cNvSpPr>
          <p:nvPr>
            <p:ph type="body" idx="2"/>
          </p:nvPr>
        </p:nvSpPr>
        <p:spPr/>
        <p:txBody>
          <a:bodyPr>
            <a:normAutofit fontScale="70000" lnSpcReduction="20000"/>
          </a:bodyPr>
          <a:lstStyle/>
          <a:p>
            <a:endParaRPr lang="en-US" dirty="0"/>
          </a:p>
        </p:txBody>
      </p:sp>
    </p:spTree>
    <p:extLst>
      <p:ext uri="{BB962C8B-B14F-4D97-AF65-F5344CB8AC3E}">
        <p14:creationId xmlns:p14="http://schemas.microsoft.com/office/powerpoint/2010/main" val="10225029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PLL(Phase Locked Loop)</a:t>
            </a:r>
            <a:endParaRPr lang="en-US" dirty="0"/>
          </a:p>
        </p:txBody>
      </p:sp>
      <p:sp>
        <p:nvSpPr>
          <p:cNvPr id="3" name="Text Placeholder 2"/>
          <p:cNvSpPr>
            <a:spLocks noGrp="1"/>
          </p:cNvSpPr>
          <p:nvPr>
            <p:ph type="body" idx="1"/>
          </p:nvPr>
        </p:nvSpPr>
        <p:spPr/>
        <p:txBody>
          <a:bodyPr/>
          <a:lstStyle/>
          <a:p>
            <a:pPr>
              <a:buFont typeface="Wingdings" panose="05000000000000000000" pitchFamily="2" charset="2"/>
              <a:buChar char="q"/>
            </a:pPr>
            <a:r>
              <a:rPr lang="en-US" b="1" dirty="0" smtClean="0">
                <a:latin typeface="Calibri" panose="020F0502020204030204" pitchFamily="34" charset="0"/>
                <a:ea typeface="Calibri" panose="020F0502020204030204" pitchFamily="34" charset="0"/>
                <a:cs typeface="Calibri" panose="020F0502020204030204" pitchFamily="34" charset="0"/>
              </a:rPr>
              <a:t>What is PLL?</a:t>
            </a:r>
          </a:p>
          <a:p>
            <a:pPr marL="144000" indent="0">
              <a:buNone/>
            </a:pPr>
            <a:r>
              <a:rPr lang="en-US" sz="2000" dirty="0"/>
              <a:t>A </a:t>
            </a:r>
            <a:r>
              <a:rPr lang="en-US" sz="2000" b="1" dirty="0"/>
              <a:t>PLL</a:t>
            </a:r>
            <a:r>
              <a:rPr lang="en-US" sz="2000" dirty="0"/>
              <a:t> is a </a:t>
            </a:r>
            <a:r>
              <a:rPr lang="en-US" sz="2000" b="1" dirty="0"/>
              <a:t>circuit that locks the frequency and phase</a:t>
            </a:r>
            <a:r>
              <a:rPr lang="en-US" sz="2000" dirty="0"/>
              <a:t> of one signal (its own output) to match another signal (</a:t>
            </a:r>
            <a:r>
              <a:rPr lang="en-US" sz="2000" dirty="0" smtClean="0"/>
              <a:t>a reference).</a:t>
            </a:r>
          </a:p>
          <a:p>
            <a:pPr>
              <a:buFont typeface="Wingdings" panose="05000000000000000000" pitchFamily="2" charset="2"/>
              <a:buChar char="q"/>
            </a:pPr>
            <a:r>
              <a:rPr lang="en-US" b="1" dirty="0">
                <a:latin typeface="Calibri" panose="020F0502020204030204" pitchFamily="34" charset="0"/>
                <a:ea typeface="Calibri" panose="020F0502020204030204" pitchFamily="34" charset="0"/>
                <a:cs typeface="Calibri" panose="020F0502020204030204" pitchFamily="34" charset="0"/>
              </a:rPr>
              <a:t>Why PLL? </a:t>
            </a:r>
          </a:p>
          <a:p>
            <a:pPr marL="144000" indent="0">
              <a:buNone/>
            </a:pPr>
            <a:r>
              <a:rPr lang="en-US" sz="2000" dirty="0"/>
              <a:t>We use a </a:t>
            </a:r>
            <a:r>
              <a:rPr lang="en-US" sz="2000" b="1" dirty="0"/>
              <a:t>PLL </a:t>
            </a:r>
            <a:r>
              <a:rPr lang="en-US" sz="2000" dirty="0" smtClean="0"/>
              <a:t>rather than a normal crystal oscillator </a:t>
            </a:r>
            <a:r>
              <a:rPr lang="en-US" sz="2000" dirty="0"/>
              <a:t>because it gives us a </a:t>
            </a:r>
            <a:r>
              <a:rPr lang="en-US" sz="2000" b="1" dirty="0"/>
              <a:t>stable, accurate, and controllable frequency</a:t>
            </a:r>
            <a:r>
              <a:rPr lang="en-US" sz="2000" dirty="0"/>
              <a:t> that always stays synchronized with a reference clock.</a:t>
            </a:r>
          </a:p>
          <a:p>
            <a:pPr marL="144000" indent="0">
              <a:buNone/>
            </a:pPr>
            <a:r>
              <a:rPr lang="en-US" sz="2000" dirty="0"/>
              <a:t>A normal oscillator can drift due to </a:t>
            </a:r>
            <a:r>
              <a:rPr lang="en-US" sz="2000" b="1" dirty="0"/>
              <a:t>temperature, voltage, or noise</a:t>
            </a:r>
            <a:r>
              <a:rPr lang="en-US" sz="2000" dirty="0"/>
              <a:t>, but a PLL </a:t>
            </a:r>
            <a:r>
              <a:rPr lang="en-US" sz="2000" b="1" dirty="0"/>
              <a:t>continuously corrects</a:t>
            </a:r>
            <a:r>
              <a:rPr lang="en-US" sz="2000" dirty="0"/>
              <a:t> itself by comparing its output to a precise </a:t>
            </a:r>
            <a:r>
              <a:rPr lang="en-US" sz="2000" dirty="0" smtClean="0"/>
              <a:t>reference, furthermore </a:t>
            </a:r>
            <a:r>
              <a:rPr lang="en-US" sz="2000" dirty="0"/>
              <a:t>normal oscillators can only generate stable signals up to a few </a:t>
            </a:r>
            <a:r>
              <a:rPr lang="en-US" sz="2000" b="1" dirty="0"/>
              <a:t>megahertz (MHz)</a:t>
            </a:r>
            <a:r>
              <a:rPr lang="en-US" sz="2000" dirty="0"/>
              <a:t>, but in modern systems </a:t>
            </a:r>
            <a:r>
              <a:rPr lang="en-US" sz="2000" dirty="0" smtClean="0"/>
              <a:t>Bluetooth, </a:t>
            </a:r>
            <a:r>
              <a:rPr lang="en-US" sz="2000" dirty="0"/>
              <a:t>we need signals in the </a:t>
            </a:r>
            <a:r>
              <a:rPr lang="en-US" sz="2000" b="1" dirty="0"/>
              <a:t>gigahertz (GHz)</a:t>
            </a:r>
            <a:r>
              <a:rPr lang="en-US" sz="2000" dirty="0"/>
              <a:t> range.</a:t>
            </a:r>
          </a:p>
          <a:p>
            <a:pPr marL="76200" indent="0">
              <a:buNone/>
            </a:pPr>
            <a:endParaRPr lang="en-US" sz="2000" dirty="0" smtClean="0"/>
          </a:p>
        </p:txBody>
      </p:sp>
      <p:sp>
        <p:nvSpPr>
          <p:cNvPr id="4" name="Text Placeholder 3"/>
          <p:cNvSpPr>
            <a:spLocks noGrp="1"/>
          </p:cNvSpPr>
          <p:nvPr>
            <p:ph type="body" idx="2"/>
          </p:nvPr>
        </p:nvSpPr>
        <p:spPr/>
        <p:txBody>
          <a:bodyPr>
            <a:normAutofit fontScale="70000" lnSpcReduction="20000"/>
          </a:bodyPr>
          <a:lstStyle/>
          <a:p>
            <a:endParaRPr lang="en-US"/>
          </a:p>
        </p:txBody>
      </p:sp>
      <p:pic>
        <p:nvPicPr>
          <p:cNvPr id="1030" name="Picture 6" descr="Crystal Oscillator in HC/49S through hole package - Various Frequencie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8479" y="2509519"/>
            <a:ext cx="1402081" cy="1341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85419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PLL Architecture</a:t>
            </a:r>
            <a:endParaRPr lang="en-US" dirty="0"/>
          </a:p>
        </p:txBody>
      </p:sp>
      <p:pic>
        <p:nvPicPr>
          <p:cNvPr id="5" name="Picture 4"/>
          <p:cNvPicPr>
            <a:picLocks noChangeAspect="1"/>
          </p:cNvPicPr>
          <p:nvPr/>
        </p:nvPicPr>
        <p:blipFill>
          <a:blip r:embed="rId2"/>
          <a:stretch>
            <a:fillRect/>
          </a:stretch>
        </p:blipFill>
        <p:spPr>
          <a:xfrm>
            <a:off x="6323162" y="0"/>
            <a:ext cx="5868838" cy="2145109"/>
          </a:xfrm>
          <a:prstGeom prst="rect">
            <a:avLst/>
          </a:prstGeom>
        </p:spPr>
      </p:pic>
      <p:sp>
        <p:nvSpPr>
          <p:cNvPr id="3" name="Text Placeholder 2"/>
          <p:cNvSpPr>
            <a:spLocks noGrp="1"/>
          </p:cNvSpPr>
          <p:nvPr>
            <p:ph type="body" idx="1"/>
          </p:nvPr>
        </p:nvSpPr>
        <p:spPr/>
        <p:txBody>
          <a:bodyPr/>
          <a:lstStyle/>
          <a:p>
            <a:pPr>
              <a:buFont typeface="Wingdings" panose="05000000000000000000" pitchFamily="2" charset="2"/>
              <a:buChar char="q"/>
            </a:pPr>
            <a:r>
              <a:rPr lang="en-US" b="1" dirty="0" smtClean="0"/>
              <a:t>Why we use phase not frequency detector?</a:t>
            </a:r>
          </a:p>
          <a:p>
            <a:pPr marL="144000" indent="0">
              <a:buNone/>
            </a:pPr>
            <a:r>
              <a:rPr lang="en-US" sz="2000" dirty="0"/>
              <a:t>A frequency detector only checks if the two signals have the same frequency, but it cannot align their phases. The phase detector keeps comparing the two signals and adjusts the output until the </a:t>
            </a:r>
            <a:r>
              <a:rPr lang="en-US" sz="2000" b="1" dirty="0"/>
              <a:t>phase difference becomes constant</a:t>
            </a:r>
            <a:r>
              <a:rPr lang="en-US" sz="2000" dirty="0"/>
              <a:t>. When the phase difference is constant, it means the </a:t>
            </a:r>
            <a:r>
              <a:rPr lang="en-US" sz="2000" b="1" dirty="0"/>
              <a:t>frequency error is zero</a:t>
            </a:r>
            <a:r>
              <a:rPr lang="en-US" sz="2000" dirty="0"/>
              <a:t>, since frequency is the </a:t>
            </a:r>
            <a:r>
              <a:rPr lang="en-US" sz="2000" b="1" dirty="0"/>
              <a:t>derivative of </a:t>
            </a:r>
            <a:r>
              <a:rPr lang="en-US" sz="2000" b="1" dirty="0" smtClean="0"/>
              <a:t>phase.</a:t>
            </a:r>
          </a:p>
          <a:p>
            <a:pPr marL="486900" indent="-342900">
              <a:buFont typeface="Wingdings" panose="05000000000000000000" pitchFamily="2" charset="2"/>
              <a:buChar char="q"/>
            </a:pPr>
            <a:r>
              <a:rPr lang="en-US" sz="2000" dirty="0"/>
              <a:t>A </a:t>
            </a:r>
            <a:r>
              <a:rPr lang="en-US" sz="2000" b="1" dirty="0"/>
              <a:t>Phase-Locked Loop (PLL)</a:t>
            </a:r>
            <a:r>
              <a:rPr lang="en-US" sz="2000" dirty="0"/>
              <a:t> is a feedback control system that synchronizes the output frequency of a Voltage-Controlled Oscillator (VCO) with a reference signal in both frequency and phase. The main building blocks of a PLL </a:t>
            </a:r>
            <a:r>
              <a:rPr lang="en-US" sz="2000" dirty="0" smtClean="0"/>
              <a:t>are</a:t>
            </a:r>
          </a:p>
          <a:p>
            <a:pPr marL="997200" lvl="1">
              <a:buFont typeface="Wingdings" panose="05000000000000000000" pitchFamily="2" charset="2"/>
              <a:buChar char="Ø"/>
            </a:pPr>
            <a:r>
              <a:rPr lang="en-US" sz="1800" b="1" dirty="0" smtClean="0"/>
              <a:t>Phase </a:t>
            </a:r>
            <a:r>
              <a:rPr lang="en-US" sz="1800" b="1" dirty="0"/>
              <a:t>detector</a:t>
            </a:r>
            <a:r>
              <a:rPr lang="en-US" sz="1800" dirty="0"/>
              <a:t>: Compares the phase of the input reference signal and the VCO output.</a:t>
            </a:r>
          </a:p>
          <a:p>
            <a:pPr marL="997200" lvl="1">
              <a:buFont typeface="Wingdings" panose="05000000000000000000" pitchFamily="2" charset="2"/>
              <a:buChar char="Ø"/>
            </a:pPr>
            <a:r>
              <a:rPr lang="en-US" sz="1800" b="1" dirty="0" smtClean="0"/>
              <a:t>Low </a:t>
            </a:r>
            <a:r>
              <a:rPr lang="en-US" sz="1800" b="1" dirty="0"/>
              <a:t>pass filter</a:t>
            </a:r>
            <a:r>
              <a:rPr lang="en-US" sz="1800" dirty="0"/>
              <a:t>: Removes high-frequency noise from the PD </a:t>
            </a:r>
            <a:r>
              <a:rPr lang="en-US" sz="1800" dirty="0" smtClean="0"/>
              <a:t>output.</a:t>
            </a:r>
          </a:p>
          <a:p>
            <a:pPr marL="997200" lvl="1">
              <a:buFont typeface="Wingdings" panose="05000000000000000000" pitchFamily="2" charset="2"/>
              <a:buChar char="Ø"/>
            </a:pPr>
            <a:r>
              <a:rPr lang="en-US" sz="1800" b="1" dirty="0" smtClean="0"/>
              <a:t>VCO</a:t>
            </a:r>
            <a:r>
              <a:rPr lang="en-US" sz="1800" dirty="0" smtClean="0"/>
              <a:t>: Generates an oscillating signal whose frequency depends on the control voltage from the LPF.</a:t>
            </a:r>
          </a:p>
          <a:p>
            <a:pPr marL="997200" lvl="1">
              <a:buFont typeface="Wingdings" panose="05000000000000000000" pitchFamily="2" charset="2"/>
              <a:buChar char="Ø"/>
            </a:pPr>
            <a:r>
              <a:rPr lang="en-US" sz="1800" b="1" dirty="0" smtClean="0"/>
              <a:t>Frequency divider</a:t>
            </a:r>
            <a:r>
              <a:rPr lang="en-US" sz="1800" dirty="0" smtClean="0"/>
              <a:t>: </a:t>
            </a:r>
            <a:r>
              <a:rPr lang="en-US" sz="1800" dirty="0"/>
              <a:t>Divides the VCO output frequency by a fixed or programmable number </a:t>
            </a:r>
            <a:r>
              <a:rPr lang="en-US" sz="1800" b="1" dirty="0" smtClean="0"/>
              <a:t>N</a:t>
            </a:r>
            <a:r>
              <a:rPr lang="en-US" sz="1800" dirty="0"/>
              <a:t> </a:t>
            </a:r>
            <a:r>
              <a:rPr lang="en-US" sz="1800" dirty="0" smtClean="0"/>
              <a:t>then </a:t>
            </a:r>
            <a:r>
              <a:rPr lang="en-US" sz="1800" dirty="0"/>
              <a:t>Sends this lower frequency back to the phase detector for comparison with the reference.</a:t>
            </a:r>
            <a:endParaRPr lang="en-US" sz="1800" dirty="0" smtClean="0"/>
          </a:p>
          <a:p>
            <a:pPr marL="76200" indent="0">
              <a:buNone/>
            </a:pPr>
            <a:endParaRPr lang="en-US" dirty="0"/>
          </a:p>
        </p:txBody>
      </p:sp>
      <p:sp>
        <p:nvSpPr>
          <p:cNvPr id="4" name="Text Placeholder 3"/>
          <p:cNvSpPr>
            <a:spLocks noGrp="1"/>
          </p:cNvSpPr>
          <p:nvPr>
            <p:ph type="body" idx="2"/>
          </p:nvPr>
        </p:nvSpPr>
        <p:spPr/>
        <p:txBody>
          <a:bodyPr>
            <a:normAutofit fontScale="70000" lnSpcReduction="20000"/>
          </a:bodyPr>
          <a:lstStyle/>
          <a:p>
            <a:endParaRPr lang="en-US" dirty="0"/>
          </a:p>
        </p:txBody>
      </p:sp>
    </p:spTree>
    <p:extLst>
      <p:ext uri="{BB962C8B-B14F-4D97-AF65-F5344CB8AC3E}">
        <p14:creationId xmlns:p14="http://schemas.microsoft.com/office/powerpoint/2010/main" val="118027832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PLL Type  </a:t>
            </a:r>
            <a:endParaRPr lang="en-US" dirty="0"/>
          </a:p>
        </p:txBody>
      </p:sp>
      <p:sp>
        <p:nvSpPr>
          <p:cNvPr id="3" name="Text Placeholder 2"/>
          <p:cNvSpPr>
            <a:spLocks noGrp="1"/>
          </p:cNvSpPr>
          <p:nvPr>
            <p:ph type="body" idx="1"/>
          </p:nvPr>
        </p:nvSpPr>
        <p:spPr/>
        <p:txBody>
          <a:bodyPr/>
          <a:lstStyle/>
          <a:p>
            <a:pPr>
              <a:buFont typeface="Arial" panose="020B0604020202020204" pitchFamily="34" charset="0"/>
              <a:buChar char="•"/>
            </a:pPr>
            <a:r>
              <a:rPr lang="en-US" sz="2200" dirty="0" smtClean="0"/>
              <a:t>The </a:t>
            </a:r>
            <a:r>
              <a:rPr lang="en-US" sz="2200" b="1" dirty="0" smtClean="0"/>
              <a:t>type of PLL</a:t>
            </a:r>
            <a:r>
              <a:rPr lang="en-US" sz="2200" dirty="0" smtClean="0"/>
              <a:t> depends on how many </a:t>
            </a:r>
            <a:r>
              <a:rPr lang="en-US" sz="2200" b="1" dirty="0" smtClean="0"/>
              <a:t>integrators</a:t>
            </a:r>
            <a:r>
              <a:rPr lang="en-US" sz="2200" dirty="0" smtClean="0"/>
              <a:t> it has in the loop —</a:t>
            </a:r>
            <a:br>
              <a:rPr lang="en-US" sz="2200" dirty="0" smtClean="0"/>
            </a:br>
            <a:r>
              <a:rPr lang="en-US" sz="2200" b="1" dirty="0" smtClean="0"/>
              <a:t>Type I</a:t>
            </a:r>
            <a:r>
              <a:rPr lang="en-US" sz="2200" dirty="0" smtClean="0"/>
              <a:t> has one, and </a:t>
            </a:r>
            <a:r>
              <a:rPr lang="en-US" sz="2200" b="1" dirty="0" smtClean="0"/>
              <a:t>Type II</a:t>
            </a:r>
            <a:r>
              <a:rPr lang="en-US" sz="2200" dirty="0" smtClean="0"/>
              <a:t> has two for more accurate locking.</a:t>
            </a:r>
          </a:p>
          <a:p>
            <a:pPr marL="887100" lvl="1">
              <a:buFont typeface="Wingdings" panose="05000000000000000000" pitchFamily="2" charset="2"/>
              <a:buChar char="Ø"/>
            </a:pPr>
            <a:endParaRPr lang="en-US" sz="1600" dirty="0" smtClean="0"/>
          </a:p>
        </p:txBody>
      </p:sp>
      <p:sp>
        <p:nvSpPr>
          <p:cNvPr id="4" name="Text Placeholder 3"/>
          <p:cNvSpPr>
            <a:spLocks noGrp="1"/>
          </p:cNvSpPr>
          <p:nvPr>
            <p:ph type="body" idx="2"/>
          </p:nvPr>
        </p:nvSpPr>
        <p:spPr/>
        <p:txBody>
          <a:bodyPr>
            <a:normAutofit fontScale="70000" lnSpcReduction="20000"/>
          </a:bodyPr>
          <a:lstStyle/>
          <a:p>
            <a:endParaRPr lang="en-US" dirty="0"/>
          </a:p>
        </p:txBody>
      </p:sp>
      <p:pic>
        <p:nvPicPr>
          <p:cNvPr id="6" name="Picture 5"/>
          <p:cNvPicPr>
            <a:picLocks noChangeAspect="1"/>
          </p:cNvPicPr>
          <p:nvPr/>
        </p:nvPicPr>
        <p:blipFill>
          <a:blip r:embed="rId2"/>
          <a:stretch>
            <a:fillRect/>
          </a:stretch>
        </p:blipFill>
        <p:spPr>
          <a:xfrm>
            <a:off x="1018073" y="2476495"/>
            <a:ext cx="5222707" cy="1375817"/>
          </a:xfrm>
          <a:prstGeom prst="rect">
            <a:avLst/>
          </a:prstGeom>
        </p:spPr>
      </p:pic>
      <p:pic>
        <p:nvPicPr>
          <p:cNvPr id="8" name="Picture 7"/>
          <p:cNvPicPr>
            <a:picLocks noChangeAspect="1"/>
          </p:cNvPicPr>
          <p:nvPr/>
        </p:nvPicPr>
        <p:blipFill>
          <a:blip r:embed="rId3"/>
          <a:stretch>
            <a:fillRect/>
          </a:stretch>
        </p:blipFill>
        <p:spPr>
          <a:xfrm>
            <a:off x="1329690" y="3852312"/>
            <a:ext cx="3649980" cy="2068190"/>
          </a:xfrm>
          <a:prstGeom prst="rect">
            <a:avLst/>
          </a:prstGeom>
        </p:spPr>
      </p:pic>
      <p:pic>
        <p:nvPicPr>
          <p:cNvPr id="7" name="Picture 6"/>
          <p:cNvPicPr>
            <a:picLocks noChangeAspect="1"/>
          </p:cNvPicPr>
          <p:nvPr/>
        </p:nvPicPr>
        <p:blipFill>
          <a:blip r:embed="rId4"/>
          <a:stretch>
            <a:fillRect/>
          </a:stretch>
        </p:blipFill>
        <p:spPr>
          <a:xfrm>
            <a:off x="5699760" y="3852312"/>
            <a:ext cx="2932823" cy="2266569"/>
          </a:xfrm>
          <a:prstGeom prst="rect">
            <a:avLst/>
          </a:prstGeom>
        </p:spPr>
      </p:pic>
    </p:spTree>
    <p:extLst>
      <p:ext uri="{BB962C8B-B14F-4D97-AF65-F5344CB8AC3E}">
        <p14:creationId xmlns:p14="http://schemas.microsoft.com/office/powerpoint/2010/main" val="371726329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PLL limitations</a:t>
            </a:r>
            <a:endParaRPr lang="en-US" dirty="0"/>
          </a:p>
        </p:txBody>
      </p:sp>
      <p:sp>
        <p:nvSpPr>
          <p:cNvPr id="3" name="Text Placeholder 2"/>
          <p:cNvSpPr>
            <a:spLocks noGrp="1"/>
          </p:cNvSpPr>
          <p:nvPr>
            <p:ph type="body" idx="1"/>
          </p:nvPr>
        </p:nvSpPr>
        <p:spPr/>
        <p:txBody>
          <a:bodyPr/>
          <a:lstStyle/>
          <a:p>
            <a:r>
              <a:rPr lang="en-US" sz="2000" b="1" dirty="0"/>
              <a:t>Passive loop filter components</a:t>
            </a:r>
            <a:r>
              <a:rPr lang="en-US" sz="2000" dirty="0"/>
              <a:t> (resistors, </a:t>
            </a:r>
            <a:r>
              <a:rPr lang="en-US" sz="2000" dirty="0" smtClean="0"/>
              <a:t>MIMCAP) </a:t>
            </a:r>
            <a:r>
              <a:rPr lang="en-US" sz="2000" dirty="0"/>
              <a:t>are difficult to scale </a:t>
            </a:r>
            <a:endParaRPr lang="en-US" sz="2000" dirty="0" smtClean="0"/>
          </a:p>
          <a:p>
            <a:pPr marL="76200" indent="0">
              <a:buNone/>
            </a:pPr>
            <a:r>
              <a:rPr lang="en-US" sz="2000" dirty="0" smtClean="0"/>
              <a:t>       down </a:t>
            </a:r>
            <a:r>
              <a:rPr lang="en-US" sz="2000" dirty="0"/>
              <a:t>as CMOS technology advances.</a:t>
            </a:r>
          </a:p>
          <a:p>
            <a:r>
              <a:rPr lang="en-US" sz="2000" b="1" dirty="0"/>
              <a:t>External loop filter</a:t>
            </a:r>
            <a:r>
              <a:rPr lang="en-US" sz="2000" dirty="0"/>
              <a:t> introduces additional </a:t>
            </a:r>
            <a:r>
              <a:rPr lang="en-US" sz="2000" b="1" dirty="0"/>
              <a:t>noise</a:t>
            </a:r>
            <a:r>
              <a:rPr lang="en-US" sz="2000" dirty="0"/>
              <a:t>, requires </a:t>
            </a:r>
            <a:r>
              <a:rPr lang="en-US" sz="2000" b="1" dirty="0"/>
              <a:t>more pads</a:t>
            </a:r>
            <a:r>
              <a:rPr lang="en-US" sz="2000" dirty="0"/>
              <a:t>, and occupies </a:t>
            </a:r>
            <a:r>
              <a:rPr lang="en-US" sz="2000" b="1" dirty="0"/>
              <a:t>larger PCB area</a:t>
            </a:r>
            <a:r>
              <a:rPr lang="en-US" sz="2000" dirty="0"/>
              <a:t>.</a:t>
            </a:r>
          </a:p>
          <a:p>
            <a:r>
              <a:rPr lang="en-US" sz="2000" b="1" dirty="0"/>
              <a:t>Leakage current</a:t>
            </a:r>
            <a:r>
              <a:rPr lang="en-US" sz="2000" dirty="0"/>
              <a:t> through the loop filter </a:t>
            </a:r>
            <a:r>
              <a:rPr lang="en-US" sz="2000" dirty="0" smtClean="0"/>
              <a:t>capacitor (MOSCAP) and charge pump becomes </a:t>
            </a:r>
            <a:r>
              <a:rPr lang="en-US" sz="2000" dirty="0"/>
              <a:t>serious </a:t>
            </a:r>
            <a:r>
              <a:rPr lang="en-US" sz="2000" dirty="0" smtClean="0"/>
              <a:t>in </a:t>
            </a:r>
            <a:r>
              <a:rPr lang="en-US" sz="2000" b="1" dirty="0" smtClean="0"/>
              <a:t>sub-90 nm</a:t>
            </a:r>
            <a:r>
              <a:rPr lang="en-US" sz="2000" dirty="0" smtClean="0"/>
              <a:t> technologies.</a:t>
            </a:r>
          </a:p>
          <a:p>
            <a:r>
              <a:rPr lang="en-US" sz="2000" dirty="0" smtClean="0"/>
              <a:t> The </a:t>
            </a:r>
            <a:r>
              <a:rPr lang="en-US" sz="2000" b="1" dirty="0" smtClean="0"/>
              <a:t>complexity</a:t>
            </a:r>
            <a:r>
              <a:rPr lang="en-US" sz="2000" dirty="0" smtClean="0"/>
              <a:t> of the circuit design is increasing, and for each technology it is needed to be redesigned </a:t>
            </a:r>
          </a:p>
          <a:p>
            <a:r>
              <a:rPr lang="en-US" sz="2000" b="1" dirty="0" smtClean="0"/>
              <a:t>Analog </a:t>
            </a:r>
            <a:r>
              <a:rPr lang="en-US" sz="2000" b="1" dirty="0"/>
              <a:t>components</a:t>
            </a:r>
            <a:r>
              <a:rPr lang="en-US" sz="2000" dirty="0"/>
              <a:t> are sensitive to </a:t>
            </a:r>
            <a:r>
              <a:rPr lang="en-US" sz="2000" b="1" dirty="0"/>
              <a:t>process, voltage, and temperature (PVT) variations</a:t>
            </a:r>
            <a:r>
              <a:rPr lang="en-US" sz="2000" dirty="0"/>
              <a:t>.</a:t>
            </a:r>
          </a:p>
          <a:p>
            <a:r>
              <a:rPr lang="en-US" sz="2000" b="1" dirty="0"/>
              <a:t>Integration difficulty:</a:t>
            </a:r>
            <a:r>
              <a:rPr lang="en-US" sz="2000" dirty="0"/>
              <a:t> passive elements and external components limit on-chip integration and compactness</a:t>
            </a:r>
            <a:r>
              <a:rPr lang="en-US" sz="2000" dirty="0" smtClean="0"/>
              <a:t>.</a:t>
            </a:r>
          </a:p>
          <a:p>
            <a:r>
              <a:rPr lang="en-US" sz="2000" b="1" dirty="0" smtClean="0"/>
              <a:t>In summary</a:t>
            </a:r>
            <a:r>
              <a:rPr lang="en-US" sz="2000" dirty="0" smtClean="0"/>
              <a:t> Analog PLL are difficult to change form one technology to other technology</a:t>
            </a:r>
          </a:p>
          <a:p>
            <a:pPr marL="76200" indent="0">
              <a:buNone/>
            </a:pPr>
            <a:r>
              <a:rPr lang="en-US" sz="2000" dirty="0" smtClean="0"/>
              <a:t>➡</a:t>
            </a:r>
            <a:r>
              <a:rPr lang="en-US" sz="2000" i="1" dirty="0" smtClean="0">
                <a:latin typeface="+mn-lt"/>
              </a:rPr>
              <a:t>These </a:t>
            </a:r>
            <a:r>
              <a:rPr lang="en-US" sz="2000" i="1" dirty="0">
                <a:latin typeface="+mn-lt"/>
              </a:rPr>
              <a:t>limitations motivate the move toward more scalable and robust </a:t>
            </a:r>
            <a:r>
              <a:rPr lang="en-US" sz="2000" b="1" i="1" dirty="0">
                <a:latin typeface="+mn-lt"/>
              </a:rPr>
              <a:t>All-Digital PLLs (ADPLLs)</a:t>
            </a:r>
            <a:r>
              <a:rPr lang="en-US" sz="2000" i="1" dirty="0">
                <a:latin typeface="+mn-lt"/>
              </a:rPr>
              <a:t>.</a:t>
            </a:r>
            <a:endParaRPr lang="en-US" sz="2000" dirty="0">
              <a:latin typeface="+mn-lt"/>
            </a:endParaRPr>
          </a:p>
          <a:p>
            <a:endParaRPr lang="en-US" sz="2000" dirty="0"/>
          </a:p>
        </p:txBody>
      </p:sp>
      <p:sp>
        <p:nvSpPr>
          <p:cNvPr id="4" name="Text Placeholder 3"/>
          <p:cNvSpPr>
            <a:spLocks noGrp="1"/>
          </p:cNvSpPr>
          <p:nvPr>
            <p:ph type="body" idx="2"/>
          </p:nvPr>
        </p:nvSpPr>
        <p:spPr/>
        <p:txBody>
          <a:bodyPr>
            <a:normAutofit fontScale="70000" lnSpcReduction="20000"/>
          </a:bodyPr>
          <a:lstStyle/>
          <a:p>
            <a:endParaRPr lang="en-US"/>
          </a:p>
        </p:txBody>
      </p:sp>
      <p:pic>
        <p:nvPicPr>
          <p:cNvPr id="5" name="Picture 4"/>
          <p:cNvPicPr>
            <a:picLocks noChangeAspect="1"/>
          </p:cNvPicPr>
          <p:nvPr/>
        </p:nvPicPr>
        <p:blipFill>
          <a:blip r:embed="rId2"/>
          <a:stretch>
            <a:fillRect/>
          </a:stretch>
        </p:blipFill>
        <p:spPr>
          <a:xfrm>
            <a:off x="8914994" y="1287779"/>
            <a:ext cx="2258056" cy="944881"/>
          </a:xfrm>
          <a:prstGeom prst="rect">
            <a:avLst/>
          </a:prstGeom>
        </p:spPr>
      </p:pic>
    </p:spTree>
    <p:extLst>
      <p:ext uri="{BB962C8B-B14F-4D97-AF65-F5344CB8AC3E}">
        <p14:creationId xmlns:p14="http://schemas.microsoft.com/office/powerpoint/2010/main" val="347862586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3" name="Text Placeholder 2"/>
          <p:cNvSpPr>
            <a:spLocks noGrp="1"/>
          </p:cNvSpPr>
          <p:nvPr>
            <p:ph type="body" idx="1"/>
          </p:nvPr>
        </p:nvSpPr>
        <p:spPr/>
        <p:txBody>
          <a:bodyPr/>
          <a:lstStyle/>
          <a:p>
            <a:r>
              <a:rPr lang="en-US" dirty="0"/>
              <a:t>Bluetooth SIG. (2023). </a:t>
            </a:r>
            <a:r>
              <a:rPr lang="en-US" i="1" dirty="0"/>
              <a:t>Bluetooth Core Specification 5.4</a:t>
            </a:r>
            <a:r>
              <a:rPr lang="en-US" dirty="0"/>
              <a:t>. Retrieved from </a:t>
            </a:r>
            <a:r>
              <a:rPr lang="en-US" dirty="0">
                <a:hlinkClick r:id="rId2"/>
              </a:rPr>
              <a:t>https://www.bluetooth.com/specifications/specs/core-specification-5-4</a:t>
            </a:r>
            <a:r>
              <a:rPr lang="en-US" dirty="0" smtClean="0">
                <a:hlinkClick r:id="rId2"/>
              </a:rPr>
              <a:t>/</a:t>
            </a:r>
            <a:endParaRPr lang="en-US" dirty="0" smtClean="0"/>
          </a:p>
          <a:p>
            <a:r>
              <a:rPr lang="en-US" dirty="0"/>
              <a:t>[15] Bluetooth SIG, </a:t>
            </a:r>
            <a:r>
              <a:rPr lang="en-US" i="1" dirty="0"/>
              <a:t>The Bluetooth® Low Energy Primer</a:t>
            </a:r>
            <a:r>
              <a:rPr lang="en-US" dirty="0"/>
              <a:t>, Revision 1.3.0, Jan. 17, 2023. [Online]. Available: </a:t>
            </a:r>
            <a:r>
              <a:rPr lang="en-US" dirty="0">
                <a:hlinkClick r:id="rId3"/>
              </a:rPr>
              <a:t>https://www.bluetooth.com/bluetooth-le-primer/</a:t>
            </a:r>
            <a:r>
              <a:rPr lang="en-US" dirty="0"/>
              <a:t> </a:t>
            </a:r>
            <a:endParaRPr lang="en-US" dirty="0" smtClean="0"/>
          </a:p>
          <a:p>
            <a:r>
              <a:rPr lang="en-US" dirty="0"/>
              <a:t>[2] F. </a:t>
            </a:r>
            <a:r>
              <a:rPr lang="en-US" dirty="0" err="1"/>
              <a:t>Xiong</a:t>
            </a:r>
            <a:r>
              <a:rPr lang="en-US" dirty="0"/>
              <a:t>, </a:t>
            </a:r>
            <a:r>
              <a:rPr lang="en-US" i="1" dirty="0"/>
              <a:t>Digital Modulation Techniques</a:t>
            </a:r>
            <a:r>
              <a:rPr lang="en-US" dirty="0"/>
              <a:t>, 2nd ed., Norwood, MA: </a:t>
            </a:r>
            <a:r>
              <a:rPr lang="en-US" dirty="0" err="1"/>
              <a:t>Artech</a:t>
            </a:r>
            <a:r>
              <a:rPr lang="en-US" dirty="0"/>
              <a:t> House, 2000</a:t>
            </a:r>
            <a:r>
              <a:rPr lang="en-US" dirty="0" smtClean="0"/>
              <a:t>.</a:t>
            </a:r>
          </a:p>
          <a:p>
            <a:r>
              <a:rPr lang="en-US" dirty="0"/>
              <a:t>[12] K. </a:t>
            </a:r>
            <a:r>
              <a:rPr lang="en-US" dirty="0" err="1"/>
              <a:t>Murota</a:t>
            </a:r>
            <a:r>
              <a:rPr lang="en-US" dirty="0"/>
              <a:t> and K. </a:t>
            </a:r>
            <a:r>
              <a:rPr lang="en-US" dirty="0" err="1"/>
              <a:t>Hirade</a:t>
            </a:r>
            <a:r>
              <a:rPr lang="en-US" dirty="0"/>
              <a:t>, “GMSK modulation for digital mobile radio telephony,” </a:t>
            </a:r>
            <a:r>
              <a:rPr lang="en-US" i="1" dirty="0"/>
              <a:t>IEEE Transactions on Communications</a:t>
            </a:r>
            <a:r>
              <a:rPr lang="en-US" dirty="0"/>
              <a:t>, vol. COM-29, pp. 1044–1050, July 1981</a:t>
            </a:r>
            <a:r>
              <a:rPr lang="en-US" dirty="0" smtClean="0"/>
              <a:t>.</a:t>
            </a:r>
          </a:p>
          <a:p>
            <a:r>
              <a:rPr lang="en-US" dirty="0"/>
              <a:t>[13] R. Ali and N. </a:t>
            </a:r>
            <a:r>
              <a:rPr lang="en-US" dirty="0" err="1"/>
              <a:t>Zarka</a:t>
            </a:r>
            <a:r>
              <a:rPr lang="en-US" dirty="0"/>
              <a:t>, </a:t>
            </a:r>
            <a:r>
              <a:rPr lang="en-US" i="1" dirty="0"/>
              <a:t>GMSK Modulation</a:t>
            </a:r>
            <a:r>
              <a:rPr lang="en-US" dirty="0"/>
              <a:t>, Presentation, Higher Institute for Applied Science </a:t>
            </a:r>
            <a:r>
              <a:rPr lang="en-US" dirty="0" smtClean="0"/>
              <a:t>and </a:t>
            </a:r>
            <a:r>
              <a:rPr lang="en-US" dirty="0"/>
              <a:t>Technology, Feb. </a:t>
            </a:r>
            <a:r>
              <a:rPr lang="en-US" dirty="0" smtClean="0"/>
              <a:t>2016</a:t>
            </a:r>
          </a:p>
        </p:txBody>
      </p:sp>
      <p:sp>
        <p:nvSpPr>
          <p:cNvPr id="4" name="Text Placeholder 3"/>
          <p:cNvSpPr>
            <a:spLocks noGrp="1"/>
          </p:cNvSpPr>
          <p:nvPr>
            <p:ph type="body" idx="2"/>
          </p:nvPr>
        </p:nvSpPr>
        <p:spPr/>
        <p:txBody>
          <a:bodyPr>
            <a:normAutofit fontScale="70000" lnSpcReduction="20000"/>
          </a:bodyPr>
          <a:lstStyle/>
          <a:p>
            <a:endParaRPr lang="en-US"/>
          </a:p>
        </p:txBody>
      </p:sp>
    </p:spTree>
    <p:extLst>
      <p:ext uri="{BB962C8B-B14F-4D97-AF65-F5344CB8AC3E}">
        <p14:creationId xmlns:p14="http://schemas.microsoft.com/office/powerpoint/2010/main" val="22788822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3" name="Text Placeholder 2"/>
          <p:cNvSpPr>
            <a:spLocks noGrp="1"/>
          </p:cNvSpPr>
          <p:nvPr>
            <p:ph type="body" idx="1"/>
          </p:nvPr>
        </p:nvSpPr>
        <p:spPr/>
        <p:txBody>
          <a:bodyPr/>
          <a:lstStyle/>
          <a:p>
            <a:r>
              <a:rPr lang="en-US" dirty="0"/>
              <a:t>[1] B. P. </a:t>
            </a:r>
            <a:r>
              <a:rPr lang="en-US" dirty="0" err="1"/>
              <a:t>Lathi</a:t>
            </a:r>
            <a:r>
              <a:rPr lang="en-US" dirty="0"/>
              <a:t> and Z. Ding, </a:t>
            </a:r>
            <a:r>
              <a:rPr lang="en-US" i="1" dirty="0"/>
              <a:t>Modern Digital and Analog Communication Systems</a:t>
            </a:r>
            <a:r>
              <a:rPr lang="en-US" dirty="0"/>
              <a:t>, 4th ed. New York, NY, USA: Oxford University Press, 2009</a:t>
            </a:r>
            <a:r>
              <a:rPr lang="en-US" dirty="0" smtClean="0"/>
              <a:t>.</a:t>
            </a:r>
          </a:p>
          <a:p>
            <a:r>
              <a:rPr lang="en-US" dirty="0"/>
              <a:t>MXCOM Inc., </a:t>
            </a:r>
            <a:r>
              <a:rPr lang="en-US" i="1" dirty="0"/>
              <a:t>Practical GMSK Data Transmission</a:t>
            </a:r>
            <a:r>
              <a:rPr lang="en-US" dirty="0"/>
              <a:t>, Application Note, Winston-Salem, NC, USA, 1995. Reprinted from </a:t>
            </a:r>
            <a:r>
              <a:rPr lang="en-US" i="1" dirty="0"/>
              <a:t>Wireless Design and Development</a:t>
            </a:r>
            <a:r>
              <a:rPr lang="en-US" dirty="0"/>
              <a:t>, vol. 3, no. 1, Jan. 1995. [Online]</a:t>
            </a:r>
          </a:p>
          <a:p>
            <a:r>
              <a:rPr lang="en-US" dirty="0"/>
              <a:t>[2] H. A. </a:t>
            </a:r>
            <a:r>
              <a:rPr lang="en-US" dirty="0" err="1"/>
              <a:t>Omran</a:t>
            </a:r>
            <a:r>
              <a:rPr lang="en-US" dirty="0"/>
              <a:t>, "Analog/Mixed-Signal Simulation and Modeling: Introduction to Phase Locked Loops (PLL)," presented at the Faculty of Engineering, </a:t>
            </a:r>
            <a:r>
              <a:rPr lang="en-US" dirty="0" err="1"/>
              <a:t>Ain</a:t>
            </a:r>
            <a:r>
              <a:rPr lang="en-US" dirty="0"/>
              <a:t> Shams University, Cairo, Egypt, Aug. 16, 2024</a:t>
            </a:r>
            <a:r>
              <a:rPr lang="en-US" dirty="0" smtClean="0"/>
              <a:t>.</a:t>
            </a:r>
          </a:p>
          <a:p>
            <a:r>
              <a:rPr lang="en-US" dirty="0"/>
              <a:t>[16] N. Da </a:t>
            </a:r>
            <a:r>
              <a:rPr lang="en-US" dirty="0" err="1"/>
              <a:t>Dalt</a:t>
            </a:r>
            <a:r>
              <a:rPr lang="en-US" dirty="0"/>
              <a:t> and A. </a:t>
            </a:r>
            <a:r>
              <a:rPr lang="en-US" dirty="0" err="1"/>
              <a:t>Sheikholeslami</a:t>
            </a:r>
            <a:r>
              <a:rPr lang="en-US" dirty="0"/>
              <a:t>, </a:t>
            </a:r>
            <a:r>
              <a:rPr lang="en-US" i="1" dirty="0"/>
              <a:t>Understanding Jitter and Phase Noise: A Circuits and Systems Perspective</a:t>
            </a:r>
            <a:r>
              <a:rPr lang="en-US" dirty="0"/>
              <a:t>. Cambridge, U.K.: Cambridge University Press, 2020.</a:t>
            </a:r>
            <a:br>
              <a:rPr lang="en-US" dirty="0"/>
            </a:br>
            <a:endParaRPr lang="en-US" dirty="0"/>
          </a:p>
        </p:txBody>
      </p:sp>
      <p:sp>
        <p:nvSpPr>
          <p:cNvPr id="4" name="Text Placeholder 3"/>
          <p:cNvSpPr>
            <a:spLocks noGrp="1"/>
          </p:cNvSpPr>
          <p:nvPr>
            <p:ph type="body" idx="2"/>
          </p:nvPr>
        </p:nvSpPr>
        <p:spPr/>
        <p:txBody>
          <a:bodyPr>
            <a:normAutofit fontScale="70000" lnSpcReduction="20000"/>
          </a:bodyPr>
          <a:lstStyle/>
          <a:p>
            <a:endParaRPr lang="en-US"/>
          </a:p>
        </p:txBody>
      </p:sp>
    </p:spTree>
    <p:extLst>
      <p:ext uri="{BB962C8B-B14F-4D97-AF65-F5344CB8AC3E}">
        <p14:creationId xmlns:p14="http://schemas.microsoft.com/office/powerpoint/2010/main" val="2043108412"/>
      </p:ext>
    </p:extLst>
  </p:cSld>
  <p:clrMapOvr>
    <a:masterClrMapping/>
  </p:clrMapOvr>
</p:sld>
</file>

<file path=ppt/theme/theme1.xml><?xml version="1.0" encoding="utf-8"?>
<a:theme xmlns:a="http://schemas.openxmlformats.org/drawingml/2006/main" name="Default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emens_ICVS_2021">
  <a:themeElements>
    <a:clrScheme name="Siemens AG Theme Color">
      <a:dk1>
        <a:srgbClr val="000000"/>
      </a:dk1>
      <a:lt1>
        <a:sysClr val="window" lastClr="FFFFFF"/>
      </a:lt1>
      <a:dk2>
        <a:srgbClr val="000028"/>
      </a:dk2>
      <a:lt2>
        <a:srgbClr val="F3F3F0"/>
      </a:lt2>
      <a:accent1>
        <a:srgbClr val="009999"/>
      </a:accent1>
      <a:accent2>
        <a:srgbClr val="00D7A0"/>
      </a:accent2>
      <a:accent3>
        <a:srgbClr val="00BEDC"/>
      </a:accent3>
      <a:accent4>
        <a:srgbClr val="0087BE"/>
      </a:accent4>
      <a:accent5>
        <a:srgbClr val="00557C"/>
      </a:accent5>
      <a:accent6>
        <a:srgbClr val="000028"/>
      </a:accent6>
      <a:hlink>
        <a:srgbClr val="00BEDC"/>
      </a:hlink>
      <a:folHlink>
        <a:srgbClr val="0087BE"/>
      </a:folHlink>
    </a:clrScheme>
    <a:fontScheme name="Siemens AG Them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t" anchorCtr="0"/>
      <a:lstStyle>
        <a:defPPr algn="l">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headEnd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custClrLst>
    <a:custClr name="Dark Gray | 102 102 126">
      <a:srgbClr val="66667E"/>
    </a:custClr>
    <a:custClr name="Gray | 153 153 169">
      <a:srgbClr val="9999A9"/>
    </a:custClr>
    <a:custClr name="Soft Gray | 204 204 212">
      <a:srgbClr val="CCCCD4"/>
    </a:custClr>
    <a:custClr name="Light Gray | 229 229 233">
      <a:srgbClr val="E5E5E9"/>
    </a:custClr>
    <a:custClr name="Purple | 170 50 190">
      <a:srgbClr val="AA32BE"/>
    </a:custClr>
    <a:custClr name="Dark Purple | 80 0 120">
      <a:srgbClr val="500078"/>
    </a:custClr>
    <a:custClr name="Yellow | 255 215 50">
      <a:srgbClr val="FFD732"/>
    </a:custClr>
    <a:custClr name="Orange | 255 144 0">
      <a:srgbClr val="FF9000"/>
    </a:custClr>
    <a:custClr name="Soft Red | 254 131 137">
      <a:srgbClr val="FE8389"/>
    </a:custClr>
    <a:custClr name="Red | 239 1 55">
      <a:srgbClr val="EF0137"/>
    </a:custClr>
    <a:custClr name="Bold Green | For creation of the Focus Line">
      <a:srgbClr val="00FFB9"/>
    </a:custClr>
    <a:custClr name="Bold Blue | For creation of the Focus Line">
      <a:srgbClr val="00E6DC"/>
    </a:custClr>
    <a:custClr name="Light Sand | 243 243 240">
      <a:srgbClr val="F3F3F0"/>
    </a:custClr>
    <a:custClr name="Siemens Petrol | 0 153 153">
      <a:srgbClr val="009999"/>
    </a:custClr>
    <a:custClr name="Soft Green | 0 215 160">
      <a:srgbClr val="00D7A0"/>
    </a:custClr>
    <a:custClr name="Green | 0 175 142">
      <a:srgbClr val="00AF8E"/>
    </a:custClr>
    <a:custClr name="Soft Blue | 0 190 220">
      <a:srgbClr val="00BEDC"/>
    </a:custClr>
    <a:custClr name="Blue | 0 135 190">
      <a:srgbClr val="0087BE"/>
    </a:custClr>
    <a:custClr name="Dark Blue | 0 85 124">
      <a:srgbClr val="00557C"/>
    </a:custClr>
    <a:custClr name="Deep Blue | 0 0 40">
      <a:srgbClr val="000028"/>
    </a:custClr>
  </a:custClrLst>
  <a:extLst>
    <a:ext uri="{05A4C25C-085E-4340-85A3-A5531E510DB2}">
      <thm15:themeFamily xmlns:thm15="http://schemas.microsoft.com/office/thememl/2012/main" name="Siemens_ICVS_2021" id="{F97C7620-9F39-4F6B-8173-B356F5E5292F}" vid="{D8CF7847-D965-4ACC-ADDC-B5EDABCE8BFC}"/>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3199</TotalTime>
  <Words>3068</Words>
  <Application>Microsoft Office PowerPoint</Application>
  <PresentationFormat>Widescreen</PresentationFormat>
  <Paragraphs>347</Paragraphs>
  <Slides>64</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64</vt:i4>
      </vt:variant>
    </vt:vector>
  </HeadingPairs>
  <TitlesOfParts>
    <vt:vector size="73" baseType="lpstr">
      <vt:lpstr>Aptos</vt:lpstr>
      <vt:lpstr>Arial</vt:lpstr>
      <vt:lpstr>Bodoni MT Black</vt:lpstr>
      <vt:lpstr>Calibri</vt:lpstr>
      <vt:lpstr>Cambria Math</vt:lpstr>
      <vt:lpstr>Times New Roman</vt:lpstr>
      <vt:lpstr>Wingdings</vt:lpstr>
      <vt:lpstr>Default Theme</vt:lpstr>
      <vt:lpstr>Siemens_ICVS_2021</vt:lpstr>
      <vt:lpstr>BLE (Bluetooth Low Energy)</vt:lpstr>
      <vt:lpstr>Introduction</vt:lpstr>
      <vt:lpstr>Table of content </vt:lpstr>
      <vt:lpstr>introduction</vt:lpstr>
      <vt:lpstr>Basic concept of BLE</vt:lpstr>
      <vt:lpstr>BLE operation</vt:lpstr>
      <vt:lpstr>BLE core system architecture: Host layer</vt:lpstr>
      <vt:lpstr>BLE core system architecture: link layer states </vt:lpstr>
      <vt:lpstr>BLE core system architecture: Host Link layer interface</vt:lpstr>
      <vt:lpstr>BLE core system architecture: Link layer air packet</vt:lpstr>
      <vt:lpstr>Physical layer interface with link layer</vt:lpstr>
      <vt:lpstr>GFSK</vt:lpstr>
      <vt:lpstr>Table of Content</vt:lpstr>
      <vt:lpstr>Why Modulation</vt:lpstr>
      <vt:lpstr>Modulation Rate and Bit Rate in BLE </vt:lpstr>
      <vt:lpstr>Modulation Rate and Bit Rate in BLE </vt:lpstr>
      <vt:lpstr>Traditional FSK Modulation</vt:lpstr>
      <vt:lpstr>GFSK Modulation</vt:lpstr>
      <vt:lpstr>GFSK Advantages/Trade-offs</vt:lpstr>
      <vt:lpstr>GFSK Modulation index </vt:lpstr>
      <vt:lpstr>MSK and GMSK</vt:lpstr>
      <vt:lpstr>Table of content </vt:lpstr>
      <vt:lpstr>What is MSK</vt:lpstr>
      <vt:lpstr>MSK as CPFSK with h = 0.5</vt:lpstr>
      <vt:lpstr>MSK as OQPSK with Sinusoidal Pulse Shaping</vt:lpstr>
      <vt:lpstr>MSK Power Spectral Density</vt:lpstr>
      <vt:lpstr>MSK Power Spectral Density Plot</vt:lpstr>
      <vt:lpstr>GMSK Definition</vt:lpstr>
      <vt:lpstr>GMSK Mathematical Definition</vt:lpstr>
      <vt:lpstr>Gaussian Filter</vt:lpstr>
      <vt:lpstr>GMSK Frequency Deviations</vt:lpstr>
      <vt:lpstr>GMSK BT Product</vt:lpstr>
      <vt:lpstr>GMSK Power Spectral Density Plot</vt:lpstr>
      <vt:lpstr>GMSK Bandwidth</vt:lpstr>
      <vt:lpstr>GMSK Adjacent Channel Interference Plot</vt:lpstr>
      <vt:lpstr>Eye diagram</vt:lpstr>
      <vt:lpstr>Table of content </vt:lpstr>
      <vt:lpstr>What is an Eye diagram</vt:lpstr>
      <vt:lpstr>Eye diagrams of GMSK</vt:lpstr>
      <vt:lpstr>Zero Crossing Error</vt:lpstr>
      <vt:lpstr>Zero Crossing Error</vt:lpstr>
      <vt:lpstr>Jitter affects the zero crossing </vt:lpstr>
      <vt:lpstr>Timing accuracy and Frequency deviation</vt:lpstr>
      <vt:lpstr>Power</vt:lpstr>
      <vt:lpstr>Power</vt:lpstr>
      <vt:lpstr>Spurious emissions and Radio frequency tolerance  </vt:lpstr>
      <vt:lpstr>Table of content </vt:lpstr>
      <vt:lpstr>Spurious Emissions(spurs)</vt:lpstr>
      <vt:lpstr>Spurious Emissions(spurs)</vt:lpstr>
      <vt:lpstr>Spurious Emissions(spurs)</vt:lpstr>
      <vt:lpstr>Spurious Emissions(spurs)</vt:lpstr>
      <vt:lpstr>Radio Frequency Tolerance</vt:lpstr>
      <vt:lpstr>Radio Frequency Tolerance</vt:lpstr>
      <vt:lpstr>Radio Frequency Tolerance</vt:lpstr>
      <vt:lpstr>Radio Frequency Tolerance</vt:lpstr>
      <vt:lpstr>Radio Frequency Tolerance</vt:lpstr>
      <vt:lpstr>PLL</vt:lpstr>
      <vt:lpstr>Table of content </vt:lpstr>
      <vt:lpstr>Introduction to PLL(Phase Locked Loop)</vt:lpstr>
      <vt:lpstr>PLL Architecture</vt:lpstr>
      <vt:lpstr>PLL Type  </vt:lpstr>
      <vt:lpstr>PLL limitations</vt:lpstr>
      <vt:lpstr>References </vt:lpstr>
      <vt:lpstr>References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 TC 22nm DV Updates</dc:title>
  <dc:creator>asalah</dc:creator>
  <cp:lastModifiedBy>2101434</cp:lastModifiedBy>
  <cp:revision>95</cp:revision>
  <dcterms:created xsi:type="dcterms:W3CDTF">2018-02-11T07:45:12Z</dcterms:created>
  <dcterms:modified xsi:type="dcterms:W3CDTF">2025-10-29T13:28:18Z</dcterms:modified>
</cp:coreProperties>
</file>